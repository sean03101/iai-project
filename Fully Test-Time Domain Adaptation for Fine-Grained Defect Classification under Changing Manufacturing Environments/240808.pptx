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embeddedFontLst>
    <p:embeddedFont>
      <p:font typeface="Noto Sans KR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iJMHUFvn+IRsdvLSsNLqng7yH5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NotoSansKR-bold.fntdata"/><Relationship Id="rId14" Type="http://schemas.openxmlformats.org/officeDocument/2006/relationships/font" Target="fonts/NotoSansKR-regular.fntdata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7fb62fb628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27fb62fb628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g27fb62fb628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7fb62fb628_0_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7fb62fb628_0_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27fb62fb628_0_9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7fb62fb628_2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7fb62fb628_2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27fb62fb628_2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7fb62fb628_2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7fb62fb628_2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27fb62fb628_2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f097121dcf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f097121dcf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2f097121dcf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f0e1b695ad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f0e1b695ad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2f0e1b695ad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f0e1b695ad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f0e1b695ad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2f0e1b695ad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f0e1b695ad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f0e1b695ad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2f0e1b695ad_0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7890a8e1c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27890a8e1c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g27890a8e1c6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2" name="Google Shape;1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3" name="Google Shape;1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4" name="Google Shape;1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7fb62fb628_0_6"/>
          <p:cNvSpPr txBox="1"/>
          <p:nvPr/>
        </p:nvSpPr>
        <p:spPr>
          <a:xfrm>
            <a:off x="242596" y="227177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추가 증강 도입 시도</a:t>
            </a:r>
            <a:endParaRPr b="1" i="0" sz="16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0" name="Google Shape;90;g27fb62fb628_0_6"/>
          <p:cNvSpPr txBox="1"/>
          <p:nvPr/>
        </p:nvSpPr>
        <p:spPr>
          <a:xfrm>
            <a:off x="242596" y="845859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4EA72E"/>
                </a:solidFill>
                <a:latin typeface="Noto Sans KR"/>
                <a:ea typeface="Noto Sans KR"/>
                <a:cs typeface="Noto Sans KR"/>
                <a:sym typeface="Noto Sans KR"/>
              </a:rPr>
              <a:t>CLAHE (Contrast Limiting Adaptive Histogram Equalization)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27fb62fb628_0_6"/>
          <p:cNvSpPr txBox="1"/>
          <p:nvPr/>
        </p:nvSpPr>
        <p:spPr>
          <a:xfrm>
            <a:off x="336971" y="1443758"/>
            <a:ext cx="986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2" name="Google Shape;92;g27fb62fb628_0_6"/>
          <p:cNvSpPr txBox="1"/>
          <p:nvPr/>
        </p:nvSpPr>
        <p:spPr>
          <a:xfrm>
            <a:off x="336975" y="1406700"/>
            <a:ext cx="11034300" cy="29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latin typeface="Noto Sans KR"/>
                <a:ea typeface="Noto Sans KR"/>
                <a:cs typeface="Noto Sans KR"/>
                <a:sym typeface="Noto Sans KR"/>
              </a:rPr>
              <a:t>영상 전체에 이퀄라이즈를 적용했을 때 너무 밝은 부분이 날아가는 현상을 막기 위해 영상을 일정한 영역으로 나눠서 이퀄라이즈를 적용하는 것으로, 노이즈가 증폭되는 것을 막기 위해 어느 히스토그램 계급(bin)이든 지정된 제한 값을 넘으면 그 픽셀은 다른 계급으로 배분하고 나서 이퀄라이즈를 적용</a:t>
            </a:r>
            <a:endParaRPr sz="16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latin typeface="Noto Sans KR"/>
                <a:ea typeface="Noto Sans KR"/>
                <a:cs typeface="Noto Sans KR"/>
                <a:sym typeface="Noto Sans KR"/>
              </a:rPr>
              <a:t>※ 이퀄라이즈 : 히스토그램으로 빈도를 구해서 그것을 노멀라이즈한 후, 누적값을 전체 개수로 나누어 나온 결과 값을 히스토그램 원래 픽셀 값에 매핑 / 각각의 값이 전체 분포에 차지하는 비중에 따라 분포를 재분배하기 때문에, 명암 대비(contrast) 개선에 효과적</a:t>
            </a:r>
            <a:endParaRPr sz="16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93" name="Google Shape;93;g27fb62fb628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9213" y="3990963"/>
            <a:ext cx="3362325" cy="256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g27fb62fb628_0_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62287" y="3979050"/>
            <a:ext cx="7036650" cy="22221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g27fb62fb628_0_6"/>
          <p:cNvSpPr txBox="1"/>
          <p:nvPr/>
        </p:nvSpPr>
        <p:spPr>
          <a:xfrm>
            <a:off x="5197875" y="6275100"/>
            <a:ext cx="6173400" cy="2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clipLimit=3, gridsize=(16,16)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7fb62fb628_0_92"/>
          <p:cNvSpPr txBox="1"/>
          <p:nvPr/>
        </p:nvSpPr>
        <p:spPr>
          <a:xfrm>
            <a:off x="266400" y="85425"/>
            <a:ext cx="116592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Noto Sans KR"/>
                <a:ea typeface="Noto Sans KR"/>
                <a:cs typeface="Noto Sans KR"/>
                <a:sym typeface="Noto Sans KR"/>
              </a:rPr>
              <a:t>이러한 증강을 통해 식별하기 어려운 scratch, dent 등의 class 의 구분을 더 용이하게 하고자 목표했으나 성능에 있어 큰 차이를 보이지 못함</a:t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2" name="Google Shape;102;g27fb62fb628_0_92"/>
          <p:cNvSpPr txBox="1"/>
          <p:nvPr/>
        </p:nvSpPr>
        <p:spPr>
          <a:xfrm>
            <a:off x="2187450" y="6504000"/>
            <a:ext cx="7817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기존 사용하던 증강 방법 </a:t>
            </a:r>
            <a:r>
              <a:rPr lang="en-US" sz="1100">
                <a:solidFill>
                  <a:srgbClr val="757575"/>
                </a:solidFill>
                <a:latin typeface="Noto Sans KR"/>
                <a:ea typeface="Noto Sans KR"/>
                <a:cs typeface="Noto Sans KR"/>
                <a:sym typeface="Noto Sans KR"/>
              </a:rPr>
              <a:t>(brightness, cameraz, lightness, flip ) </a:t>
            </a:r>
            <a:r>
              <a:rPr lang="en-US" sz="11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+ </a:t>
            </a:r>
            <a:r>
              <a:rPr lang="en-US" sz="1100">
                <a:solidFill>
                  <a:srgbClr val="4EA72E"/>
                </a:solidFill>
                <a:latin typeface="Noto Sans KR"/>
                <a:ea typeface="Noto Sans KR"/>
                <a:cs typeface="Noto Sans KR"/>
                <a:sym typeface="Noto Sans KR"/>
              </a:rPr>
              <a:t>clahe </a:t>
            </a:r>
            <a:r>
              <a:rPr lang="en-US" sz="11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를 적용하여 full learning 을 수행한 결과</a:t>
            </a:r>
            <a:endParaRPr sz="11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03" name="Google Shape;103;g27fb62fb628_0_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4275" y="3620275"/>
            <a:ext cx="2846425" cy="298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g27fb62fb628_0_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4275" y="434819"/>
            <a:ext cx="2846425" cy="2962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g27fb62fb628_0_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70862" y="3675100"/>
            <a:ext cx="2754331" cy="2878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g27fb62fb628_0_9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64665" y="518775"/>
            <a:ext cx="2766710" cy="2878124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g27fb62fb628_0_92"/>
          <p:cNvSpPr txBox="1"/>
          <p:nvPr/>
        </p:nvSpPr>
        <p:spPr>
          <a:xfrm>
            <a:off x="2187450" y="3396900"/>
            <a:ext cx="7817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기존 사용하던 증강 방법 </a:t>
            </a:r>
            <a:r>
              <a:rPr lang="en-US" sz="1100">
                <a:solidFill>
                  <a:srgbClr val="757575"/>
                </a:solidFill>
                <a:latin typeface="Noto Sans KR"/>
                <a:ea typeface="Noto Sans KR"/>
                <a:cs typeface="Noto Sans KR"/>
                <a:sym typeface="Noto Sans KR"/>
              </a:rPr>
              <a:t>(brightness, cameraz, lightness, flip ) </a:t>
            </a:r>
            <a:r>
              <a:rPr lang="en-US" sz="11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적용하여 full learning 을 수행한 결과</a:t>
            </a:r>
            <a:endParaRPr sz="11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8" name="Google Shape;108;g27fb62fb628_0_92"/>
          <p:cNvSpPr txBox="1"/>
          <p:nvPr/>
        </p:nvSpPr>
        <p:spPr>
          <a:xfrm>
            <a:off x="-199250" y="3879900"/>
            <a:ext cx="52500" cy="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9" name="Google Shape;109;g27fb62fb628_0_92"/>
          <p:cNvSpPr txBox="1"/>
          <p:nvPr/>
        </p:nvSpPr>
        <p:spPr>
          <a:xfrm>
            <a:off x="929075" y="3648600"/>
            <a:ext cx="1902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ResNet50</a:t>
            </a:r>
            <a:endParaRPr sz="11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0" name="Google Shape;110;g27fb62fb628_0_92"/>
          <p:cNvSpPr/>
          <p:nvPr/>
        </p:nvSpPr>
        <p:spPr>
          <a:xfrm>
            <a:off x="2327900" y="2001000"/>
            <a:ext cx="587400" cy="3649200"/>
          </a:xfrm>
          <a:prstGeom prst="leftBrace">
            <a:avLst>
              <a:gd fmla="val 155312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1" name="Google Shape;111;g27fb62fb628_0_92"/>
          <p:cNvSpPr txBox="1"/>
          <p:nvPr/>
        </p:nvSpPr>
        <p:spPr>
          <a:xfrm flipH="1">
            <a:off x="9422975" y="3648600"/>
            <a:ext cx="1902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ResNet101</a:t>
            </a:r>
            <a:endParaRPr sz="11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2" name="Google Shape;112;g27fb62fb628_0_92"/>
          <p:cNvSpPr/>
          <p:nvPr/>
        </p:nvSpPr>
        <p:spPr>
          <a:xfrm flipH="1">
            <a:off x="9202725" y="2001000"/>
            <a:ext cx="587400" cy="3649200"/>
          </a:xfrm>
          <a:prstGeom prst="leftBrace">
            <a:avLst>
              <a:gd fmla="val 155312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7fb62fb628_2_9"/>
          <p:cNvSpPr txBox="1"/>
          <p:nvPr/>
        </p:nvSpPr>
        <p:spPr>
          <a:xfrm>
            <a:off x="6642025" y="2811850"/>
            <a:ext cx="5133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Noto Sans KR"/>
                <a:ea typeface="Noto Sans KR"/>
                <a:cs typeface="Noto Sans KR"/>
                <a:sym typeface="Noto Sans KR"/>
              </a:rPr>
              <a:t>추가적으로 모델을 변경하여 full learning 을 진행해보았으나 VIT 모델보다는 ResNet 계열의 성능이 높았고</a:t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Noto Sans KR"/>
                <a:ea typeface="Noto Sans KR"/>
                <a:cs typeface="Noto Sans KR"/>
                <a:sym typeface="Noto Sans KR"/>
              </a:rPr>
              <a:t>50과 101 간 큰 유의미한 차이를 보이지 않음</a:t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9" name="Google Shape;119;g27fb62fb628_2_9"/>
          <p:cNvSpPr txBox="1"/>
          <p:nvPr/>
        </p:nvSpPr>
        <p:spPr>
          <a:xfrm>
            <a:off x="-199250" y="3879900"/>
            <a:ext cx="52500" cy="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20" name="Google Shape;120;g27fb62fb628_2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400" y="241200"/>
            <a:ext cx="6225424" cy="6344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7fb62fb628_2_26"/>
          <p:cNvSpPr txBox="1"/>
          <p:nvPr/>
        </p:nvSpPr>
        <p:spPr>
          <a:xfrm>
            <a:off x="242596" y="227177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BALD를 변형하여 실험</a:t>
            </a:r>
            <a:endParaRPr b="1" i="0" sz="16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27" name="Google Shape;127;g27fb62fb628_2_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575" y="1281115"/>
            <a:ext cx="4229100" cy="429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27fb62fb628_2_26"/>
          <p:cNvSpPr txBox="1"/>
          <p:nvPr/>
        </p:nvSpPr>
        <p:spPr>
          <a:xfrm>
            <a:off x="4901300" y="2098775"/>
            <a:ext cx="71682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9900"/>
                </a:solidFill>
                <a:latin typeface="Noto Sans KR"/>
                <a:ea typeface="Noto Sans KR"/>
                <a:cs typeface="Noto Sans KR"/>
                <a:sym typeface="Noto Sans KR"/>
              </a:rPr>
              <a:t>margin</a:t>
            </a: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: source domain 만을 이용하여 margin 적용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CC0000"/>
                </a:solidFill>
                <a:latin typeface="Noto Sans KR"/>
                <a:ea typeface="Noto Sans KR"/>
                <a:cs typeface="Noto Sans KR"/>
                <a:sym typeface="Noto Sans KR"/>
              </a:rPr>
              <a:t>bald</a:t>
            </a:r>
            <a:r>
              <a:rPr lang="en-US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: source domain 만을 이용하여 BALD 방법 적용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EA72E"/>
                </a:solidFill>
                <a:latin typeface="Noto Sans KR"/>
                <a:ea typeface="Noto Sans KR"/>
                <a:cs typeface="Noto Sans KR"/>
                <a:sym typeface="Noto Sans KR"/>
              </a:rPr>
              <a:t>aug</a:t>
            </a: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: (augmentation 들의 entropy 평균) - (augmentation 들의 평균 예측 분포 entropy)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4A86E8"/>
                </a:solidFill>
                <a:latin typeface="Noto Sans KR"/>
                <a:ea typeface="Noto Sans KR"/>
                <a:cs typeface="Noto Sans KR"/>
                <a:sym typeface="Noto Sans KR"/>
              </a:rPr>
              <a:t>aug_bald</a:t>
            </a:r>
            <a:r>
              <a:rPr lang="en-US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: aug 방법 + dropout 0.5 적용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9" name="Google Shape;129;g27fb62fb628_2_26"/>
          <p:cNvSpPr txBox="1"/>
          <p:nvPr/>
        </p:nvSpPr>
        <p:spPr>
          <a:xfrm>
            <a:off x="4901300" y="1595450"/>
            <a:ext cx="7168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dropout = 0.5 로 설정하여 실험 진행 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0" name="Google Shape;130;g27fb62fb628_2_26"/>
          <p:cNvSpPr txBox="1"/>
          <p:nvPr/>
        </p:nvSpPr>
        <p:spPr>
          <a:xfrm>
            <a:off x="4901300" y="4133125"/>
            <a:ext cx="7168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source domain 만을 사용하는 기본적인 active learning 방법들의 성능이 더 좋음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augmentation + dropout 을 사용한 aug_bald 방법은 초반에는 나쁘지 않은 증가율을</a:t>
            </a:r>
            <a:b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보였으나 점점 학습 성장이 더딤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1" name="Google Shape;131;g27fb62fb628_2_26"/>
          <p:cNvSpPr txBox="1"/>
          <p:nvPr/>
        </p:nvSpPr>
        <p:spPr>
          <a:xfrm>
            <a:off x="242600" y="596475"/>
            <a:ext cx="1134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augmentation 의 divergence = aleatoric , MC dropout = epistemic 으로 간주한다는 가정에 기반하여 active learing 진행</a:t>
            </a:r>
            <a:endParaRPr sz="13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f097121dcf_0_0"/>
          <p:cNvSpPr txBox="1"/>
          <p:nvPr/>
        </p:nvSpPr>
        <p:spPr>
          <a:xfrm>
            <a:off x="242601" y="244600"/>
            <a:ext cx="11949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4EA72E"/>
                </a:solidFill>
                <a:latin typeface="Noto Sans KR"/>
                <a:ea typeface="Noto Sans KR"/>
                <a:cs typeface="Noto Sans KR"/>
                <a:sym typeface="Noto Sans KR"/>
              </a:rPr>
              <a:t>1) Improved Domain Generalization for Cell Detection in Histopathology Images via Test Time Stain Augmentation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g2f097121dcf_0_0"/>
          <p:cNvSpPr txBox="1"/>
          <p:nvPr/>
        </p:nvSpPr>
        <p:spPr>
          <a:xfrm>
            <a:off x="0" y="1440500"/>
            <a:ext cx="12192000" cy="36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/>
              <a:t>문제 상황</a:t>
            </a:r>
            <a:endParaRPr b="1"/>
          </a:p>
          <a:p>
            <a:pPr indent="-3175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병리학 이미지는</a:t>
            </a:r>
            <a:r>
              <a:rPr lang="en-US"/>
              <a:t> 다양한 색으로 세포가 염색되는데 이 때문에 의료 이미지가 여러가지 색상으로 나타날 수 있음 (domain shift)</a:t>
            </a:r>
            <a:endParaRPr/>
          </a:p>
          <a:p>
            <a:pPr indent="-3175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기존에는 훈련 과정에서 이미지 색상을 조정하거나 증강하는 방식이 사용되지만, 이러한 접근법이 실제 테스트 이미지와 유사하거나 최적화되었다는 보장이 없음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-US"/>
              <a:t>제안하는 방법</a:t>
            </a:r>
            <a:endParaRPr b="1"/>
          </a:p>
          <a:p>
            <a:pPr indent="-3175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테스트 시 이미지의 염색 색상을 다양하게 조정하는 방식으로 도메인 일반화</a:t>
            </a:r>
            <a:endParaRPr/>
          </a:p>
          <a:p>
            <a:pPr indent="-3175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테스트 이미지의 염색 색상을 원본 이미지 색상과 혼합하여 훈련에 사용된 이미지와 더 유사하게 변형</a:t>
            </a:r>
            <a:endParaRPr/>
          </a:p>
          <a:p>
            <a:pPr indent="-2921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romanLcPeriod"/>
            </a:pPr>
            <a:r>
              <a:rPr lang="en-US"/>
              <a:t>훈련 데이터셋에서 색상 관련 벡터 (염색 색상 행렬, 염색 밀도 맵 사용) 들의 평균을 구하여 이를 Source 의 가장 대표적인 style 로 간주</a:t>
            </a:r>
            <a:endParaRPr/>
          </a:p>
          <a:p>
            <a:pPr indent="-2921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romanLcPeriod"/>
            </a:pPr>
            <a:r>
              <a:rPr lang="en-US"/>
              <a:t>구한 Source의 색상 벡터와 target image 의 색상 벡터를 여러가지 비율로 혼합하여 테스트 이미지 변형</a:t>
            </a:r>
            <a:endParaRPr/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-US"/>
              <a:t>혼합 비율을 N개의 랜덤한 숫자로 적용</a:t>
            </a:r>
            <a:endParaRPr/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-US"/>
              <a:t>모든 색상 augmentation 이 좋은 augmentation 은 아닐 수도 있으므로 가장 confidence 한 K 개의 예측 결과만 최종적으로 반영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f0e1b695ad_0_1"/>
          <p:cNvSpPr txBox="1"/>
          <p:nvPr/>
        </p:nvSpPr>
        <p:spPr>
          <a:xfrm>
            <a:off x="242596" y="244609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4EA72E"/>
                </a:solidFill>
                <a:latin typeface="Noto Sans KR"/>
                <a:ea typeface="Noto Sans KR"/>
                <a:cs typeface="Noto Sans KR"/>
                <a:sym typeface="Noto Sans KR"/>
              </a:rPr>
              <a:t>2) Learning Loss for Test Time Augmentation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g2f0e1b695ad_0_1"/>
          <p:cNvSpPr txBox="1"/>
          <p:nvPr/>
        </p:nvSpPr>
        <p:spPr>
          <a:xfrm>
            <a:off x="242600" y="1861000"/>
            <a:ext cx="10701000" cy="48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KR"/>
              <a:buChar char="●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본 논문은 Test Time Augmentation 시 적합한 Augmentation을 효율적으로 선택하는 방법 제안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Augmented input 에 대해 각각 가능한 Loss 를 예측하는 보조 네트워크 생성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-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Loss 값은 인스턴스마다 범위가 다르므로 인스턴스당 augment 별 Loss 순위를 학습하는 방향으로 이루어짐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-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스피어만 순위 상관 계수를 이용해 훈련시키는데 이는 미분 불가능하므로 RNN 을 이용하여 근사?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-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본 연구에서는 EfficientNet-B0 선택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-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텍스처, 색상 등 저수준 특징을 학습하고자 함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예측된 Loss 중 Loss 값이 낮을 것으로 추정되는 K개의 Augmented input 을 입력에 적용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Augmented Input 들의 예측 결과를 평균하여 최종 결과 획득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사용한 augmentation 방법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AutoNum type="alphaLcPeriod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원본 / (-20,20) rotation / (0.8,1.2) zoom / (0.5,2.0) color enhance / contrast 조정 / (0.2,0.5,3.0,4.0) sharpness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-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본 논문이 기여한 점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-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augmentation 방법 별 각 이미지에 미치는 효과를 측정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-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네트워크를 분리함으로써 적은 계산량으로도 적절한 transformation 을 선택하는데 도움을 줌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46" name="Google Shape;146;g2f0e1b695ad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43950" y="244588"/>
            <a:ext cx="3448050" cy="187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f0e1b695ad_0_12"/>
          <p:cNvSpPr txBox="1"/>
          <p:nvPr/>
        </p:nvSpPr>
        <p:spPr>
          <a:xfrm>
            <a:off x="242596" y="244609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4EA72E"/>
                </a:solidFill>
                <a:latin typeface="Noto Sans KR"/>
                <a:ea typeface="Noto Sans KR"/>
                <a:cs typeface="Noto Sans KR"/>
                <a:sym typeface="Noto Sans KR"/>
              </a:rPr>
              <a:t>3) MEMO: Test Time Robustness via Adaptation and Augmentation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g2f0e1b695ad_0_12"/>
          <p:cNvSpPr txBox="1"/>
          <p:nvPr/>
        </p:nvSpPr>
        <p:spPr>
          <a:xfrm>
            <a:off x="242600" y="1512000"/>
            <a:ext cx="10424100" cy="3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-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딱 1장의 target domain만 존재하는 상황에서 adaptation 하는 문제 상황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-"/>
            </a:pPr>
            <a:r>
              <a:rPr lang="en-US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MEMO는</a:t>
            </a: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-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1장의 타겟 이미지를 여러 번 증강하여 각 증강된 이미지들에 대한 모델의 예측을 평균낸 값을 최소화 하여 adaptation 진행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-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이때, update하는 방식은 </a:t>
            </a:r>
            <a:r>
              <a:rPr lang="en-US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각 증강된 타겟 이미지들의 평균과 분산을 계산한 후, training phase에서 계산된 평균과 분산값을 특정 비율로 다시 계산하여 BN의 평균과 분산 업데이트</a:t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KR"/>
              <a:buChar char="-"/>
            </a:pPr>
            <a:r>
              <a:rPr lang="en-US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이렇게 구한 BN의 파라미터 값으로 최종적으로 모델 아웃풋 도출 후, ‘딱 한번’ loss 계산 후, 모델 파라미터 업데이트</a:t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KR"/>
              <a:buChar char="-"/>
            </a:pPr>
            <a:r>
              <a:rPr lang="en-US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이 과정을 통해 모델이 target domain에 맞도록 shift 되어 타겟 도메인에도 강건한 성능을 보임</a:t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54" name="Google Shape;154;g2f0e1b695ad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200" y="4486473"/>
            <a:ext cx="6505049" cy="175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g2f0e1b695ad_0_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48474" y="5069313"/>
            <a:ext cx="2609850" cy="59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f0e1b695ad_0_18"/>
          <p:cNvSpPr txBox="1"/>
          <p:nvPr/>
        </p:nvSpPr>
        <p:spPr>
          <a:xfrm>
            <a:off x="242601" y="244600"/>
            <a:ext cx="1163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4EA72E"/>
                </a:solidFill>
                <a:latin typeface="Noto Sans KR"/>
                <a:ea typeface="Noto Sans KR"/>
                <a:cs typeface="Noto Sans KR"/>
                <a:sym typeface="Noto Sans KR"/>
              </a:rPr>
              <a:t>4) Efficient improvement of classification accuracy via selective test-time augmentation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" name="Google Shape;162;g2f0e1b695ad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6063" y="907225"/>
            <a:ext cx="7648575" cy="284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g2f0e1b695ad_0_18"/>
          <p:cNvSpPr txBox="1"/>
          <p:nvPr/>
        </p:nvSpPr>
        <p:spPr>
          <a:xfrm>
            <a:off x="242600" y="3959125"/>
            <a:ext cx="10701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4" name="Google Shape;164;g2f0e1b695ad_0_18"/>
          <p:cNvSpPr txBox="1"/>
          <p:nvPr/>
        </p:nvSpPr>
        <p:spPr>
          <a:xfrm>
            <a:off x="242600" y="4048525"/>
            <a:ext cx="10701000" cy="16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-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Test 시 인스턴스의 entropy 값이 일정 threshold 값 미만이면 -&gt; 원본 인스턴스의 예측값을 그대로 사용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-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entropy 값이 일정 threshold 값 이상이면 -&gt; 원본 + augmented 된 이미지들 의 예측들 중 voting 을 이용해 클래스 결정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-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Threshold 결정 방법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-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Validation set 을 사용 가능한 경우: 불확실성이 임계값보다 큰 이미지의 비율이 원하는 수준 이상이 되도록 조정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-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Validation set 을 사용 불가능한 경우: 불확실성 측정 방법에 따라 적절히 조정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-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본 논문에서는 Test set 중 불확실성이 가장 높은 v% 개의 이미지만 TTA를 적용하도록 설정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7890a8e1c6_0_0"/>
          <p:cNvSpPr txBox="1"/>
          <p:nvPr/>
        </p:nvSpPr>
        <p:spPr>
          <a:xfrm>
            <a:off x="242596" y="227177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보완점</a:t>
            </a:r>
            <a:endParaRPr b="1" i="0" sz="16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1" name="Google Shape;171;g27890a8e1c6_0_0"/>
          <p:cNvSpPr txBox="1"/>
          <p:nvPr/>
        </p:nvSpPr>
        <p:spPr>
          <a:xfrm>
            <a:off x="242596" y="1074459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EA72E"/>
                </a:solidFill>
                <a:latin typeface="Noto Sans KR"/>
                <a:ea typeface="Noto Sans KR"/>
                <a:cs typeface="Noto Sans KR"/>
                <a:sym typeface="Noto Sans KR"/>
              </a:rPr>
              <a:t>추후 연구 방향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27890a8e1c6_0_0"/>
          <p:cNvSpPr txBox="1"/>
          <p:nvPr/>
        </p:nvSpPr>
        <p:spPr>
          <a:xfrm>
            <a:off x="336971" y="1443758"/>
            <a:ext cx="986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3" name="Google Shape;173;g27890a8e1c6_0_0"/>
          <p:cNvSpPr txBox="1"/>
          <p:nvPr/>
        </p:nvSpPr>
        <p:spPr>
          <a:xfrm>
            <a:off x="242600" y="1594750"/>
            <a:ext cx="10701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Noto Sans KR"/>
                <a:ea typeface="Noto Sans KR"/>
                <a:cs typeface="Noto Sans KR"/>
                <a:sym typeface="Noto Sans KR"/>
              </a:rPr>
              <a:t>- aleatoric 과 성능의 연관성</a:t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Noto Sans KR"/>
                <a:ea typeface="Noto Sans KR"/>
                <a:cs typeface="Noto Sans KR"/>
                <a:sym typeface="Noto Sans KR"/>
              </a:rPr>
              <a:t>- MEMO 방법으로 평균, 분산 구해서 구한 최종 아웃풋의 엔트로피가 어떤 의미를 가질 것인가</a:t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Noto Sans KR"/>
                <a:ea typeface="Noto Sans KR"/>
                <a:cs typeface="Noto Sans KR"/>
                <a:sym typeface="Noto Sans KR"/>
              </a:rPr>
              <a:t>	- domain shift 에 대한 불확실성이라고 할 수 있는지 의문</a:t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2024-05-05T08:04:52Z</dcterms:created>
  <dc:creator>김나연</dc:creator>
</cp:coreProperties>
</file>