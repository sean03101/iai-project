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9144000"/>
  <p:embeddedFontLst>
    <p:embeddedFont>
      <p:font typeface="Noto Sans KR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23" roundtripDataSignature="AMtx7mikoq1L4tEgnQ7YfJ5BVv/pETYV1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NotoSansKR-bold.fntdata"/><Relationship Id="rId10" Type="http://schemas.openxmlformats.org/officeDocument/2006/relationships/slide" Target="slides/slide5.xml"/><Relationship Id="rId21" Type="http://schemas.openxmlformats.org/officeDocument/2006/relationships/font" Target="fonts/NotoSansKR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175c13a6e3_0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g3175c13a6e3_0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g3175c13a6e3_0_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18b9aacfda_0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g318b9aacfda_0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" name="Google Shape;108;g318b9aacfda_0_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18b9aacfda_0_2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g318b9aacfda_0_2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7" name="Google Shape;127;g318b9aacfda_0_24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18b9aacfda_0_2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g318b9aacfda_0_2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하지만 </a:t>
            </a:r>
            <a:r>
              <a:rPr lang="en-US"/>
              <a:t>feature map </a:t>
            </a:r>
            <a:r>
              <a:rPr lang="en-US"/>
              <a:t>어떻게 비교해야 좋을지 모르겠음</a:t>
            </a:r>
            <a:endParaRPr/>
          </a:p>
        </p:txBody>
      </p:sp>
      <p:sp>
        <p:nvSpPr>
          <p:cNvPr id="140" name="Google Shape;140;g318b9aacfda_0_27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18b9aacfda_0_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g318b9aacfda_0_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3" name="Google Shape;153;g318b9aacfda_0_4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18b9aacfda_0_2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g318b9aacfda_0_20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0" name="Google Shape;190;g318b9aacfda_0_20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1914e9eb23_3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g31914e9eb23_3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" name="Google Shape;201;g31914e9eb23_3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18b9aacfda_0_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g318b9aacfda_0_9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2" name="Google Shape;212;g318b9aacfda_0_9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175c13a6e3_2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5" name="Google Shape;255;g3175c13a6e3_2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1914e9eb23_0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3" name="Google Shape;263;g31914e9eb23_0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175c13a6e3_2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6" name="Google Shape;276;g3175c13a6e3_2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17e8d1f02e_3_18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6" name="Google Shape;296;g317e8d1f02e_3_1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17e8d1f02e_3_2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3" name="Google Shape;303;g317e8d1f02e_3_2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17e8d1f02e_3_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1" name="Google Shape;321;g317e8d1f02e_3_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175c13a6e3_2_1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8" name="Google Shape;328;g3175c13a6e3_2_1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4" name="Google Shape;24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4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175c13a6e3_0_25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8135"/>
              </a:buClr>
              <a:buSzPts val="1800"/>
              <a:buFont typeface="Noto Sans KR"/>
              <a:buChar char="-"/>
            </a:pPr>
            <a:r>
              <a:rPr b="1" i="0" lang="en-US" sz="1800" u="none" cap="none" strike="noStrike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BatchNorm Statistics 이용</a:t>
            </a:r>
            <a:endParaRPr b="1" i="0" sz="1400" u="none" cap="none" strike="noStrike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g3175c13a6e3_0_25"/>
          <p:cNvSpPr txBox="1"/>
          <p:nvPr/>
        </p:nvSpPr>
        <p:spPr>
          <a:xfrm>
            <a:off x="242600" y="583884"/>
            <a:ext cx="10701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📍 </a:t>
            </a:r>
            <a:r>
              <a:rPr b="1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MSELoss</a:t>
            </a: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(pretrain mean, test  image mean) + </a:t>
            </a:r>
            <a:r>
              <a:rPr b="1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MSELoss</a:t>
            </a: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(pretrain var, test image var) 값이 가장 작은 augmented image </a:t>
            </a:r>
            <a:r>
              <a:rPr b="1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하나만 </a:t>
            </a: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선택</a:t>
            </a:r>
            <a:b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      앞서 사용했던 repeat 으로만 train 한 M0 모델의 batchnorm statistics 와 비교하여 차이가 가장 작은 image 선택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g3175c13a6e3_0_25"/>
          <p:cNvSpPr txBox="1"/>
          <p:nvPr/>
        </p:nvSpPr>
        <p:spPr>
          <a:xfrm>
            <a:off x="387650" y="1520138"/>
            <a:ext cx="10759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이전 실험에서는 모든 batchnorm layer (104개)를 사용 -&gt; 너무 많은 레이어를 사용한다는 문제점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92" name="Google Shape;92;g3175c13a6e3_0_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164" y="2067272"/>
            <a:ext cx="4827117" cy="1421716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g3175c13a6e3_0_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2925" y="3371250"/>
            <a:ext cx="8577350" cy="174227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g3175c13a6e3_0_25"/>
          <p:cNvSpPr txBox="1"/>
          <p:nvPr/>
        </p:nvSpPr>
        <p:spPr>
          <a:xfrm>
            <a:off x="2136754" y="2726163"/>
            <a:ext cx="128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200">
                <a:solidFill>
                  <a:srgbClr val="6D9EEB"/>
                </a:solidFill>
                <a:latin typeface="Noto Sans KR"/>
                <a:ea typeface="Noto Sans KR"/>
                <a:cs typeface="Noto Sans KR"/>
                <a:sym typeface="Noto Sans KR"/>
              </a:rPr>
              <a:t>conv block</a:t>
            </a:r>
            <a:endParaRPr sz="1200">
              <a:solidFill>
                <a:srgbClr val="6D9EEB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95" name="Google Shape;95;g3175c13a6e3_0_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66000" y="2337400"/>
            <a:ext cx="4847306" cy="103384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g3175c13a6e3_0_25"/>
          <p:cNvSpPr txBox="1"/>
          <p:nvPr/>
        </p:nvSpPr>
        <p:spPr>
          <a:xfrm>
            <a:off x="7235779" y="2721107"/>
            <a:ext cx="128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200">
                <a:solidFill>
                  <a:srgbClr val="E06666"/>
                </a:solidFill>
                <a:latin typeface="Noto Sans KR"/>
                <a:ea typeface="Noto Sans KR"/>
                <a:cs typeface="Noto Sans KR"/>
                <a:sym typeface="Noto Sans KR"/>
              </a:rPr>
              <a:t>identity block</a:t>
            </a:r>
            <a:endParaRPr sz="1200">
              <a:solidFill>
                <a:srgbClr val="E0666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97" name="Google Shape;97;g3175c13a6e3_0_25"/>
          <p:cNvCxnSpPr/>
          <p:nvPr/>
        </p:nvCxnSpPr>
        <p:spPr>
          <a:xfrm>
            <a:off x="5452850" y="2179200"/>
            <a:ext cx="0" cy="111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" name="Google Shape;98;g3175c13a6e3_0_25"/>
          <p:cNvSpPr txBox="1"/>
          <p:nvPr/>
        </p:nvSpPr>
        <p:spPr>
          <a:xfrm>
            <a:off x="4811604" y="5113513"/>
            <a:ext cx="128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200">
                <a:latin typeface="Noto Sans KR"/>
                <a:ea typeface="Noto Sans KR"/>
                <a:cs typeface="Noto Sans KR"/>
                <a:sym typeface="Noto Sans KR"/>
              </a:rPr>
              <a:t>ResNet101 구조</a:t>
            </a:r>
            <a:endParaRPr sz="12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9" name="Google Shape;99;g3175c13a6e3_0_25"/>
          <p:cNvSpPr txBox="1"/>
          <p:nvPr/>
        </p:nvSpPr>
        <p:spPr>
          <a:xfrm>
            <a:off x="324725" y="5650600"/>
            <a:ext cx="10759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모든 레이어 대신 한 블록의 마지막 batchnorm layer (5개) 만 사용하도록 수정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0" name="Google Shape;100;g3175c13a6e3_0_25"/>
          <p:cNvSpPr txBox="1"/>
          <p:nvPr/>
        </p:nvSpPr>
        <p:spPr>
          <a:xfrm>
            <a:off x="2348900" y="4844650"/>
            <a:ext cx="71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1️⃣</a:t>
            </a:r>
            <a:endParaRPr sz="1800"/>
          </a:p>
        </p:txBody>
      </p:sp>
      <p:sp>
        <p:nvSpPr>
          <p:cNvPr id="101" name="Google Shape;101;g3175c13a6e3_0_25"/>
          <p:cNvSpPr txBox="1"/>
          <p:nvPr/>
        </p:nvSpPr>
        <p:spPr>
          <a:xfrm>
            <a:off x="4173500" y="4844650"/>
            <a:ext cx="71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2️⃣</a:t>
            </a:r>
            <a:endParaRPr sz="1800"/>
          </a:p>
        </p:txBody>
      </p:sp>
      <p:sp>
        <p:nvSpPr>
          <p:cNvPr id="102" name="Google Shape;102;g3175c13a6e3_0_25"/>
          <p:cNvSpPr txBox="1"/>
          <p:nvPr/>
        </p:nvSpPr>
        <p:spPr>
          <a:xfrm>
            <a:off x="5253575" y="4844650"/>
            <a:ext cx="713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3️⃣</a:t>
            </a:r>
            <a:endParaRPr sz="1900"/>
          </a:p>
        </p:txBody>
      </p:sp>
      <p:sp>
        <p:nvSpPr>
          <p:cNvPr id="103" name="Google Shape;103;g3175c13a6e3_0_25"/>
          <p:cNvSpPr txBox="1"/>
          <p:nvPr/>
        </p:nvSpPr>
        <p:spPr>
          <a:xfrm>
            <a:off x="6333650" y="4844650"/>
            <a:ext cx="713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4️⃣</a:t>
            </a:r>
            <a:endParaRPr sz="1900"/>
          </a:p>
        </p:txBody>
      </p:sp>
      <p:sp>
        <p:nvSpPr>
          <p:cNvPr id="104" name="Google Shape;104;g3175c13a6e3_0_25"/>
          <p:cNvSpPr txBox="1"/>
          <p:nvPr/>
        </p:nvSpPr>
        <p:spPr>
          <a:xfrm>
            <a:off x="7329825" y="4844650"/>
            <a:ext cx="713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5️⃣</a:t>
            </a:r>
            <a:endParaRPr sz="1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18b9aacfda_0_18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8135"/>
              </a:buClr>
              <a:buSzPts val="1800"/>
              <a:buFont typeface="Noto Sans KR"/>
              <a:buChar char="-"/>
            </a:pPr>
            <a:r>
              <a:rPr b="1" i="0" lang="en-US" sz="1800" u="none" cap="none" strike="noStrike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BatchNorm Statistics 이용</a:t>
            </a:r>
            <a:endParaRPr b="1" i="0" sz="1400" u="none" cap="none" strike="noStrike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1" name="Google Shape;111;g318b9aacfda_0_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614" y="790772"/>
            <a:ext cx="4827117" cy="14217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g318b9aacfda_0_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4375" y="2094750"/>
            <a:ext cx="8577350" cy="174227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g318b9aacfda_0_18"/>
          <p:cNvSpPr txBox="1"/>
          <p:nvPr/>
        </p:nvSpPr>
        <p:spPr>
          <a:xfrm>
            <a:off x="2168204" y="1449663"/>
            <a:ext cx="128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200">
                <a:solidFill>
                  <a:srgbClr val="6D9EEB"/>
                </a:solidFill>
                <a:latin typeface="Noto Sans KR"/>
                <a:ea typeface="Noto Sans KR"/>
                <a:cs typeface="Noto Sans KR"/>
                <a:sym typeface="Noto Sans KR"/>
              </a:rPr>
              <a:t>conv block</a:t>
            </a:r>
            <a:endParaRPr sz="1200">
              <a:solidFill>
                <a:srgbClr val="6D9EEB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14" name="Google Shape;114;g318b9aacfda_0_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97450" y="1060900"/>
            <a:ext cx="4847306" cy="1033841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g318b9aacfda_0_18"/>
          <p:cNvSpPr txBox="1"/>
          <p:nvPr/>
        </p:nvSpPr>
        <p:spPr>
          <a:xfrm>
            <a:off x="7267229" y="1444607"/>
            <a:ext cx="128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200">
                <a:solidFill>
                  <a:srgbClr val="E06666"/>
                </a:solidFill>
                <a:latin typeface="Noto Sans KR"/>
                <a:ea typeface="Noto Sans KR"/>
                <a:cs typeface="Noto Sans KR"/>
                <a:sym typeface="Noto Sans KR"/>
              </a:rPr>
              <a:t>identity block</a:t>
            </a:r>
            <a:endParaRPr sz="1200">
              <a:solidFill>
                <a:srgbClr val="E0666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116" name="Google Shape;116;g318b9aacfda_0_18"/>
          <p:cNvCxnSpPr/>
          <p:nvPr/>
        </p:nvCxnSpPr>
        <p:spPr>
          <a:xfrm>
            <a:off x="5484300" y="902700"/>
            <a:ext cx="0" cy="111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7" name="Google Shape;117;g318b9aacfda_0_18"/>
          <p:cNvSpPr txBox="1"/>
          <p:nvPr/>
        </p:nvSpPr>
        <p:spPr>
          <a:xfrm>
            <a:off x="4843054" y="3837013"/>
            <a:ext cx="128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200">
                <a:latin typeface="Noto Sans KR"/>
                <a:ea typeface="Noto Sans KR"/>
                <a:cs typeface="Noto Sans KR"/>
                <a:sym typeface="Noto Sans KR"/>
              </a:rPr>
              <a:t>ResNet101 구조</a:t>
            </a:r>
            <a:endParaRPr sz="12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8" name="Google Shape;118;g318b9aacfda_0_18"/>
          <p:cNvSpPr txBox="1"/>
          <p:nvPr/>
        </p:nvSpPr>
        <p:spPr>
          <a:xfrm>
            <a:off x="324725" y="4664900"/>
            <a:ext cx="107592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104개의 batchnorm layer 를 반영했을 때 ) </a:t>
            </a:r>
            <a:r>
              <a:rPr b="1"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F1 0.5277</a:t>
            </a:r>
            <a:endParaRPr b="1"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1️⃣2️⃣3️⃣4️⃣5️⃣ 모두 사용 ) </a:t>
            </a:r>
            <a:r>
              <a:rPr b="1"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F1 0.4932</a:t>
            </a:r>
            <a:endParaRPr b="1"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2️⃣3️⃣4️⃣5️⃣ 사용 ) </a:t>
            </a:r>
            <a:r>
              <a:rPr b="1"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F1 0.4708</a:t>
            </a: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 -  대부분 값 범위가 소수점대로서 큰 영향 X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1️⃣ 사용 ) </a:t>
            </a:r>
            <a:r>
              <a:rPr b="1"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F1 0.5283</a:t>
            </a: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 -  ‘bn1’ 이 갖는 값들의 범위가 커서 mse 가 14~15 를 웃돎 -&gt; 1️⃣2️⃣3️⃣4️⃣5️⃣ 모두 사용했을 때 1️⃣이 가장 큰 영향을 줌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9" name="Google Shape;119;g318b9aacfda_0_18"/>
          <p:cNvSpPr txBox="1"/>
          <p:nvPr/>
        </p:nvSpPr>
        <p:spPr>
          <a:xfrm>
            <a:off x="2390850" y="3568150"/>
            <a:ext cx="71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1️⃣</a:t>
            </a:r>
            <a:endParaRPr sz="1800"/>
          </a:p>
        </p:txBody>
      </p:sp>
      <p:sp>
        <p:nvSpPr>
          <p:cNvPr id="120" name="Google Shape;120;g318b9aacfda_0_18"/>
          <p:cNvSpPr txBox="1"/>
          <p:nvPr/>
        </p:nvSpPr>
        <p:spPr>
          <a:xfrm>
            <a:off x="4204950" y="3568150"/>
            <a:ext cx="71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2️⃣</a:t>
            </a:r>
            <a:endParaRPr sz="1800"/>
          </a:p>
        </p:txBody>
      </p:sp>
      <p:sp>
        <p:nvSpPr>
          <p:cNvPr id="121" name="Google Shape;121;g318b9aacfda_0_18"/>
          <p:cNvSpPr txBox="1"/>
          <p:nvPr/>
        </p:nvSpPr>
        <p:spPr>
          <a:xfrm>
            <a:off x="5285025" y="3568150"/>
            <a:ext cx="713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3️⃣</a:t>
            </a:r>
            <a:endParaRPr sz="1900"/>
          </a:p>
        </p:txBody>
      </p:sp>
      <p:sp>
        <p:nvSpPr>
          <p:cNvPr id="122" name="Google Shape;122;g318b9aacfda_0_18"/>
          <p:cNvSpPr txBox="1"/>
          <p:nvPr/>
        </p:nvSpPr>
        <p:spPr>
          <a:xfrm>
            <a:off x="6365100" y="3568150"/>
            <a:ext cx="713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4️⃣</a:t>
            </a:r>
            <a:endParaRPr sz="1900"/>
          </a:p>
        </p:txBody>
      </p:sp>
      <p:sp>
        <p:nvSpPr>
          <p:cNvPr id="123" name="Google Shape;123;g318b9aacfda_0_18"/>
          <p:cNvSpPr txBox="1"/>
          <p:nvPr/>
        </p:nvSpPr>
        <p:spPr>
          <a:xfrm>
            <a:off x="7361275" y="3568150"/>
            <a:ext cx="713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5️⃣</a:t>
            </a:r>
            <a:endParaRPr sz="1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18b9aacfda_0_247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8135"/>
              </a:buClr>
              <a:buSzPts val="1800"/>
              <a:buFont typeface="Noto Sans KR"/>
              <a:buChar char="-"/>
            </a:pPr>
            <a:r>
              <a:rPr b="1" i="0" lang="en-US" sz="1800" u="none" cap="none" strike="noStrike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BatchNorm Statistics 이용</a:t>
            </a:r>
            <a:endParaRPr b="1" i="0" sz="1400" u="none" cap="none" strike="noStrike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g318b9aacfda_0_247"/>
          <p:cNvSpPr txBox="1"/>
          <p:nvPr/>
        </p:nvSpPr>
        <p:spPr>
          <a:xfrm>
            <a:off x="242600" y="583884"/>
            <a:ext cx="1070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Noto Sans KR"/>
                <a:ea typeface="Noto Sans KR"/>
                <a:cs typeface="Noto Sans KR"/>
                <a:sym typeface="Noto Sans KR"/>
              </a:rPr>
              <a:t>📍 </a:t>
            </a:r>
            <a:r>
              <a:rPr b="1" i="0" lang="en-US" sz="1200" u="none" cap="none" strike="noStrike">
                <a:solidFill>
                  <a:srgbClr val="888888"/>
                </a:solidFill>
                <a:latin typeface="Noto Sans KR"/>
                <a:ea typeface="Noto Sans KR"/>
                <a:cs typeface="Noto Sans KR"/>
                <a:sym typeface="Noto Sans KR"/>
              </a:rPr>
              <a:t>MSELoss</a:t>
            </a:r>
            <a:r>
              <a:rPr b="0" i="0" lang="en-US" sz="1200" u="none" cap="none" strike="noStrike">
                <a:solidFill>
                  <a:srgbClr val="888888"/>
                </a:solidFill>
                <a:latin typeface="Noto Sans KR"/>
                <a:ea typeface="Noto Sans KR"/>
                <a:cs typeface="Noto Sans KR"/>
                <a:sym typeface="Noto Sans KR"/>
              </a:rPr>
              <a:t>(pretrain mean, test  image mean) + </a:t>
            </a:r>
            <a:r>
              <a:rPr b="1" i="0" lang="en-US" sz="1200" u="none" cap="none" strike="noStrike">
                <a:solidFill>
                  <a:srgbClr val="888888"/>
                </a:solidFill>
                <a:latin typeface="Noto Sans KR"/>
                <a:ea typeface="Noto Sans KR"/>
                <a:cs typeface="Noto Sans KR"/>
                <a:sym typeface="Noto Sans KR"/>
              </a:rPr>
              <a:t>MSELoss</a:t>
            </a:r>
            <a:r>
              <a:rPr b="0" i="0" lang="en-US" sz="1200" u="none" cap="none" strike="noStrike">
                <a:solidFill>
                  <a:srgbClr val="888888"/>
                </a:solidFill>
                <a:latin typeface="Noto Sans KR"/>
                <a:ea typeface="Noto Sans KR"/>
                <a:cs typeface="Noto Sans KR"/>
                <a:sym typeface="Noto Sans KR"/>
              </a:rPr>
              <a:t>(pretrain var, test image var) 값이 가장 작은 augmented image </a:t>
            </a:r>
            <a:r>
              <a:rPr b="1" i="0" lang="en-US" sz="1200" u="none" cap="none" strike="noStrike">
                <a:solidFill>
                  <a:srgbClr val="888888"/>
                </a:solidFill>
                <a:latin typeface="Noto Sans KR"/>
                <a:ea typeface="Noto Sans KR"/>
                <a:cs typeface="Noto Sans KR"/>
                <a:sym typeface="Noto Sans KR"/>
              </a:rPr>
              <a:t>하나만 </a:t>
            </a:r>
            <a:r>
              <a:rPr b="0" i="0" lang="en-US" sz="1200" u="none" cap="none" strike="noStrike">
                <a:solidFill>
                  <a:srgbClr val="888888"/>
                </a:solidFill>
                <a:latin typeface="Noto Sans KR"/>
                <a:ea typeface="Noto Sans KR"/>
                <a:cs typeface="Noto Sans KR"/>
                <a:sym typeface="Noto Sans KR"/>
              </a:rPr>
              <a:t>선택</a:t>
            </a:r>
            <a:endParaRPr b="0" i="0" sz="14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g318b9aacfda_0_247"/>
          <p:cNvSpPr txBox="1"/>
          <p:nvPr/>
        </p:nvSpPr>
        <p:spPr>
          <a:xfrm>
            <a:off x="242600" y="907134"/>
            <a:ext cx="1070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📍 </a:t>
            </a:r>
            <a:r>
              <a:rPr b="1"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MMD(Maximum Mean Discrepancy) 이용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g318b9aacfda_0_247"/>
          <p:cNvPicPr preferRelativeResize="0"/>
          <p:nvPr/>
        </p:nvPicPr>
        <p:blipFill rotWithShape="1">
          <a:blip r:embed="rId3">
            <a:alphaModFix/>
          </a:blip>
          <a:srcRect b="0" l="0" r="0" t="18066"/>
          <a:stretch/>
        </p:blipFill>
        <p:spPr>
          <a:xfrm>
            <a:off x="540375" y="1276427"/>
            <a:ext cx="5400675" cy="216182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g318b9aacfda_0_247"/>
          <p:cNvSpPr txBox="1"/>
          <p:nvPr/>
        </p:nvSpPr>
        <p:spPr>
          <a:xfrm>
            <a:off x="5305175" y="1599675"/>
            <a:ext cx="64464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두 확률 분포 간 차이점을 평가하기 위해 고안된 측정지표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입력 데이터 포인트를 어떠한 커널 함수를 통해 고차원 공간에 매핑하고 이를 기반으로 계산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Domain adaptation 분야에서 두 도메인의 분포 차이를 정량화하기 위해 주로 사용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34" name="Google Shape;134;g318b9aacfda_0_2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64700" y="3615175"/>
            <a:ext cx="3953575" cy="299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g318b9aacfda_0_2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8925" y="3632275"/>
            <a:ext cx="4025183" cy="292162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g318b9aacfda_0_247"/>
          <p:cNvSpPr txBox="1"/>
          <p:nvPr/>
        </p:nvSpPr>
        <p:spPr>
          <a:xfrm>
            <a:off x="8478875" y="3632275"/>
            <a:ext cx="36537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왼) MSE 로 측정했을 때의 도메인별 분포 차이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오) MMD로 측정했을 때의 도메인별 분포 차이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target domain 에서 분포 차이가 많이 남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-&gt; 타겟 도메인을 더 잘 구별할 수 있다는 뜻으로 해석?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18b9aacfda_0_270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8135"/>
              </a:buClr>
              <a:buSzPts val="1800"/>
              <a:buFont typeface="Noto Sans KR"/>
              <a:buChar char="-"/>
            </a:pPr>
            <a:r>
              <a:rPr b="1" i="0" lang="en-US" sz="1800" u="none" cap="none" strike="noStrike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BatchNorm Statistics 이용</a:t>
            </a:r>
            <a:endParaRPr b="1" i="0" sz="1400" u="none" cap="none" strike="noStrike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g318b9aacfda_0_270"/>
          <p:cNvSpPr txBox="1"/>
          <p:nvPr/>
        </p:nvSpPr>
        <p:spPr>
          <a:xfrm>
            <a:off x="242600" y="583884"/>
            <a:ext cx="1070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Noto Sans KR"/>
                <a:ea typeface="Noto Sans KR"/>
                <a:cs typeface="Noto Sans KR"/>
                <a:sym typeface="Noto Sans KR"/>
              </a:rPr>
              <a:t>📍 </a:t>
            </a:r>
            <a:r>
              <a:rPr b="1" i="0" lang="en-US" sz="1200" u="none" cap="none" strike="noStrike">
                <a:solidFill>
                  <a:srgbClr val="888888"/>
                </a:solidFill>
                <a:latin typeface="Noto Sans KR"/>
                <a:ea typeface="Noto Sans KR"/>
                <a:cs typeface="Noto Sans KR"/>
                <a:sym typeface="Noto Sans KR"/>
              </a:rPr>
              <a:t>MSELoss</a:t>
            </a:r>
            <a:r>
              <a:rPr b="0" i="0" lang="en-US" sz="1200" u="none" cap="none" strike="noStrike">
                <a:solidFill>
                  <a:srgbClr val="888888"/>
                </a:solidFill>
                <a:latin typeface="Noto Sans KR"/>
                <a:ea typeface="Noto Sans KR"/>
                <a:cs typeface="Noto Sans KR"/>
                <a:sym typeface="Noto Sans KR"/>
              </a:rPr>
              <a:t>(pretrain mean, test  image mean) + </a:t>
            </a:r>
            <a:r>
              <a:rPr b="1" i="0" lang="en-US" sz="1200" u="none" cap="none" strike="noStrike">
                <a:solidFill>
                  <a:srgbClr val="888888"/>
                </a:solidFill>
                <a:latin typeface="Noto Sans KR"/>
                <a:ea typeface="Noto Sans KR"/>
                <a:cs typeface="Noto Sans KR"/>
                <a:sym typeface="Noto Sans KR"/>
              </a:rPr>
              <a:t>MSELoss</a:t>
            </a:r>
            <a:r>
              <a:rPr b="0" i="0" lang="en-US" sz="1200" u="none" cap="none" strike="noStrike">
                <a:solidFill>
                  <a:srgbClr val="888888"/>
                </a:solidFill>
                <a:latin typeface="Noto Sans KR"/>
                <a:ea typeface="Noto Sans KR"/>
                <a:cs typeface="Noto Sans KR"/>
                <a:sym typeface="Noto Sans KR"/>
              </a:rPr>
              <a:t>(pretrain var, test image var) 값이 가장 작은 augmented image </a:t>
            </a:r>
            <a:r>
              <a:rPr b="1" i="0" lang="en-US" sz="1200" u="none" cap="none" strike="noStrike">
                <a:solidFill>
                  <a:srgbClr val="888888"/>
                </a:solidFill>
                <a:latin typeface="Noto Sans KR"/>
                <a:ea typeface="Noto Sans KR"/>
                <a:cs typeface="Noto Sans KR"/>
                <a:sym typeface="Noto Sans KR"/>
              </a:rPr>
              <a:t>하나만 </a:t>
            </a:r>
            <a:r>
              <a:rPr b="0" i="0" lang="en-US" sz="1200" u="none" cap="none" strike="noStrike">
                <a:solidFill>
                  <a:srgbClr val="888888"/>
                </a:solidFill>
                <a:latin typeface="Noto Sans KR"/>
                <a:ea typeface="Noto Sans KR"/>
                <a:cs typeface="Noto Sans KR"/>
                <a:sym typeface="Noto Sans KR"/>
              </a:rPr>
              <a:t>선택</a:t>
            </a:r>
            <a:endParaRPr b="0" i="0" sz="14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g318b9aacfda_0_270"/>
          <p:cNvSpPr txBox="1"/>
          <p:nvPr/>
        </p:nvSpPr>
        <p:spPr>
          <a:xfrm>
            <a:off x="242600" y="907134"/>
            <a:ext cx="1070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📍 </a:t>
            </a:r>
            <a:r>
              <a:rPr b="1"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MMD(Maximum Mean Discrepancy) 이용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g318b9aacfda_0_270"/>
          <p:cNvSpPr txBox="1"/>
          <p:nvPr/>
        </p:nvSpPr>
        <p:spPr>
          <a:xfrm>
            <a:off x="540375" y="4022000"/>
            <a:ext cx="6446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t/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6" name="Google Shape;146;g318b9aacfda_0_270"/>
          <p:cNvSpPr txBox="1"/>
          <p:nvPr/>
        </p:nvSpPr>
        <p:spPr>
          <a:xfrm>
            <a:off x="324725" y="4664900"/>
            <a:ext cx="5694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1️⃣2️⃣3️⃣4️⃣5️⃣ 모두 사용 ) </a:t>
            </a:r>
            <a:r>
              <a:rPr b="1"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F1 </a:t>
            </a:r>
            <a:r>
              <a:rPr b="1" lang="en-US" sz="1200">
                <a:solidFill>
                  <a:srgbClr val="888888"/>
                </a:solidFill>
                <a:latin typeface="Noto Sans KR"/>
                <a:ea typeface="Noto Sans KR"/>
                <a:cs typeface="Noto Sans KR"/>
                <a:sym typeface="Noto Sans KR"/>
              </a:rPr>
              <a:t>0.4932</a:t>
            </a:r>
            <a:r>
              <a:rPr b="1"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-&gt; 0.5651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1️⃣ </a:t>
            </a: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만 </a:t>
            </a: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사용 ) </a:t>
            </a:r>
            <a:r>
              <a:rPr b="1"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F1 </a:t>
            </a:r>
            <a:r>
              <a:rPr b="1" lang="en-US" sz="1200">
                <a:solidFill>
                  <a:srgbClr val="888888"/>
                </a:solidFill>
                <a:latin typeface="Noto Sans KR"/>
                <a:ea typeface="Noto Sans KR"/>
                <a:cs typeface="Noto Sans KR"/>
                <a:sym typeface="Noto Sans KR"/>
              </a:rPr>
              <a:t>0.5283</a:t>
            </a: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 -&gt; </a:t>
            </a:r>
            <a:r>
              <a:rPr b="1"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0.5622</a:t>
            </a:r>
            <a:endParaRPr b="1"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7" name="Google Shape;147;g318b9aacfda_0_270"/>
          <p:cNvSpPr txBox="1"/>
          <p:nvPr/>
        </p:nvSpPr>
        <p:spPr>
          <a:xfrm>
            <a:off x="4771225" y="4664900"/>
            <a:ext cx="74208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문제점)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단순히 채널별 평균 / 분산값만 저장되어 있는 </a:t>
            </a: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batchnorm statistic 보다는 이미지 feature map 간 비교에 용이할 것 같다고 생각됨 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MSE</a:t>
            </a: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를 사용할 때 보다 좋아지긴 했지만, 베이스라인보다 좋지 않음…   (베이스라인 0.6061)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48" name="Google Shape;148;g318b9aacfda_0_270"/>
          <p:cNvPicPr preferRelativeResize="0"/>
          <p:nvPr/>
        </p:nvPicPr>
        <p:blipFill rotWithShape="1">
          <a:blip r:embed="rId3">
            <a:alphaModFix/>
          </a:blip>
          <a:srcRect b="0" l="0" r="0" t="18066"/>
          <a:stretch/>
        </p:blipFill>
        <p:spPr>
          <a:xfrm>
            <a:off x="425025" y="1465177"/>
            <a:ext cx="5400675" cy="21618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g318b9aacfda_0_270"/>
          <p:cNvSpPr txBox="1"/>
          <p:nvPr/>
        </p:nvSpPr>
        <p:spPr>
          <a:xfrm>
            <a:off x="5305175" y="1599675"/>
            <a:ext cx="64464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두 확률 분포 간 차이점을 평가하기 위해 고안된 측정지표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입력 데이터 포인트를 어떠한 커널 함수를 통해 고차원 공간에 매핑하고 이를 기반으로 계산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Domain adaptation 분야에서 두 도메인의 분포 차이를 정량화하기 위해 주로 사용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5" name="Google Shape;155;g318b9aacfda_0_44"/>
          <p:cNvCxnSpPr/>
          <p:nvPr/>
        </p:nvCxnSpPr>
        <p:spPr>
          <a:xfrm>
            <a:off x="2369875" y="1869350"/>
            <a:ext cx="0" cy="239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6" name="Google Shape;156;g318b9aacfda_0_44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8135"/>
              </a:buClr>
              <a:buSzPts val="1800"/>
              <a:buFont typeface="Noto Sans KR"/>
              <a:buChar char="-"/>
            </a:pPr>
            <a:r>
              <a:rPr b="1" lang="en-US" sz="1800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Domain Classifier</a:t>
            </a:r>
            <a:r>
              <a:rPr b="1" i="0" lang="en-US" sz="1800" u="none" cap="none" strike="noStrike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 이용</a:t>
            </a:r>
            <a:endParaRPr b="1" i="0" sz="1400" u="none" cap="none" strike="noStrike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g318b9aacfda_0_44"/>
          <p:cNvSpPr txBox="1"/>
          <p:nvPr/>
        </p:nvSpPr>
        <p:spPr>
          <a:xfrm>
            <a:off x="324725" y="5130500"/>
            <a:ext cx="10759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ResNet 이 클래스 분류를 위한 local representation 에 강점이 있고 / Vit 계열이 global representation 에 강점이 있는 점을 기반으로</a:t>
            </a:r>
            <a:b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domain classifier 로 ViT 사용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58" name="Google Shape;158;g318b9aacfda_0_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900" y="2383205"/>
            <a:ext cx="2214950" cy="1245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9" name="Google Shape;159;g318b9aacfda_0_44"/>
          <p:cNvCxnSpPr/>
          <p:nvPr/>
        </p:nvCxnSpPr>
        <p:spPr>
          <a:xfrm rot="10800000">
            <a:off x="2369875" y="1869350"/>
            <a:ext cx="713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" name="Google Shape;160;g318b9aacfda_0_44"/>
          <p:cNvCxnSpPr/>
          <p:nvPr/>
        </p:nvCxnSpPr>
        <p:spPr>
          <a:xfrm rot="10800000">
            <a:off x="2369875" y="4249725"/>
            <a:ext cx="713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" name="Google Shape;161;g318b9aacfda_0_44"/>
          <p:cNvCxnSpPr/>
          <p:nvPr/>
        </p:nvCxnSpPr>
        <p:spPr>
          <a:xfrm rot="10800000">
            <a:off x="2369875" y="2246850"/>
            <a:ext cx="713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2" name="Google Shape;162;g318b9aacfda_0_44"/>
          <p:cNvSpPr txBox="1"/>
          <p:nvPr/>
        </p:nvSpPr>
        <p:spPr>
          <a:xfrm>
            <a:off x="429950" y="3629100"/>
            <a:ext cx="2258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domain shifted image</a:t>
            </a:r>
            <a:endParaRPr/>
          </a:p>
        </p:txBody>
      </p:sp>
      <p:sp>
        <p:nvSpPr>
          <p:cNvPr id="163" name="Google Shape;163;g318b9aacfda_0_44"/>
          <p:cNvSpPr/>
          <p:nvPr/>
        </p:nvSpPr>
        <p:spPr>
          <a:xfrm>
            <a:off x="3156375" y="1743525"/>
            <a:ext cx="471900" cy="2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g318b9aacfda_0_44"/>
          <p:cNvSpPr/>
          <p:nvPr/>
        </p:nvSpPr>
        <p:spPr>
          <a:xfrm>
            <a:off x="3156375" y="2110500"/>
            <a:ext cx="471900" cy="2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318b9aacfda_0_44"/>
          <p:cNvSpPr/>
          <p:nvPr/>
        </p:nvSpPr>
        <p:spPr>
          <a:xfrm>
            <a:off x="3156375" y="3704375"/>
            <a:ext cx="471900" cy="2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g318b9aacfda_0_44"/>
          <p:cNvSpPr/>
          <p:nvPr/>
        </p:nvSpPr>
        <p:spPr>
          <a:xfrm>
            <a:off x="3156375" y="4113375"/>
            <a:ext cx="471900" cy="2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7" name="Google Shape;167;g318b9aacfda_0_44"/>
          <p:cNvCxnSpPr/>
          <p:nvPr/>
        </p:nvCxnSpPr>
        <p:spPr>
          <a:xfrm rot="10800000">
            <a:off x="2369875" y="3840725"/>
            <a:ext cx="713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8" name="Google Shape;168;g318b9aacfda_0_44"/>
          <p:cNvSpPr txBox="1"/>
          <p:nvPr/>
        </p:nvSpPr>
        <p:spPr>
          <a:xfrm rot="5400000">
            <a:off x="3053175" y="2859129"/>
            <a:ext cx="678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…</a:t>
            </a:r>
            <a:endParaRPr/>
          </a:p>
        </p:txBody>
      </p:sp>
      <p:sp>
        <p:nvSpPr>
          <p:cNvPr id="169" name="Google Shape;169;g318b9aacfda_0_44"/>
          <p:cNvSpPr txBox="1"/>
          <p:nvPr/>
        </p:nvSpPr>
        <p:spPr>
          <a:xfrm>
            <a:off x="2590125" y="1319850"/>
            <a:ext cx="1604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augmented image</a:t>
            </a:r>
            <a:endParaRPr/>
          </a:p>
        </p:txBody>
      </p:sp>
      <p:sp>
        <p:nvSpPr>
          <p:cNvPr id="170" name="Google Shape;170;g318b9aacfda_0_44"/>
          <p:cNvSpPr txBox="1"/>
          <p:nvPr/>
        </p:nvSpPr>
        <p:spPr>
          <a:xfrm>
            <a:off x="3701675" y="1684700"/>
            <a:ext cx="4278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domain classifier … [0.09,</a:t>
            </a:r>
            <a:r>
              <a:rPr b="1"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0.91</a:t>
            </a: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]</a:t>
            </a:r>
            <a:endParaRPr/>
          </a:p>
        </p:txBody>
      </p:sp>
      <p:sp>
        <p:nvSpPr>
          <p:cNvPr id="171" name="Google Shape;171;g318b9aacfda_0_44"/>
          <p:cNvSpPr txBox="1"/>
          <p:nvPr/>
        </p:nvSpPr>
        <p:spPr>
          <a:xfrm>
            <a:off x="3701675" y="2062200"/>
            <a:ext cx="4278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domain classifier … [0.49, 0.51]</a:t>
            </a:r>
            <a:endParaRPr/>
          </a:p>
        </p:txBody>
      </p:sp>
      <p:sp>
        <p:nvSpPr>
          <p:cNvPr id="172" name="Google Shape;172;g318b9aacfda_0_44"/>
          <p:cNvSpPr txBox="1"/>
          <p:nvPr/>
        </p:nvSpPr>
        <p:spPr>
          <a:xfrm>
            <a:off x="3701675" y="3656075"/>
            <a:ext cx="4278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domain classifier … [0.72, 0.28]</a:t>
            </a:r>
            <a:endParaRPr/>
          </a:p>
        </p:txBody>
      </p:sp>
      <p:sp>
        <p:nvSpPr>
          <p:cNvPr id="173" name="Google Shape;173;g318b9aacfda_0_44"/>
          <p:cNvSpPr txBox="1"/>
          <p:nvPr/>
        </p:nvSpPr>
        <p:spPr>
          <a:xfrm>
            <a:off x="3701675" y="4065075"/>
            <a:ext cx="4278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domain classifier … [0.55, 0.45]</a:t>
            </a:r>
            <a:endParaRPr/>
          </a:p>
        </p:txBody>
      </p:sp>
      <p:sp>
        <p:nvSpPr>
          <p:cNvPr id="174" name="Google Shape;174;g318b9aacfda_0_44"/>
          <p:cNvSpPr txBox="1"/>
          <p:nvPr/>
        </p:nvSpPr>
        <p:spPr>
          <a:xfrm>
            <a:off x="4813200" y="1094800"/>
            <a:ext cx="16044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[target일 확률, source일 확률]</a:t>
            </a:r>
            <a:endParaRPr/>
          </a:p>
        </p:txBody>
      </p:sp>
      <p:sp>
        <p:nvSpPr>
          <p:cNvPr id="175" name="Google Shape;175;g318b9aacfda_0_44"/>
          <p:cNvSpPr/>
          <p:nvPr/>
        </p:nvSpPr>
        <p:spPr>
          <a:xfrm>
            <a:off x="6365175" y="1788725"/>
            <a:ext cx="639600" cy="188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g318b9aacfda_0_44"/>
          <p:cNvSpPr txBox="1"/>
          <p:nvPr/>
        </p:nvSpPr>
        <p:spPr>
          <a:xfrm>
            <a:off x="7162125" y="1556625"/>
            <a:ext cx="4278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source 와 가장 가깝게 원복됐다고 판단하여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해당 이미지에 대한 예측 확률을 최종 예측 확률로 선정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7" name="Google Shape;177;g318b9aacfda_0_44"/>
          <p:cNvSpPr/>
          <p:nvPr/>
        </p:nvSpPr>
        <p:spPr>
          <a:xfrm rot="5400000">
            <a:off x="8305125" y="3478600"/>
            <a:ext cx="1447200" cy="581700"/>
          </a:xfrm>
          <a:prstGeom prst="trapezoid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g318b9aacfda_0_44"/>
          <p:cNvSpPr txBox="1"/>
          <p:nvPr/>
        </p:nvSpPr>
        <p:spPr>
          <a:xfrm>
            <a:off x="8302325" y="3469525"/>
            <a:ext cx="1426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domain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classifier</a:t>
            </a:r>
            <a:endParaRPr/>
          </a:p>
        </p:txBody>
      </p:sp>
      <p:cxnSp>
        <p:nvCxnSpPr>
          <p:cNvPr id="179" name="Google Shape;179;g318b9aacfda_0_44"/>
          <p:cNvCxnSpPr/>
          <p:nvPr/>
        </p:nvCxnSpPr>
        <p:spPr>
          <a:xfrm rot="10800000">
            <a:off x="9319575" y="3580700"/>
            <a:ext cx="47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" name="Google Shape;180;g318b9aacfda_0_44"/>
          <p:cNvCxnSpPr/>
          <p:nvPr/>
        </p:nvCxnSpPr>
        <p:spPr>
          <a:xfrm rot="10800000">
            <a:off x="9319575" y="3958200"/>
            <a:ext cx="47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" name="Google Shape;181;g318b9aacfda_0_44"/>
          <p:cNvSpPr txBox="1"/>
          <p:nvPr/>
        </p:nvSpPr>
        <p:spPr>
          <a:xfrm>
            <a:off x="9922825" y="3396050"/>
            <a:ext cx="142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0: not source </a:t>
            </a:r>
            <a:endParaRPr/>
          </a:p>
        </p:txBody>
      </p:sp>
      <p:sp>
        <p:nvSpPr>
          <p:cNvPr id="182" name="Google Shape;182;g318b9aacfda_0_44"/>
          <p:cNvSpPr txBox="1"/>
          <p:nvPr/>
        </p:nvSpPr>
        <p:spPr>
          <a:xfrm>
            <a:off x="9923503" y="3773550"/>
            <a:ext cx="12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1: source</a:t>
            </a:r>
            <a:endParaRPr/>
          </a:p>
        </p:txBody>
      </p:sp>
      <p:cxnSp>
        <p:nvCxnSpPr>
          <p:cNvPr id="183" name="Google Shape;183;g318b9aacfda_0_44"/>
          <p:cNvCxnSpPr/>
          <p:nvPr/>
        </p:nvCxnSpPr>
        <p:spPr>
          <a:xfrm rot="10800000">
            <a:off x="8255600" y="3580700"/>
            <a:ext cx="47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" name="Google Shape;184;g318b9aacfda_0_44"/>
          <p:cNvCxnSpPr/>
          <p:nvPr/>
        </p:nvCxnSpPr>
        <p:spPr>
          <a:xfrm rot="10800000">
            <a:off x="8255600" y="3958200"/>
            <a:ext cx="47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5" name="Google Shape;185;g318b9aacfda_0_44"/>
          <p:cNvSpPr txBox="1"/>
          <p:nvPr/>
        </p:nvSpPr>
        <p:spPr>
          <a:xfrm>
            <a:off x="6490950" y="3396050"/>
            <a:ext cx="176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augmented input</a:t>
            </a:r>
            <a:endParaRPr/>
          </a:p>
        </p:txBody>
      </p:sp>
      <p:sp>
        <p:nvSpPr>
          <p:cNvPr id="186" name="Google Shape;186;g318b9aacfda_0_44"/>
          <p:cNvSpPr txBox="1"/>
          <p:nvPr/>
        </p:nvSpPr>
        <p:spPr>
          <a:xfrm>
            <a:off x="6830078" y="3773550"/>
            <a:ext cx="12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normal input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18b9aacfda_0_200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8135"/>
              </a:buClr>
              <a:buSzPts val="1800"/>
              <a:buFont typeface="Noto Sans KR"/>
              <a:buChar char="-"/>
            </a:pPr>
            <a:r>
              <a:rPr b="1" lang="en-US" sz="1800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Domain Classifier</a:t>
            </a:r>
            <a:r>
              <a:rPr b="1" i="0" lang="en-US" sz="1800" u="none" cap="none" strike="noStrike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 이용</a:t>
            </a:r>
            <a:endParaRPr b="1" i="0" sz="1400" u="none" cap="none" strike="noStrike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g318b9aacfda_0_200"/>
          <p:cNvSpPr txBox="1"/>
          <p:nvPr/>
        </p:nvSpPr>
        <p:spPr>
          <a:xfrm>
            <a:off x="324725" y="690600"/>
            <a:ext cx="119442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ResNet 이 클래스 분류를 위한 local representation 에 강점이 있고 / Vit 계열이 global representation 에 강점이 있는 점을 기반으로 domain classifier 로 ViT 사용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도메인 구분력이 좋지 않음…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VIT 16 </a:t>
            </a: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은 전반적으로 낮지만 brightness 구분을 잘 하고  /  VIT 32 는 전반적으로 높지만 cameraz 구분을 잘 하지 못함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VIT 16 </a:t>
            </a: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으로 학습한 결과 : </a:t>
            </a:r>
            <a:r>
              <a:rPr b="1"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Accuracy 0.76   /   F1 0.7046                                           </a:t>
            </a: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  VIT32 로 학습한 결과 :</a:t>
            </a:r>
            <a:r>
              <a:rPr b="1"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Accuracy 0.6987    /    F1 0.6825</a:t>
            </a:r>
            <a:endParaRPr b="1"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94" name="Google Shape;194;g318b9aacfda_0_2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3500" y="1816125"/>
            <a:ext cx="4412739" cy="3725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g318b9aacfda_0_2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37161" y="1857543"/>
            <a:ext cx="4412739" cy="3725032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g318b9aacfda_0_200"/>
          <p:cNvSpPr txBox="1"/>
          <p:nvPr/>
        </p:nvSpPr>
        <p:spPr>
          <a:xfrm>
            <a:off x="6272175" y="5488225"/>
            <a:ext cx="34608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repeat : 0.8094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lcondition : 0.8469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cameraz : 0.2719  (거의 구분X)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brightness : 0.7562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97" name="Google Shape;197;g318b9aacfda_0_200"/>
          <p:cNvSpPr txBox="1"/>
          <p:nvPr/>
        </p:nvSpPr>
        <p:spPr>
          <a:xfrm>
            <a:off x="1060500" y="5488225"/>
            <a:ext cx="34608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repeat : 0.7156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lcondition : 0.7031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cameraz : 0.6813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brightness : 0.9844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1914e9eb23_3_10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8135"/>
              </a:buClr>
              <a:buSzPts val="1800"/>
              <a:buFont typeface="Noto Sans KR"/>
              <a:buChar char="-"/>
            </a:pPr>
            <a:r>
              <a:rPr b="1" lang="en-US" sz="1800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Domain Classifier</a:t>
            </a:r>
            <a:r>
              <a:rPr b="1" i="0" lang="en-US" sz="1800" u="none" cap="none" strike="noStrike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 이용</a:t>
            </a:r>
            <a:endParaRPr b="1" i="0" sz="1400" u="none" cap="none" strike="noStrike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g31914e9eb23_3_10"/>
          <p:cNvSpPr txBox="1"/>
          <p:nvPr/>
        </p:nvSpPr>
        <p:spPr>
          <a:xfrm>
            <a:off x="324725" y="690600"/>
            <a:ext cx="119442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ResNet 이 클래스 분류를 위한 local representation 에 강점이 있고 / Vit 계열이 global representation 에 강점이 있는 점을 기반으로 domain classifier 로 ViT 사용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도메인 구분력이 좋지 않음…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VIT 16 </a:t>
            </a: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도메인 구분력</a:t>
            </a: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: </a:t>
            </a:r>
            <a:r>
              <a:rPr b="1"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Accuracy 0.76   /   F1 0.7046           </a:t>
            </a:r>
            <a:endParaRPr b="1"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VIT 16  클래스 구분력 : </a:t>
            </a:r>
            <a:r>
              <a:rPr b="1"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Accuracy 0.7313   /   F1 0.5705           </a:t>
            </a:r>
            <a:endParaRPr b="1"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5" name="Google Shape;205;g31914e9eb23_3_10"/>
          <p:cNvSpPr txBox="1"/>
          <p:nvPr/>
        </p:nvSpPr>
        <p:spPr>
          <a:xfrm>
            <a:off x="5111550" y="1244700"/>
            <a:ext cx="2385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repeat : 0.7156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lcondition : 0.7031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6" name="Google Shape;206;g31914e9eb23_3_10"/>
          <p:cNvSpPr txBox="1"/>
          <p:nvPr/>
        </p:nvSpPr>
        <p:spPr>
          <a:xfrm>
            <a:off x="883875" y="2226850"/>
            <a:ext cx="3791100" cy="3879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D966"/>
                </a:solidFill>
                <a:latin typeface="Calibri"/>
                <a:ea typeface="Calibri"/>
                <a:cs typeface="Calibri"/>
                <a:sym typeface="Calibri"/>
              </a:rPr>
              <a:t>domain : brightness  /  real_class : 2</a:t>
            </a:r>
            <a:endParaRPr sz="1200">
              <a:solidFill>
                <a:srgbClr val="FFD9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pred_source | pred_class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0.00003 [0.179 0.005 0.392 0.014 0.    0.41 ] -&gt; </a:t>
            </a: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원본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0.00006 [0.177 0.008 0.101 0.078 0.    0.635]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0.00005 [0.029 0.013 0.517 0.032 0.    0.408]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0.00003 [0.23  0.005 0.152 0.012 0.    0.602]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0.00003 [0.176 0.005 0.372 0.014 0.    0.433]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0.00003 [0.062 0.002 0.543 0.021 0.    0.372]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0.00002 [0.128 0.005 0.584 0.225 0.003 0.056]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0.00006 [0.022 0.002 0.875 0.007 0.    0.093]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0.00003 [0.018 0.002 0.877 0.007 0.    0.096]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0.00003 [0.17  0.005 0.396 0.015 0.    0.415]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0.00003 [0.178 0.004 0.378 0.015 0.    0.425]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0.00002 [0.056 0.003 0.013 0.007 0.    0.921]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0.00002 [0.04  0.002 0.483 0.021 0.    0.454]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0.00003 [0.013 0.002 0.229 0.008 0.    0.749]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0.00003 [0.086 0.001 0.515 0.02  0.    0.378]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0.00002 [0.017 0.002 0.328 0.018 0.    0.635]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0.00002 [1. 0. 0. 0. 0. 0.]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g31914e9eb23_3_10"/>
          <p:cNvSpPr txBox="1"/>
          <p:nvPr/>
        </p:nvSpPr>
        <p:spPr>
          <a:xfrm>
            <a:off x="4872875" y="2301400"/>
            <a:ext cx="6766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AutoNum type="arabicParenR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target domain 이 augmentation 됨으로써 원본과 비슷해졌다고 예측되는 경우가 거의 없음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AutoNum type="arabicParenR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original 이미지와 예측 확률이 크게 다르지 않음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8" name="Google Shape;208;g31914e9eb23_3_10"/>
          <p:cNvSpPr txBox="1"/>
          <p:nvPr/>
        </p:nvSpPr>
        <p:spPr>
          <a:xfrm>
            <a:off x="7326550" y="124470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cameraz : 0.6813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brightness : 0.9844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18b9aacfda_0_95"/>
          <p:cNvSpPr txBox="1"/>
          <p:nvPr/>
        </p:nvSpPr>
        <p:spPr>
          <a:xfrm>
            <a:off x="242598" y="214575"/>
            <a:ext cx="6038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8135"/>
              </a:buClr>
              <a:buSzPts val="1800"/>
              <a:buFont typeface="Noto Sans KR"/>
              <a:buChar char="-"/>
            </a:pPr>
            <a:r>
              <a:rPr b="1" lang="en-US" sz="1800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Domain Classifier</a:t>
            </a:r>
            <a:r>
              <a:rPr b="1" i="0" lang="en-US" sz="1800" u="none" cap="none" strike="noStrike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b="1" lang="en-US" sz="1800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기반 추가 아이디어 (진행예정)</a:t>
            </a:r>
            <a:endParaRPr b="1" i="0" sz="1400" u="none" cap="none" strike="noStrike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5" name="Google Shape;215;g318b9aacfda_0_95"/>
          <p:cNvCxnSpPr/>
          <p:nvPr/>
        </p:nvCxnSpPr>
        <p:spPr>
          <a:xfrm rot="10800000">
            <a:off x="2369875" y="3568125"/>
            <a:ext cx="713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6" name="Google Shape;216;g318b9aacfda_0_95"/>
          <p:cNvSpPr/>
          <p:nvPr/>
        </p:nvSpPr>
        <p:spPr>
          <a:xfrm rot="5400000">
            <a:off x="9091600" y="5764600"/>
            <a:ext cx="1447200" cy="581700"/>
          </a:xfrm>
          <a:prstGeom prst="trapezoid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g318b9aacfda_0_95"/>
          <p:cNvSpPr txBox="1"/>
          <p:nvPr/>
        </p:nvSpPr>
        <p:spPr>
          <a:xfrm>
            <a:off x="9088800" y="5755525"/>
            <a:ext cx="1426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domain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classifier</a:t>
            </a:r>
            <a:endParaRPr/>
          </a:p>
        </p:txBody>
      </p:sp>
      <p:cxnSp>
        <p:nvCxnSpPr>
          <p:cNvPr id="218" name="Google Shape;218;g318b9aacfda_0_95"/>
          <p:cNvCxnSpPr/>
          <p:nvPr/>
        </p:nvCxnSpPr>
        <p:spPr>
          <a:xfrm rot="10800000">
            <a:off x="10106050" y="5866700"/>
            <a:ext cx="47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9" name="Google Shape;219;g318b9aacfda_0_95"/>
          <p:cNvCxnSpPr/>
          <p:nvPr/>
        </p:nvCxnSpPr>
        <p:spPr>
          <a:xfrm rot="10800000">
            <a:off x="10106050" y="6244200"/>
            <a:ext cx="47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0" name="Google Shape;220;g318b9aacfda_0_95"/>
          <p:cNvSpPr txBox="1"/>
          <p:nvPr/>
        </p:nvSpPr>
        <p:spPr>
          <a:xfrm>
            <a:off x="10709300" y="5682050"/>
            <a:ext cx="142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0: not source </a:t>
            </a:r>
            <a:endParaRPr/>
          </a:p>
        </p:txBody>
      </p:sp>
      <p:sp>
        <p:nvSpPr>
          <p:cNvPr id="221" name="Google Shape;221;g318b9aacfda_0_95"/>
          <p:cNvSpPr txBox="1"/>
          <p:nvPr/>
        </p:nvSpPr>
        <p:spPr>
          <a:xfrm>
            <a:off x="10709978" y="6059550"/>
            <a:ext cx="12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1: source</a:t>
            </a:r>
            <a:endParaRPr/>
          </a:p>
        </p:txBody>
      </p:sp>
      <p:cxnSp>
        <p:nvCxnSpPr>
          <p:cNvPr id="222" name="Google Shape;222;g318b9aacfda_0_95"/>
          <p:cNvCxnSpPr/>
          <p:nvPr/>
        </p:nvCxnSpPr>
        <p:spPr>
          <a:xfrm rot="10800000">
            <a:off x="9042075" y="5866700"/>
            <a:ext cx="47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3" name="Google Shape;223;g318b9aacfda_0_95"/>
          <p:cNvCxnSpPr/>
          <p:nvPr/>
        </p:nvCxnSpPr>
        <p:spPr>
          <a:xfrm rot="10800000">
            <a:off x="9042075" y="6244200"/>
            <a:ext cx="47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4" name="Google Shape;224;g318b9aacfda_0_95"/>
          <p:cNvSpPr txBox="1"/>
          <p:nvPr/>
        </p:nvSpPr>
        <p:spPr>
          <a:xfrm>
            <a:off x="6509088" y="5682050"/>
            <a:ext cx="253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augmented images’ feature map</a:t>
            </a:r>
            <a:endParaRPr/>
          </a:p>
        </p:txBody>
      </p:sp>
      <p:sp>
        <p:nvSpPr>
          <p:cNvPr id="225" name="Google Shape;225;g318b9aacfda_0_95"/>
          <p:cNvSpPr txBox="1"/>
          <p:nvPr/>
        </p:nvSpPr>
        <p:spPr>
          <a:xfrm>
            <a:off x="5977396" y="6059550"/>
            <a:ext cx="305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normal images’  feature map</a:t>
            </a:r>
            <a:endParaRPr/>
          </a:p>
        </p:txBody>
      </p:sp>
      <p:pic>
        <p:nvPicPr>
          <p:cNvPr id="226" name="Google Shape;226;g318b9aacfda_0_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9250" y="3945737"/>
            <a:ext cx="7532202" cy="152996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7" name="Google Shape;227;g318b9aacfda_0_95"/>
          <p:cNvCxnSpPr/>
          <p:nvPr/>
        </p:nvCxnSpPr>
        <p:spPr>
          <a:xfrm>
            <a:off x="2369875" y="1187750"/>
            <a:ext cx="0" cy="239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28" name="Google Shape;228;g318b9aacfda_0_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6900" y="1701605"/>
            <a:ext cx="2214950" cy="1245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9" name="Google Shape;229;g318b9aacfda_0_95"/>
          <p:cNvCxnSpPr/>
          <p:nvPr/>
        </p:nvCxnSpPr>
        <p:spPr>
          <a:xfrm rot="10800000">
            <a:off x="2369875" y="1187750"/>
            <a:ext cx="713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0" name="Google Shape;230;g318b9aacfda_0_95"/>
          <p:cNvCxnSpPr/>
          <p:nvPr/>
        </p:nvCxnSpPr>
        <p:spPr>
          <a:xfrm rot="10800000">
            <a:off x="2369875" y="3568125"/>
            <a:ext cx="713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1" name="Google Shape;231;g318b9aacfda_0_95"/>
          <p:cNvCxnSpPr/>
          <p:nvPr/>
        </p:nvCxnSpPr>
        <p:spPr>
          <a:xfrm rot="10800000">
            <a:off x="2369875" y="1565250"/>
            <a:ext cx="713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2" name="Google Shape;232;g318b9aacfda_0_95"/>
          <p:cNvSpPr txBox="1"/>
          <p:nvPr/>
        </p:nvSpPr>
        <p:spPr>
          <a:xfrm>
            <a:off x="429950" y="2947500"/>
            <a:ext cx="2258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domain shifted image</a:t>
            </a:r>
            <a:endParaRPr/>
          </a:p>
        </p:txBody>
      </p:sp>
      <p:sp>
        <p:nvSpPr>
          <p:cNvPr id="233" name="Google Shape;233;g318b9aacfda_0_95"/>
          <p:cNvSpPr/>
          <p:nvPr/>
        </p:nvSpPr>
        <p:spPr>
          <a:xfrm>
            <a:off x="3156375" y="1061925"/>
            <a:ext cx="471900" cy="2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g318b9aacfda_0_95"/>
          <p:cNvSpPr/>
          <p:nvPr/>
        </p:nvSpPr>
        <p:spPr>
          <a:xfrm>
            <a:off x="3156375" y="1428900"/>
            <a:ext cx="471900" cy="2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g318b9aacfda_0_95"/>
          <p:cNvSpPr/>
          <p:nvPr/>
        </p:nvSpPr>
        <p:spPr>
          <a:xfrm>
            <a:off x="3156375" y="3022775"/>
            <a:ext cx="471900" cy="2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g318b9aacfda_0_95"/>
          <p:cNvSpPr/>
          <p:nvPr/>
        </p:nvSpPr>
        <p:spPr>
          <a:xfrm>
            <a:off x="3156375" y="3431775"/>
            <a:ext cx="471900" cy="2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7" name="Google Shape;237;g318b9aacfda_0_95"/>
          <p:cNvCxnSpPr/>
          <p:nvPr/>
        </p:nvCxnSpPr>
        <p:spPr>
          <a:xfrm rot="10800000">
            <a:off x="2369875" y="3159125"/>
            <a:ext cx="713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8" name="Google Shape;238;g318b9aacfda_0_95"/>
          <p:cNvSpPr txBox="1"/>
          <p:nvPr/>
        </p:nvSpPr>
        <p:spPr>
          <a:xfrm rot="5400000">
            <a:off x="3053175" y="2177529"/>
            <a:ext cx="678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…</a:t>
            </a:r>
            <a:endParaRPr/>
          </a:p>
        </p:txBody>
      </p:sp>
      <p:sp>
        <p:nvSpPr>
          <p:cNvPr id="239" name="Google Shape;239;g318b9aacfda_0_95"/>
          <p:cNvSpPr txBox="1"/>
          <p:nvPr/>
        </p:nvSpPr>
        <p:spPr>
          <a:xfrm>
            <a:off x="2590125" y="638250"/>
            <a:ext cx="1604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augmented image</a:t>
            </a:r>
            <a:endParaRPr/>
          </a:p>
        </p:txBody>
      </p:sp>
      <p:sp>
        <p:nvSpPr>
          <p:cNvPr id="240" name="Google Shape;240;g318b9aacfda_0_95"/>
          <p:cNvSpPr txBox="1"/>
          <p:nvPr/>
        </p:nvSpPr>
        <p:spPr>
          <a:xfrm>
            <a:off x="3701675" y="1003100"/>
            <a:ext cx="4278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domain classifier … [0.09,</a:t>
            </a:r>
            <a:r>
              <a:rPr b="1"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0.91</a:t>
            </a: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]</a:t>
            </a:r>
            <a:endParaRPr/>
          </a:p>
        </p:txBody>
      </p:sp>
      <p:sp>
        <p:nvSpPr>
          <p:cNvPr id="241" name="Google Shape;241;g318b9aacfda_0_95"/>
          <p:cNvSpPr txBox="1"/>
          <p:nvPr/>
        </p:nvSpPr>
        <p:spPr>
          <a:xfrm>
            <a:off x="3701675" y="1380600"/>
            <a:ext cx="4278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domain classifier … [0.49, 0.51]</a:t>
            </a:r>
            <a:endParaRPr/>
          </a:p>
        </p:txBody>
      </p:sp>
      <p:sp>
        <p:nvSpPr>
          <p:cNvPr id="242" name="Google Shape;242;g318b9aacfda_0_95"/>
          <p:cNvSpPr txBox="1"/>
          <p:nvPr/>
        </p:nvSpPr>
        <p:spPr>
          <a:xfrm>
            <a:off x="3701675" y="2974475"/>
            <a:ext cx="4278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domain classifier … [0.72, 0.28]</a:t>
            </a:r>
            <a:endParaRPr/>
          </a:p>
        </p:txBody>
      </p:sp>
      <p:sp>
        <p:nvSpPr>
          <p:cNvPr id="243" name="Google Shape;243;g318b9aacfda_0_95"/>
          <p:cNvSpPr txBox="1"/>
          <p:nvPr/>
        </p:nvSpPr>
        <p:spPr>
          <a:xfrm>
            <a:off x="3701675" y="3383475"/>
            <a:ext cx="4278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domain classifier … [0.55, 0.45]</a:t>
            </a:r>
            <a:endParaRPr/>
          </a:p>
        </p:txBody>
      </p:sp>
      <p:sp>
        <p:nvSpPr>
          <p:cNvPr id="244" name="Google Shape;244;g318b9aacfda_0_95"/>
          <p:cNvSpPr txBox="1"/>
          <p:nvPr/>
        </p:nvSpPr>
        <p:spPr>
          <a:xfrm>
            <a:off x="4813200" y="495000"/>
            <a:ext cx="16044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[target일 확률, source일 확률]</a:t>
            </a:r>
            <a:endParaRPr/>
          </a:p>
        </p:txBody>
      </p:sp>
      <p:sp>
        <p:nvSpPr>
          <p:cNvPr id="245" name="Google Shape;245;g318b9aacfda_0_95"/>
          <p:cNvSpPr/>
          <p:nvPr/>
        </p:nvSpPr>
        <p:spPr>
          <a:xfrm>
            <a:off x="6365175" y="1107125"/>
            <a:ext cx="639600" cy="188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g318b9aacfda_0_95"/>
          <p:cNvSpPr txBox="1"/>
          <p:nvPr/>
        </p:nvSpPr>
        <p:spPr>
          <a:xfrm>
            <a:off x="7162125" y="875025"/>
            <a:ext cx="4278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source 와 가장 가깝게 원복됐다고 판단하여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해당 이미지에 대한 예측 확률을 최종 예측 확률로 선정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247" name="Google Shape;247;g318b9aacfda_0_95"/>
          <p:cNvCxnSpPr/>
          <p:nvPr/>
        </p:nvCxnSpPr>
        <p:spPr>
          <a:xfrm>
            <a:off x="3250725" y="5442350"/>
            <a:ext cx="3198300" cy="817800"/>
          </a:xfrm>
          <a:prstGeom prst="bentConnector3">
            <a:avLst>
              <a:gd fmla="val -32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8" name="Google Shape;248;g318b9aacfda_0_95"/>
          <p:cNvCxnSpPr/>
          <p:nvPr/>
        </p:nvCxnSpPr>
        <p:spPr>
          <a:xfrm>
            <a:off x="5503500" y="5442350"/>
            <a:ext cx="1185000" cy="828300"/>
          </a:xfrm>
          <a:prstGeom prst="bentConnector3">
            <a:avLst>
              <a:gd fmla="val 882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9" name="Google Shape;249;g318b9aacfda_0_95"/>
          <p:cNvSpPr txBox="1"/>
          <p:nvPr/>
        </p:nvSpPr>
        <p:spPr>
          <a:xfrm>
            <a:off x="3996925" y="5666604"/>
            <a:ext cx="678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…</a:t>
            </a:r>
            <a:endParaRPr/>
          </a:p>
        </p:txBody>
      </p:sp>
      <p:sp>
        <p:nvSpPr>
          <p:cNvPr id="250" name="Google Shape;250;g318b9aacfda_0_95"/>
          <p:cNvSpPr txBox="1"/>
          <p:nvPr/>
        </p:nvSpPr>
        <p:spPr>
          <a:xfrm>
            <a:off x="5056025" y="5666604"/>
            <a:ext cx="678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❓</a:t>
            </a:r>
            <a:endParaRPr/>
          </a:p>
        </p:txBody>
      </p:sp>
      <p:sp>
        <p:nvSpPr>
          <p:cNvPr id="251" name="Google Shape;251;g318b9aacfda_0_95"/>
          <p:cNvSpPr txBox="1"/>
          <p:nvPr/>
        </p:nvSpPr>
        <p:spPr>
          <a:xfrm>
            <a:off x="2937825" y="5666604"/>
            <a:ext cx="678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❓</a:t>
            </a:r>
            <a:endParaRPr/>
          </a:p>
        </p:txBody>
      </p:sp>
      <p:sp>
        <p:nvSpPr>
          <p:cNvPr id="252" name="Google Shape;252;g318b9aacfda_0_95"/>
          <p:cNvSpPr txBox="1"/>
          <p:nvPr/>
        </p:nvSpPr>
        <p:spPr>
          <a:xfrm>
            <a:off x="7308925" y="2420363"/>
            <a:ext cx="4278300" cy="1477500"/>
          </a:xfrm>
          <a:prstGeom prst="rect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domain classifier 를 학습시킬 때 모델을 별도로 학습시키는 것이 아닌</a:t>
            </a:r>
            <a:b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ResNet (Main classifier) 를 학습시키면서 발생하는 feature map 을 input 으로 받아 domain classifier 도 동시 학습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175c13a6e3_2_8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EA72E"/>
                </a:solidFill>
                <a:latin typeface="Noto Sans KR"/>
                <a:ea typeface="Noto Sans KR"/>
                <a:cs typeface="Noto Sans KR"/>
                <a:sym typeface="Noto Sans KR"/>
              </a:rPr>
              <a:t>아이디어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g3175c13a6e3_2_8"/>
          <p:cNvSpPr txBox="1"/>
          <p:nvPr/>
        </p:nvSpPr>
        <p:spPr>
          <a:xfrm>
            <a:off x="242600" y="644350"/>
            <a:ext cx="11187300" cy="14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1. Contrastive loss를 활용한 Test Time Auto Augmentation</a:t>
            </a:r>
            <a:endParaRPr b="1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79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onsolas"/>
              <a:buChar char="-"/>
            </a:pPr>
            <a:r>
              <a:rPr b="0" i="0" lang="en-US" sz="12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가정 : Test 단계에서 제품이 불량 여부(class)나 촬영 환경(domain) 및 어떤 제품인지 알 수 없음(기존 문제 상황)</a:t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onsolas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79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onsolas"/>
              <a:buChar char="-"/>
            </a:pPr>
            <a:r>
              <a:rPr b="0" i="0" lang="en-US" sz="12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목적 : 과도한 증강으로 클래스가 바뀌지 않으면서, 다양한 촬영 환경에 대해 강건한 모델을 학습시킬 수 있는 증강을 찾을 수 있도록 하는 최적의 증강 policy 찾기</a:t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9" name="Google Shape;259;g3175c13a6e3_2_8"/>
          <p:cNvSpPr txBox="1"/>
          <p:nvPr/>
        </p:nvSpPr>
        <p:spPr>
          <a:xfrm>
            <a:off x="242600" y="5837925"/>
            <a:ext cx="11949300" cy="12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797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onsolas"/>
              <a:buChar char="-"/>
            </a:pPr>
            <a:r>
              <a:rPr b="0" i="0" lang="en-US" sz="12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기존의 AutoAugmentation(Cubuk et al.2018) 방식과 동일한 구조</a:t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7975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onsolas"/>
              <a:buChar char="○"/>
            </a:pPr>
            <a:r>
              <a:rPr b="0" i="0" lang="en-US" sz="12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Controller는 n개의 가지는 augmentation 조합에 대한 policy 생성 </a:t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7975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onsolas"/>
              <a:buChar char="○"/>
            </a:pPr>
            <a:r>
              <a:rPr b="0" i="0" lang="en-US" sz="12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Augmentation은 probability, method, magnitude </a:t>
            </a:r>
            <a:r>
              <a:rPr lang="en-US" sz="12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-US" sz="12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가지 조합으로 정의</a:t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60" name="Google Shape;260;g3175c13a6e3_2_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15651" y="2063900"/>
            <a:ext cx="3938775" cy="377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g31914e9eb23_0_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9975" y="942625"/>
            <a:ext cx="9472825" cy="270775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g31914e9eb23_0_3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EA72E"/>
                </a:solidFill>
                <a:latin typeface="Noto Sans KR"/>
                <a:ea typeface="Noto Sans KR"/>
                <a:cs typeface="Noto Sans KR"/>
                <a:sym typeface="Noto Sans KR"/>
              </a:rPr>
              <a:t>아이디어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g31914e9eb23_0_3"/>
          <p:cNvSpPr txBox="1"/>
          <p:nvPr/>
        </p:nvSpPr>
        <p:spPr>
          <a:xfrm>
            <a:off x="242600" y="644350"/>
            <a:ext cx="11187300" cy="8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1. Contrastive loss를 활용한 Test Time Auto Augmentation</a:t>
            </a:r>
            <a:endParaRPr b="1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8" name="Google Shape;268;g31914e9eb23_0_3"/>
          <p:cNvSpPr txBox="1"/>
          <p:nvPr/>
        </p:nvSpPr>
        <p:spPr>
          <a:xfrm>
            <a:off x="242600" y="3551925"/>
            <a:ext cx="7525800" cy="26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797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onsolas"/>
              <a:buChar char="-"/>
            </a:pPr>
            <a:r>
              <a:rPr lang="en-US" sz="12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controller는 child model의 아웃풋을 바탕으로 update / 직접 역전파 할 수 없기에 reward(accuracy)를 바탕으로 강화학습(PPO)를 통해 학습</a:t>
            </a:r>
            <a:endParaRPr sz="12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797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onsolas"/>
              <a:buChar char="-"/>
            </a:pPr>
            <a:r>
              <a:rPr lang="en-US" sz="12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Controller Input : 이전 에피소드의 Softmax 출력값(타입, 크기, 확률)을 임베딩한 벡터</a:t>
            </a:r>
            <a:r>
              <a:rPr lang="en-US" sz="12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(이전 state)</a:t>
            </a:r>
            <a:endParaRPr sz="12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797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onsolas"/>
              <a:buChar char="-"/>
            </a:pPr>
            <a:r>
              <a:rPr lang="en-US" sz="12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Controller </a:t>
            </a:r>
            <a:r>
              <a:rPr lang="en-US" sz="12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Output : 현재</a:t>
            </a:r>
            <a:r>
              <a:rPr lang="en-US" sz="12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에피소드의 Softmax 출력값(타입, 크기, 확률)을 임베딩한 벡터(현재 state)</a:t>
            </a:r>
            <a:endParaRPr sz="12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79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onsolas"/>
              <a:buChar char="-"/>
            </a:pPr>
            <a:r>
              <a:rPr lang="en-US" sz="12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Controller는 rnn으로, 이전 에피소드들의 아웃풋을 함께 사용해 순차적인 의사결정을 수행</a:t>
            </a:r>
            <a:endParaRPr sz="12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797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onsolas"/>
              <a:buChar char="-"/>
            </a:pPr>
            <a:r>
              <a:rPr lang="en-US" sz="12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Policy : policy_decoder를 통해 </a:t>
            </a:r>
            <a:r>
              <a:rPr lang="en-US" sz="12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임베딩한 벡터를 </a:t>
            </a:r>
            <a:r>
              <a:rPr lang="en-US" sz="12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현재 에피소드에서 선택할 augment 연산 종류, 크기, 확률로 mapping한 값</a:t>
            </a:r>
            <a:endParaRPr sz="12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69" name="Google Shape;269;g31914e9eb23_0_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56175" y="3551925"/>
            <a:ext cx="4067425" cy="199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g31914e9eb23_0_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56179" y="5876675"/>
            <a:ext cx="3837120" cy="95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g31914e9eb23_0_3"/>
          <p:cNvSpPr txBox="1"/>
          <p:nvPr/>
        </p:nvSpPr>
        <p:spPr>
          <a:xfrm>
            <a:off x="8056200" y="3280775"/>
            <a:ext cx="3837000" cy="4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fast autoaugment 공식 코드 일부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g31914e9eb23_0_3"/>
          <p:cNvSpPr txBox="1"/>
          <p:nvPr/>
        </p:nvSpPr>
        <p:spPr>
          <a:xfrm>
            <a:off x="8132400" y="5490575"/>
            <a:ext cx="3837000" cy="4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autoaugment </a:t>
            </a: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논문 중 한 구절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g31914e9eb23_0_3"/>
          <p:cNvSpPr txBox="1"/>
          <p:nvPr/>
        </p:nvSpPr>
        <p:spPr>
          <a:xfrm>
            <a:off x="301738" y="1027800"/>
            <a:ext cx="11949300" cy="6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797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onsolas"/>
              <a:buChar char="-"/>
            </a:pPr>
            <a:r>
              <a:rPr b="1" i="0" lang="en-US" sz="12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기존의 AutoAugmentation(Cubuk et al.2018) </a:t>
            </a:r>
            <a:r>
              <a:rPr b="1" lang="en-US" sz="12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설명</a:t>
            </a:r>
            <a:endParaRPr b="1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175c13a6e3_2_1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EA72E"/>
                </a:solidFill>
                <a:latin typeface="Noto Sans KR"/>
                <a:ea typeface="Noto Sans KR"/>
                <a:cs typeface="Noto Sans KR"/>
                <a:sym typeface="Noto Sans KR"/>
              </a:rPr>
              <a:t>아이디어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g3175c13a6e3_2_1"/>
          <p:cNvSpPr txBox="1"/>
          <p:nvPr/>
        </p:nvSpPr>
        <p:spPr>
          <a:xfrm>
            <a:off x="242600" y="644350"/>
            <a:ext cx="11187300" cy="14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1. Contrastive loss를 활용한 Test Time Auto Augmentation</a:t>
            </a:r>
            <a:endParaRPr b="1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79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onsolas"/>
              <a:buChar char="-"/>
            </a:pPr>
            <a:r>
              <a:rPr b="0" i="0" lang="en-US" sz="12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가정 : Test 단계에서 제품이 불량 여부(class)나 촬영 환경(domain) 및 어떤 제품인지 알 수 없음(기존 문제 상황)</a:t>
            </a:r>
            <a:endParaRPr b="0" i="0" sz="1250" u="none" cap="none" strike="noStrike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79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onsolas"/>
              <a:buChar char="-"/>
            </a:pPr>
            <a:r>
              <a:rPr b="0" i="0" lang="en-US" sz="12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목적 : 과도한 증강으로 클래스가 바뀌지 않으면서, 다양한 촬영 환경에 대해 강건한 모델을 학습시킬 수 있는 증강을 찾을 수 있도록 하는 최적의 증강 policy 찾기</a:t>
            </a:r>
            <a:endParaRPr b="1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0" name="Google Shape;280;g3175c13a6e3_2_1"/>
          <p:cNvSpPr/>
          <p:nvPr/>
        </p:nvSpPr>
        <p:spPr>
          <a:xfrm>
            <a:off x="2427800" y="3421525"/>
            <a:ext cx="792300" cy="248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g3175c13a6e3_2_1"/>
          <p:cNvSpPr/>
          <p:nvPr/>
        </p:nvSpPr>
        <p:spPr>
          <a:xfrm rot="-5400000">
            <a:off x="1255538" y="3025463"/>
            <a:ext cx="987300" cy="1040525"/>
          </a:xfrm>
          <a:prstGeom prst="flowChartManualOperation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g3175c13a6e3_2_1"/>
          <p:cNvSpPr txBox="1"/>
          <p:nvPr/>
        </p:nvSpPr>
        <p:spPr>
          <a:xfrm>
            <a:off x="1228925" y="3292200"/>
            <a:ext cx="1040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Controller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g3175c13a6e3_2_1"/>
          <p:cNvSpPr/>
          <p:nvPr/>
        </p:nvSpPr>
        <p:spPr>
          <a:xfrm>
            <a:off x="3480822" y="3196975"/>
            <a:ext cx="1565400" cy="69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Augmentation Image</a:t>
            </a:r>
            <a:endParaRPr b="1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g3175c13a6e3_2_1"/>
          <p:cNvSpPr/>
          <p:nvPr/>
        </p:nvSpPr>
        <p:spPr>
          <a:xfrm rot="-5400000">
            <a:off x="6244013" y="3025463"/>
            <a:ext cx="987300" cy="1040525"/>
          </a:xfrm>
          <a:prstGeom prst="flowChartManualOperation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g3175c13a6e3_2_1"/>
          <p:cNvSpPr txBox="1"/>
          <p:nvPr/>
        </p:nvSpPr>
        <p:spPr>
          <a:xfrm>
            <a:off x="6217400" y="3139800"/>
            <a:ext cx="1040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Trained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g3175c13a6e3_2_1"/>
          <p:cNvSpPr/>
          <p:nvPr/>
        </p:nvSpPr>
        <p:spPr>
          <a:xfrm>
            <a:off x="5174188" y="3421525"/>
            <a:ext cx="792300" cy="248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g3175c13a6e3_2_1"/>
          <p:cNvSpPr/>
          <p:nvPr/>
        </p:nvSpPr>
        <p:spPr>
          <a:xfrm>
            <a:off x="7638888" y="3421525"/>
            <a:ext cx="792300" cy="248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g3175c13a6e3_2_1"/>
          <p:cNvSpPr/>
          <p:nvPr/>
        </p:nvSpPr>
        <p:spPr>
          <a:xfrm>
            <a:off x="8812172" y="3196975"/>
            <a:ext cx="1565400" cy="69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Suggest</a:t>
            </a:r>
            <a:endParaRPr b="1" i="0" sz="14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Reward</a:t>
            </a:r>
            <a:endParaRPr b="1" i="0" sz="14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9" name="Google Shape;289;g3175c13a6e3_2_1"/>
          <p:cNvCxnSpPr>
            <a:endCxn id="281" idx="1"/>
          </p:cNvCxnSpPr>
          <p:nvPr/>
        </p:nvCxnSpPr>
        <p:spPr>
          <a:xfrm flipH="1">
            <a:off x="1749188" y="3877046"/>
            <a:ext cx="7802100" cy="63600"/>
          </a:xfrm>
          <a:prstGeom prst="bentConnector4">
            <a:avLst>
              <a:gd fmla="val 153" name="adj1"/>
              <a:gd fmla="val 629646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0" name="Google Shape;290;g3175c13a6e3_2_1"/>
          <p:cNvSpPr txBox="1"/>
          <p:nvPr/>
        </p:nvSpPr>
        <p:spPr>
          <a:xfrm>
            <a:off x="4222400" y="4424675"/>
            <a:ext cx="2873400" cy="5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Proximal Policy Optimization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g3175c13a6e3_2_1"/>
          <p:cNvSpPr txBox="1"/>
          <p:nvPr/>
        </p:nvSpPr>
        <p:spPr>
          <a:xfrm>
            <a:off x="242600" y="5228325"/>
            <a:ext cx="119493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797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onsolas"/>
              <a:buChar char="-"/>
            </a:pPr>
            <a:r>
              <a:rPr b="0" i="0" lang="en-US" sz="12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Test Time augmentation 이기에, label이 없는 상황에서 사용할 수 있는 새로운 reward를 제안</a:t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92" name="Google Shape;292;g3175c13a6e3_2_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6675" y="2625925"/>
            <a:ext cx="348349" cy="348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g3175c13a6e3_2_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81875" y="2737750"/>
            <a:ext cx="400451" cy="400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17e8d1f02e_3_189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EA72E"/>
                </a:solidFill>
                <a:latin typeface="Noto Sans KR"/>
                <a:ea typeface="Noto Sans KR"/>
                <a:cs typeface="Noto Sans KR"/>
                <a:sym typeface="Noto Sans KR"/>
              </a:rPr>
              <a:t>아이디어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g317e8d1f02e_3_189"/>
          <p:cNvSpPr txBox="1"/>
          <p:nvPr/>
        </p:nvSpPr>
        <p:spPr>
          <a:xfrm>
            <a:off x="242600" y="644350"/>
            <a:ext cx="11187300" cy="23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1. Triplet loss 및 Margin을 활용한 Test Time Auto Augmentation</a:t>
            </a:r>
            <a:endParaRPr b="1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79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onsolas"/>
              <a:buChar char="-"/>
            </a:pPr>
            <a:r>
              <a:rPr b="0" i="0" lang="en-US" sz="12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제안하는 Reward : source 원본 image와 target aug image 사이의 triplet loss + Least Confidence</a:t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1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1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1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00" name="Google Shape;300;g317e8d1f02e_3_1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9200" y="1509875"/>
            <a:ext cx="10513699" cy="420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17e8d1f02e_3_257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EA72E"/>
                </a:solidFill>
                <a:latin typeface="Noto Sans KR"/>
                <a:ea typeface="Noto Sans KR"/>
                <a:cs typeface="Noto Sans KR"/>
                <a:sym typeface="Noto Sans KR"/>
              </a:rPr>
              <a:t>아이디어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g317e8d1f02e_3_257"/>
          <p:cNvSpPr txBox="1"/>
          <p:nvPr/>
        </p:nvSpPr>
        <p:spPr>
          <a:xfrm>
            <a:off x="242600" y="644350"/>
            <a:ext cx="11187300" cy="32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1. Triplet loss 및 Margin을 활용한 Test Time Auto Augmentation</a:t>
            </a:r>
            <a:endParaRPr b="1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79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onsolas"/>
              <a:buChar char="-"/>
            </a:pPr>
            <a:r>
              <a:rPr b="0" i="0" lang="en-US" sz="12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제안하는 Reward : source 원본 image와 target aug image 사이의 triplet loss + Least Confidence</a:t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1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1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1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7975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onsolas"/>
              <a:buChar char="○"/>
            </a:pPr>
            <a:r>
              <a:rPr b="0" i="0" lang="en-US" sz="12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triplet_loss : </a:t>
            </a:r>
            <a:r>
              <a:rPr b="0" i="0" lang="en-US" sz="1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Anchor는 </a:t>
            </a:r>
            <a:r>
              <a:rPr b="0" i="0" lang="en-US" sz="12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source 원본 image</a:t>
            </a:r>
            <a:r>
              <a:rPr b="0" i="0" lang="en-US" sz="1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Positive는 학습한 모델이 confidence하게 같은 클래스로 예측한 target 이미지를 증강 시킨 것, Negative는 학습한 모델이 confidence하게 다른 클래스로 예측한 target 이미지를 증강 시킨것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7975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Char char="○"/>
            </a:pPr>
            <a:r>
              <a:rPr b="0" i="0" lang="en-US" sz="1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목적 : target 이미지를 과도하게 augmentation 해 class가 바뀌는 것을 방지</a:t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7975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onsolas"/>
              <a:buChar char="○"/>
            </a:pPr>
            <a:r>
              <a:rPr b="0" i="0" lang="en-US" sz="12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문제점 : </a:t>
            </a:r>
            <a:r>
              <a:rPr b="0" i="0" lang="en-US" sz="125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잘못된 수도레이블로 인해 잘못 학습될 수 도 있음</a:t>
            </a:r>
            <a:endParaRPr b="0" i="0" sz="1250" u="none" cap="none" strike="noStrike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7" name="Google Shape;307;g317e8d1f02e_3_257"/>
          <p:cNvSpPr/>
          <p:nvPr/>
        </p:nvSpPr>
        <p:spPr>
          <a:xfrm>
            <a:off x="3971100" y="4181375"/>
            <a:ext cx="782700" cy="91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g317e8d1f02e_3_257"/>
          <p:cNvSpPr txBox="1"/>
          <p:nvPr/>
        </p:nvSpPr>
        <p:spPr>
          <a:xfrm>
            <a:off x="3971100" y="4329575"/>
            <a:ext cx="7827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1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1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g317e8d1f02e_3_257"/>
          <p:cNvSpPr txBox="1"/>
          <p:nvPr/>
        </p:nvSpPr>
        <p:spPr>
          <a:xfrm>
            <a:off x="3971100" y="5013575"/>
            <a:ext cx="782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anchor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g317e8d1f02e_3_257"/>
          <p:cNvSpPr/>
          <p:nvPr/>
        </p:nvSpPr>
        <p:spPr>
          <a:xfrm>
            <a:off x="5607250" y="3960125"/>
            <a:ext cx="1082700" cy="9114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chemeClr val="accen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g317e8d1f02e_3_257"/>
          <p:cNvSpPr txBox="1"/>
          <p:nvPr/>
        </p:nvSpPr>
        <p:spPr>
          <a:xfrm>
            <a:off x="5607250" y="4108325"/>
            <a:ext cx="12255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T1</a:t>
            </a:r>
            <a:r>
              <a:rPr b="0" baseline="-25000" i="1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g317e8d1f02e_3_257"/>
          <p:cNvSpPr txBox="1"/>
          <p:nvPr/>
        </p:nvSpPr>
        <p:spPr>
          <a:xfrm>
            <a:off x="5607250" y="4792325"/>
            <a:ext cx="782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positive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g317e8d1f02e_3_257"/>
          <p:cNvSpPr txBox="1"/>
          <p:nvPr/>
        </p:nvSpPr>
        <p:spPr>
          <a:xfrm>
            <a:off x="6881250" y="6054625"/>
            <a:ext cx="1599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negative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g317e8d1f02e_3_257"/>
          <p:cNvSpPr/>
          <p:nvPr/>
        </p:nvSpPr>
        <p:spPr>
          <a:xfrm>
            <a:off x="4789175" y="4495925"/>
            <a:ext cx="782700" cy="2823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g317e8d1f02e_3_257"/>
          <p:cNvSpPr/>
          <p:nvPr/>
        </p:nvSpPr>
        <p:spPr>
          <a:xfrm rot="1511866">
            <a:off x="4999357" y="5348380"/>
            <a:ext cx="1636194" cy="282224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g317e8d1f02e_3_257"/>
          <p:cNvSpPr/>
          <p:nvPr/>
        </p:nvSpPr>
        <p:spPr>
          <a:xfrm>
            <a:off x="6843098" y="5092775"/>
            <a:ext cx="1506000" cy="911400"/>
          </a:xfrm>
          <a:prstGeom prst="triangle">
            <a:avLst>
              <a:gd fmla="val 50000" name="adj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g317e8d1f02e_3_257"/>
          <p:cNvSpPr txBox="1"/>
          <p:nvPr/>
        </p:nvSpPr>
        <p:spPr>
          <a:xfrm>
            <a:off x="7064500" y="5382875"/>
            <a:ext cx="12255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1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T2</a:t>
            </a:r>
            <a:r>
              <a:rPr b="0" baseline="-25000" i="1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8" name="Google Shape;318;g317e8d1f02e_3_2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5163" y="1429725"/>
            <a:ext cx="10982325" cy="89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17e8d1f02e_3_55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EA72E"/>
                </a:solidFill>
                <a:latin typeface="Noto Sans KR"/>
                <a:ea typeface="Noto Sans KR"/>
                <a:cs typeface="Noto Sans KR"/>
                <a:sym typeface="Noto Sans KR"/>
              </a:rPr>
              <a:t>아이디어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g317e8d1f02e_3_55"/>
          <p:cNvSpPr txBox="1"/>
          <p:nvPr/>
        </p:nvSpPr>
        <p:spPr>
          <a:xfrm>
            <a:off x="242600" y="644350"/>
            <a:ext cx="11187300" cy="43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1. Triplet loss 및 Margin을 활용한 Test Time Auto Augmentation</a:t>
            </a:r>
            <a:endParaRPr b="1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79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onsolas"/>
              <a:buChar char="-"/>
            </a:pPr>
            <a:r>
              <a:rPr b="0" i="0" lang="en-US" sz="12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제안하는 Reward : source 원본 image와 target aug image 사이의 triplet loss + Least Confidence</a:t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1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1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1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Max(LeastConficence(Unconfidence Target Image`)) : 도메인 변화로 인해 unconfidence해진 target image들을 confidence하게 예측하도록 바꾸는 augmentation을 찾자!</a:t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7975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onsolas"/>
              <a:buChar char="○"/>
            </a:pPr>
            <a:r>
              <a:rPr b="0" i="0" lang="en-US" sz="1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목표 : 도메인 변화로 인해 unconfidence한 Target 이미지를 augmentation으로 confidence하게 바꾸는 것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7975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onsolas"/>
              <a:buChar char="○"/>
            </a:pPr>
            <a:r>
              <a:rPr b="0" i="0" lang="en-US" sz="1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Augmentation이 잘못된 class에 대해 confidence를 높일 가능성도 있지만, Reward 계산 과정에서 Triplet Loss와 Least Confidence를 동시에 고려하므로, 최종적으로 선택된 augmentation(policy)는 올바른 class에 대해 confidence를 높이는 방향으로 작동할 것 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7975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50"/>
              <a:buFont typeface="Arial"/>
              <a:buChar char="○"/>
            </a:pPr>
            <a:r>
              <a:rPr b="0" i="0" lang="en-US" sz="125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문제점 : 정말로 최종적으로 선택된 augmentation(policy)는 올바른 class에 대해 confidence를 높이는 방향으로 작동할 것인가?</a:t>
            </a:r>
            <a:endParaRPr b="0" i="0" sz="125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25" name="Google Shape;325;g317e8d1f02e_3_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0975" y="1477600"/>
            <a:ext cx="10982325" cy="89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175c13a6e3_2_160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EA72E"/>
                </a:solidFill>
                <a:latin typeface="Noto Sans KR"/>
                <a:ea typeface="Noto Sans KR"/>
                <a:cs typeface="Noto Sans KR"/>
                <a:sym typeface="Noto Sans KR"/>
              </a:rPr>
              <a:t>아이디어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g3175c13a6e3_2_160"/>
          <p:cNvSpPr txBox="1"/>
          <p:nvPr/>
        </p:nvSpPr>
        <p:spPr>
          <a:xfrm>
            <a:off x="242600" y="644350"/>
            <a:ext cx="11187300" cy="17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1. Contrastive loss를 활용한 Test Time Auto Augmentation</a:t>
            </a:r>
            <a:endParaRPr b="1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79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onsolas"/>
              <a:buChar char="-"/>
            </a:pPr>
            <a:r>
              <a:rPr b="0" i="0" lang="en-US" sz="12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코드 작성 정도 : reward 정의만 되면 바로 실험 가능</a:t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1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1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32" name="Google Shape;332;g3175c13a6e3_2_1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06025" y="0"/>
            <a:ext cx="3348701" cy="647662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g3175c13a6e3_2_1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6250" y="2804801"/>
            <a:ext cx="6258499" cy="225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2013 - 2022 테마">
  <a:themeElements>
    <a:clrScheme name="Office 2013 - 2022 테마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2024-05-05T08:04:52Z</dcterms:created>
  <dc:creator>김나연</dc:creator>
</cp:coreProperties>
</file>