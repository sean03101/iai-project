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390" r:id="rId2"/>
    <p:sldId id="503" r:id="rId3"/>
    <p:sldId id="512" r:id="rId4"/>
    <p:sldId id="522" r:id="rId5"/>
    <p:sldId id="523" r:id="rId6"/>
    <p:sldId id="524" r:id="rId7"/>
    <p:sldId id="520" r:id="rId8"/>
    <p:sldId id="519" r:id="rId9"/>
    <p:sldId id="526" r:id="rId10"/>
    <p:sldId id="525" r:id="rId11"/>
    <p:sldId id="527" r:id="rId12"/>
    <p:sldId id="514" r:id="rId13"/>
    <p:sldId id="528" r:id="rId14"/>
    <p:sldId id="529" r:id="rId15"/>
    <p:sldId id="536" r:id="rId16"/>
    <p:sldId id="533" r:id="rId17"/>
    <p:sldId id="535" r:id="rId18"/>
    <p:sldId id="516" r:id="rId19"/>
    <p:sldId id="517" r:id="rId20"/>
    <p:sldId id="398" r:id="rId21"/>
    <p:sldId id="532" r:id="rId22"/>
    <p:sldId id="513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Malgun Gothic Semilight" panose="020B0502040204020203" pitchFamily="50" charset="-127"/>
      <p:regular r:id="rId26"/>
    </p:embeddedFont>
    <p:embeddedFont>
      <p:font typeface="Noto Sans KR" panose="020B0200000000000000" pitchFamily="50" charset="-127"/>
      <p:regular r:id="rId27"/>
      <p:bold r:id="rId28"/>
    </p:embeddedFont>
    <p:embeddedFont>
      <p:font typeface="맑은 고딕" panose="020B0503020000020004" pitchFamily="50" charset="-127"/>
      <p:regular r:id="rId29"/>
      <p:bold r:id="rId30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jt9dHdAs7x16RPaglxVTdG1fV3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342F"/>
    <a:srgbClr val="C1442E"/>
    <a:srgbClr val="F7B7A3"/>
    <a:srgbClr val="D9534F"/>
    <a:srgbClr val="C8503C"/>
    <a:srgbClr val="64C896"/>
    <a:srgbClr val="B4DC64"/>
    <a:srgbClr val="275B29"/>
    <a:srgbClr val="FFC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D2AD60-F4DC-4504-80C7-2C9E4552CE91}">
  <a:tblStyle styleId="{8AD2AD60-F4DC-4504-80C7-2C9E4552CE91}" styleName="Table_0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ABB544-4CD5-4A61-BFB1-EE3A75EF073E}" styleName="Table_1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03" autoAdjust="0"/>
  </p:normalViewPr>
  <p:slideViewPr>
    <p:cSldViewPr snapToGrid="0">
      <p:cViewPr varScale="1">
        <p:scale>
          <a:sx n="79" d="100"/>
          <a:sy n="79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cs typeface="Noto Sans KR"/>
                <a:sym typeface="Noto Sans KR"/>
              </a:rPr>
              <a:pPr algn="r"/>
              <a:t>‹#›</a:t>
            </a:fld>
            <a:endParaRPr lang="en-US" sz="1200" dirty="0">
              <a:solidFill>
                <a:schemeClr val="dk1"/>
              </a:solidFill>
              <a:cs typeface="Noto Sans KR"/>
              <a:sym typeface="Noto Sans K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hilgok Gwon Anja" panose="020B0503020000020004" pitchFamily="18" charset="-127"/>
        <a:ea typeface="Chilgok Gwon Anja" panose="020B0503020000020004" pitchFamily="18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796E7EC-8A3C-97C3-D63A-E1A589AD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39EB997E-B0A2-71CB-A61E-8A592E59F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58A17A90-150A-7BE1-2DE6-64D22E36E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739A9B46-6A46-4D4E-11BC-00AB0368BB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075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806D92C-F7D4-10EA-DBCD-7EC10948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177BFC4B-E4D5-9215-11CC-5F6FF55C3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B45E2E5B-CF2C-1BD9-BEC5-21DBA1BB8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061F367-DB3C-841C-43C2-4D4BB9BA62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87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4078358-A180-22ED-7CBF-1365EB5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0EDAAA33-F582-F7BD-BF58-49CA9BE61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ABC5E7E1-E8B4-288D-D13D-75F56A81F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C332A28D-07C9-6A34-6D6B-12833BAE97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8960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4B7C660-C06F-C912-56CB-C9C8B264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0C3DC659-0C8E-F50D-B22D-99B001D79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C3A860AD-8637-3FFB-F9F8-6ED51C9CD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CF028983-4CEF-FC23-8CB3-C40D9C0D7A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9542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66F21B2-13BE-E5D2-4D0C-DCC8A538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5FF42897-C7DD-D850-F6D5-CCF7F9465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264BCD86-AD23-3A8D-E933-4C132AA96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BF4ECC57-E96A-E916-869B-01C4F75F7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3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cs typeface="Noto Sans KR"/>
                <a:sym typeface="Noto Sans KR"/>
              </a:rPr>
              <a:pPr algn="r"/>
              <a:t>8</a:t>
            </a:fld>
            <a:endParaRPr lang="en-US" sz="1200" dirty="0">
              <a:solidFill>
                <a:schemeClr val="dk1"/>
              </a:solidFill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3193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074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cs typeface="Noto Sans KR"/>
                <a:sym typeface="Noto Sans KR"/>
              </a:rPr>
              <a:pPr algn="r"/>
              <a:t>16</a:t>
            </a:fld>
            <a:endParaRPr lang="en-US" sz="1200" dirty="0">
              <a:solidFill>
                <a:schemeClr val="dk1"/>
              </a:solidFill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46741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5609-2A33-9FB7-C18F-9D091075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749DE9-12A9-68A4-5C72-698248F0C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EF7DDD-10AA-98DC-0D87-1EDD3D795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074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0D6782-E485-3110-709D-BD294324C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cs typeface="Noto Sans KR"/>
                <a:sym typeface="Noto Sans KR"/>
              </a:rPr>
              <a:pPr algn="r"/>
              <a:t>17</a:t>
            </a:fld>
            <a:endParaRPr lang="en-US" sz="1200" dirty="0">
              <a:solidFill>
                <a:schemeClr val="dk1"/>
              </a:solidFill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192344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5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399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4953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1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4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85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48775" y="6176962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268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3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884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5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0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mailto:yhoon.lee@seoultech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178636-34F2-DA13-D18E-76679D9F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1AA826-AC7B-9229-D6DE-50A45F986F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373DEC-689C-D8B7-2E34-64DB2C2BC0DC}"/>
              </a:ext>
            </a:extLst>
          </p:cNvPr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</a:endParaRPr>
          </a:p>
        </p:txBody>
      </p:sp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13D528AB-81B5-F20D-779B-30E5E57B1F35}"/>
              </a:ext>
            </a:extLst>
          </p:cNvPr>
          <p:cNvSpPr txBox="1"/>
          <p:nvPr/>
        </p:nvSpPr>
        <p:spPr>
          <a:xfrm>
            <a:off x="152400" y="2140309"/>
            <a:ext cx="11887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  <a:sym typeface="Noto Sans KR"/>
              </a:rPr>
              <a:t>변화하는 제조 환경에서의 미세 결함 분류를 위한 테스트 시점 도메인 적응</a:t>
            </a:r>
            <a:endParaRPr 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  <a:sym typeface="Noto Sans KR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035AC93-02AD-A340-9313-02A6B4E10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11566" y="6150379"/>
            <a:ext cx="920946" cy="46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CF289-80C5-A98E-2570-C3E158ECE765}"/>
              </a:ext>
            </a:extLst>
          </p:cNvPr>
          <p:cNvSpPr txBox="1"/>
          <p:nvPr/>
        </p:nvSpPr>
        <p:spPr>
          <a:xfrm>
            <a:off x="3094022" y="5286891"/>
            <a:ext cx="6188042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대한산업공학회</a:t>
            </a:r>
            <a:r>
              <a:rPr lang="en-US" altLang="ko-KR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한국경영과학회</a:t>
            </a:r>
            <a:r>
              <a:rPr lang="en-US" altLang="ko-KR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400" dirty="0" err="1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한국시뮬레이션학회</a:t>
            </a:r>
            <a:r>
              <a:rPr lang="ko-KR" altLang="en-US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2025</a:t>
            </a:r>
            <a:r>
              <a:rPr lang="ko-KR" altLang="en-US" sz="1400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년 춘계공동학술대회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9EFBD-E75C-386E-FE16-20B455336888}"/>
              </a:ext>
            </a:extLst>
          </p:cNvPr>
          <p:cNvSpPr txBox="1"/>
          <p:nvPr/>
        </p:nvSpPr>
        <p:spPr>
          <a:xfrm>
            <a:off x="2746697" y="3288718"/>
            <a:ext cx="6882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김나연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¹,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이성호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¹,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심재웅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²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*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서울과학기술대학교 </a:t>
            </a:r>
            <a:r>
              <a:rPr lang="ko-KR" altLang="en-US" sz="24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데이터사이언스학과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¹</a:t>
            </a:r>
          </a:p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서울과학기술대학교 산업공학과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²</a:t>
            </a:r>
          </a:p>
          <a:p>
            <a:pPr algn="ctr"/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  <a:hlinkClick r:id="rId4"/>
              </a:rPr>
              <a:t>jaewoong@seoultech.ac.kr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 </a:t>
            </a:r>
            <a:endParaRPr lang="ko-KR" altLang="en-US" sz="2400" dirty="0"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8C0D8-819E-114A-C32F-4F8D68C15D50}"/>
              </a:ext>
            </a:extLst>
          </p:cNvPr>
          <p:cNvSpPr txBox="1"/>
          <p:nvPr/>
        </p:nvSpPr>
        <p:spPr>
          <a:xfrm>
            <a:off x="1485634" y="5983941"/>
            <a:ext cx="9393999" cy="55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본 연구는 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2025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년도 정부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산업통상자원부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의 재원으로 한국산업기술진흥회의 지원을 받아 수행되었음</a:t>
            </a:r>
            <a:endParaRPr lang="en-US" altLang="ko-KR" sz="1050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(P0017123 , 2025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년 </a:t>
            </a:r>
            <a:r>
              <a:rPr lang="ko-KR" altLang="en-US" sz="1050" dirty="0" err="1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산업혁신인재성장지원사업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A5BE05-4D75-7E68-4F37-C15CC53C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33" y="317175"/>
            <a:ext cx="4514850" cy="4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09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B4A8060-F2A6-8D66-7B00-7247CCE6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8E8D9AB6-7E22-13F0-AE3A-DF2F71394E0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B7956-5B15-2226-0894-7B49BCDC8BD6}"/>
              </a:ext>
            </a:extLst>
          </p:cNvPr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Contents</a:t>
            </a:r>
            <a:endParaRPr lang="ko-KR" altLang="en-US" sz="28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EB08F-51F4-59D5-F185-3B94F51BFC63}"/>
              </a:ext>
            </a:extLst>
          </p:cNvPr>
          <p:cNvSpPr txBox="1"/>
          <p:nvPr/>
        </p:nvSpPr>
        <p:spPr>
          <a:xfrm>
            <a:off x="2326710" y="1758813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01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CB6EB-BAE7-7B2F-D0E7-01A7D08C035B}"/>
              </a:ext>
            </a:extLst>
          </p:cNvPr>
          <p:cNvSpPr txBox="1"/>
          <p:nvPr/>
        </p:nvSpPr>
        <p:spPr>
          <a:xfrm>
            <a:off x="2326710" y="3265727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02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3AACD-8FE2-FB09-0472-D1C7C66DF444}"/>
              </a:ext>
            </a:extLst>
          </p:cNvPr>
          <p:cNvSpPr txBox="1"/>
          <p:nvPr/>
        </p:nvSpPr>
        <p:spPr>
          <a:xfrm>
            <a:off x="2326710" y="4772641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03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87A1D6-1D3D-64BC-D59D-3E6BDEBD239E}"/>
              </a:ext>
            </a:extLst>
          </p:cNvPr>
          <p:cNvSpPr txBox="1"/>
          <p:nvPr/>
        </p:nvSpPr>
        <p:spPr>
          <a:xfrm>
            <a:off x="7456551" y="1758813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04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FC5C88-C839-A2E7-F8DE-5EDBB5F3D5EA}"/>
              </a:ext>
            </a:extLst>
          </p:cNvPr>
          <p:cNvSpPr txBox="1"/>
          <p:nvPr/>
        </p:nvSpPr>
        <p:spPr>
          <a:xfrm>
            <a:off x="7456551" y="3265727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05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829EB-8F9D-3781-344B-D56EB78D4656}"/>
              </a:ext>
            </a:extLst>
          </p:cNvPr>
          <p:cNvSpPr txBox="1"/>
          <p:nvPr/>
        </p:nvSpPr>
        <p:spPr>
          <a:xfrm>
            <a:off x="7456551" y="4772641"/>
            <a:ext cx="670208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06</a:t>
            </a:r>
            <a:endParaRPr lang="ko-KR" altLang="en-US" sz="24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FA7B7-9632-74A7-E773-2C442D31766D}"/>
              </a:ext>
            </a:extLst>
          </p:cNvPr>
          <p:cNvSpPr txBox="1"/>
          <p:nvPr/>
        </p:nvSpPr>
        <p:spPr>
          <a:xfrm>
            <a:off x="2978311" y="1822292"/>
            <a:ext cx="14581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연구배경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146F8-212D-D6E1-EFC4-D99ADC05EBEE}"/>
              </a:ext>
            </a:extLst>
          </p:cNvPr>
          <p:cNvSpPr txBox="1"/>
          <p:nvPr/>
        </p:nvSpPr>
        <p:spPr>
          <a:xfrm>
            <a:off x="2978311" y="3323185"/>
            <a:ext cx="14581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선행연구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F3FD6-21EB-64B0-2E0B-A77FA6929076}"/>
              </a:ext>
            </a:extLst>
          </p:cNvPr>
          <p:cNvSpPr txBox="1"/>
          <p:nvPr/>
        </p:nvSpPr>
        <p:spPr>
          <a:xfrm>
            <a:off x="2978311" y="4824654"/>
            <a:ext cx="14581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제안 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02E561-C0FF-977A-49F8-D04522543717}"/>
              </a:ext>
            </a:extLst>
          </p:cNvPr>
          <p:cNvSpPr txBox="1"/>
          <p:nvPr/>
        </p:nvSpPr>
        <p:spPr>
          <a:xfrm>
            <a:off x="8126759" y="1822292"/>
            <a:ext cx="14581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실험결과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F016E-0E68-069A-D653-1894C4A261CA}"/>
              </a:ext>
            </a:extLst>
          </p:cNvPr>
          <p:cNvSpPr txBox="1"/>
          <p:nvPr/>
        </p:nvSpPr>
        <p:spPr>
          <a:xfrm>
            <a:off x="8126758" y="3323185"/>
            <a:ext cx="226336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결론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1308D-E7C1-1AFB-3CBF-7DEADB427E08}"/>
              </a:ext>
            </a:extLst>
          </p:cNvPr>
          <p:cNvSpPr txBox="1"/>
          <p:nvPr/>
        </p:nvSpPr>
        <p:spPr>
          <a:xfrm>
            <a:off x="8126759" y="4824654"/>
            <a:ext cx="14581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참고문헌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F7A2A75F-3832-2383-6D2B-D8B554A75B4F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394DAE94-874B-D8A5-E559-18D890A5A09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04431F35-7D8A-A7A7-4A9D-620FD3D63C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51499" y="151490"/>
            <a:ext cx="966119" cy="48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92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3667C21-76BB-9CAF-14B2-B5A4F287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F72136BB-8D75-2334-2369-CB1BF27599A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76C0C7FC-6A48-CDBB-285D-9841B7407667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B4710F1E-7FFB-6F47-291C-5DB9F0C86228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Google Shape;160;p7">
            <a:extLst>
              <a:ext uri="{FF2B5EF4-FFF2-40B4-BE49-F238E27FC236}">
                <a16:creationId xmlns:a16="http://schemas.microsoft.com/office/drawing/2014/main" id="{74B5F88C-A2EF-58A6-4BC0-3DA725B1A9B6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4C2AC-004B-F870-F184-791E0F189450}"/>
              </a:ext>
            </a:extLst>
          </p:cNvPr>
          <p:cNvSpPr txBox="1"/>
          <p:nvPr/>
        </p:nvSpPr>
        <p:spPr>
          <a:xfrm>
            <a:off x="217001" y="1253041"/>
            <a:ext cx="8003546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머신 비전을 활용한 미세 결함 탐지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D76ED-1ABC-6CDC-2AA3-DFBA15EE029C}"/>
              </a:ext>
            </a:extLst>
          </p:cNvPr>
          <p:cNvSpPr txBox="1"/>
          <p:nvPr/>
        </p:nvSpPr>
        <p:spPr>
          <a:xfrm>
            <a:off x="377982" y="1747771"/>
            <a:ext cx="10546179" cy="2965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전통적인 기계학습 기반 결함 탐지는 제조 품질과 효율을 향상시켰으며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최근에는 딥러닝 도입으로 비전 검사 정확도와 자동화 수준이 크게 향상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하지만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미세 결함은 크기가 작고 희미하여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기존의 분류 기반 방법으로는 정확한 탐지 및 구별이 어려움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&amp;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제품 내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결함과 배경의 경계가 모호해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모델이 잘못된 영역에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attention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집중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할 가능성 존재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따라서 결함 부위에 정확히 집중할 수 있는 모델 설계가 필요</a:t>
            </a:r>
          </a:p>
          <a:p>
            <a:pPr>
              <a:lnSpc>
                <a:spcPct val="150000"/>
              </a:lnSpc>
              <a:defRPr/>
            </a:pP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단순한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ResNet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계열 모델은 구조상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지역적 특징 구분에 한계가 있기 때문에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미세한 시각적 차이를 효과적으로 포착하기 위해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      attention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모듈이나 보조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branch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구조의 활용이 일반적</a:t>
            </a:r>
            <a:r>
              <a:rPr lang="en-US" altLang="ko-KR" sz="14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1-3</a:t>
            </a:r>
            <a:endParaRPr lang="en-US" altLang="ko-KR" sz="1400" baseline="30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3AB3C-59DA-8E8D-A892-27AF1458F208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01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6BC05-B356-D9DC-FB7C-6629518D701D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연구 배경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71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F971801-A038-73DF-5E4E-E0AE9606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D69AA5C7-737D-DCAC-21E5-D5104300ED3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59774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3C2D5-6B87-B6F4-726E-8C46EC1FFDB0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01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923DC-3AF4-4E6E-A3B1-2DEC909D0BBD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연구 배경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2F8A5323-6B75-4536-DD79-B651F111E6A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17353C97-12CB-7405-5D30-45EFBFFEDBA7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Google Shape;160;p7">
            <a:extLst>
              <a:ext uri="{FF2B5EF4-FFF2-40B4-BE49-F238E27FC236}">
                <a16:creationId xmlns:a16="http://schemas.microsoft.com/office/drawing/2014/main" id="{FF854468-CEA0-D0F6-CDD8-C460A49E9A3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4002E-A30F-CB6F-C550-ACD92F597969}"/>
              </a:ext>
            </a:extLst>
          </p:cNvPr>
          <p:cNvSpPr txBox="1"/>
          <p:nvPr/>
        </p:nvSpPr>
        <p:spPr>
          <a:xfrm>
            <a:off x="217001" y="1198128"/>
            <a:ext cx="3343322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환경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 변화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(Environment Shift)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D7E09-E05A-2473-9F72-4BE60F70359A}"/>
              </a:ext>
            </a:extLst>
          </p:cNvPr>
          <p:cNvSpPr txBox="1"/>
          <p:nvPr/>
        </p:nvSpPr>
        <p:spPr>
          <a:xfrm>
            <a:off x="377983" y="1719862"/>
            <a:ext cx="10692094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딥러닝 기반 결함 탐지 모델을 다른 생산 라인에 도입할 경우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생산 라인마다 조명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각도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배경 등의 차이로 인해 촬영 환경이 달라지는 상황 발생</a:t>
            </a:r>
            <a:endParaRPr lang="en-US" altLang="ko-KR" sz="1400" noProof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Bold" panose="00000800000000000000" pitchFamily="2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altLang="ko-KR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→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딥러닝 기반 머신 비전 모델은 훈련 단계에서 학습한 이미지와 다른 촬영 환경에서 수집한 인스턴스가 들어올 경우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   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도메인 변화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(Environment/Domain Shift)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로 인해 성능 저하가 발생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촬영 환경 변화에 따른 성능 저하를 막기 위해선 각 생산 라인에 대해 별도의 결함 분류 모델을 구축하고 자주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재훈련하는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것이 이상적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이나 생산 라인마다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학습에 사용될 충분한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라벨링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데이터를 수집하는 것은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비용적 한계 존재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0AF30D9-6058-7AAB-2D5E-40A6F3903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77" y="4140449"/>
            <a:ext cx="4519045" cy="241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23DB8A9-A120-FDF9-2D73-39A1BE4C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9C00B6BF-6CF6-0E58-73DC-CE358231073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2A476777-DB77-5D84-F660-3D6D6D483106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DBF076E6-6C90-6FA9-3FD0-E5A943CC5C4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Google Shape;160;p7">
            <a:extLst>
              <a:ext uri="{FF2B5EF4-FFF2-40B4-BE49-F238E27FC236}">
                <a16:creationId xmlns:a16="http://schemas.microsoft.com/office/drawing/2014/main" id="{7F2222DE-14F6-7F09-FD47-0A53B75C792E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981FB-5FBC-F0C0-60AD-128345847F37}"/>
              </a:ext>
            </a:extLst>
          </p:cNvPr>
          <p:cNvSpPr txBox="1"/>
          <p:nvPr/>
        </p:nvSpPr>
        <p:spPr>
          <a:xfrm>
            <a:off x="217001" y="1246538"/>
            <a:ext cx="145810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연구 목적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81562-C14A-8461-474D-9F2D2759359C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01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5C555-B114-56DE-98D5-E9A8A03D9279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연구 배경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CF78F8-3BCB-0B1B-B416-05595F062825}"/>
              </a:ext>
            </a:extLst>
          </p:cNvPr>
          <p:cNvSpPr txBox="1"/>
          <p:nvPr/>
        </p:nvSpPr>
        <p:spPr>
          <a:xfrm>
            <a:off x="377983" y="1765337"/>
            <a:ext cx="10984116" cy="296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실제 제조 현장에서 새로운 라인에 결함 분류 모델을 도입할 때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환경 변화로 인해 모델 성능이 저하되는 문제가 자주 발생</a:t>
            </a:r>
          </a:p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기존의 미세 결함 탐지 모델은 주로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attention module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이나 보조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branch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를 추가하는 방식</a:t>
            </a:r>
          </a:p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기존 도메인 적응 기법은 복잡한 구조에서 모듈 간 업데이트 방향이 충돌하거나 일관성이 깨져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오히려 성능 저하 및 환경 변화에 효과적으로 적응하지 못하는 문제가 발생함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본 연구에서 다루는 이미지 분류 설정은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각각의 학습용 인스턴스마다 하나의 형태 정보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(ground truth mask)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가 제공됨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→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기존에 연구된 도메인 적응 방법을 적용할 수 있는 단순한 구조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이면서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형태 정보를 활용한 미세 결함 탐지에 특화된 학습 방법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을 통해 다양한 환경 변화에도 정확하고 안정적인 분류가 가능한 방법을 제안함</a:t>
            </a:r>
          </a:p>
        </p:txBody>
      </p:sp>
    </p:spTree>
    <p:extLst>
      <p:ext uri="{BB962C8B-B14F-4D97-AF65-F5344CB8AC3E}">
        <p14:creationId xmlns:p14="http://schemas.microsoft.com/office/powerpoint/2010/main" val="320177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9B51-5E65-017C-7015-E5B80A1C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968187-79EC-D0DF-44B4-473E1349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3A7F3714-F6E8-A796-30D2-81FA6206CE45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39431C61-D3C1-67BE-BABE-1037BFC4CF33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6DAB97DA-FAB7-A6DC-5151-3AB56566FB6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44368-013D-0E17-60F7-D8DA334F134B}"/>
              </a:ext>
            </a:extLst>
          </p:cNvPr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Fully Test Time Adaptation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C2874-174E-27D3-D103-63DF85D300B2}"/>
              </a:ext>
            </a:extLst>
          </p:cNvPr>
          <p:cNvSpPr txBox="1"/>
          <p:nvPr/>
        </p:nvSpPr>
        <p:spPr>
          <a:xfrm>
            <a:off x="377983" y="1700406"/>
            <a:ext cx="11411940" cy="39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Fully Test Time Adaptation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훈련 시에는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source data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만으로 모델을 학습하고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테스트 단계에서는 라벨 없는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target data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에 기반하여 실시간으로 파라미터를 업데이트</a:t>
            </a:r>
            <a:b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- Fully-TTA(Fully Test-Time Adaptation)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는 라벨 없이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target data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에 실시간으로 적응할 수 있어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라벨링이 어렵고 환경 변화가 빈번하며 데이터 수집이 제한적인 산업 현장에서 </a:t>
            </a:r>
            <a:r>
              <a:rPr lang="ko-KR" altLang="en-US" sz="1400" b="1" dirty="0" err="1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재학습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없이도 효과적으로 대응할 수 있는 현실적인 대안</a:t>
            </a:r>
            <a:endParaRPr lang="en-US" altLang="ko-KR" sz="1400" b="1" dirty="0">
              <a:solidFill>
                <a:srgbClr val="A6342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Fully-TTA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기존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방법론</a:t>
            </a: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TENT</a:t>
            </a:r>
            <a:r>
              <a:rPr lang="en-US" altLang="ko-KR" sz="1400" baseline="30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: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테스트 배치 데이터의 예측 엔트로피를 최소화하는 방향으로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BatchNorm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파라미터를 실시간으로 업데이트함으로써 간단하고 빠른 적응을 수행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EATA</a:t>
            </a:r>
            <a:r>
              <a:rPr kumimoji="0" lang="en-US" altLang="ko-KR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5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엔트로피가 낮고 정보가 중복되는 샘플은 학습에서 제외하고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Fisher Information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을 통해 중요한 모델 파라미터를 파악 후 안정적으로 적응을 수행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DeYO</a:t>
            </a:r>
            <a:r>
              <a:rPr lang="en-US" altLang="ko-KR" sz="1400" baseline="30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6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: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객체의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shape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을 변형했을 때 예측이 크게 달라지는 샘플을 정보량이 높은 샘플로 간주하여 선택적으로 학습에 활용함으로써 높은 성능의 적응을 수행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DA22F-62F9-5501-A45A-21A59B534B05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02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9EB39-036E-8E4A-833D-96AAEB9E728D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선행 연구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BFF0D-AB38-038E-AE8A-ABEDB19D9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138152" y="1060804"/>
            <a:ext cx="5617501" cy="91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12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3394-FE3E-37E0-12DE-DC0A104A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261AB7-DD51-33FE-6FCB-C172FEDC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08D2BB71-8EA5-D28B-AED4-BF98927A7899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90050B7E-DEF5-570C-81B6-CB41EE435DE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8719ED8C-39E5-00AA-C93E-652F0FF9DCF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916D1-E0FF-610A-DC3A-6A1B273171C1}"/>
              </a:ext>
            </a:extLst>
          </p:cNvPr>
          <p:cNvSpPr txBox="1"/>
          <p:nvPr/>
        </p:nvSpPr>
        <p:spPr>
          <a:xfrm>
            <a:off x="217001" y="1178672"/>
            <a:ext cx="4635656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마스크 정보를 활용한 미세 결함 탐지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51C4F-7D76-45F5-6E4D-CF3FCEE34585}"/>
              </a:ext>
            </a:extLst>
          </p:cNvPr>
          <p:cNvSpPr txBox="1"/>
          <p:nvPr/>
        </p:nvSpPr>
        <p:spPr>
          <a:xfrm>
            <a:off x="377983" y="1700406"/>
            <a:ext cx="11355308" cy="360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시각적으로 유사한 클래스 간 미세한 차이를 구별하기 위한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fine grained classification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에서는 이미지 내의 미세한 구조나 중요 시각 정보를 보다 명확히 학습할 수 있도록 형태 정보를 추가로 활용하는 방식이 쓰임</a:t>
            </a:r>
          </a:p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형태 정보는 학습 단계에서 모델이 이미지 내 중요한 시각적 구조에 주의를 집중하게 만드는 보조적 수단으로 작용</a:t>
            </a:r>
          </a:p>
          <a:p>
            <a:pPr marL="914400" marR="0" lvl="1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형태 정보를 활용하여 학습된 모델은 테스트 단계에서 이미지만으로도 중요한 시각적 구조를 파악할 수 있음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기존 선행 연구</a:t>
            </a:r>
          </a:p>
          <a:p>
            <a:pPr marL="914400" marR="0" lvl="1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MGANet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GT segmentation mask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로 학습한 </a:t>
            </a:r>
            <a:r>
              <a:rPr kumimoji="0" lang="en-US" altLang="ko-K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HMSANet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의 예측 마스크를 활용해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attention map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을 학습하고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이를 통해 생성된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attention map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기반으로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fine grained image classification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수행</a:t>
            </a:r>
          </a:p>
          <a:p>
            <a:pPr marL="914400" marR="0" lvl="1" indent="-317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Svetlana: GT segmentation mask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와 이미지 쌍을 모델 학습 입력으로 사용하여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높은 성능으로 미세한 차이의 세포 분류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FA3F7-0F14-4DDC-93E5-B33B29B0D445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02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8D5BD-3EC1-1FF7-C136-5D138DAAFFA6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선행 연구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903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7FE2-9113-4C89-0721-0BB4F301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10E08C-C707-859C-67C1-F301F840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+mn-ea"/>
              </a:rPr>
              <a:t>8</a:t>
            </a:fld>
            <a:endParaRPr lang="en-US">
              <a:latin typeface="+mn-ea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F574563F-9A5B-488F-A33A-A8644AB31F8C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6BA37496-ED97-0415-0A2A-07A89343B0ED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313F4CE-14E8-1769-5235-152FA93E78D6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87824-3068-4B87-DC5D-5C6F53013B4D}"/>
              </a:ext>
            </a:extLst>
          </p:cNvPr>
          <p:cNvSpPr txBox="1"/>
          <p:nvPr/>
        </p:nvSpPr>
        <p:spPr>
          <a:xfrm>
            <a:off x="217001" y="110684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연구 개요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69F191-4A88-9C04-A636-BFE415BFB3C0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03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012585-B7CD-29AA-64DD-55A59B6E3BB5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방법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DD9C53-89B8-C88B-85C8-07EDBD9D5C62}"/>
              </a:ext>
            </a:extLst>
          </p:cNvPr>
          <p:cNvSpPr txBox="1"/>
          <p:nvPr/>
        </p:nvSpPr>
        <p:spPr>
          <a:xfrm>
            <a:off x="377983" y="1572786"/>
            <a:ext cx="11355308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기존의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attention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기반 방법들은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미세 결함 탐지를 위해 모델이 집중할 영역을 정확히 조정하는 데 효과적이지만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대부분 보조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branch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또는 별도의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attention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모듈을 추가한 복잡한 구조를 사용함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그러나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Fully-TTA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방법들은 주로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main branch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만 업데이트되므로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사전에 학습되어 있던 보조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branch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들과의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representation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간 불일치가 발생하여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attention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이 깨지고 성능이 급격히 저하되는 문제가 있음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800449-298D-D231-78FB-1BB0BF61B040}"/>
              </a:ext>
            </a:extLst>
          </p:cNvPr>
          <p:cNvSpPr txBox="1"/>
          <p:nvPr/>
        </p:nvSpPr>
        <p:spPr>
          <a:xfrm>
            <a:off x="377983" y="3446376"/>
            <a:ext cx="11355308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따라서 본 연구는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결함 마스크를 활용하여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보조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branch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없이 단일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network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만으로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attention </a:t>
            </a:r>
            <a:r>
              <a:rPr lang="ko-KR" altLang="en-US" sz="1400" b="1" dirty="0" err="1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일치성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확보 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Attention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안정성과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Fully-TTA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 가능성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동시에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만족하는 프레임워크를 제안함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60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D892-74C3-AC30-8B84-00871D68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09BC109-E6EA-E110-3894-5C921D1E3CE5}"/>
              </a:ext>
            </a:extLst>
          </p:cNvPr>
          <p:cNvSpPr/>
          <p:nvPr/>
        </p:nvSpPr>
        <p:spPr>
          <a:xfrm>
            <a:off x="2981129" y="1841531"/>
            <a:ext cx="5936534" cy="1328269"/>
          </a:xfrm>
          <a:prstGeom prst="roundRect">
            <a:avLst>
              <a:gd name="adj" fmla="val 7440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15C52-5918-D152-E0F5-5096DCBC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+mn-ea"/>
              </a:rPr>
              <a:t>9</a:t>
            </a:fld>
            <a:endParaRPr lang="en-US">
              <a:latin typeface="+mn-ea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981EBE88-BCCA-DF21-FE2D-AB2FCC60828D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48C4B705-E908-4056-7FA1-21F2F8A4595D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0800D2A2-74A8-0898-8957-514408BE7DD4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D69A6-EC28-B41C-2755-81F7498BFAC6}"/>
              </a:ext>
            </a:extLst>
          </p:cNvPr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제안 프레임워크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CFABB0-1DFE-7B4C-D644-61E1DC6A6FB0}"/>
              </a:ext>
            </a:extLst>
          </p:cNvPr>
          <p:cNvSpPr/>
          <p:nvPr/>
        </p:nvSpPr>
        <p:spPr>
          <a:xfrm>
            <a:off x="2915590" y="1742876"/>
            <a:ext cx="6133168" cy="461158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CEEE91-6811-28EB-1BC4-3604F92B49ED}"/>
              </a:ext>
            </a:extLst>
          </p:cNvPr>
          <p:cNvSpPr/>
          <p:nvPr/>
        </p:nvSpPr>
        <p:spPr>
          <a:xfrm rot="5400000">
            <a:off x="6158015" y="5888216"/>
            <a:ext cx="374803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73649F-94F5-9F5E-5DA7-E98B3F3B1782}"/>
              </a:ext>
            </a:extLst>
          </p:cNvPr>
          <p:cNvSpPr/>
          <p:nvPr/>
        </p:nvSpPr>
        <p:spPr>
          <a:xfrm rot="5400000">
            <a:off x="6488098" y="4356976"/>
            <a:ext cx="1297708" cy="17522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2E2369-BA70-3C66-249E-1D886884E06A}"/>
              </a:ext>
            </a:extLst>
          </p:cNvPr>
          <p:cNvSpPr/>
          <p:nvPr/>
        </p:nvSpPr>
        <p:spPr>
          <a:xfrm>
            <a:off x="4626163" y="3703233"/>
            <a:ext cx="2595419" cy="1706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6D25A0-BFCD-3D8E-68ED-0D98A8CAE20C}"/>
              </a:ext>
            </a:extLst>
          </p:cNvPr>
          <p:cNvSpPr/>
          <p:nvPr/>
        </p:nvSpPr>
        <p:spPr>
          <a:xfrm>
            <a:off x="4626162" y="4984597"/>
            <a:ext cx="2595419" cy="1706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D17604-2FBD-05FE-E1AD-A45D1741B387}"/>
              </a:ext>
            </a:extLst>
          </p:cNvPr>
          <p:cNvSpPr/>
          <p:nvPr/>
        </p:nvSpPr>
        <p:spPr>
          <a:xfrm>
            <a:off x="4594013" y="2311847"/>
            <a:ext cx="2267526" cy="1643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pic>
        <p:nvPicPr>
          <p:cNvPr id="19" name="그림 18" descr="금속, 번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395D50B-AF18-9D8C-BDC9-985D0560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33" y="2057970"/>
            <a:ext cx="1487055" cy="836468"/>
          </a:xfrm>
          <a:prstGeom prst="rect">
            <a:avLst/>
          </a:prstGeom>
        </p:spPr>
      </p:pic>
      <p:pic>
        <p:nvPicPr>
          <p:cNvPr id="20" name="그림 19" descr="어둠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08CA03-AF3B-5B30-CC7A-AD73125AE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233" y="3380422"/>
            <a:ext cx="1487054" cy="8364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7F8F0FC-AE3F-6990-600C-C991B5012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233" y="4652985"/>
            <a:ext cx="1487054" cy="8364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9906C3-1D2D-270B-6934-0831511D694B}"/>
              </a:ext>
            </a:extLst>
          </p:cNvPr>
          <p:cNvSpPr txBox="1"/>
          <p:nvPr/>
        </p:nvSpPr>
        <p:spPr>
          <a:xfrm>
            <a:off x="3435560" y="2846246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4EEBD-6B5A-AE4C-9C78-52B9C7C80AE3}"/>
              </a:ext>
            </a:extLst>
          </p:cNvPr>
          <p:cNvSpPr txBox="1"/>
          <p:nvPr/>
        </p:nvSpPr>
        <p:spPr>
          <a:xfrm>
            <a:off x="3292396" y="4216890"/>
            <a:ext cx="1200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mask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ADBD8-5483-60E5-3BAA-7F39E544EC92}"/>
              </a:ext>
            </a:extLst>
          </p:cNvPr>
          <p:cNvSpPr txBox="1"/>
          <p:nvPr/>
        </p:nvSpPr>
        <p:spPr>
          <a:xfrm>
            <a:off x="3149233" y="5489452"/>
            <a:ext cx="148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Grad cam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D16C663-C9AD-D62B-FBF5-8F211C3474C4}"/>
              </a:ext>
            </a:extLst>
          </p:cNvPr>
          <p:cNvGrpSpPr/>
          <p:nvPr/>
        </p:nvGrpSpPr>
        <p:grpSpPr>
          <a:xfrm>
            <a:off x="6788746" y="4077771"/>
            <a:ext cx="1039094" cy="618217"/>
            <a:chOff x="5830454" y="3963271"/>
            <a:chExt cx="1039094" cy="618217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FD86E53-72D1-4473-0950-8616D7EEBBBA}"/>
                </a:ext>
              </a:extLst>
            </p:cNvPr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78E78ED-729D-E1F6-C3C3-15D5A28C2525}"/>
                </a:ext>
              </a:extLst>
            </p:cNvPr>
            <p:cNvSpPr txBox="1"/>
            <p:nvPr/>
          </p:nvSpPr>
          <p:spPr>
            <a:xfrm>
              <a:off x="5892801" y="4133880"/>
              <a:ext cx="914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KL div loss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D822274-208E-4DB8-EC50-78F08D49A5AF}"/>
              </a:ext>
            </a:extLst>
          </p:cNvPr>
          <p:cNvSpPr/>
          <p:nvPr/>
        </p:nvSpPr>
        <p:spPr>
          <a:xfrm rot="5400000">
            <a:off x="6999184" y="1964085"/>
            <a:ext cx="618217" cy="10390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A9814-2EDC-17CD-3FB4-8948E2F57CD2}"/>
              </a:ext>
            </a:extLst>
          </p:cNvPr>
          <p:cNvSpPr txBox="1"/>
          <p:nvPr/>
        </p:nvSpPr>
        <p:spPr>
          <a:xfrm>
            <a:off x="6851093" y="2345133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CE loss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93E0515-D386-01CB-E18D-729F19FCCC6B}"/>
              </a:ext>
            </a:extLst>
          </p:cNvPr>
          <p:cNvGrpSpPr/>
          <p:nvPr/>
        </p:nvGrpSpPr>
        <p:grpSpPr>
          <a:xfrm>
            <a:off x="4972527" y="2000530"/>
            <a:ext cx="1891269" cy="3764414"/>
            <a:chOff x="7906918" y="1953749"/>
            <a:chExt cx="1891269" cy="3764414"/>
          </a:xfrm>
        </p:grpSpPr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6935DDF-33DB-178C-B6C6-A6E29381F027}"/>
                </a:ext>
              </a:extLst>
            </p:cNvPr>
            <p:cNvSpPr/>
            <p:nvPr/>
          </p:nvSpPr>
          <p:spPr>
            <a:xfrm rot="5400000">
              <a:off x="6563362" y="3297305"/>
              <a:ext cx="3638457" cy="951345"/>
            </a:xfrm>
            <a:prstGeom prst="trapezoid">
              <a:avLst>
                <a:gd name="adj" fmla="val 18204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47BF47-4067-2566-7DBE-11F4256B53D6}"/>
                </a:ext>
              </a:extLst>
            </p:cNvPr>
            <p:cNvSpPr txBox="1"/>
            <p:nvPr/>
          </p:nvSpPr>
          <p:spPr>
            <a:xfrm>
              <a:off x="7925391" y="3466066"/>
              <a:ext cx="914400" cy="613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Shared</a:t>
              </a:r>
              <a:b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83F0263-CFF0-E9B8-01D6-8ED9FE3435AF}"/>
                </a:ext>
              </a:extLst>
            </p:cNvPr>
            <p:cNvSpPr txBox="1"/>
            <p:nvPr/>
          </p:nvSpPr>
          <p:spPr>
            <a:xfrm>
              <a:off x="8883787" y="5383007"/>
              <a:ext cx="914400" cy="335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FC layer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EB65996-EC39-22D7-8BF6-34EC6608327C}"/>
              </a:ext>
            </a:extLst>
          </p:cNvPr>
          <p:cNvSpPr txBox="1"/>
          <p:nvPr/>
        </p:nvSpPr>
        <p:spPr>
          <a:xfrm>
            <a:off x="7308292" y="5951517"/>
            <a:ext cx="1596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/>
                <a:sym typeface="Arial"/>
              </a:rPr>
              <a:t>Train</a:t>
            </a:r>
            <a:endParaRPr lang="ko-KR" altLang="en-US" dirty="0">
              <a:latin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359E062-414B-3EAB-F671-D7B99B2E2AAA}"/>
              </a:ext>
            </a:extLst>
          </p:cNvPr>
          <p:cNvSpPr/>
          <p:nvPr/>
        </p:nvSpPr>
        <p:spPr>
          <a:xfrm rot="5400000">
            <a:off x="4705359" y="3638908"/>
            <a:ext cx="3284994" cy="397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C184F1C-60C0-2CFE-875D-07945B6BB860}"/>
              </a:ext>
            </a:extLst>
          </p:cNvPr>
          <p:cNvSpPr/>
          <p:nvPr/>
        </p:nvSpPr>
        <p:spPr>
          <a:xfrm>
            <a:off x="6260112" y="2384551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7C34E-33C3-8FE3-B00A-DE3AC28DD49A}"/>
              </a:ext>
            </a:extLst>
          </p:cNvPr>
          <p:cNvSpPr txBox="1"/>
          <p:nvPr/>
        </p:nvSpPr>
        <p:spPr>
          <a:xfrm rot="5400000">
            <a:off x="6010840" y="357588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spc="600" dirty="0">
                <a:latin typeface="+mn-ea"/>
              </a:rPr>
              <a:t>…</a:t>
            </a:r>
            <a:endParaRPr lang="ko-KR" altLang="en-US" sz="2800" spc="600" dirty="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6F1A865-2C86-F533-B82D-4160A168900A}"/>
              </a:ext>
            </a:extLst>
          </p:cNvPr>
          <p:cNvSpPr/>
          <p:nvPr/>
        </p:nvSpPr>
        <p:spPr>
          <a:xfrm>
            <a:off x="3835303" y="6046306"/>
            <a:ext cx="2595419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585F166-EE46-08E5-BBEB-8FD9292A1A69}"/>
              </a:ext>
            </a:extLst>
          </p:cNvPr>
          <p:cNvSpPr/>
          <p:nvPr/>
        </p:nvSpPr>
        <p:spPr>
          <a:xfrm rot="5400000">
            <a:off x="3760017" y="5955764"/>
            <a:ext cx="327139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D94CD5E9-634D-199A-F0DB-4D5424606A5C}"/>
              </a:ext>
            </a:extLst>
          </p:cNvPr>
          <p:cNvSpPr/>
          <p:nvPr/>
        </p:nvSpPr>
        <p:spPr>
          <a:xfrm>
            <a:off x="3730442" y="5751062"/>
            <a:ext cx="383308" cy="168330"/>
          </a:xfrm>
          <a:prstGeom prst="triangl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0EAA83-2E27-CE49-4B1F-0B9A15AA6D25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03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E93395-AD2F-9A89-098B-B13453DC06FB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방법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74EF1F0-249B-9901-1F03-BD875F9A8238}"/>
              </a:ext>
            </a:extLst>
          </p:cNvPr>
          <p:cNvSpPr/>
          <p:nvPr/>
        </p:nvSpPr>
        <p:spPr>
          <a:xfrm>
            <a:off x="6260112" y="2871950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B7628F7-AA29-DF61-6E22-9FE9AC4F262F}"/>
              </a:ext>
            </a:extLst>
          </p:cNvPr>
          <p:cNvSpPr/>
          <p:nvPr/>
        </p:nvSpPr>
        <p:spPr>
          <a:xfrm>
            <a:off x="6260112" y="3287240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E09B2F5-1980-2860-C10F-B700ED35298D}"/>
              </a:ext>
            </a:extLst>
          </p:cNvPr>
          <p:cNvSpPr/>
          <p:nvPr/>
        </p:nvSpPr>
        <p:spPr>
          <a:xfrm>
            <a:off x="6260112" y="4225996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37601B3-F1B4-E422-D16E-CC21C886E7AD}"/>
              </a:ext>
            </a:extLst>
          </p:cNvPr>
          <p:cNvSpPr/>
          <p:nvPr/>
        </p:nvSpPr>
        <p:spPr>
          <a:xfrm>
            <a:off x="6260112" y="4753699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4F8DFFC-4EF8-5965-7134-E5D2307E9834}"/>
              </a:ext>
            </a:extLst>
          </p:cNvPr>
          <p:cNvSpPr/>
          <p:nvPr/>
        </p:nvSpPr>
        <p:spPr>
          <a:xfrm>
            <a:off x="6260112" y="5170870"/>
            <a:ext cx="207928" cy="20792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6C679-EE88-7901-C3B9-A04C5B9BBF4C}"/>
              </a:ext>
            </a:extLst>
          </p:cNvPr>
          <p:cNvSpPr txBox="1"/>
          <p:nvPr/>
        </p:nvSpPr>
        <p:spPr>
          <a:xfrm>
            <a:off x="7221581" y="2828617"/>
            <a:ext cx="1596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/>
                <a:sym typeface="Arial"/>
              </a:rPr>
              <a:t>Warm UP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396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A9A6-94D5-2261-7F47-A0F30B2B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D260B2-DE3E-B0CF-819A-CD942D59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+mn-ea"/>
              </a:rPr>
              <a:t>10</a:t>
            </a:fld>
            <a:endParaRPr lang="en-US">
              <a:latin typeface="+mn-ea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4AF3FE6B-CA9E-9398-742A-0987F2CDFEAC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8133F4B6-CCAE-8D24-2331-2758923D874F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C737429-A53A-0B4D-70C9-3B22ED607E21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2D6C9-BF45-6194-DBFD-4ACB2E0CEC96}"/>
              </a:ext>
            </a:extLst>
          </p:cNvPr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제안 프레임워크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8C393C-3BC3-1595-26A1-78F0E1F8B26C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03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D7487-045D-5159-EBAE-DBB6C6DC8858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방법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76931-893B-F292-692A-2E420647846B}"/>
              </a:ext>
            </a:extLst>
          </p:cNvPr>
          <p:cNvSpPr txBox="1"/>
          <p:nvPr/>
        </p:nvSpPr>
        <p:spPr>
          <a:xfrm>
            <a:off x="5471707" y="2419756"/>
            <a:ext cx="6458329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Warm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UP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만을 입력으로 사용하여 모델 학습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모델이 기본적인 분류 능력을 갖추고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안정적인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attention (Grad-CAM)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형성하도록 함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04995E-1A1F-4D80-5006-6A5B8EA37B59}"/>
              </a:ext>
            </a:extLst>
          </p:cNvPr>
          <p:cNvSpPr txBox="1"/>
          <p:nvPr/>
        </p:nvSpPr>
        <p:spPr>
          <a:xfrm>
            <a:off x="5471707" y="3538991"/>
            <a:ext cx="6366855" cy="199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이미지와 함께 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“</a:t>
            </a:r>
            <a:r>
              <a:rPr lang="ko-KR" altLang="en-US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이전 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epoch</a:t>
            </a:r>
            <a:r>
              <a:rPr lang="ko-KR" altLang="en-US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에서 학습한 모델로 구한 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Grad-CAM image”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와 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“defect mask image”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를 추가적으로 입력하여 모델 학습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일반 이미지로 계산한 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cross-entropy loss 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외에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, Grad-CAM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으로 강조된 영역과 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defect mask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로 추출한 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feature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에 각각 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GAP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와 </a:t>
            </a:r>
            <a:r>
              <a:rPr lang="en-US" altLang="ko-KR" sz="1200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softmax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를 적용한 뒤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그 두 분포 간의 </a:t>
            </a:r>
            <a:r>
              <a:rPr lang="en-US" altLang="ko-KR" sz="1200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Kullback-Leibler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 Divergence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를 추가 </a:t>
            </a:r>
            <a:r>
              <a:rPr lang="en-US" altLang="ko-KR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loss</a:t>
            </a: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로 사용</a:t>
            </a:r>
            <a:endParaRPr lang="en-US" altLang="ko-KR" sz="12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ko-KR" altLang="en-US" sz="1200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이를 통해 </a:t>
            </a:r>
            <a:r>
              <a:rPr lang="ko-KR" altLang="en-US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모델이 주목하는 시각 영역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(Grad CAM)</a:t>
            </a:r>
            <a:r>
              <a:rPr lang="ko-KR" altLang="en-US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과 실제 결함이 존재하는 영역</a:t>
            </a:r>
            <a:r>
              <a:rPr lang="en-US" altLang="ko-KR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(mask)</a:t>
            </a:r>
            <a:r>
              <a:rPr lang="ko-KR" altLang="en-US" sz="12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Malgun Gothic"/>
              </a:rPr>
              <a:t>을 정렬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C804D0-866A-4D5D-F0FC-B4B61C89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1" y="1938945"/>
            <a:ext cx="5253640" cy="403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82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BDF7-5C6B-8B53-1369-26654C9D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4A5A28-1ABD-3C05-44AF-6732BB6F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+mn-ea"/>
              </a:rPr>
              <a:t>11</a:t>
            </a:fld>
            <a:endParaRPr lang="en-US">
              <a:latin typeface="+mn-ea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EC5CCD3E-0B6E-5077-1A86-320673FC36C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A96EB46D-9720-0824-C14D-CABEBD6F3CC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87592C62-493D-C683-33A7-9E797FD5D640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B488A0-7FA4-2421-59E1-3312A258D697}"/>
              </a:ext>
            </a:extLst>
          </p:cNvPr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제안 프레임워크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CD4FD2-ED0A-20A0-F772-BC816DF71EB1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03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E9734-E863-9CAF-D446-EF8F1A31FE1A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방법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09221F-9B9C-F65A-46D4-CD5E6A7F54A7}"/>
                  </a:ext>
                </a:extLst>
              </p:cNvPr>
              <p:cNvSpPr txBox="1"/>
              <p:nvPr/>
            </p:nvSpPr>
            <p:spPr>
              <a:xfrm>
                <a:off x="6257927" y="1837609"/>
                <a:ext cx="5547031" cy="68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𝐿</m:t>
                      </m:r>
                      <m:r>
                        <a:rPr lang="en-US" altLang="ko-KR" sz="1400" i="1" kern="0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𝑡𝑜𝑡𝑎𝑙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​ =</m:t>
                      </m:r>
                      <m:r>
                        <a:rPr lang="el-GR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𝛼</m:t>
                      </m:r>
                      <m:r>
                        <a:rPr lang="el-GR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⋅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𝐿</m:t>
                      </m:r>
                      <m:r>
                        <a:rPr lang="en-US" altLang="ko-KR" sz="1400" i="1" kern="0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𝐶𝐸</m:t>
                      </m:r>
                      <m:r>
                        <a:rPr lang="en-US" altLang="ko-KR" sz="1400" i="1" kern="0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​ </m:t>
                      </m:r>
                      <m:r>
                        <a:rPr lang="en-US" altLang="ko-KR" sz="1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d>
                        <m:dPr>
                          <m:ctrlPr>
                            <a:rPr lang="en-US" altLang="ko-KR" sz="1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altLang="ko-KR" sz="14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  <m:r>
                                <a:rPr lang="en-US" altLang="ko-KR" sz="1400" i="1" kern="0" baseline="-250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𝑖𝑚𝑔</m:t>
                              </m:r>
                              <m:r>
                                <a:rPr lang="en-US" altLang="ko-KR" sz="14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​ </m:t>
                              </m:r>
                            </m:e>
                          </m:d>
                          <m:r>
                            <a:rPr lang="en-US" altLang="ko-KR" sz="1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en-US" altLang="ko-KR" sz="1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400" i="1" kern="0" dirty="0">
                  <a:solidFill>
                    <a:srgbClr val="000000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defTabSz="914400"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+(1−</m:t>
                      </m:r>
                      <m:r>
                        <a:rPr lang="el-GR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𝛼</m:t>
                      </m:r>
                      <m:r>
                        <a:rPr lang="el-GR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)⋅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𝐿</m:t>
                      </m:r>
                      <m:r>
                        <a:rPr lang="en-US" altLang="ko-KR" sz="1400" i="1" kern="0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𝐾𝐿𝐷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​ 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𝑠𝑜𝑓𝑡𝑚𝑎𝑥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𝐺𝐴𝑃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𝑥𝑚𝑎𝑠𝑘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​ ))),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𝑠𝑜𝑓𝑡𝑚𝑎𝑥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𝐺𝐴𝑃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𝑥𝑐𝑎𝑚</m:t>
                      </m:r>
                      <m:r>
                        <a:rPr lang="en-US" altLang="ko-KR" sz="1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​ ))))</m:t>
                      </m:r>
                    </m:oMath>
                  </m:oMathPara>
                </a14:m>
                <a:endParaRPr lang="ko-KR" alt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09221F-9B9C-F65A-46D4-CD5E6A7F5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927" y="1837609"/>
                <a:ext cx="5547031" cy="687881"/>
              </a:xfrm>
              <a:prstGeom prst="rect">
                <a:avLst/>
              </a:prstGeom>
              <a:blipFill>
                <a:blip r:embed="rId2"/>
                <a:stretch>
                  <a:fillRect b="-53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D85F7745-1AD8-FDC4-EAB7-69429CF1A361}"/>
              </a:ext>
            </a:extLst>
          </p:cNvPr>
          <p:cNvGrpSpPr/>
          <p:nvPr/>
        </p:nvGrpSpPr>
        <p:grpSpPr>
          <a:xfrm>
            <a:off x="6366786" y="2869718"/>
            <a:ext cx="5218706" cy="3087158"/>
            <a:chOff x="6366786" y="1786932"/>
            <a:chExt cx="5218706" cy="30871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10E5400-3A8E-342A-DEE6-956B5564C093}"/>
                    </a:ext>
                  </a:extLst>
                </p:cNvPr>
                <p:cNvSpPr txBox="1"/>
                <p:nvPr/>
              </p:nvSpPr>
              <p:spPr>
                <a:xfrm>
                  <a:off x="6628778" y="2001869"/>
                  <a:ext cx="4704239" cy="257057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a14:m>
                  <a:r>
                    <a:rPr lang="en-US" altLang="ko-KR" sz="1400" i="1" dirty="0">
                      <a:latin typeface="+mn-ea"/>
                    </a:rPr>
                    <a:t> </a:t>
                  </a:r>
                  <a:r>
                    <a:rPr lang="en-US" altLang="ko-KR" sz="1400" dirty="0">
                      <a:latin typeface="+mn-ea"/>
                    </a:rPr>
                    <a:t>: </a:t>
                  </a:r>
                  <a:r>
                    <a:rPr lang="ko-KR" altLang="en-US" sz="1400" dirty="0">
                      <a:latin typeface="+mn-ea"/>
                    </a:rPr>
                    <a:t>모델 </a:t>
                  </a:r>
                  <a:r>
                    <a:rPr lang="en-US" altLang="ko-KR" sz="1400" dirty="0">
                      <a:latin typeface="+mn-ea"/>
                    </a:rPr>
                    <a:t>forward </a:t>
                  </a:r>
                  <a:r>
                    <a:rPr lang="ko-KR" altLang="en-US" sz="1400" dirty="0">
                      <a:latin typeface="+mn-ea"/>
                    </a:rPr>
                    <a:t>함수</a:t>
                  </a:r>
                  <a:endParaRPr lang="en-US" altLang="ko-KR" sz="1400" dirty="0">
                    <a:latin typeface="+mn-ea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 :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원본 제품 이미지</a:t>
                  </a:r>
                  <a:endParaRPr kumimoji="0" lang="en-US" altLang="ko-KR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cs typeface="Arial"/>
                    <a:sym typeface="Arial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𝑚𝑎𝑠𝑘</m:t>
                          </m:r>
                        </m:sub>
                      </m:sSub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 :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이미지에 대응되는 결함 마스크 이미지</a:t>
                  </a:r>
                  <a:endParaRPr lang="en-US" altLang="ko-KR" sz="1400" i="1" baseline="-25000" dirty="0">
                    <a:latin typeface="+mn-ea"/>
                  </a:endParaRP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𝑐𝑎𝑚</m:t>
                          </m:r>
                        </m:sub>
                      </m:sSub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 :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이전 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epoch </a:t>
                  </a:r>
                  <a:r>
                    <a:rPr lang="ko-KR" altLang="en-US" sz="1400" dirty="0">
                      <a:latin typeface="+mn-ea"/>
                    </a:rPr>
                    <a:t>모델의 마지막 레이어에서 추출된</a:t>
                  </a:r>
                  <a:br>
                    <a:rPr lang="en-US" altLang="ko-KR" sz="1400" dirty="0">
                      <a:latin typeface="+mn-ea"/>
                    </a:rPr>
                  </a:br>
                  <a:r>
                    <a:rPr lang="en-US" altLang="ko-KR" sz="1400" dirty="0">
                      <a:latin typeface="+mn-ea"/>
                    </a:rPr>
                    <a:t>         CAM </a:t>
                  </a:r>
                  <a:r>
                    <a:rPr lang="ko-KR" altLang="en-US" sz="1400" dirty="0" err="1">
                      <a:latin typeface="+mn-ea"/>
                    </a:rPr>
                    <a:t>히트맵을</a:t>
                  </a:r>
                  <a:r>
                    <a:rPr lang="ko-KR" altLang="en-US" sz="1400" dirty="0">
                      <a:latin typeface="+mn-ea"/>
                    </a:rPr>
                    <a:t> </a:t>
                  </a:r>
                  <a:r>
                    <a:rPr lang="ko-KR" altLang="en-US" sz="1400" dirty="0" err="1">
                      <a:latin typeface="+mn-ea"/>
                    </a:rPr>
                    <a:t>정규화하여</a:t>
                  </a:r>
                  <a:r>
                    <a:rPr lang="ko-KR" altLang="en-US" sz="1400" dirty="0">
                      <a:latin typeface="+mn-ea"/>
                    </a:rPr>
                    <a:t> 만든 </a:t>
                  </a:r>
                  <a:r>
                    <a:rPr lang="en-US" altLang="ko-KR" sz="1400" dirty="0">
                      <a:latin typeface="+mn-ea"/>
                    </a:rPr>
                    <a:t>3</a:t>
                  </a:r>
                  <a:r>
                    <a:rPr lang="ko-KR" altLang="en-US" sz="1400" dirty="0">
                      <a:latin typeface="+mn-ea"/>
                    </a:rPr>
                    <a:t>채널 이미지</a:t>
                  </a:r>
                  <a:endParaRPr lang="en-US" altLang="ko-KR" sz="1400" dirty="0">
                    <a:latin typeface="+mn-ea"/>
                  </a:endParaRP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</m:oMath>
                  </a14:m>
                  <a:r>
                    <a:rPr lang="en-US" altLang="ko-KR" sz="1400" i="1" baseline="-25000" dirty="0">
                      <a:latin typeface="+mn-ea"/>
                    </a:rPr>
                    <a:t> 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: </a:t>
                  </a:r>
                  <a:r>
                    <a:rPr lang="en-US" altLang="ko-KR" sz="1400" dirty="0">
                      <a:latin typeface="+mn-ea"/>
                    </a:rPr>
                    <a:t>Cross Entropy Loss</a:t>
                  </a:r>
                  <a:endParaRPr lang="en-US" altLang="ko-KR" sz="1400" i="1" baseline="-25000" dirty="0">
                    <a:latin typeface="+mn-ea"/>
                  </a:endParaRP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0" lang="en-US" altLang="ko-KR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𝐾𝐿𝐷</m:t>
                          </m:r>
                        </m:sub>
                      </m:sSub>
                      <m:r>
                        <a:rPr kumimoji="0" lang="en-US" altLang="ko-KR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: KL divergence Loss</a:t>
                  </a:r>
                  <a:endParaRPr lang="en-US" altLang="ko-KR" sz="1400" i="1" baseline="-25000" dirty="0">
                    <a:latin typeface="+mn-ea"/>
                  </a:endParaRP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ko-KR" alt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kumimoji="0" lang="en-US" altLang="ko-KR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cs typeface="Arial"/>
                      <a:sym typeface="Arial"/>
                    </a:rPr>
                    <a:t>: </a:t>
                  </a:r>
                  <a:r>
                    <a:rPr lang="en-US" altLang="ko-KR" sz="1400" dirty="0">
                      <a:latin typeface="+mn-ea"/>
                    </a:rPr>
                    <a:t>CE</a:t>
                  </a:r>
                  <a:r>
                    <a:rPr lang="ko-KR" altLang="en-US" sz="1400" dirty="0">
                      <a:latin typeface="+mn-ea"/>
                    </a:rPr>
                    <a:t> </a:t>
                  </a:r>
                  <a:r>
                    <a:rPr lang="en-US" altLang="ko-KR" sz="1400" dirty="0">
                      <a:latin typeface="+mn-ea"/>
                    </a:rPr>
                    <a:t>vs</a:t>
                  </a:r>
                  <a:r>
                    <a:rPr lang="ko-KR" altLang="en-US" sz="1400" dirty="0">
                      <a:latin typeface="+mn-ea"/>
                    </a:rPr>
                    <a:t> </a:t>
                  </a:r>
                  <a:r>
                    <a:rPr lang="en-US" altLang="ko-KR" sz="1400" dirty="0">
                      <a:latin typeface="+mn-ea"/>
                    </a:rPr>
                    <a:t>KLD loss </a:t>
                  </a:r>
                  <a:r>
                    <a:rPr lang="ko-KR" altLang="en-US" sz="1400" dirty="0">
                      <a:latin typeface="+mn-ea"/>
                    </a:rPr>
                    <a:t>가중치 조절</a:t>
                  </a:r>
                  <a:r>
                    <a:rPr lang="en-US" altLang="ko-KR" sz="1400" dirty="0">
                      <a:latin typeface="+mn-ea"/>
                    </a:rPr>
                    <a:t> </a:t>
                  </a:r>
                  <a:r>
                    <a:rPr lang="ko-KR" altLang="en-US" sz="1400" dirty="0">
                      <a:latin typeface="+mn-ea"/>
                    </a:rPr>
                    <a:t>파라미터</a:t>
                  </a:r>
                  <a:endParaRPr kumimoji="0" lang="en-US" altLang="ko-KR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10E5400-3A8E-342A-DEE6-956B5564C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8778" y="2001869"/>
                  <a:ext cx="4704239" cy="2570575"/>
                </a:xfrm>
                <a:prstGeom prst="rect">
                  <a:avLst/>
                </a:prstGeom>
                <a:blipFill>
                  <a:blip r:embed="rId3"/>
                  <a:stretch>
                    <a:fillRect l="-2073" b="-30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FD184E1-B7CA-8561-29F9-995415FCBD73}"/>
                </a:ext>
              </a:extLst>
            </p:cNvPr>
            <p:cNvSpPr/>
            <p:nvPr/>
          </p:nvSpPr>
          <p:spPr>
            <a:xfrm>
              <a:off x="6366786" y="1786932"/>
              <a:ext cx="5218706" cy="3087158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439B3C11-BFE0-7819-08AA-911974E0E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94" y="1696396"/>
            <a:ext cx="5706222" cy="43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8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8F5B-E3F1-2F62-C9E2-3F99359A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7F1846-89A4-5942-AAC1-ED8AA25B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44DF4C78-3418-F1A5-2D99-5680FEA63FB0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ECBCF806-65CB-BB45-79E3-3F7260AA4BB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B26C3BBE-1171-0A88-89F0-601651DB8CB9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5846A-2E44-28E2-4737-1B0BC2D2E6EC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EF6F7-74BA-FEB9-303A-6C9CD6C7BDB8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AA115D-39BB-AF3D-8683-3F4E9BE388E9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활용 데이터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4D2C4-2BBE-843D-B778-2875C8A06CCC}"/>
              </a:ext>
            </a:extLst>
          </p:cNvPr>
          <p:cNvSpPr txBox="1"/>
          <p:nvPr/>
        </p:nvSpPr>
        <p:spPr>
          <a:xfrm>
            <a:off x="377983" y="1502868"/>
            <a:ext cx="11355308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국내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제조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AI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기업의 모니터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D-SUB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커넥터의 제품 이미지 데이터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개의 정상과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5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개의 각기 다른 결함 종류가 포함되어 총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6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개의 클래스 정보를 가짐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6B7F0-C58E-71EB-73EF-850D7A396CC3}"/>
              </a:ext>
            </a:extLst>
          </p:cNvPr>
          <p:cNvSpPr txBox="1"/>
          <p:nvPr/>
        </p:nvSpPr>
        <p:spPr>
          <a:xfrm>
            <a:off x="4713737" y="5978444"/>
            <a:ext cx="2789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클래스 정보</a:t>
            </a:r>
            <a:endParaRPr lang="ko-KR" alt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40057EF-CECA-B523-5925-3DBEFD99B4C7}"/>
              </a:ext>
            </a:extLst>
          </p:cNvPr>
          <p:cNvGrpSpPr/>
          <p:nvPr/>
        </p:nvGrpSpPr>
        <p:grpSpPr>
          <a:xfrm>
            <a:off x="6055637" y="3199366"/>
            <a:ext cx="5255415" cy="2301313"/>
            <a:chOff x="360539" y="4140882"/>
            <a:chExt cx="5255415" cy="230131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C0A544E-AA3A-7444-EEB3-0FFB62BEE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681" t="49674" r="1716" b="7863"/>
            <a:stretch/>
          </p:blipFill>
          <p:spPr>
            <a:xfrm>
              <a:off x="3888433" y="5305523"/>
              <a:ext cx="1727521" cy="919694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E884F85-DE6B-9258-65D5-65A3B79EE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0724" b="56101"/>
            <a:stretch/>
          </p:blipFill>
          <p:spPr>
            <a:xfrm>
              <a:off x="360539" y="4140882"/>
              <a:ext cx="1708406" cy="95080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6C5AB628-D191-57C2-F158-806E1C4C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9309" r="70724" b="6792"/>
            <a:stretch/>
          </p:blipFill>
          <p:spPr>
            <a:xfrm>
              <a:off x="360539" y="5289858"/>
              <a:ext cx="1708406" cy="950802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19A6C5E-208E-5245-F62D-A1A34056C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340" r="36384" b="56101"/>
            <a:stretch/>
          </p:blipFill>
          <p:spPr>
            <a:xfrm>
              <a:off x="2104444" y="4140882"/>
              <a:ext cx="1708406" cy="950802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FDA429C-2B29-2DB4-29B2-E8374690A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340" t="48841" r="36384" b="7260"/>
            <a:stretch/>
          </p:blipFill>
          <p:spPr>
            <a:xfrm>
              <a:off x="2104444" y="5289858"/>
              <a:ext cx="1708406" cy="950802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F548BBA-3635-3E84-BD80-EB72FA82C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681" t="983" r="1716" b="57327"/>
            <a:stretch/>
          </p:blipFill>
          <p:spPr>
            <a:xfrm>
              <a:off x="3888433" y="4140882"/>
              <a:ext cx="1727521" cy="90296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EB7D45-0D7A-5687-E179-9E63F70EA6B2}"/>
                </a:ext>
              </a:extLst>
            </p:cNvPr>
            <p:cNvSpPr txBox="1"/>
            <p:nvPr/>
          </p:nvSpPr>
          <p:spPr>
            <a:xfrm>
              <a:off x="953479" y="5040587"/>
              <a:ext cx="51586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ok</a:t>
              </a:r>
              <a:endParaRPr lang="ko-KR" alt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BD41D3-15B1-9E6D-D667-AC2073BA3028}"/>
                </a:ext>
              </a:extLst>
            </p:cNvPr>
            <p:cNvSpPr txBox="1"/>
            <p:nvPr/>
          </p:nvSpPr>
          <p:spPr>
            <a:xfrm>
              <a:off x="953479" y="6180585"/>
              <a:ext cx="51586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pin</a:t>
              </a:r>
              <a:endParaRPr lang="ko-KR" altLang="en-US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56F5757-D9AB-70A2-C812-D7C308E71C2B}"/>
                </a:ext>
              </a:extLst>
            </p:cNvPr>
            <p:cNvSpPr txBox="1"/>
            <p:nvPr/>
          </p:nvSpPr>
          <p:spPr>
            <a:xfrm>
              <a:off x="2704045" y="6180585"/>
              <a:ext cx="51586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dent</a:t>
              </a:r>
              <a:endParaRPr lang="ko-KR" altLang="en-US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5224E5-FB29-3592-2F16-AC92B30998A8}"/>
                </a:ext>
              </a:extLst>
            </p:cNvPr>
            <p:cNvSpPr txBox="1"/>
            <p:nvPr/>
          </p:nvSpPr>
          <p:spPr>
            <a:xfrm>
              <a:off x="4490048" y="6180585"/>
              <a:ext cx="51586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glue</a:t>
              </a:r>
              <a:endParaRPr lang="ko-KR" altLang="en-US" sz="1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3D0778-E06C-02F8-ABC1-85AA1004FA82}"/>
                </a:ext>
              </a:extLst>
            </p:cNvPr>
            <p:cNvSpPr txBox="1"/>
            <p:nvPr/>
          </p:nvSpPr>
          <p:spPr>
            <a:xfrm>
              <a:off x="2489383" y="5044548"/>
              <a:ext cx="93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scratch</a:t>
              </a:r>
              <a:endParaRPr lang="ko-KR" altLang="en-US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C2ECF2-5DE4-6048-D96A-7716E7494D75}"/>
                </a:ext>
              </a:extLst>
            </p:cNvPr>
            <p:cNvSpPr txBox="1"/>
            <p:nvPr/>
          </p:nvSpPr>
          <p:spPr>
            <a:xfrm>
              <a:off x="4292487" y="5028248"/>
              <a:ext cx="93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fm</a:t>
              </a: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7038261-0B90-EDD1-7658-C2B6483FD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737131"/>
              </p:ext>
            </p:extLst>
          </p:nvPr>
        </p:nvGraphicFramePr>
        <p:xfrm>
          <a:off x="1113913" y="3752814"/>
          <a:ext cx="3935760" cy="128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187">
                  <a:extLst>
                    <a:ext uri="{9D8B030D-6E8A-4147-A177-3AD203B41FA5}">
                      <a16:colId xmlns:a16="http://schemas.microsoft.com/office/drawing/2014/main" val="1081503673"/>
                    </a:ext>
                  </a:extLst>
                </a:gridCol>
                <a:gridCol w="3014573">
                  <a:extLst>
                    <a:ext uri="{9D8B030D-6E8A-4147-A177-3AD203B41FA5}">
                      <a16:colId xmlns:a16="http://schemas.microsoft.com/office/drawing/2014/main" val="1166959216"/>
                    </a:ext>
                  </a:extLst>
                </a:gridCol>
              </a:tblGrid>
              <a:tr h="1835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Defect Meaning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99562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Dent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hollow on black surface </a:t>
                      </a: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650634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Scratch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to scrape or dig on black surface by sharpness</a:t>
                      </a: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29580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Pin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pin bent or deformed 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65221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F.M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foreign materials in pin hole </a:t>
                      </a: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08926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Glue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something sticky on black surface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5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60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B8E2-53E5-4A8C-F3B7-68C35D59A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1BF0C0-CA58-6EC4-FDF2-4C41BD70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544568F3-23FA-EBB7-CB6F-3DFE7F6C863E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11BED9CA-4B2A-F8AA-D6D1-C3F43DDCBBA4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F857FFF-5505-4CBE-4DDB-3B1F90F0B4E7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17869-5911-CC9A-EA17-6E4538D36F19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25625-8668-3120-F023-738E0A2D2B5F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1D515-2C16-8D2A-26F9-CB96356AC8A2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활용 데이터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AFC909-F548-C864-AC4C-FC6BF524A49B}"/>
              </a:ext>
            </a:extLst>
          </p:cNvPr>
          <p:cNvSpPr txBox="1"/>
          <p:nvPr/>
        </p:nvSpPr>
        <p:spPr>
          <a:xfrm>
            <a:off x="377983" y="1502868"/>
            <a:ext cx="7551878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해당 데이터셋은 기본 환경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(Default)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에서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 3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종류의 환경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(Color, Brightness, Focus)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변화 정도에 따라 다르게 촬영된 이미지로 구성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Default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는 모두 동일한 초기 기본 환경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Default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를 제외한 각 환경들은 환경이 변화하는 정도에 따라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4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단계의 서브 조건을 가짐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ED4048D-EB6C-7AF1-1A93-E4FE0D7417DE}"/>
              </a:ext>
            </a:extLst>
          </p:cNvPr>
          <p:cNvGrpSpPr/>
          <p:nvPr/>
        </p:nvGrpSpPr>
        <p:grpSpPr>
          <a:xfrm>
            <a:off x="641241" y="4403600"/>
            <a:ext cx="1944174" cy="1396378"/>
            <a:chOff x="765943" y="3986544"/>
            <a:chExt cx="1724411" cy="123853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DD70F55-5421-4EE9-A5EB-35C10638D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4498" r="75153" b="32575"/>
            <a:stretch/>
          </p:blipFill>
          <p:spPr>
            <a:xfrm>
              <a:off x="765943" y="3986544"/>
              <a:ext cx="1724411" cy="102021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03949A-9A4F-16B2-BEAD-8458E0E4D65F}"/>
                </a:ext>
              </a:extLst>
            </p:cNvPr>
            <p:cNvSpPr txBox="1"/>
            <p:nvPr/>
          </p:nvSpPr>
          <p:spPr>
            <a:xfrm>
              <a:off x="1059255" y="4948081"/>
              <a:ext cx="109929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rPr>
                <a:t>Default</a:t>
              </a:r>
              <a:endParaRPr lang="ko-KR" altLang="en-US" sz="1600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5762D89-B8EE-0967-256E-5020070FACB7}"/>
              </a:ext>
            </a:extLst>
          </p:cNvPr>
          <p:cNvSpPr txBox="1"/>
          <p:nvPr/>
        </p:nvSpPr>
        <p:spPr>
          <a:xfrm>
            <a:off x="9790505" y="3835113"/>
            <a:ext cx="1099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Color</a:t>
            </a:r>
            <a:endParaRPr lang="ko-KR" alt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DB1237-6894-F14A-8FB7-DB0EAC3B7017}"/>
              </a:ext>
            </a:extLst>
          </p:cNvPr>
          <p:cNvSpPr txBox="1"/>
          <p:nvPr/>
        </p:nvSpPr>
        <p:spPr>
          <a:xfrm>
            <a:off x="9790504" y="4824790"/>
            <a:ext cx="1099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Brightness</a:t>
            </a:r>
            <a:endParaRPr lang="ko-KR" alt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049317-1F20-804E-1507-B5FFA45DBBA4}"/>
              </a:ext>
            </a:extLst>
          </p:cNvPr>
          <p:cNvSpPr txBox="1"/>
          <p:nvPr/>
        </p:nvSpPr>
        <p:spPr>
          <a:xfrm>
            <a:off x="9784519" y="5809559"/>
            <a:ext cx="1099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Focus</a:t>
            </a:r>
            <a:endParaRPr lang="ko-KR" altLang="en-US" sz="1600" dirty="0"/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3BF61090-011E-23CA-7F69-183A91B3E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638869"/>
              </p:ext>
            </p:extLst>
          </p:nvPr>
        </p:nvGraphicFramePr>
        <p:xfrm>
          <a:off x="7828107" y="1466769"/>
          <a:ext cx="3935760" cy="855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187">
                  <a:extLst>
                    <a:ext uri="{9D8B030D-6E8A-4147-A177-3AD203B41FA5}">
                      <a16:colId xmlns:a16="http://schemas.microsoft.com/office/drawing/2014/main" val="1081503673"/>
                    </a:ext>
                  </a:extLst>
                </a:gridCol>
                <a:gridCol w="3014573">
                  <a:extLst>
                    <a:ext uri="{9D8B030D-6E8A-4147-A177-3AD203B41FA5}">
                      <a16:colId xmlns:a16="http://schemas.microsoft.com/office/drawing/2014/main" val="1166959216"/>
                    </a:ext>
                  </a:extLst>
                </a:gridCol>
              </a:tblGrid>
              <a:tr h="1835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Environment Meaning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99562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Color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Change in the environment caused by light</a:t>
                      </a: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650634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Brightness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Variation according to lighting brightness</a:t>
                      </a: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29580"/>
                  </a:ext>
                </a:extLst>
              </a:tr>
              <a:tr h="183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Focus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>
                          <a:solidFill>
                            <a:prstClr val="black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Changes due to camera focus shaking</a:t>
                      </a:r>
                      <a:endParaRPr lang="ko-KR" altLang="en-US" sz="1000" kern="1200" baseline="0" dirty="0">
                        <a:solidFill>
                          <a:prstClr val="black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  <a:cs typeface="+mn-cs"/>
                      </a:endParaRPr>
                    </a:p>
                  </a:txBody>
                  <a:tcPr marL="61447" marR="61447" marT="30724" marB="30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65221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07B09CEC-C485-5997-EF85-B25FD32A28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3" b="1523"/>
          <a:stretch/>
        </p:blipFill>
        <p:spPr>
          <a:xfrm>
            <a:off x="2893791" y="3532162"/>
            <a:ext cx="1636899" cy="8927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04FBB3B-6AD3-FECF-861A-5A5E8117E9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3" b="1523"/>
          <a:stretch/>
        </p:blipFill>
        <p:spPr>
          <a:xfrm>
            <a:off x="4572481" y="3532162"/>
            <a:ext cx="1636899" cy="89271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47F5FA0-4C59-E36A-069A-FE2968AA5F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23" b="1523"/>
          <a:stretch/>
        </p:blipFill>
        <p:spPr>
          <a:xfrm>
            <a:off x="6251171" y="3532162"/>
            <a:ext cx="1636899" cy="8927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5EA2D1F-DBE9-F3D6-2C8A-3CCDE13D21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23" b="1523"/>
          <a:stretch/>
        </p:blipFill>
        <p:spPr>
          <a:xfrm>
            <a:off x="7929861" y="3532162"/>
            <a:ext cx="1636899" cy="8927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55B1974-C558-CA58-3FF9-EECD3BFAE7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523" b="1523"/>
          <a:stretch/>
        </p:blipFill>
        <p:spPr>
          <a:xfrm>
            <a:off x="2893791" y="4532005"/>
            <a:ext cx="1636899" cy="89271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451D713-F8E3-7235-EFDF-C15702FB7D8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523" b="1523"/>
          <a:stretch/>
        </p:blipFill>
        <p:spPr>
          <a:xfrm>
            <a:off x="4572481" y="4532005"/>
            <a:ext cx="1636899" cy="89271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70373CB-7E1C-13B0-56A1-60E505157D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523" b="1523"/>
          <a:stretch/>
        </p:blipFill>
        <p:spPr>
          <a:xfrm>
            <a:off x="6251171" y="4532005"/>
            <a:ext cx="1636899" cy="89271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26FE0FE-A9CE-9F53-1C6B-D23F9E84E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523" b="1523"/>
          <a:stretch/>
        </p:blipFill>
        <p:spPr>
          <a:xfrm>
            <a:off x="7929861" y="4532005"/>
            <a:ext cx="1636899" cy="89271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BB5D4F2-AACB-F0F1-B384-AB5CB6FF3F0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523" b="1523"/>
          <a:stretch/>
        </p:blipFill>
        <p:spPr>
          <a:xfrm>
            <a:off x="2893791" y="5531352"/>
            <a:ext cx="1636899" cy="89271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102C364-E0C1-7147-D459-923D3EBF047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523" b="1523"/>
          <a:stretch/>
        </p:blipFill>
        <p:spPr>
          <a:xfrm>
            <a:off x="4572481" y="5531352"/>
            <a:ext cx="1636899" cy="89271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085FEFBA-F2D3-0EBB-1CA6-1C6F41A94A4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523" b="1523"/>
          <a:stretch/>
        </p:blipFill>
        <p:spPr>
          <a:xfrm>
            <a:off x="6251171" y="5531352"/>
            <a:ext cx="1636899" cy="89271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320C7B59-FB6E-E779-FB0F-7E352ADBC2D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523" b="1523"/>
          <a:stretch/>
        </p:blipFill>
        <p:spPr>
          <a:xfrm>
            <a:off x="7929861" y="5531352"/>
            <a:ext cx="1636899" cy="89271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82C2C86-C520-1705-0EFB-890FC33CE29E}"/>
              </a:ext>
            </a:extLst>
          </p:cNvPr>
          <p:cNvSpPr txBox="1"/>
          <p:nvPr/>
        </p:nvSpPr>
        <p:spPr>
          <a:xfrm>
            <a:off x="3193295" y="3311147"/>
            <a:ext cx="10378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단계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5186F6-587A-7AAA-C08C-BC07C9B876A6}"/>
              </a:ext>
            </a:extLst>
          </p:cNvPr>
          <p:cNvSpPr txBox="1"/>
          <p:nvPr/>
        </p:nvSpPr>
        <p:spPr>
          <a:xfrm>
            <a:off x="4871985" y="3311147"/>
            <a:ext cx="10378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단계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F07916-2122-1EAA-EA5B-10DCFC692609}"/>
              </a:ext>
            </a:extLst>
          </p:cNvPr>
          <p:cNvSpPr txBox="1"/>
          <p:nvPr/>
        </p:nvSpPr>
        <p:spPr>
          <a:xfrm>
            <a:off x="6550675" y="3311147"/>
            <a:ext cx="10378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3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단계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B87622-071F-DA05-7C5B-1068DE484E43}"/>
              </a:ext>
            </a:extLst>
          </p:cNvPr>
          <p:cNvSpPr txBox="1"/>
          <p:nvPr/>
        </p:nvSpPr>
        <p:spPr>
          <a:xfrm>
            <a:off x="8229365" y="3311147"/>
            <a:ext cx="10378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단계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9A72A-2F63-5A64-2D22-510E9B911CAC}"/>
              </a:ext>
            </a:extLst>
          </p:cNvPr>
          <p:cNvSpPr txBox="1"/>
          <p:nvPr/>
        </p:nvSpPr>
        <p:spPr>
          <a:xfrm>
            <a:off x="2893792" y="2958168"/>
            <a:ext cx="6672968" cy="31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도메인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(Default + Color, Brightness, Focus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마다 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존재</a:t>
            </a:r>
          </a:p>
        </p:txBody>
      </p:sp>
    </p:spTree>
    <p:extLst>
      <p:ext uri="{BB962C8B-B14F-4D97-AF65-F5344CB8AC3E}">
        <p14:creationId xmlns:p14="http://schemas.microsoft.com/office/powerpoint/2010/main" val="341452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1E80-FC7A-AA59-CE27-0A298D01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7BA1BC-5962-72B1-5B07-7E08AFE7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D617A0FA-8775-EB1B-33BA-10E77762612F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47556578-0DC5-88FB-996C-C8A9933E641C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1D086EDA-6847-1208-7763-E649FE89DFC7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35C94-81D5-BA5D-1710-3DB4CF492884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62BA5-1B88-51EA-E563-C0394E4AEA03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E4A64B-C128-B5BD-5C01-41B2FDE82AC9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실험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설정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67980-3944-A295-407C-661B5161AE3A}"/>
              </a:ext>
            </a:extLst>
          </p:cNvPr>
          <p:cNvSpPr txBox="1"/>
          <p:nvPr/>
        </p:nvSpPr>
        <p:spPr>
          <a:xfrm>
            <a:off x="377983" y="1502868"/>
            <a:ext cx="11355308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Backbone Network : ResNet-101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Optimizer : SGD(</a:t>
            </a:r>
            <a:r>
              <a:rPr lang="en-US" altLang="ko-KR" sz="14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lr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=0.01), Cosine Annealing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Batch size : 32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Epochs : 100 (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제안하는 방법만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50 epoch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동안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warm up /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이후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train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진행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회 반복 실험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KoPubWorld돋움체 Medium" panose="00000600000000000000" pitchFamily="2" charset="-127"/>
              </a:rPr>
              <a:t>적용 방법론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8C6F36-8336-85AB-A01D-E920B2FBA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6437"/>
              </p:ext>
            </p:extLst>
          </p:nvPr>
        </p:nvGraphicFramePr>
        <p:xfrm>
          <a:off x="2993784" y="3938973"/>
          <a:ext cx="6572976" cy="2039705"/>
        </p:xfrm>
        <a:graphic>
          <a:graphicData uri="http://schemas.openxmlformats.org/drawingml/2006/table">
            <a:tbl>
              <a:tblPr firstRow="1" bandRow="1">
                <a:tableStyleId>{8AD2AD60-F4DC-4504-80C7-2C9E4552CE91}</a:tableStyleId>
              </a:tblPr>
              <a:tblGrid>
                <a:gridCol w="1643244">
                  <a:extLst>
                    <a:ext uri="{9D8B030D-6E8A-4147-A177-3AD203B41FA5}">
                      <a16:colId xmlns:a16="http://schemas.microsoft.com/office/drawing/2014/main" val="600388733"/>
                    </a:ext>
                  </a:extLst>
                </a:gridCol>
                <a:gridCol w="1643244">
                  <a:extLst>
                    <a:ext uri="{9D8B030D-6E8A-4147-A177-3AD203B41FA5}">
                      <a16:colId xmlns:a16="http://schemas.microsoft.com/office/drawing/2014/main" val="2345947455"/>
                    </a:ext>
                  </a:extLst>
                </a:gridCol>
                <a:gridCol w="1643244">
                  <a:extLst>
                    <a:ext uri="{9D8B030D-6E8A-4147-A177-3AD203B41FA5}">
                      <a16:colId xmlns:a16="http://schemas.microsoft.com/office/drawing/2014/main" val="3299648958"/>
                    </a:ext>
                  </a:extLst>
                </a:gridCol>
                <a:gridCol w="1643244">
                  <a:extLst>
                    <a:ext uri="{9D8B030D-6E8A-4147-A177-3AD203B41FA5}">
                      <a16:colId xmlns:a16="http://schemas.microsoft.com/office/drawing/2014/main" val="3740028529"/>
                    </a:ext>
                  </a:extLst>
                </a:gridCol>
              </a:tblGrid>
              <a:tr h="21101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Fine-grained </a:t>
                      </a:r>
                      <a:r>
                        <a:rPr lang="ko-KR" alt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TTA </a:t>
                      </a:r>
                      <a:r>
                        <a:rPr lang="ko-KR" altLang="en-US" sz="1000" kern="120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TTA </a:t>
                      </a:r>
                      <a:r>
                        <a:rPr lang="ko-KR" alt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939706"/>
                  </a:ext>
                </a:extLst>
              </a:tr>
              <a:tr h="211013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ResNet101 (No TTA)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201908"/>
                  </a:ext>
                </a:extLst>
              </a:tr>
              <a:tr h="31040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ResNet101 + 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15976"/>
                  </a:ext>
                </a:extLst>
              </a:tr>
              <a:tr h="31040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Ours (No TTA)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altLang="ko-KR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215529"/>
                  </a:ext>
                </a:extLst>
              </a:tr>
              <a:tr h="31040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Ours + 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299124"/>
                  </a:ext>
                </a:extLst>
              </a:tr>
              <a:tr h="31040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Ours + EATA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2203"/>
                  </a:ext>
                </a:extLst>
              </a:tr>
              <a:tr h="31040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Ours + </a:t>
                      </a:r>
                      <a:r>
                        <a:rPr lang="en-US" sz="1000" b="0" i="0" kern="1200" dirty="0" err="1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DeYO</a:t>
                      </a:r>
                      <a:endParaRPr lang="en-US" sz="1000" b="0" i="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altLang="ko-KR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 err="1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DeYO</a:t>
                      </a:r>
                      <a:endParaRPr lang="en-US" sz="1000" kern="1200" dirty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03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039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A384-A53C-7DF7-AAFE-38056896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04F5D1-D28D-A2B9-A0A0-B8B42AC8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05340874-8F63-35DA-986C-E217028D0FCE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D14FCFEE-FD1F-C55A-BF74-94C76F2E54D8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E717EC0C-3B50-6C31-5CDD-8F9A677EA03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73480-F3A1-E51E-F722-8CB228836EA5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90239E-DA5A-5738-94CC-186FC9E54C43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868E2-0655-FBDF-2D1F-E1928E17FCAC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실험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결과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091BDF-11A9-CD50-C647-4FEBB3A3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5854"/>
              </p:ext>
            </p:extLst>
          </p:nvPr>
        </p:nvGraphicFramePr>
        <p:xfrm>
          <a:off x="350192" y="1570473"/>
          <a:ext cx="11332719" cy="486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9191">
                  <a:extLst>
                    <a:ext uri="{9D8B030D-6E8A-4147-A177-3AD203B41FA5}">
                      <a16:colId xmlns:a16="http://schemas.microsoft.com/office/drawing/2014/main" val="1020308348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2126258390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3057738666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189705786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865799730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3299333369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2793604413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1157761537"/>
                    </a:ext>
                  </a:extLst>
                </a:gridCol>
                <a:gridCol w="1259191">
                  <a:extLst>
                    <a:ext uri="{9D8B030D-6E8A-4147-A177-3AD203B41FA5}">
                      <a16:colId xmlns:a16="http://schemas.microsoft.com/office/drawing/2014/main" val="1657705929"/>
                    </a:ext>
                  </a:extLst>
                </a:gridCol>
              </a:tblGrid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Auroc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Resnet101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Resnet101+TENT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MGANet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MGANet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+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Ours+EATA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Ours+DeYO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02231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drift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0.9424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0.9385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0.0061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0.9442 ± 0.0073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05379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0.9203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0.935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0.9494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0.0114</a:t>
                      </a:r>
                      <a:endParaRPr lang="en-US" altLang="ko-KR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0.9159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0.0058</a:t>
                      </a:r>
                      <a:endParaRPr lang="en-US" altLang="ko-KR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0.9388 ± 0.0196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0.9583 ± 0.0109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0.9583 ± 0.0108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0.9556 ± 0.0130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290386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0.9373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0.9334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0.9448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0.0082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0.9294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0.0068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0.9422 ± 0.0065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0.9506 ± 0.0056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0.9528 ± 0.0085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0.9520 ± 0.0092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16830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0.885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0.9493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0.8429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0.0190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0.9351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0.0067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0.9317 ± 0.0220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0.9509 ± 0.0047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0.9522 ± 0.0066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0.9516 ± 0.0075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62039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0.9158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0.9261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0.6800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0.0044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0.9245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0.0070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0.9425 ± 0.0142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0.9484 ± 0.0052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0.9509 ± 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0.9494 ± 0.0073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680410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0.8697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0.9257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0.8168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0.0115</a:t>
                      </a:r>
                      <a:endParaRPr lang="en-US" altLang="ko-KR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0.8727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0.0185</a:t>
                      </a:r>
                      <a:endParaRPr lang="en-US" altLang="ko-KR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0.9140 ± 0.0023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0.9405 ± 0.0040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0.9463 ± 0.0110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0.9465 ± 0.0115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258371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0.9034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0.9283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0.8866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0.0006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0.8928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0.0139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0.9282 ± 0.0033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0.9456 ± 0.0019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0.9497 ± 0.0095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0.9484 ± 0.0107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06913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0.8913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0.9395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0.7150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0.0142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0.9312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0.0091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0.9402 ± 0.0077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0.9463 ± 0.0049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0.9486 ± 0.0052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0.9479 ± 0.0054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358510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0.4942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0.9313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0.5084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0.0090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0.9107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0.0060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0.8620 ± 0.0460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0.9354 ± 0.0058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0.9404 ± 0.0049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0.9376 ± 0.0067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0904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0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0.9128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0.9368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0.8178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0.1206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0.9081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0.0308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0.9404 ± 0.0063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0.9433 ± 0.0086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0.9486 ± 0.0064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0.9464 ± 0.0064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219712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0.9321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0.9313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0.9227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0.0136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0.9147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0.0110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0.9526 ± 0.0093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0.9500 ± 0.0087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0.9522 ± 0.0067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0.9512 ± 0.0084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52309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0.9249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0.9287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0.9164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0.0194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0.9221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0.0010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0.9204 ± 0.0074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0.9343 ± 0.0021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0.9393 ± 0.0017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0.9376 ± 0.0010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79020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0.8822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0.8867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0.8509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0.0198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0.8643 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± 0.0301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0.9092 ± 0.0080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0.9169 ± 0.0031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0.9194 ± 0.0040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0.9171 ± 0.0035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42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729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AE10-2F1E-049B-59A7-C0591E64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28B5EC-C8EE-15BD-EA50-76430236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E9F0D1CF-9910-7C1F-BFF7-D2B4FC9CA30D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9FEF11B8-60A9-BAB1-24BD-E18411024B1F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4213E337-3912-62E1-B359-18AFF5EDCC3F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FAB76-B9A1-9C7E-EF0C-1972C49C43B0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2BB09-7010-AE8C-30E7-FF2A3397E21F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F243E-49BC-18CD-AF53-1FB1A39C4A7C}"/>
              </a:ext>
            </a:extLst>
          </p:cNvPr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Adaptation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전후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CAM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성능 비교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pic>
        <p:nvPicPr>
          <p:cNvPr id="4" name="그림 3" descr="텍스트, 램프, 네온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AE93E3-9434-E265-740A-87C90EDBD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351" y="2255055"/>
            <a:ext cx="1046159" cy="682721"/>
          </a:xfrm>
          <a:prstGeom prst="rect">
            <a:avLst/>
          </a:prstGeom>
        </p:spPr>
      </p:pic>
      <p:pic>
        <p:nvPicPr>
          <p:cNvPr id="15" name="그림 14" descr="텍스트, 다채로움, 램프, 네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EC6BB7-9E9D-C85A-7FDF-BF3B9C1B6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96" y="2255055"/>
            <a:ext cx="1046159" cy="682721"/>
          </a:xfrm>
          <a:prstGeom prst="rect">
            <a:avLst/>
          </a:prstGeom>
        </p:spPr>
      </p:pic>
      <p:pic>
        <p:nvPicPr>
          <p:cNvPr id="19" name="그림 18" descr="다채로움, 네온, 램프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D8BBC5-1D75-F67A-38D7-165D34914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679" y="2255055"/>
            <a:ext cx="1046159" cy="682721"/>
          </a:xfrm>
          <a:prstGeom prst="rect">
            <a:avLst/>
          </a:prstGeom>
        </p:spPr>
      </p:pic>
      <p:pic>
        <p:nvPicPr>
          <p:cNvPr id="21" name="그림 20" descr="텍스트, 다채로움, 램프, 네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020278-E508-183A-6F93-D3041A56A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1425" y="2255055"/>
            <a:ext cx="1046159" cy="6827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F95BC2F-C254-F399-E9B2-4DE016EA8DD2}"/>
              </a:ext>
            </a:extLst>
          </p:cNvPr>
          <p:cNvSpPr txBox="1"/>
          <p:nvPr/>
        </p:nvSpPr>
        <p:spPr>
          <a:xfrm>
            <a:off x="3845372" y="2440105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AC7AAE1-C934-D1A5-891C-7C0F8B7D65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85349" y="1485102"/>
            <a:ext cx="1046159" cy="6827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59DC7C5-DB43-E619-DFDB-870AD03E92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2095" y="1485102"/>
            <a:ext cx="1046159" cy="68272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7DE4DFD-5F9E-8B74-A5A5-2EA434A9332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84678" y="1485102"/>
            <a:ext cx="1046159" cy="68272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E371926-7B91-1DDA-EAB4-BADE4334EFA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31424" y="1485102"/>
            <a:ext cx="1046159" cy="68272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2B463B9-276F-7185-B03A-E5B197447A69}"/>
              </a:ext>
            </a:extLst>
          </p:cNvPr>
          <p:cNvSpPr txBox="1"/>
          <p:nvPr/>
        </p:nvSpPr>
        <p:spPr>
          <a:xfrm>
            <a:off x="3845372" y="1643059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4E5DE2B-753F-EB9E-45AF-6DF8F412194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85348" y="3920321"/>
            <a:ext cx="1046159" cy="68272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285BAD0-C611-C5BA-F91C-D8031731733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32093" y="3917140"/>
            <a:ext cx="1046158" cy="68590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699E27B-091B-4457-A8BA-0AC76FCE698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884676" y="3917140"/>
            <a:ext cx="1046158" cy="68590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5142A75-1D1F-48BE-0AC0-A2B28909DB1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031422" y="3917140"/>
            <a:ext cx="1046158" cy="6859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9E358C2D-6725-465E-093F-2A3419EF72D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585349" y="3155827"/>
            <a:ext cx="1046159" cy="68272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E2BA152-99D3-9718-179F-D726BEC2054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732095" y="3155827"/>
            <a:ext cx="1046159" cy="68272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D0CF08B4-2963-1F7F-C225-0ADE3C431A6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884678" y="3155827"/>
            <a:ext cx="1046159" cy="68272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540A143-E5BA-17EC-80DD-37757D86BF5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031424" y="3155827"/>
            <a:ext cx="1046159" cy="68272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CBE74B9-1F01-DB81-2EFC-40F4C6D7D586}"/>
              </a:ext>
            </a:extLst>
          </p:cNvPr>
          <p:cNvSpPr txBox="1"/>
          <p:nvPr/>
        </p:nvSpPr>
        <p:spPr>
          <a:xfrm>
            <a:off x="3845372" y="4089700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6B3615-7AA4-E7E6-EA3C-AE9819B45835}"/>
              </a:ext>
            </a:extLst>
          </p:cNvPr>
          <p:cNvSpPr txBox="1"/>
          <p:nvPr/>
        </p:nvSpPr>
        <p:spPr>
          <a:xfrm>
            <a:off x="3845372" y="3298113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30AD69-640A-9521-13BB-EFEEACC9CFD1}"/>
              </a:ext>
            </a:extLst>
          </p:cNvPr>
          <p:cNvSpPr txBox="1"/>
          <p:nvPr/>
        </p:nvSpPr>
        <p:spPr>
          <a:xfrm>
            <a:off x="5961503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0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5E4B2-6E9B-7663-367E-A708F347FA09}"/>
              </a:ext>
            </a:extLst>
          </p:cNvPr>
          <p:cNvSpPr txBox="1"/>
          <p:nvPr/>
        </p:nvSpPr>
        <p:spPr>
          <a:xfrm>
            <a:off x="7091104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1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F8A9FA-E98F-F000-DA00-80CA73CB64E5}"/>
              </a:ext>
            </a:extLst>
          </p:cNvPr>
          <p:cNvSpPr txBox="1"/>
          <p:nvPr/>
        </p:nvSpPr>
        <p:spPr>
          <a:xfrm>
            <a:off x="8243687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2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E2E4B2-F70E-F2B5-6B3A-96A4CC2D5BF2}"/>
              </a:ext>
            </a:extLst>
          </p:cNvPr>
          <p:cNvSpPr txBox="1"/>
          <p:nvPr/>
        </p:nvSpPr>
        <p:spPr>
          <a:xfrm>
            <a:off x="9373288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3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55CB19-B479-5BAE-EB55-F2AA74F12095}"/>
              </a:ext>
            </a:extLst>
          </p:cNvPr>
          <p:cNvSpPr txBox="1"/>
          <p:nvPr/>
        </p:nvSpPr>
        <p:spPr>
          <a:xfrm>
            <a:off x="9882899" y="2057288"/>
            <a:ext cx="1826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Focus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19A185-EAD5-921E-48E7-D3E839F01034}"/>
              </a:ext>
            </a:extLst>
          </p:cNvPr>
          <p:cNvSpPr txBox="1"/>
          <p:nvPr/>
        </p:nvSpPr>
        <p:spPr>
          <a:xfrm>
            <a:off x="10087693" y="3833910"/>
            <a:ext cx="154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Color</a:t>
            </a:r>
            <a:endParaRPr lang="ko-KR" altLang="en-US" dirty="0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87953934-3EF5-D048-0FE8-64341C5B8CE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585348" y="5637083"/>
            <a:ext cx="1046159" cy="682721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C85D7885-2EA8-11B3-F1A5-3D62773A361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732093" y="5637083"/>
            <a:ext cx="1046159" cy="682721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6788A96B-46EF-F345-4459-45E754B7FA3D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7884676" y="5637083"/>
            <a:ext cx="1046159" cy="682721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9DCBC877-D2DE-1851-DC04-2EF5A317681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9031422" y="5637083"/>
            <a:ext cx="1046159" cy="682721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D63EBDEF-3510-A40F-EF29-3C58FD33977B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585349" y="4875770"/>
            <a:ext cx="1046158" cy="682721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19DED23F-03F0-0EF4-9807-AE14C57416C3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6732095" y="4875770"/>
            <a:ext cx="1046158" cy="682721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0F5AF244-5102-0EF8-CC52-FF4F01D7C8B1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7884678" y="4875770"/>
            <a:ext cx="1046158" cy="68272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09F70AAE-BAA6-7B84-FA14-984A30895227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9031424" y="4875770"/>
            <a:ext cx="1046158" cy="682721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4224563-7A26-1EA2-B491-100B52CE23CE}"/>
              </a:ext>
            </a:extLst>
          </p:cNvPr>
          <p:cNvSpPr txBox="1"/>
          <p:nvPr/>
        </p:nvSpPr>
        <p:spPr>
          <a:xfrm>
            <a:off x="3845372" y="5856938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85D5A3-F1A9-B967-8A2C-E475D49862D7}"/>
              </a:ext>
            </a:extLst>
          </p:cNvPr>
          <p:cNvSpPr txBox="1"/>
          <p:nvPr/>
        </p:nvSpPr>
        <p:spPr>
          <a:xfrm>
            <a:off x="3845372" y="5068532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D74211-5ED7-61FC-51D7-588FD7E889AE}"/>
              </a:ext>
            </a:extLst>
          </p:cNvPr>
          <p:cNvSpPr txBox="1"/>
          <p:nvPr/>
        </p:nvSpPr>
        <p:spPr>
          <a:xfrm>
            <a:off x="10060546" y="5449623"/>
            <a:ext cx="154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Brightness</a:t>
            </a:r>
            <a:endParaRPr lang="ko-KR" altLang="en-US" dirty="0"/>
          </a:p>
        </p:txBody>
      </p:sp>
      <p:pic>
        <p:nvPicPr>
          <p:cNvPr id="86" name="그림 85" descr="금속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4993F36-8813-C479-9632-FCBA7FE1377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2900" y="2873528"/>
            <a:ext cx="3043031" cy="1711705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0BF85890-19B7-4470-E183-6466981C1FF9}"/>
              </a:ext>
            </a:extLst>
          </p:cNvPr>
          <p:cNvSpPr txBox="1"/>
          <p:nvPr/>
        </p:nvSpPr>
        <p:spPr>
          <a:xfrm>
            <a:off x="1059255" y="4712663"/>
            <a:ext cx="22978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Original 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좌측 상단 결함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  <a:endParaRPr lang="ko-KR" altLang="en-US" sz="160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19AE786-A57D-1BCB-522C-0C22664DCDDC}"/>
              </a:ext>
            </a:extLst>
          </p:cNvPr>
          <p:cNvSpPr/>
          <p:nvPr/>
        </p:nvSpPr>
        <p:spPr>
          <a:xfrm>
            <a:off x="1605061" y="3433477"/>
            <a:ext cx="275888" cy="2078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40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508C-92AC-DE5A-8EE5-AC505B36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92D48C-BA8D-21D9-E8A6-800E2F9C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27BBAA18-BEB4-EFD5-46FF-BD519FEB07F8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EE14CC8C-6CDB-1F71-A83A-A6C32B7A8B1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4A2883D2-028B-3AED-D99C-54E58764A108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8A88B-185D-BDEA-83F5-5ECD1E9FD2CB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1FCD5-9DEA-44F0-9644-A2343946D4D8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4672D-EE85-0060-3AA9-DC039E12C664}"/>
              </a:ext>
            </a:extLst>
          </p:cNvPr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Adaptation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전후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CAM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성능 비교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66F61E-011F-AA68-45DA-39DD0AEA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85348" y="2255055"/>
            <a:ext cx="1046159" cy="68272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8BAF9DB-F25A-D176-C804-460053509D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32093" y="2255055"/>
            <a:ext cx="1046159" cy="6827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05A495A-EE27-4ADF-3811-B03FB44A5A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84676" y="2255055"/>
            <a:ext cx="1046159" cy="6827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B0ADDD7-5475-B9C9-9C40-3E70D2BA33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31422" y="2255055"/>
            <a:ext cx="1046159" cy="6827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5A3017-79ED-C8F8-FB99-94EE7C98F5E4}"/>
              </a:ext>
            </a:extLst>
          </p:cNvPr>
          <p:cNvSpPr txBox="1"/>
          <p:nvPr/>
        </p:nvSpPr>
        <p:spPr>
          <a:xfrm>
            <a:off x="3845372" y="2440105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FC87BE9-89C4-AFA7-55E1-F88ED6F7F2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85347" y="1485102"/>
            <a:ext cx="1046157" cy="6827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D10F259-522B-1291-62E4-C3DAED5E7AC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2093" y="1485102"/>
            <a:ext cx="1046157" cy="68272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4BFAF8D-B92E-898B-4B32-2265E67F15A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84676" y="1485102"/>
            <a:ext cx="1046157" cy="68272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EAF04CC-E4AD-C2DD-6F5C-D295EA69FC5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31422" y="1485102"/>
            <a:ext cx="1046157" cy="68272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ECA8F1C-2E5C-1DCA-3E2D-0CBFD3406892}"/>
              </a:ext>
            </a:extLst>
          </p:cNvPr>
          <p:cNvSpPr txBox="1"/>
          <p:nvPr/>
        </p:nvSpPr>
        <p:spPr>
          <a:xfrm>
            <a:off x="3845372" y="1643059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5F9F737-4122-F1FB-1B91-70C6C54C052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85345" y="3920321"/>
            <a:ext cx="1046159" cy="68272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CE971AA-B0E2-BF0F-ABA8-C1A5408CCC6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29652" y="3917140"/>
            <a:ext cx="1051034" cy="68590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91863EF-9337-7FB9-3818-BF8E53AAE11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882235" y="3917140"/>
            <a:ext cx="1051034" cy="68590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87B5145-3F07-EE08-6639-96908180644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028981" y="3917140"/>
            <a:ext cx="1051034" cy="6859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D99C208-0654-C862-DD68-E83E361C999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585345" y="3155827"/>
            <a:ext cx="1046159" cy="68272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8F77151-8AA2-CCE1-41FB-0D2F252BC86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732091" y="3155827"/>
            <a:ext cx="1046159" cy="68272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87ED779-67D8-4AFE-65A7-619DAF48721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884674" y="3155827"/>
            <a:ext cx="1046159" cy="68272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D6705AD-70A1-23E9-4DC4-F2FC913DA79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031420" y="3155827"/>
            <a:ext cx="1046159" cy="68272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A826C6F-97CF-4308-8733-47233DD21C47}"/>
              </a:ext>
            </a:extLst>
          </p:cNvPr>
          <p:cNvSpPr txBox="1"/>
          <p:nvPr/>
        </p:nvSpPr>
        <p:spPr>
          <a:xfrm>
            <a:off x="3845372" y="4089700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102E75-80A2-4E5B-5951-B8325A2A7B13}"/>
              </a:ext>
            </a:extLst>
          </p:cNvPr>
          <p:cNvSpPr txBox="1"/>
          <p:nvPr/>
        </p:nvSpPr>
        <p:spPr>
          <a:xfrm>
            <a:off x="3845372" y="3298113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F88B83-18B2-C28E-AF1A-7AB5E7716622}"/>
              </a:ext>
            </a:extLst>
          </p:cNvPr>
          <p:cNvSpPr txBox="1"/>
          <p:nvPr/>
        </p:nvSpPr>
        <p:spPr>
          <a:xfrm>
            <a:off x="5961503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0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6BA930-355B-415C-E76C-7DB55F2DBAA9}"/>
              </a:ext>
            </a:extLst>
          </p:cNvPr>
          <p:cNvSpPr txBox="1"/>
          <p:nvPr/>
        </p:nvSpPr>
        <p:spPr>
          <a:xfrm>
            <a:off x="7091104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1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B39FE1-C5A3-D576-C375-30D3E224D609}"/>
              </a:ext>
            </a:extLst>
          </p:cNvPr>
          <p:cNvSpPr txBox="1"/>
          <p:nvPr/>
        </p:nvSpPr>
        <p:spPr>
          <a:xfrm>
            <a:off x="8243687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2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356090-85AD-903A-0350-5E27748317F7}"/>
              </a:ext>
            </a:extLst>
          </p:cNvPr>
          <p:cNvSpPr txBox="1"/>
          <p:nvPr/>
        </p:nvSpPr>
        <p:spPr>
          <a:xfrm>
            <a:off x="9373288" y="1272591"/>
            <a:ext cx="3281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3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90FCF7-4461-8DC0-891B-53D99F9C69EC}"/>
              </a:ext>
            </a:extLst>
          </p:cNvPr>
          <p:cNvSpPr txBox="1"/>
          <p:nvPr/>
        </p:nvSpPr>
        <p:spPr>
          <a:xfrm>
            <a:off x="9882899" y="2057288"/>
            <a:ext cx="1826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Focus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30E3EB-5675-0874-535E-88BFDA41781D}"/>
              </a:ext>
            </a:extLst>
          </p:cNvPr>
          <p:cNvSpPr txBox="1"/>
          <p:nvPr/>
        </p:nvSpPr>
        <p:spPr>
          <a:xfrm>
            <a:off x="10087693" y="3833910"/>
            <a:ext cx="154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Color</a:t>
            </a:r>
            <a:endParaRPr lang="ko-KR" altLang="en-US" dirty="0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4116AD04-BD46-F44B-F5D7-E8744F2B7CA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582907" y="5637083"/>
            <a:ext cx="1031565" cy="682721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10378122-F676-12F9-F840-7DE0E18F7ABB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729652" y="5637083"/>
            <a:ext cx="1031565" cy="682721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3AD4F65C-1BE5-AF2D-E390-7820D86B6ADD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7882235" y="5637083"/>
            <a:ext cx="1031565" cy="682721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DC1E4387-BB8B-6D65-5CC3-4E8AAE4B584A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9028981" y="5637083"/>
            <a:ext cx="1031565" cy="682721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58731F7A-2614-C33F-43E6-8CAF7BB25ED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582907" y="4875770"/>
            <a:ext cx="1031565" cy="682721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EB4A31F3-5988-4F35-19CE-3E4F692A935C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6729653" y="4875770"/>
            <a:ext cx="1031565" cy="682721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2C44DBF3-4607-0D0D-C762-EFD622591789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7882236" y="4875770"/>
            <a:ext cx="1031565" cy="68272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AAC523A5-DAE0-6B59-72D6-F60A1937F69F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9028982" y="4875770"/>
            <a:ext cx="1031565" cy="682721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7BA2A2F-A7FA-FD4B-A641-FACF7C8DEDF9}"/>
              </a:ext>
            </a:extLst>
          </p:cNvPr>
          <p:cNvSpPr txBox="1"/>
          <p:nvPr/>
        </p:nvSpPr>
        <p:spPr>
          <a:xfrm>
            <a:off x="3845372" y="5856938"/>
            <a:ext cx="1607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이후</a:t>
            </a:r>
            <a:endParaRPr lang="ko-KR" alt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DC6561-5583-87D5-C1FB-9773492F166B}"/>
              </a:ext>
            </a:extLst>
          </p:cNvPr>
          <p:cNvSpPr txBox="1"/>
          <p:nvPr/>
        </p:nvSpPr>
        <p:spPr>
          <a:xfrm>
            <a:off x="3845372" y="5068532"/>
            <a:ext cx="1607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Adaptation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(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shift)</a:t>
            </a:r>
            <a:endParaRPr lang="ko-KR" alt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ACC577B-33AD-CE80-B401-673BFEB8CB2B}"/>
              </a:ext>
            </a:extLst>
          </p:cNvPr>
          <p:cNvSpPr txBox="1"/>
          <p:nvPr/>
        </p:nvSpPr>
        <p:spPr>
          <a:xfrm>
            <a:off x="10060546" y="5449623"/>
            <a:ext cx="154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Brightness</a:t>
            </a:r>
            <a:endParaRPr lang="ko-KR" altLang="en-US" dirty="0"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48A9F754-BF87-44DC-3694-0930A9C1E6F0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92900" y="2873528"/>
            <a:ext cx="3043030" cy="1711705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6659C40D-A308-0599-91B5-2CF91C7D8B69}"/>
              </a:ext>
            </a:extLst>
          </p:cNvPr>
          <p:cNvSpPr txBox="1"/>
          <p:nvPr/>
        </p:nvSpPr>
        <p:spPr>
          <a:xfrm>
            <a:off x="1059255" y="4712663"/>
            <a:ext cx="22978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Original 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중앙 결함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  <a:endParaRPr lang="ko-KR" altLang="en-US" sz="160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25AA682-95D8-FEA4-DF83-8DCB5E7CBD14}"/>
              </a:ext>
            </a:extLst>
          </p:cNvPr>
          <p:cNvSpPr/>
          <p:nvPr/>
        </p:nvSpPr>
        <p:spPr>
          <a:xfrm>
            <a:off x="1896894" y="3602581"/>
            <a:ext cx="236983" cy="2235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41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3F61-775C-1BC9-AF84-5BFEA63B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3FA2B2-3717-669E-B3B0-E0ACC587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581DD216-2D87-1D86-8317-D3E2AF9CA825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B9232F53-75D3-E04C-28F5-DC375B748674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52FAFC9-6D93-B809-63DE-186D674A4934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9AB19-B519-1D4C-4FC9-D31F78104E5C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05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EFB46-CDCA-CB4A-E678-75982F2D9C5E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3600" b="1" dirty="0">
                <a:solidFill>
                  <a:prstClr val="black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결론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7BCADD-4E6E-7267-45A1-DF8A3D56A703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결론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A1A56F-ACC9-B478-9265-59434D09B84F}"/>
              </a:ext>
            </a:extLst>
          </p:cNvPr>
          <p:cNvSpPr txBox="1"/>
          <p:nvPr/>
        </p:nvSpPr>
        <p:spPr>
          <a:xfrm>
            <a:off x="377983" y="1502868"/>
            <a:ext cx="11355308" cy="231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 연구는 미세하고 희미한 결함 탐지를 보다 정밀하게 수행하면서 다양한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Fully-TTA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기법들과 호환 가능한 프레임워크를 제안함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보조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branch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 추가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module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없이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단일 네트워크 구조만으로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attention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영역을 정확하게 결함 부위에 정렬하도록 설계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CAM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attention map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결함 마스크 간의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logit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정렬을 통해 모델이 실제 결함 영역에 집중하도록 유도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이러한 구조는 </a:t>
            </a:r>
            <a:r>
              <a:rPr lang="en-US" altLang="ko-KR" sz="14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ResNet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기반의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BatchNorm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활용한 다양한 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Fully-TTA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기법과 효과적으로 결합 가능</a:t>
            </a: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endParaRPr lang="en-US" altLang="ko-KR" sz="14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 결과에서도 높은 도메인 적응 성능을 보였으며</a:t>
            </a:r>
            <a:r>
              <a:rPr lang="en-US" altLang="ko-KR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결과적으로 본 연구가 제안한 프레임워크는 </a:t>
            </a:r>
            <a:r>
              <a:rPr lang="ko-KR" altLang="en-US" sz="1400" b="1" dirty="0">
                <a:solidFill>
                  <a:srgbClr val="A6342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정확한 결함 탐지와 안정적인 도메인 적응을 동시에 달성할 수 있음을 입증함</a:t>
            </a:r>
            <a:endParaRPr lang="en-US" altLang="ko-KR" sz="1400" b="1" dirty="0">
              <a:solidFill>
                <a:srgbClr val="A6342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25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6538-229E-E0B1-7304-C7BD357D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151A42-895C-A2BE-1D70-187E9399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3E4D4ED9-12DA-6D6E-B6FB-1C2EEDE6CBD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3112B5FA-04CA-C9F2-516B-3CD1AF0E32E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1DFAF9F0-13BD-5220-D828-6D9C47800779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E32A1-C8E8-F817-F2DE-87694EC405F6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06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63FBF-B9FE-72E6-42EA-47EA3D457C97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참고 문헌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5975D0-FDB3-C0EF-FA59-833D9BC67CCE}"/>
              </a:ext>
            </a:extLst>
          </p:cNvPr>
          <p:cNvSpPr txBox="1"/>
          <p:nvPr/>
        </p:nvSpPr>
        <p:spPr>
          <a:xfrm>
            <a:off x="377983" y="1301677"/>
            <a:ext cx="11355308" cy="448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[1] Woo, S., Park, J., Lee, J. Y., &amp; Kweon, I. S. (2018).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Cbam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Convolutional block attention module. In Proceedings of the European conference on computer vision (ECCV) (pp. 3-19).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[2] Mo, K., Zhu, S., Chang, A. X., Yi, L., Tripathi, S., Guibas, L. J., &amp; Su, H. (2019).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Partnet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 large-scale benchmark for fine-grained and hierarchical part-level 3d object understanding. In Proceedings of the IEEE/CVF conference on computer vision and pattern recognition (pp. 909-918).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[3] Xu, S., Chang, D., Xie, J., &amp; Ma, Z. (2021, October). Grad-cam guided channel-spatial attention module for fine-grained visual classification. In 2021 IEEE 31st international workshop on machine learning for signal Processing (MLSP) (pp. 1-6). IEEE.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[4] Dequan Wang, Evan Shelhamer,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Shaoteng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Liu, B.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Olshausen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and Trevor Darrell. Tent: Fully test-time adaptation by entropy minimization. In ICLR, 2021.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[5] Niu,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Shuaicheng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et al. "Efficient test-time model adaptation without forgetting." International conference on machine learning. PMLR, 2022.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[6] Lee, J., Jung, D., Lee, S., Park, J., Shin, J., Hwang, U., &amp; Yoon, S. (2024). ENTROPY IS NOT ENOUGH FOR TEST-TIME ADAPTATION: FROM THE PERSPECTIVE OF DISENTANGLED FACTORS. Paper presented at 12th International Conference on Learning Representations, ICLR 2024, Hybrid, Vienna, Austria.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[7] Wei, Xiu-Shen, et al. "Mask-CNN: Localizing parts and selecting descriptors for fine-grained bird species categorization." Pattern Recognition 76 (2018): 704-714.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[8] Zhang, Qiang, et al. "Deep learning with attention supervision for automated motion artefact detection in quality control of cardiac T1-mapping." Artificial intelligence in medicine 110 (2020): 101955.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[9] Zhang, Ziheng, et al. "Finer-CAM: Spotting the Difference Reveals Finer Details for Visual Explanation." CVPR 2025.</a:t>
            </a:r>
          </a:p>
          <a:p>
            <a:pPr>
              <a:lnSpc>
                <a:spcPct val="15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460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EFA882-2D8D-BD94-621C-E9B8A99F2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D12367-0448-A0C9-422B-83E3E386E958}"/>
              </a:ext>
            </a:extLst>
          </p:cNvPr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감사합니다</a:t>
            </a:r>
            <a:endParaRPr lang="en-US" sz="1800" b="1" i="0" u="none" strike="noStrike" cap="none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  <a:sym typeface="Noto Sans KR"/>
            </a:endParaRPr>
          </a:p>
        </p:txBody>
      </p:sp>
      <p:cxnSp>
        <p:nvCxnSpPr>
          <p:cNvPr id="106" name="Google Shape;106;p1"/>
          <p:cNvCxnSpPr>
            <a:cxnSpLocks/>
          </p:cNvCxnSpPr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w="571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106;p1">
            <a:extLst>
              <a:ext uri="{FF2B5EF4-FFF2-40B4-BE49-F238E27FC236}">
                <a16:creationId xmlns:a16="http://schemas.microsoft.com/office/drawing/2014/main" id="{13C5FEF6-D669-48CC-62F5-9FBD055EC8F8}"/>
              </a:ext>
            </a:extLst>
          </p:cNvPr>
          <p:cNvCxnSpPr>
            <a:cxnSpLocks/>
          </p:cNvCxnSpPr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w="190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1771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8964BF-AE4A-5616-B0FC-342DBD25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05CD04-2666-5A2D-8964-1AE81337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BD60AB3C-E23C-9354-331A-F754F0FF370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B9579A73-F3D1-F1D9-B7FC-E01C9DDE2DC3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A2B4284B-BFF2-E0C3-0F67-EF9C5A7F03F9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1CAAD-32C8-2C35-EFA0-B421A5FC4E74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+mj-ea"/>
                <a:ea typeface="+mj-ea"/>
                <a:cs typeface="KoPubWorld돋움체 Bold" panose="00000800000000000000" pitchFamily="2" charset="-127"/>
              </a:rPr>
              <a:t>04</a:t>
            </a:r>
            <a:endParaRPr lang="ko-KR" altLang="en-US" sz="3600" b="1" dirty="0">
              <a:solidFill>
                <a:srgbClr val="275B29"/>
              </a:solidFill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989D7-60E2-000B-2304-6FFE69887A19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실험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3BD35F-FB4B-B690-0EA1-0B160F0E1358}"/>
              </a:ext>
            </a:extLst>
          </p:cNvPr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실험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+mn-ea"/>
                <a:cs typeface="KoPubWorld돋움체 Bold" panose="00000800000000000000" pitchFamily="2" charset="-127"/>
              </a:rPr>
              <a:t>결과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+mn-ea"/>
              <a:cs typeface="KoPubWorld돋움체 Bold" panose="000008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9C726D9-84DE-7BE1-6454-10E47BA56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25410"/>
              </p:ext>
            </p:extLst>
          </p:nvPr>
        </p:nvGraphicFramePr>
        <p:xfrm>
          <a:off x="599440" y="1570473"/>
          <a:ext cx="11226807" cy="486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423">
                  <a:extLst>
                    <a:ext uri="{9D8B030D-6E8A-4147-A177-3AD203B41FA5}">
                      <a16:colId xmlns:a16="http://schemas.microsoft.com/office/drawing/2014/main" val="1020308348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2126258390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3057738666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1461046680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2435636525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3299333369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2793604413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1157761537"/>
                    </a:ext>
                  </a:extLst>
                </a:gridCol>
                <a:gridCol w="1247423">
                  <a:extLst>
                    <a:ext uri="{9D8B030D-6E8A-4147-A177-3AD203B41FA5}">
                      <a16:colId xmlns:a16="http://schemas.microsoft.com/office/drawing/2014/main" val="1657705929"/>
                    </a:ext>
                  </a:extLst>
                </a:gridCol>
              </a:tblGrid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Resnet101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Resnet101+TENT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Mask-CNN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Mask-CNN+TENT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Ours(No TTA)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Ours+TENT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Ours+EATA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Ours+DeYO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02231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drift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0.7153</a:t>
                      </a: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0.8064 ± 0.0129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-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05379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0.3987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0.7403 ± 0.0342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0.7224 ± 0.0103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0.7507 ± 0.0312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0.7458 ± 0.0286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290386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0.7784</a:t>
                      </a: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0.7632 ± 0.0169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0.7277 ± 0.0301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0.7312 ± 0.0285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0.7357 ± 0.0228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16830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0.6204 ± 0.0203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0.7340 ± 0.0142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0.7498 ± 0.0306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0.7448 ± 0.0336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62039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Color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0.6910 ± 0.0182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0.7467 ± 0.0253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0.7543 ± 0.0224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0.7429 ± 0.0322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680410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0.6817 ± 0.1252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0.7268 ± 0.0347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0.7379 ± 0.0215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0.7373 ± 0.0250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258371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0.7624 ± 0.0829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0.7253 ± 0.0214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0.7337 ± 0.0311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0.7307 ± 0.0293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069138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0.6611 ± 0.0632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0.6934 ± 0.0242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0.7375 ± 0.0232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0.7193 ± 0.0292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358510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Brightness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0.3548 ± 0.0909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0.6636 ± 0.0240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0.6849 ± 0.0186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0.6666 ± 0.0069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0904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0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0.6349 ± 0.0269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0.6643 ± 0.0109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0.6647 ± 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0.6509 ± 0.0197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219712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1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0.7158 ± 0.0110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0.7000 ± 0.0079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0.7045 ± 0.0241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0.7085 ± 0.0103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52309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2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0.6540 ± 0.0391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0.6944 ± 0.0193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0.7270 ± 0.0136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0.7111 ± 0.0114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790203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Focus 3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0.5321 ± 0.0626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0.6634 ± 0.0438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0.6723 ± 0.0324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50" b="1" i="0" u="sng" strike="noStrike" kern="1200" cap="none" dirty="0">
                          <a:solidFill>
                            <a:schemeClr val="tx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  <a:sym typeface="Arial"/>
                        </a:rPr>
                        <a:t>0.6817 ± 0.0279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42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164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7F0590-EFDF-8637-6C49-9282E8D0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35AAE198-1F86-CF9C-BA36-5EE115467CBB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F48ABE89-7473-4692-5224-31BABD52FFCA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61105609-901A-01DC-3697-B43D69651E53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8D6D5-F355-C965-CB59-DE6BEBEEEE01}"/>
              </a:ext>
            </a:extLst>
          </p:cNvPr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Domain Shift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를 해결하기 위한 다양한 방법들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71024-A031-16FB-4DFB-3C6D3C42C6CB}"/>
              </a:ext>
            </a:extLst>
          </p:cNvPr>
          <p:cNvSpPr txBox="1"/>
          <p:nvPr/>
        </p:nvSpPr>
        <p:spPr>
          <a:xfrm>
            <a:off x="377983" y="1851157"/>
            <a:ext cx="11255720" cy="360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Fine Tuning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사전 학습된 모델을 새로운 레이블이 있는 타겟 데이터에 대해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재학습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타겟 데이터에 대한 레이블 필요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Domain Adaptation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라벨이 있는 소스 데이터와 라벨이 없는 타겟 데이터를 함께 사용하여 분포 차이를 줄이는 방식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훈련 시점부터 타겟 데이터에 대한 사전 정보를 필요로 함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Test Time training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변화된 타겟에서도 적응할 수 있도록 사전 학습 진행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훈련 시점 부터 타겟 분포에 맞게 미리 학습 설계 필요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기존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방법들은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타겟 도메인에 대한 사전 정보가 필요하거나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훈련 시점에 타겟 데이터에 미리 접근해야 하는 한계가 존재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9C1AFB-1E86-9331-A832-CBDA5468D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789691" y="1087200"/>
            <a:ext cx="6185309" cy="101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C9956D-C786-1FD1-2DFF-42FB15F6717D}"/>
              </a:ext>
            </a:extLst>
          </p:cNvPr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275B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02</a:t>
            </a:r>
            <a:endParaRPr lang="ko-KR" altLang="en-US" sz="3600" b="1" dirty="0">
              <a:solidFill>
                <a:srgbClr val="275B2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D634D-FA0E-94E9-76B2-11C8557E57CF}"/>
              </a:ext>
            </a:extLst>
          </p:cNvPr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선행 연구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717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25237</TotalTime>
  <Words>2466</Words>
  <Application>Microsoft Office PowerPoint</Application>
  <PresentationFormat>와이드스크린</PresentationFormat>
  <Paragraphs>498</Paragraphs>
  <Slides>22</Slides>
  <Notes>9</Notes>
  <HiddenSlides>2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Arial</vt:lpstr>
      <vt:lpstr>맑은 고딕</vt:lpstr>
      <vt:lpstr>맑은 고딕</vt:lpstr>
      <vt:lpstr>Malgun Gothic Semilight</vt:lpstr>
      <vt:lpstr>Noto Sans KR</vt:lpstr>
      <vt:lpstr>Cambria Math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김나연</dc:creator>
  <cp:lastModifiedBy>LeeSungHo</cp:lastModifiedBy>
  <cp:revision>714</cp:revision>
  <dcterms:created xsi:type="dcterms:W3CDTF">2024-03-04T06:06:06Z</dcterms:created>
  <dcterms:modified xsi:type="dcterms:W3CDTF">2025-05-29T19:59:18Z</dcterms:modified>
</cp:coreProperties>
</file>