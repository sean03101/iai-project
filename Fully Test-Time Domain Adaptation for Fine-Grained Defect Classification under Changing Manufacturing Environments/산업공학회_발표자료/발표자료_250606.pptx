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Noto Sans KR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ctGL3b30ra8F1UlLMx/DDSDF3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B2BEA9-EE3A-40FC-983D-D221193A391B}">
  <a:tblStyle styleId="{7DB2BEA9-EE3A-40FC-983D-D221193A39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F583CAA-F6E6-4665-BD72-9569953839C6}" styleName="Table_1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28EDC9F-5C4A-454B-89D6-1F2DC25870C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K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NotoSansK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arenR"/>
            </a:pP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 없이 단일 network만으로 attention 일치성</a:t>
            </a:r>
            <a:r>
              <a:rPr lang="en-US" sz="1400">
                <a:latin typeface="Malgun Gothic"/>
                <a:ea typeface="Malgun Gothic"/>
                <a:cs typeface="Malgun Gothic"/>
                <a:sym typeface="Malgun Gothic"/>
              </a:rPr>
              <a:t> -&gt; 모호함 줄이고 단순하다 라는 점 강조</a:t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arenR"/>
            </a:pPr>
            <a:r>
              <a:rPr lang="en-US" sz="1400">
                <a:latin typeface="Malgun Gothic"/>
                <a:ea typeface="Malgun Gothic"/>
                <a:cs typeface="Malgun Gothic"/>
                <a:sym typeface="Malgun Gothic"/>
              </a:rPr>
              <a:t>첫줄에 citation</a:t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arenR"/>
            </a:pPr>
            <a:r>
              <a:rPr lang="en-US" sz="1400">
                <a:latin typeface="Malgun Gothic"/>
                <a:ea typeface="Malgun Gothic"/>
                <a:cs typeface="Malgun Gothic"/>
                <a:sym typeface="Malgun Gothic"/>
              </a:rPr>
              <a:t>domain shift 해결 하는데에 FTTA 가 ~(장점)하다 따라서</a:t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1-3 </a:t>
            </a:r>
            <a:r>
              <a:rPr lang="en-US"/>
              <a:t>선행연구하고 -&gt; 얘네는 구조가 복잡하고 TTA 에 대한 연구는 이루어지지 않았다 , 적용시키기 어렵다 -&gt; mask 정보를 활용하면 성능 개선이 있을 수 잇다</a:t>
            </a:r>
            <a:endParaRPr/>
          </a:p>
        </p:txBody>
      </p:sp>
      <p:sp>
        <p:nvSpPr>
          <p:cNvPr id="175" name="Google Shape;17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074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074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mailto:yhoon.lee@seoultech.ac.kr" TargetMode="External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15" Type="http://schemas.openxmlformats.org/officeDocument/2006/relationships/image" Target="../media/image27.png"/><Relationship Id="rId1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22" Type="http://schemas.openxmlformats.org/officeDocument/2006/relationships/image" Target="../media/image42.png"/><Relationship Id="rId21" Type="http://schemas.openxmlformats.org/officeDocument/2006/relationships/image" Target="../media/image45.png"/><Relationship Id="rId24" Type="http://schemas.openxmlformats.org/officeDocument/2006/relationships/image" Target="../media/image44.png"/><Relationship Id="rId23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Relationship Id="rId26" Type="http://schemas.openxmlformats.org/officeDocument/2006/relationships/image" Target="../media/image56.png"/><Relationship Id="rId25" Type="http://schemas.openxmlformats.org/officeDocument/2006/relationships/image" Target="../media/image46.png"/><Relationship Id="rId27" Type="http://schemas.openxmlformats.org/officeDocument/2006/relationships/image" Target="../media/image48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40.png"/><Relationship Id="rId11" Type="http://schemas.openxmlformats.org/officeDocument/2006/relationships/image" Target="../media/image34.png"/><Relationship Id="rId10" Type="http://schemas.openxmlformats.org/officeDocument/2006/relationships/image" Target="../media/image35.png"/><Relationship Id="rId13" Type="http://schemas.openxmlformats.org/officeDocument/2006/relationships/image" Target="../media/image37.png"/><Relationship Id="rId12" Type="http://schemas.openxmlformats.org/officeDocument/2006/relationships/image" Target="../media/image39.png"/><Relationship Id="rId15" Type="http://schemas.openxmlformats.org/officeDocument/2006/relationships/image" Target="../media/image28.png"/><Relationship Id="rId14" Type="http://schemas.openxmlformats.org/officeDocument/2006/relationships/image" Target="../media/image38.png"/><Relationship Id="rId17" Type="http://schemas.openxmlformats.org/officeDocument/2006/relationships/image" Target="../media/image32.png"/><Relationship Id="rId16" Type="http://schemas.openxmlformats.org/officeDocument/2006/relationships/image" Target="../media/image30.png"/><Relationship Id="rId19" Type="http://schemas.openxmlformats.org/officeDocument/2006/relationships/image" Target="../media/image43.png"/><Relationship Id="rId18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6.png"/><Relationship Id="rId22" Type="http://schemas.openxmlformats.org/officeDocument/2006/relationships/image" Target="../media/image69.png"/><Relationship Id="rId21" Type="http://schemas.openxmlformats.org/officeDocument/2006/relationships/image" Target="../media/image64.png"/><Relationship Id="rId24" Type="http://schemas.openxmlformats.org/officeDocument/2006/relationships/image" Target="../media/image63.png"/><Relationship Id="rId23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9" Type="http://schemas.openxmlformats.org/officeDocument/2006/relationships/image" Target="../media/image53.png"/><Relationship Id="rId26" Type="http://schemas.openxmlformats.org/officeDocument/2006/relationships/image" Target="../media/image72.png"/><Relationship Id="rId25" Type="http://schemas.openxmlformats.org/officeDocument/2006/relationships/image" Target="../media/image76.png"/><Relationship Id="rId27" Type="http://schemas.openxmlformats.org/officeDocument/2006/relationships/image" Target="../media/image71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60.png"/><Relationship Id="rId8" Type="http://schemas.openxmlformats.org/officeDocument/2006/relationships/image" Target="../media/image50.png"/><Relationship Id="rId11" Type="http://schemas.openxmlformats.org/officeDocument/2006/relationships/image" Target="../media/image59.png"/><Relationship Id="rId10" Type="http://schemas.openxmlformats.org/officeDocument/2006/relationships/image" Target="../media/image67.png"/><Relationship Id="rId13" Type="http://schemas.openxmlformats.org/officeDocument/2006/relationships/image" Target="../media/image52.png"/><Relationship Id="rId12" Type="http://schemas.openxmlformats.org/officeDocument/2006/relationships/image" Target="../media/image57.png"/><Relationship Id="rId15" Type="http://schemas.openxmlformats.org/officeDocument/2006/relationships/image" Target="../media/image73.png"/><Relationship Id="rId14" Type="http://schemas.openxmlformats.org/officeDocument/2006/relationships/image" Target="../media/image70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9" Type="http://schemas.openxmlformats.org/officeDocument/2006/relationships/image" Target="../media/image75.png"/><Relationship Id="rId18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 txBox="1"/>
          <p:nvPr/>
        </p:nvSpPr>
        <p:spPr>
          <a:xfrm>
            <a:off x="152400" y="2140309"/>
            <a:ext cx="118872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변화하는 제조 환경에서의 미세 결함 분류를 위한 테스트 시점 도메인 적응</a:t>
            </a:r>
            <a:endParaRPr b="1" i="0" sz="24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" name="Google Shape;92;p33"/>
          <p:cNvPicPr preferRelativeResize="0"/>
          <p:nvPr/>
        </p:nvPicPr>
        <p:blipFill rotWithShape="1">
          <a:blip r:embed="rId3">
            <a:alphaModFix/>
          </a:blip>
          <a:srcRect b="13986" l="0" r="-1496" t="0"/>
          <a:stretch/>
        </p:blipFill>
        <p:spPr>
          <a:xfrm>
            <a:off x="11011566" y="6150379"/>
            <a:ext cx="920946" cy="4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3"/>
          <p:cNvSpPr txBox="1"/>
          <p:nvPr/>
        </p:nvSpPr>
        <p:spPr>
          <a:xfrm>
            <a:off x="3094022" y="5286891"/>
            <a:ext cx="6188042" cy="6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대한산업공학회/한국경영과학회/한국시뮬레이션학회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춘계공동학술대회 </a:t>
            </a:r>
            <a:endParaRPr/>
          </a:p>
        </p:txBody>
      </p:sp>
      <p:sp>
        <p:nvSpPr>
          <p:cNvPr id="94" name="Google Shape;94;p33"/>
          <p:cNvSpPr txBox="1"/>
          <p:nvPr/>
        </p:nvSpPr>
        <p:spPr>
          <a:xfrm>
            <a:off x="2746697" y="3288718"/>
            <a:ext cx="688269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김나연¹, 이성호¹, 심재웅²*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데이터사이언스학과¹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산업공학과²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jaewoong@seoultech.ac.kr 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1485634" y="5983941"/>
            <a:ext cx="9393999" cy="556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2025년도 정부(산업통상자원부)의 재원으로 한국산업기술진흥회의 지원을 받아 수행되었음</a:t>
            </a:r>
            <a:endParaRPr b="0" i="0" sz="105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(P0017123 , 2025년 산업혁신인재성장지원사업)</a:t>
            </a:r>
            <a:endParaRPr b="0" i="0" sz="105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6" name="Google Shape;9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433" y="317175"/>
            <a:ext cx="4514850" cy="45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sz="28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2326710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2326710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4"/>
          <p:cNvSpPr txBox="1"/>
          <p:nvPr/>
        </p:nvSpPr>
        <p:spPr>
          <a:xfrm>
            <a:off x="2326710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4"/>
          <p:cNvSpPr txBox="1"/>
          <p:nvPr/>
        </p:nvSpPr>
        <p:spPr>
          <a:xfrm>
            <a:off x="7456551" y="1758813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4"/>
          <p:cNvSpPr txBox="1"/>
          <p:nvPr/>
        </p:nvSpPr>
        <p:spPr>
          <a:xfrm>
            <a:off x="7456551" y="3265727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4"/>
          <p:cNvSpPr txBox="1"/>
          <p:nvPr/>
        </p:nvSpPr>
        <p:spPr>
          <a:xfrm>
            <a:off x="7456551" y="4772641"/>
            <a:ext cx="670208" cy="574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1" sz="24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2978311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연구배경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4"/>
          <p:cNvSpPr txBox="1"/>
          <p:nvPr/>
        </p:nvSpPr>
        <p:spPr>
          <a:xfrm>
            <a:off x="2978311" y="3323185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선행연구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4"/>
          <p:cNvSpPr txBox="1"/>
          <p:nvPr/>
        </p:nvSpPr>
        <p:spPr>
          <a:xfrm>
            <a:off x="2978311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4"/>
          <p:cNvSpPr txBox="1"/>
          <p:nvPr/>
        </p:nvSpPr>
        <p:spPr>
          <a:xfrm>
            <a:off x="8126759" y="1822292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실험결과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4"/>
          <p:cNvSpPr txBox="1"/>
          <p:nvPr/>
        </p:nvSpPr>
        <p:spPr>
          <a:xfrm>
            <a:off x="8126758" y="3323185"/>
            <a:ext cx="2263367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4"/>
          <p:cNvSpPr txBox="1"/>
          <p:nvPr/>
        </p:nvSpPr>
        <p:spPr>
          <a:xfrm>
            <a:off x="8126759" y="4824654"/>
            <a:ext cx="1458108" cy="454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참고문헌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3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8" name="Google Shape;118;p34"/>
          <p:cNvPicPr preferRelativeResize="0"/>
          <p:nvPr/>
        </p:nvPicPr>
        <p:blipFill rotWithShape="1">
          <a:blip r:embed="rId3">
            <a:alphaModFix/>
          </a:blip>
          <a:srcRect b="13986" l="0" r="-1496" t="0"/>
          <a:stretch/>
        </p:blipFill>
        <p:spPr>
          <a:xfrm>
            <a:off x="11051499" y="151490"/>
            <a:ext cx="966119" cy="48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5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35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217001" y="1253041"/>
            <a:ext cx="800354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 비전을 활용한 미세 결함 탐지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35"/>
          <p:cNvSpPr txBox="1"/>
          <p:nvPr/>
        </p:nvSpPr>
        <p:spPr>
          <a:xfrm>
            <a:off x="377982" y="1747771"/>
            <a:ext cx="11686474" cy="2959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전통적인 기계학습 기반 결함 탐지는 제조 품질과 효율을 향상시켰으며, 최근에는 딥러닝 도입으로 비전 검사 정확도와 자동화 수준이 크게 향상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미세 결함은 크기가 작고 희미하여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분류 기반 방법으로는 정확한 탐지 및 구별이 어려움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제품 내 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결함과 배경의 경계가 모호해,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잘못된 영역에 attention을 집중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가능성 존재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따라서 결함 부위에 정확히 집중할 수 있는 모델 설계가 필요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 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ResNet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계열 모델은 구조상 </a:t>
            </a: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지역적 특징 구분에 한계가 있기 때문에, 미세한 시각적 차이를 효과적으로 포착하기 위해</a:t>
            </a:r>
            <a:b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attention 모듈이나 보조 branch 구조의 활용이 일반적</a:t>
            </a:r>
            <a:r>
              <a:rPr baseline="30000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1-3</a:t>
            </a:r>
            <a:endParaRPr baseline="30000"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11581397" y="6259774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3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3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36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36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36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217001" y="1198128"/>
            <a:ext cx="3343322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</a:t>
            </a: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변화(Environment Shift)</a:t>
            </a:r>
            <a:endParaRPr/>
          </a:p>
        </p:txBody>
      </p:sp>
      <p:sp>
        <p:nvSpPr>
          <p:cNvPr id="144" name="Google Shape;144;p36"/>
          <p:cNvSpPr txBox="1"/>
          <p:nvPr/>
        </p:nvSpPr>
        <p:spPr>
          <a:xfrm>
            <a:off x="377983" y="1719862"/>
            <a:ext cx="10692094" cy="2312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기반 결함 탐지 모델을 다른 생산 라인에 도입할 경우, 생산 라인마다 조명, 각도, 배경 등의 차이로 인해 촬영 환경이 달라지는 상황 발생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딥러닝 기반 머신 비전 모델은 훈련 단계에서 학습한 이미지와 다른 촬영 환경에서 수집한 인스턴스가 들어올 경우,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환경/도메인 변화(Environment/Domain Shift)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인해 성능 저하가 발생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환경 변화에 따른 성능 저하를 막기 위해선 각 생산 라인에 대해 별도의 결함 분류 모델을 구축하고 자주 재훈련하는 것이 이상적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이나 생산 라인마다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사용될 충분한 라벨링 데이터를 수집하는 것은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비용적 한계 존재</a:t>
            </a:r>
            <a:endParaRPr/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6477" y="4140449"/>
            <a:ext cx="4519045" cy="241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/>
          <p:nvPr>
            <p:ph idx="12" type="sldNum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37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37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37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37"/>
          <p:cNvSpPr txBox="1"/>
          <p:nvPr/>
        </p:nvSpPr>
        <p:spPr>
          <a:xfrm>
            <a:off x="217001" y="1246538"/>
            <a:ext cx="145810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목적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3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3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37"/>
          <p:cNvSpPr txBox="1"/>
          <p:nvPr/>
        </p:nvSpPr>
        <p:spPr>
          <a:xfrm>
            <a:off x="377983" y="1765337"/>
            <a:ext cx="1098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미세 결함 탐지 모델은 주로 attention module이나 보조 branch를 추가하는 복잡한 방식을 사용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제조 현장에서 새로운 라인에 결함 분류 모델을 도입할 때, 환경 변화로 인해 모델 성능이 저하되는 문제가 자주 발생</a:t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37"/>
          <p:cNvSpPr txBox="1"/>
          <p:nvPr/>
        </p:nvSpPr>
        <p:spPr>
          <a:xfrm>
            <a:off x="377982" y="2891995"/>
            <a:ext cx="116865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각 이미지에 대해 결함 영역(mask)이 제공되는 환경을 기반으로 다음 두 가지를 동시에 달성하는 프레임워크를 제안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마스크를 활용하여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 없이 단일 network만으로 attention 일치성</a:t>
            </a: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확보 </a:t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Fully-TTA 의 안정성과 적용 가능성</a:t>
            </a: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까지 고려한 구조 설계로 도메인 변화에 대응</a:t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540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540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이를 통해 기존에 연구된 도메인 적응 기법을 적용할 수 있는 단순한 구조이면서, 형태 정보를 활용한 미세 결함 탐지에 특화된 학습 방법을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바탕으로 다양한 환경 변화에도 정확하고 안정적인 분류를 수행하고자 함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8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38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38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38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endParaRPr/>
          </a:p>
        </p:txBody>
      </p:sp>
      <p:sp>
        <p:nvSpPr>
          <p:cNvPr id="169" name="Google Shape;169;p38"/>
          <p:cNvSpPr txBox="1"/>
          <p:nvPr/>
        </p:nvSpPr>
        <p:spPr>
          <a:xfrm>
            <a:off x="377982" y="1978987"/>
            <a:ext cx="11518453" cy="3928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Test Time Adaptation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훈련 시에는 source data만으로 모델을 학습하고, 테스트 단계에서는 라벨 없는 target data에 기반하여 실시간으로 파라미터 업데이트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Fully-TTA(Fully Test-Time Adaptation)는 라벨 없이 target data에 실시간으로 적응할 수 있어,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라벨링이 어렵고 환경 변화가 빈번하며 데이터 수집이 제한적인 산업 현장에서 재학습 없이도 효과적으로 대응할 수 있는 현실적인 대안</a:t>
            </a:r>
            <a:endParaRPr b="1" sz="1400">
              <a:solidFill>
                <a:srgbClr val="A6342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Fully-TTA 기존 방법론</a:t>
            </a:r>
            <a:endParaRPr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TENT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테스트 배치 데이터의 예측 엔트로피를 최소화하는 방향으로 BatchNorm 파라미터를 실시간으로 업데이트함으로써 간단하고 빠른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EATA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엔트로피가 낮고 정보가 중복되는 샘플은 학습에서 제외하고, Fisher Information 을 통해 중요한 모델 파라미터를 파악 후 안정적으로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DeYO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객체의 shape을 변형했을 때 예측이 크게 달라지는 샘플을 정보량이 높은 샘플로 간주하여 선택적으로 학습에 활용함으로써 높은 성능의 적응을 수행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3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3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2" name="Google Shape;1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8152" y="1060804"/>
            <a:ext cx="5617501" cy="91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9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39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39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39"/>
          <p:cNvSpPr txBox="1"/>
          <p:nvPr/>
        </p:nvSpPr>
        <p:spPr>
          <a:xfrm>
            <a:off x="217001" y="1178672"/>
            <a:ext cx="463565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마스크 정보를 활용한 미세 결함 탐지</a:t>
            </a:r>
            <a:endParaRPr/>
          </a:p>
        </p:txBody>
      </p:sp>
      <p:sp>
        <p:nvSpPr>
          <p:cNvPr id="182" name="Google Shape;182;p39"/>
          <p:cNvSpPr txBox="1"/>
          <p:nvPr/>
        </p:nvSpPr>
        <p:spPr>
          <a:xfrm>
            <a:off x="377983" y="1700406"/>
            <a:ext cx="11355308" cy="3605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시각적으로 유사한 클래스 간 미세한 차이를 구별하기 위한 fine grained classification 에서는 이미지 내의 미세한 구조나 중요 시각 정보를 보다 명확히 학습할 수 있도록 형태 정보를 추가로 활용하는 방식이 쓰임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형태 정보는 학습 단계에서 모델이 이미지 내 중요한 시각적 구조에 주의를 집중하게 만드는 보조적 수단으로 작용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형태 정보를 활용하여 학습된 모델은 테스트 단계에서 이미지만으로도 중요한 시각적 구조를 파악할 수 있음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 선행 연구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MGANet: GT segmentation mask로 학습한 HMSANet의 예측 마스크를 활용해 attention map을 학습하고, 이를 통해 생성된 attention map 기반으로 fine grained image classification 수행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Svetlana: GT segmentation mask 와 이미지 쌍을 모델 학습 입력으로 사용하여, 높은 성능으로 미세한 차이의 세포 분류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3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3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0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0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0"/>
          <p:cNvSpPr txBox="1"/>
          <p:nvPr/>
        </p:nvSpPr>
        <p:spPr>
          <a:xfrm>
            <a:off x="217001" y="110684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연구 개요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0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0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0"/>
          <p:cNvSpPr txBox="1"/>
          <p:nvPr/>
        </p:nvSpPr>
        <p:spPr>
          <a:xfrm>
            <a:off x="377983" y="1572786"/>
            <a:ext cx="11355308" cy="1343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attention 기반 방법들은, 미세 결함 탐지를 위해 모델이 집중할 영역을 정확히 조정하는 데 효과적이지만, 대부분 보조 branch 또는 별도의 attention 모듈을 추가한 복잡한 구조를 사용함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Fully-TTA 방법들은 주로 main branch만 업데이트되므로, 사전에 학습되어 있던 보조 branch들과의 representation 간 불일치가 발생하여 attention이 깨지고 성능이 급격히 저하되는 문제가 있음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40"/>
          <p:cNvSpPr txBox="1"/>
          <p:nvPr/>
        </p:nvSpPr>
        <p:spPr>
          <a:xfrm>
            <a:off x="377983" y="3446376"/>
            <a:ext cx="11355308" cy="102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본 연구는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마스크를 활용하여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 없이 단일 network만으로 attention 일치성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확보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arenR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1400" u="none" cap="none" strike="noStrike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안정성과 Fully-TTA 적용 가능성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동시에 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만족하는 프레임워크를 제안함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/>
          <p:nvPr/>
        </p:nvSpPr>
        <p:spPr>
          <a:xfrm>
            <a:off x="2981129" y="1841531"/>
            <a:ext cx="5936534" cy="1328269"/>
          </a:xfrm>
          <a:prstGeom prst="roundRect">
            <a:avLst>
              <a:gd fmla="val 7440" name="adj"/>
            </a:avLst>
          </a:prstGeom>
          <a:noFill/>
          <a:ln cap="flat" cmpd="sng" w="127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1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1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1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1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1"/>
          <p:cNvSpPr/>
          <p:nvPr/>
        </p:nvSpPr>
        <p:spPr>
          <a:xfrm>
            <a:off x="2915590" y="1742876"/>
            <a:ext cx="6133168" cy="4611586"/>
          </a:xfrm>
          <a:prstGeom prst="rect">
            <a:avLst/>
          </a:prstGeom>
          <a:noFill/>
          <a:ln cap="flat" cmpd="sng" w="127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1"/>
          <p:cNvSpPr/>
          <p:nvPr/>
        </p:nvSpPr>
        <p:spPr>
          <a:xfrm rot="5400000">
            <a:off x="6158015" y="5888216"/>
            <a:ext cx="374803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1"/>
          <p:cNvSpPr/>
          <p:nvPr/>
        </p:nvSpPr>
        <p:spPr>
          <a:xfrm rot="5400000">
            <a:off x="6488098" y="4356976"/>
            <a:ext cx="1297708" cy="17522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4626163" y="3703233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1"/>
          <p:cNvSpPr/>
          <p:nvPr/>
        </p:nvSpPr>
        <p:spPr>
          <a:xfrm>
            <a:off x="4626162" y="4984597"/>
            <a:ext cx="2595419" cy="17061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1"/>
          <p:cNvSpPr/>
          <p:nvPr/>
        </p:nvSpPr>
        <p:spPr>
          <a:xfrm>
            <a:off x="4594013" y="2311847"/>
            <a:ext cx="2267526" cy="164357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금속, 번호, 디자인이(가) 표시된 사진&#10;&#10;AI가 생성한 콘텐츠는 부정확할 수 있습니다." id="215" name="Google Shape;2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9233" y="2057970"/>
            <a:ext cx="1487055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어둠, 블랙이(가) 표시된 사진&#10;&#10;AI가 생성한 콘텐츠는 부정확할 수 있습니다." id="216" name="Google Shape;21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9233" y="3380422"/>
            <a:ext cx="1487054" cy="83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9233" y="4652985"/>
            <a:ext cx="1487054" cy="83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1"/>
          <p:cNvSpPr txBox="1"/>
          <p:nvPr/>
        </p:nvSpPr>
        <p:spPr>
          <a:xfrm>
            <a:off x="3435560" y="2846246"/>
            <a:ext cx="9144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292396" y="4216890"/>
            <a:ext cx="12007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mask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3149233" y="5489452"/>
            <a:ext cx="148705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cam image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41"/>
          <p:cNvGrpSpPr/>
          <p:nvPr/>
        </p:nvGrpSpPr>
        <p:grpSpPr>
          <a:xfrm>
            <a:off x="6788746" y="4077772"/>
            <a:ext cx="1039094" cy="618217"/>
            <a:chOff x="5830454" y="3963272"/>
            <a:chExt cx="1039094" cy="618217"/>
          </a:xfrm>
        </p:grpSpPr>
        <p:sp>
          <p:nvSpPr>
            <p:cNvPr id="222" name="Google Shape;222;p41"/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1"/>
            <p:cNvSpPr txBox="1"/>
            <p:nvPr/>
          </p:nvSpPr>
          <p:spPr>
            <a:xfrm>
              <a:off x="5892801" y="4133880"/>
              <a:ext cx="914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KL div loss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1"/>
          <p:cNvSpPr/>
          <p:nvPr/>
        </p:nvSpPr>
        <p:spPr>
          <a:xfrm rot="5400000">
            <a:off x="6999184" y="1964085"/>
            <a:ext cx="618217" cy="103909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1"/>
          <p:cNvSpPr txBox="1"/>
          <p:nvPr/>
        </p:nvSpPr>
        <p:spPr>
          <a:xfrm>
            <a:off x="6851093" y="2345133"/>
            <a:ext cx="914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 loss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41"/>
          <p:cNvGrpSpPr/>
          <p:nvPr/>
        </p:nvGrpSpPr>
        <p:grpSpPr>
          <a:xfrm>
            <a:off x="4972527" y="2000530"/>
            <a:ext cx="1891269" cy="3764414"/>
            <a:chOff x="7906918" y="1953749"/>
            <a:chExt cx="1891269" cy="3764414"/>
          </a:xfrm>
        </p:grpSpPr>
        <p:sp>
          <p:nvSpPr>
            <p:cNvPr id="227" name="Google Shape;227;p41"/>
            <p:cNvSpPr/>
            <p:nvPr/>
          </p:nvSpPr>
          <p:spPr>
            <a:xfrm rot="5400000">
              <a:off x="6563362" y="3297305"/>
              <a:ext cx="3638457" cy="951345"/>
            </a:xfrm>
            <a:prstGeom prst="trapezoid">
              <a:avLst>
                <a:gd fmla="val 18204" name="adj"/>
              </a:avLst>
            </a:prstGeom>
            <a:solidFill>
              <a:srgbClr val="F2F2F2"/>
            </a:solidFill>
            <a:ln cap="flat" cmpd="sng" w="12700">
              <a:solidFill>
                <a:srgbClr val="45454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41"/>
            <p:cNvSpPr txBox="1"/>
            <p:nvPr/>
          </p:nvSpPr>
          <p:spPr>
            <a:xfrm>
              <a:off x="7925391" y="3466066"/>
              <a:ext cx="914400" cy="613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</a:t>
              </a:r>
              <a:b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1"/>
            <p:cNvSpPr txBox="1"/>
            <p:nvPr/>
          </p:nvSpPr>
          <p:spPr>
            <a:xfrm>
              <a:off x="8883787" y="5383007"/>
              <a:ext cx="914400" cy="335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FC layer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41"/>
          <p:cNvSpPr txBox="1"/>
          <p:nvPr/>
        </p:nvSpPr>
        <p:spPr>
          <a:xfrm>
            <a:off x="7308292" y="5951517"/>
            <a:ext cx="1596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1"/>
          <p:cNvSpPr/>
          <p:nvPr/>
        </p:nvSpPr>
        <p:spPr>
          <a:xfrm rot="5400000">
            <a:off x="4705359" y="3638908"/>
            <a:ext cx="3284994" cy="39716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6260112" y="2384551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1"/>
          <p:cNvSpPr txBox="1"/>
          <p:nvPr/>
        </p:nvSpPr>
        <p:spPr>
          <a:xfrm rot="5400000">
            <a:off x="6010840" y="3575882"/>
            <a:ext cx="914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3835303" y="6046306"/>
            <a:ext cx="259541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1"/>
          <p:cNvSpPr/>
          <p:nvPr/>
        </p:nvSpPr>
        <p:spPr>
          <a:xfrm rot="5400000">
            <a:off x="3760017" y="5955764"/>
            <a:ext cx="327139" cy="170610"/>
          </a:xfrm>
          <a:prstGeom prst="rect">
            <a:avLst/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3730442" y="5751062"/>
            <a:ext cx="383308" cy="168330"/>
          </a:xfrm>
          <a:prstGeom prst="triangle">
            <a:avLst>
              <a:gd fmla="val 50000" name="adj"/>
            </a:avLst>
          </a:prstGeom>
          <a:solidFill>
            <a:srgbClr val="3D4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6260112" y="287195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6260112" y="328724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260112" y="4225996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6260112" y="4753699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6260112" y="5170870"/>
            <a:ext cx="207928" cy="207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45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7221581" y="2828617"/>
            <a:ext cx="1596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5471707" y="2419756"/>
            <a:ext cx="6458329" cy="8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Warm UP 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image만을 입력으로 사용하여 모델 학습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기본적인 분류 능력을 갖추고, 안정적인 attention (Grad-CAM) 을 형성하도록 함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5471707" y="3538991"/>
            <a:ext cx="6366855" cy="227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이미지와 함께 </a:t>
            </a:r>
            <a:r>
              <a:rPr b="1" lang="en-US" sz="12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“이전 epoch에서 학습한 모델로 구한 Grad-CAM image”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b="1" lang="en-US" sz="12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“defect mask image”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추가적으로 입력하여 모델 학습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이미지로 계산한 cross-entropy loss 외에, Grad-CAM으로 강조된 영역과 defect mask로 추출한 feature에 각각 GAP와 softmax를 적용한 뒤, 그 두 분포 간의 Kullback-Leibler Divergence를 추가 loss로 사용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통해 </a:t>
            </a:r>
            <a:r>
              <a:rPr b="1" lang="en-US" sz="12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주목하는 시각 영역(Grad CAM)과 실제 결함이 존재하는 영역(mask)을 정렬</a:t>
            </a:r>
            <a:endParaRPr/>
          </a:p>
        </p:txBody>
      </p:sp>
      <p:pic>
        <p:nvPicPr>
          <p:cNvPr id="258" name="Google Shape;2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01" y="1938945"/>
            <a:ext cx="5253640" cy="403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3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3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217001" y="1140996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제안 프레임워크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제안 방법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6257927" y="1837609"/>
            <a:ext cx="5547031" cy="6878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3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71" name="Google Shape;271;p43"/>
          <p:cNvGrpSpPr/>
          <p:nvPr/>
        </p:nvGrpSpPr>
        <p:grpSpPr>
          <a:xfrm>
            <a:off x="6366786" y="2869718"/>
            <a:ext cx="5218706" cy="3087158"/>
            <a:chOff x="6366786" y="1786932"/>
            <a:chExt cx="5218706" cy="3087158"/>
          </a:xfrm>
        </p:grpSpPr>
        <p:sp>
          <p:nvSpPr>
            <p:cNvPr id="272" name="Google Shape;272;p43"/>
            <p:cNvSpPr txBox="1"/>
            <p:nvPr/>
          </p:nvSpPr>
          <p:spPr>
            <a:xfrm>
              <a:off x="6628778" y="2001869"/>
              <a:ext cx="4704239" cy="25705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3080" l="-2072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3" name="Google Shape;273;p43"/>
            <p:cNvSpPr/>
            <p:nvPr/>
          </p:nvSpPr>
          <p:spPr>
            <a:xfrm>
              <a:off x="6366786" y="1786932"/>
              <a:ext cx="5218706" cy="3087158"/>
            </a:xfrm>
            <a:prstGeom prst="rect">
              <a:avLst/>
            </a:prstGeom>
            <a:noFill/>
            <a:ln cap="flat" cmpd="sng" w="12700">
              <a:solidFill>
                <a:srgbClr val="75707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994" y="1696396"/>
            <a:ext cx="5706222" cy="4387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4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4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44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4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4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 txBox="1"/>
          <p:nvPr/>
        </p:nvSpPr>
        <p:spPr>
          <a:xfrm>
            <a:off x="377983" y="1502868"/>
            <a:ext cx="11355308" cy="6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제조 AI 기업의 모니터 D-SUB 커넥터의 제품 이미지 데이터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1개의 정상과 5개의 각기 다른 결함 종류가 포함되어 총 6개의 클래스 정보를 가짐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4713737" y="5978444"/>
            <a:ext cx="27893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정보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p44"/>
          <p:cNvGrpSpPr/>
          <p:nvPr/>
        </p:nvGrpSpPr>
        <p:grpSpPr>
          <a:xfrm>
            <a:off x="6055637" y="3199366"/>
            <a:ext cx="5255415" cy="2301313"/>
            <a:chOff x="360539" y="4140882"/>
            <a:chExt cx="5255415" cy="2301313"/>
          </a:xfrm>
        </p:grpSpPr>
        <p:pic>
          <p:nvPicPr>
            <p:cNvPr id="289" name="Google Shape;289;p44"/>
            <p:cNvPicPr preferRelativeResize="0"/>
            <p:nvPr/>
          </p:nvPicPr>
          <p:blipFill rotWithShape="1">
            <a:blip r:embed="rId3">
              <a:alphaModFix/>
            </a:blip>
            <a:srcRect b="7862" l="68681" r="1716" t="49674"/>
            <a:stretch/>
          </p:blipFill>
          <p:spPr>
            <a:xfrm>
              <a:off x="3888433" y="5305523"/>
              <a:ext cx="1727521" cy="91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44"/>
            <p:cNvPicPr preferRelativeResize="0"/>
            <p:nvPr/>
          </p:nvPicPr>
          <p:blipFill rotWithShape="1">
            <a:blip r:embed="rId3">
              <a:alphaModFix/>
            </a:blip>
            <a:srcRect b="56101" l="0" r="70724" t="0"/>
            <a:stretch/>
          </p:blipFill>
          <p:spPr>
            <a:xfrm>
              <a:off x="360539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44"/>
            <p:cNvPicPr preferRelativeResize="0"/>
            <p:nvPr/>
          </p:nvPicPr>
          <p:blipFill rotWithShape="1">
            <a:blip r:embed="rId3">
              <a:alphaModFix/>
            </a:blip>
            <a:srcRect b="6791" l="0" r="70724" t="49309"/>
            <a:stretch/>
          </p:blipFill>
          <p:spPr>
            <a:xfrm>
              <a:off x="360539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44"/>
            <p:cNvPicPr preferRelativeResize="0"/>
            <p:nvPr/>
          </p:nvPicPr>
          <p:blipFill rotWithShape="1">
            <a:blip r:embed="rId3">
              <a:alphaModFix/>
            </a:blip>
            <a:srcRect b="56101" l="34340" r="36384" t="0"/>
            <a:stretch/>
          </p:blipFill>
          <p:spPr>
            <a:xfrm>
              <a:off x="2104444" y="4140882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44"/>
            <p:cNvPicPr preferRelativeResize="0"/>
            <p:nvPr/>
          </p:nvPicPr>
          <p:blipFill rotWithShape="1">
            <a:blip r:embed="rId3">
              <a:alphaModFix/>
            </a:blip>
            <a:srcRect b="7260" l="34340" r="36384" t="48841"/>
            <a:stretch/>
          </p:blipFill>
          <p:spPr>
            <a:xfrm>
              <a:off x="2104444" y="5289858"/>
              <a:ext cx="1708406" cy="95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44"/>
            <p:cNvPicPr preferRelativeResize="0"/>
            <p:nvPr/>
          </p:nvPicPr>
          <p:blipFill rotWithShape="1">
            <a:blip r:embed="rId3">
              <a:alphaModFix/>
            </a:blip>
            <a:srcRect b="57326" l="68681" r="1716" t="983"/>
            <a:stretch/>
          </p:blipFill>
          <p:spPr>
            <a:xfrm>
              <a:off x="3888433" y="4140882"/>
              <a:ext cx="1727521" cy="902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44"/>
            <p:cNvSpPr txBox="1"/>
            <p:nvPr/>
          </p:nvSpPr>
          <p:spPr>
            <a:xfrm>
              <a:off x="953479" y="5040587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44"/>
            <p:cNvSpPr txBox="1"/>
            <p:nvPr/>
          </p:nvSpPr>
          <p:spPr>
            <a:xfrm>
              <a:off x="953479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pin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44"/>
            <p:cNvSpPr txBox="1"/>
            <p:nvPr/>
          </p:nvSpPr>
          <p:spPr>
            <a:xfrm>
              <a:off x="2704045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dent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44"/>
            <p:cNvSpPr txBox="1"/>
            <p:nvPr/>
          </p:nvSpPr>
          <p:spPr>
            <a:xfrm>
              <a:off x="4490048" y="6180585"/>
              <a:ext cx="51586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glue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44"/>
            <p:cNvSpPr txBox="1"/>
            <p:nvPr/>
          </p:nvSpPr>
          <p:spPr>
            <a:xfrm>
              <a:off x="2489383" y="50445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scratch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44"/>
            <p:cNvSpPr txBox="1"/>
            <p:nvPr/>
          </p:nvSpPr>
          <p:spPr>
            <a:xfrm>
              <a:off x="4292487" y="5028248"/>
              <a:ext cx="9385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fm</a:t>
              </a: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01" name="Google Shape;301;p44"/>
          <p:cNvGraphicFramePr/>
          <p:nvPr/>
        </p:nvGraphicFramePr>
        <p:xfrm>
          <a:off x="1113913" y="3752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{7DB2BEA9-EE3A-40FC-983D-D221193A391B}</a:tableStyleId>
              </a:tblPr>
              <a:tblGrid>
                <a:gridCol w="921175"/>
                <a:gridCol w="3014575"/>
              </a:tblGrid>
              <a:tr h="1835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Defect Meaning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Dent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hollow on black surface </a:t>
                      </a:r>
                      <a:endParaRPr/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Scratch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 scrape or dig on black surface by sharpness</a:t>
                      </a:r>
                      <a:endParaRPr/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 bent or deformed 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F.M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foreign materials in pin hole </a:t>
                      </a:r>
                      <a:endParaRPr/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Glue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something sticky on black surface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45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45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45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5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5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활용 데이터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5"/>
          <p:cNvSpPr txBox="1"/>
          <p:nvPr/>
        </p:nvSpPr>
        <p:spPr>
          <a:xfrm>
            <a:off x="377983" y="1502868"/>
            <a:ext cx="7551878" cy="1670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데이터셋은 기본 환경(Default)에서 3종류의 환경(Color, Brightness, Focus) 변화 정도에 따라 다르게 촬영된 이미지로 구성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Default는 모두 동일한 초기 기본 환경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Default를 제외한 각 환경들은 환경이 변화하는 정도에 따라 4단계의 서브 조건을 가짐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4" name="Google Shape;314;p45"/>
          <p:cNvGrpSpPr/>
          <p:nvPr/>
        </p:nvGrpSpPr>
        <p:grpSpPr>
          <a:xfrm>
            <a:off x="641241" y="4403600"/>
            <a:ext cx="1944174" cy="1396378"/>
            <a:chOff x="765943" y="3986544"/>
            <a:chExt cx="1724411" cy="1238536"/>
          </a:xfrm>
        </p:grpSpPr>
        <p:pic>
          <p:nvPicPr>
            <p:cNvPr id="315" name="Google Shape;315;p45"/>
            <p:cNvPicPr preferRelativeResize="0"/>
            <p:nvPr/>
          </p:nvPicPr>
          <p:blipFill rotWithShape="1">
            <a:blip r:embed="rId3">
              <a:alphaModFix/>
            </a:blip>
            <a:srcRect b="32575" l="0" r="75153" t="44498"/>
            <a:stretch/>
          </p:blipFill>
          <p:spPr>
            <a:xfrm>
              <a:off x="765943" y="3986544"/>
              <a:ext cx="1724411" cy="10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45"/>
            <p:cNvSpPr txBox="1"/>
            <p:nvPr/>
          </p:nvSpPr>
          <p:spPr>
            <a:xfrm>
              <a:off x="1059255" y="4948081"/>
              <a:ext cx="10992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Default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45"/>
          <p:cNvSpPr txBox="1"/>
          <p:nvPr/>
        </p:nvSpPr>
        <p:spPr>
          <a:xfrm>
            <a:off x="9790505" y="3835113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9790504" y="4824790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5"/>
          <p:cNvSpPr txBox="1"/>
          <p:nvPr/>
        </p:nvSpPr>
        <p:spPr>
          <a:xfrm>
            <a:off x="9784519" y="5809559"/>
            <a:ext cx="10992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45"/>
          <p:cNvGraphicFramePr/>
          <p:nvPr/>
        </p:nvGraphicFramePr>
        <p:xfrm>
          <a:off x="7828107" y="1466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{7DB2BEA9-EE3A-40FC-983D-D221193A391B}</a:tableStyleId>
              </a:tblPr>
              <a:tblGrid>
                <a:gridCol w="921175"/>
                <a:gridCol w="3014575"/>
              </a:tblGrid>
              <a:tr h="1835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Environment Meaning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Change in the environment caused by light</a:t>
                      </a:r>
                      <a:endParaRPr/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Variation according to lighting brightness</a:t>
                      </a:r>
                      <a:endParaRPr/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Changes due to camera focus shaking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0725" marB="30725" marR="61450" marL="6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1" name="Google Shape;321;p45"/>
          <p:cNvPicPr preferRelativeResize="0"/>
          <p:nvPr/>
        </p:nvPicPr>
        <p:blipFill rotWithShape="1">
          <a:blip r:embed="rId4">
            <a:alphaModFix/>
          </a:blip>
          <a:srcRect b="1523" l="0" r="0" t="1522"/>
          <a:stretch/>
        </p:blipFill>
        <p:spPr>
          <a:xfrm>
            <a:off x="289379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5"/>
          <p:cNvPicPr preferRelativeResize="0"/>
          <p:nvPr/>
        </p:nvPicPr>
        <p:blipFill rotWithShape="1">
          <a:blip r:embed="rId5">
            <a:alphaModFix/>
          </a:blip>
          <a:srcRect b="1523" l="0" r="0" t="1522"/>
          <a:stretch/>
        </p:blipFill>
        <p:spPr>
          <a:xfrm>
            <a:off x="457248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5"/>
          <p:cNvPicPr preferRelativeResize="0"/>
          <p:nvPr/>
        </p:nvPicPr>
        <p:blipFill rotWithShape="1">
          <a:blip r:embed="rId6">
            <a:alphaModFix/>
          </a:blip>
          <a:srcRect b="1523" l="0" r="0" t="1522"/>
          <a:stretch/>
        </p:blipFill>
        <p:spPr>
          <a:xfrm>
            <a:off x="625117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/>
          <p:cNvPicPr preferRelativeResize="0"/>
          <p:nvPr/>
        </p:nvPicPr>
        <p:blipFill rotWithShape="1">
          <a:blip r:embed="rId7">
            <a:alphaModFix/>
          </a:blip>
          <a:srcRect b="1523" l="0" r="0" t="1522"/>
          <a:stretch/>
        </p:blipFill>
        <p:spPr>
          <a:xfrm>
            <a:off x="7929861" y="353216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5"/>
          <p:cNvPicPr preferRelativeResize="0"/>
          <p:nvPr/>
        </p:nvPicPr>
        <p:blipFill rotWithShape="1">
          <a:blip r:embed="rId8">
            <a:alphaModFix/>
          </a:blip>
          <a:srcRect b="1523" l="0" r="0" t="1522"/>
          <a:stretch/>
        </p:blipFill>
        <p:spPr>
          <a:xfrm>
            <a:off x="289379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 preferRelativeResize="0"/>
          <p:nvPr/>
        </p:nvPicPr>
        <p:blipFill rotWithShape="1">
          <a:blip r:embed="rId9">
            <a:alphaModFix/>
          </a:blip>
          <a:srcRect b="1523" l="0" r="0" t="1522"/>
          <a:stretch/>
        </p:blipFill>
        <p:spPr>
          <a:xfrm>
            <a:off x="457248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5"/>
          <p:cNvPicPr preferRelativeResize="0"/>
          <p:nvPr/>
        </p:nvPicPr>
        <p:blipFill rotWithShape="1">
          <a:blip r:embed="rId10">
            <a:alphaModFix/>
          </a:blip>
          <a:srcRect b="1523" l="0" r="0" t="1522"/>
          <a:stretch/>
        </p:blipFill>
        <p:spPr>
          <a:xfrm>
            <a:off x="625117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5"/>
          <p:cNvPicPr preferRelativeResize="0"/>
          <p:nvPr/>
        </p:nvPicPr>
        <p:blipFill rotWithShape="1">
          <a:blip r:embed="rId11">
            <a:alphaModFix/>
          </a:blip>
          <a:srcRect b="1523" l="0" r="0" t="1522"/>
          <a:stretch/>
        </p:blipFill>
        <p:spPr>
          <a:xfrm>
            <a:off x="7929861" y="4532005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5"/>
          <p:cNvPicPr preferRelativeResize="0"/>
          <p:nvPr/>
        </p:nvPicPr>
        <p:blipFill rotWithShape="1">
          <a:blip r:embed="rId12">
            <a:alphaModFix/>
          </a:blip>
          <a:srcRect b="1523" l="0" r="0" t="1522"/>
          <a:stretch/>
        </p:blipFill>
        <p:spPr>
          <a:xfrm>
            <a:off x="289379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 preferRelativeResize="0"/>
          <p:nvPr/>
        </p:nvPicPr>
        <p:blipFill rotWithShape="1">
          <a:blip r:embed="rId13">
            <a:alphaModFix/>
          </a:blip>
          <a:srcRect b="1523" l="0" r="0" t="1522"/>
          <a:stretch/>
        </p:blipFill>
        <p:spPr>
          <a:xfrm>
            <a:off x="457248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5"/>
          <p:cNvPicPr preferRelativeResize="0"/>
          <p:nvPr/>
        </p:nvPicPr>
        <p:blipFill rotWithShape="1">
          <a:blip r:embed="rId14">
            <a:alphaModFix/>
          </a:blip>
          <a:srcRect b="1523" l="0" r="0" t="1522"/>
          <a:stretch/>
        </p:blipFill>
        <p:spPr>
          <a:xfrm>
            <a:off x="625117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 rotWithShape="1">
          <a:blip r:embed="rId15">
            <a:alphaModFix/>
          </a:blip>
          <a:srcRect b="1523" l="0" r="0" t="1522"/>
          <a:stretch/>
        </p:blipFill>
        <p:spPr>
          <a:xfrm>
            <a:off x="7929861" y="5531352"/>
            <a:ext cx="1636899" cy="89271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5"/>
          <p:cNvSpPr txBox="1"/>
          <p:nvPr/>
        </p:nvSpPr>
        <p:spPr>
          <a:xfrm>
            <a:off x="319329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5"/>
          <p:cNvSpPr txBox="1"/>
          <p:nvPr/>
        </p:nvSpPr>
        <p:spPr>
          <a:xfrm>
            <a:off x="487198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655067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8229365" y="3311147"/>
            <a:ext cx="1037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2893792" y="2958168"/>
            <a:ext cx="6672968" cy="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총 13개의 도메인(Default + Color, Brightness, Focus 마다 4개) 존재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46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46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p46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6" name="Google Shape;346;p46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6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설정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6"/>
          <p:cNvSpPr txBox="1"/>
          <p:nvPr/>
        </p:nvSpPr>
        <p:spPr>
          <a:xfrm>
            <a:off x="377983" y="1502868"/>
            <a:ext cx="11355308" cy="2312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 Network : ResNet-101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SGD(lr=0.01), Cosine Annealing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size : 32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 : 100 (제안하는 방법만 50 epoch 동안 warm up / 이후 train 진행)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반복 실험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방법론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50" name="Google Shape;350;p46"/>
          <p:cNvGraphicFramePr/>
          <p:nvPr/>
        </p:nvGraphicFramePr>
        <p:xfrm>
          <a:off x="2993784" y="3938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{6F583CAA-F6E6-4665-BD72-9569953839C6}</a:tableStyleId>
              </a:tblPr>
              <a:tblGrid>
                <a:gridCol w="1643250"/>
                <a:gridCol w="1643250"/>
                <a:gridCol w="1643250"/>
                <a:gridCol w="1643250"/>
              </a:tblGrid>
              <a:tr h="21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 이름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Fine-grained 사용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TTA 적용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TTA 방식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 (No TTA)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 + TENT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(No TTA)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TENT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EATA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EATA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 + DeYO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DeYO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47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47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결과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2" name="Google Shape;362;p47"/>
          <p:cNvGraphicFramePr/>
          <p:nvPr/>
        </p:nvGraphicFramePr>
        <p:xfrm>
          <a:off x="350192" y="1570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{E28EDC9F-5C4A-454B-89D6-1F2DC25870CB}</a:tableStyleId>
              </a:tblPr>
              <a:tblGrid>
                <a:gridCol w="1259200"/>
                <a:gridCol w="1259200"/>
                <a:gridCol w="1259200"/>
                <a:gridCol w="1259200"/>
                <a:gridCol w="1259200"/>
                <a:gridCol w="1259200"/>
                <a:gridCol w="1259200"/>
                <a:gridCol w="1259200"/>
                <a:gridCol w="1259200"/>
              </a:tblGrid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Auroc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Resnet101+TENT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MGANet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MGANet + 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Ours+EATA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Ours+DeYO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drift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0.9424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0.9385 ± 0.0061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0.9442 ± 0.0073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0.9203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0.935</a:t>
                      </a:r>
                      <a:endParaRPr/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0.9494 ± 0.0114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0.9159 ± 0.0058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0.9388 ± 0.0196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0.9583 ± 0.0109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0.9583 ± 0.0108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0.9556 ± 0.0130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0.9373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0.9334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0.9448 ± 0.0082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0.9294 ± 0.0068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0.9422 ± 0.0065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0.9506 ± 0.0056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0.9528 ± 0.0085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0.9520 ± 0.0092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0.885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0.8429 ± 0.0190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0.9351 ± 0.0067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0.9317 ± 0.0220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0.9509 ± 0.0047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0.9522 ± 0.0066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0.9516 ± 0.0075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0.9158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0.9261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0.6800 ± 0.0044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0.9245 ± 0.0070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0.9425 ± 0.0142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0.9484 ± 0.0052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0.9509 ± 0.0068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0.9494 ± 0.0073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0.8697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0.9257</a:t>
                      </a:r>
                      <a:endParaRPr/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0.8168 ± 0.0115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0.8727 ± 0.0185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0.9140 ± 0.0023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0.9405 ± 0.0040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0.9463 ± 0.0110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0.9465 ± 0.0115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0.9034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0.9283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0.8866 ± 0.0006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0.8928 ± 0.0139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0.9282 ± 0.0033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0.9456 ± 0.0019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0.9497 ± 0.0095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0.9484 ± 0.0107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0.8913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0.9395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0.7150 ± 0.0142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0.9312 ± 0.0091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0.9402 ± 0.0077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0.9463 ± 0.0049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0.9486 ± 0.0052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0.9479 ± 0.0054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0.4942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0.5084 ± 0.0090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0.9107 ± 0.0060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0.8620 ± 0.0460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0.9354 ± 0.0058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0.9404 ± 0.0049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0.9376 ± 0.0067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0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0.9128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0.9368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0.8178 ± 0.1206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0.9081 ± 0.0308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0.9404 ± 0.0063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0.9433 ± 0.0086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0.9486 ± 0.0064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0.9464 ± 0.0064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0.9321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0.9313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0.9227 ± 0.0136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0.9147 ± 0.0110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0.9526 ± 0.0093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0.9500 ± 0.0087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0.9522 ± 0.0067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0.9512 ± 0.0084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0.9249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0.9287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0.9164 ± 0.0194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0.9221 ± 0.0010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0.9204 ± 0.0074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0.9343 ± 0.0021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0.9393 ± 0.0017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0.9376 ± 0.0010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0.8822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0.8867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0.8509 ± 0.0198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0.8643 ± 0.0301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0.9092 ± 0.0080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0.9169 ± 0.0031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0.9194 ± 0.0040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0.9171 ± 0.0035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48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p48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8"/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Adaptation 전후 CAM 성능 비교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텍스트, 램프, 네온, 다채로움이(가) 표시된 사진&#10;&#10;AI가 생성한 콘텐츠는 부정확할 수 있습니다." id="375" name="Google Shape;37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351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다채로움, 램프, 네온이(가) 표시된 사진&#10;&#10;AI가 생성한 콘텐츠는 부정확할 수 있습니다." id="376" name="Google Shape;3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096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다채로움, 네온, 램프, 그래픽이(가) 표시된 사진&#10;&#10;AI가 생성한 콘텐츠는 부정확할 수 있습니다." id="377" name="Google Shape;37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4679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다채로움, 램프, 네온이(가) 표시된 사진&#10;&#10;AI가 생성한 콘텐츠는 부정확할 수 있습니다." id="378" name="Google Shape;378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1425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8"/>
          <p:cNvSpPr txBox="1"/>
          <p:nvPr/>
        </p:nvSpPr>
        <p:spPr>
          <a:xfrm>
            <a:off x="3845372" y="2440105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5349" y="148510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095" y="148510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4678" y="1485102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1424" y="1485102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8"/>
          <p:cNvSpPr txBox="1"/>
          <p:nvPr/>
        </p:nvSpPr>
        <p:spPr>
          <a:xfrm>
            <a:off x="3845372" y="1643059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5348" y="3920321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32093" y="3917140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4676" y="3917140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31422" y="3917140"/>
            <a:ext cx="1046158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85349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32095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84678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031424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8"/>
          <p:cNvSpPr txBox="1"/>
          <p:nvPr/>
        </p:nvSpPr>
        <p:spPr>
          <a:xfrm>
            <a:off x="3845372" y="4089700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8"/>
          <p:cNvSpPr txBox="1"/>
          <p:nvPr/>
        </p:nvSpPr>
        <p:spPr>
          <a:xfrm>
            <a:off x="3845372" y="3298113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8"/>
          <p:cNvSpPr txBox="1"/>
          <p:nvPr/>
        </p:nvSpPr>
        <p:spPr>
          <a:xfrm>
            <a:off x="5961503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7091104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8"/>
          <p:cNvSpPr txBox="1"/>
          <p:nvPr/>
        </p:nvSpPr>
        <p:spPr>
          <a:xfrm>
            <a:off x="8243687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8"/>
          <p:cNvSpPr txBox="1"/>
          <p:nvPr/>
        </p:nvSpPr>
        <p:spPr>
          <a:xfrm>
            <a:off x="9373288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9882899" y="2057288"/>
            <a:ext cx="1826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8"/>
          <p:cNvSpPr txBox="1"/>
          <p:nvPr/>
        </p:nvSpPr>
        <p:spPr>
          <a:xfrm>
            <a:off x="10087693" y="3833910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4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85348" y="5637083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32093" y="5637083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84676" y="5637083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31422" y="5637083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85349" y="4875770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32095" y="4875770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84678" y="4875770"/>
            <a:ext cx="1046158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31424" y="4875770"/>
            <a:ext cx="1046158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8"/>
          <p:cNvSpPr txBox="1"/>
          <p:nvPr/>
        </p:nvSpPr>
        <p:spPr>
          <a:xfrm>
            <a:off x="3845372" y="5856938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3845372" y="5068532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8"/>
          <p:cNvSpPr txBox="1"/>
          <p:nvPr/>
        </p:nvSpPr>
        <p:spPr>
          <a:xfrm>
            <a:off x="10060546" y="5449623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금속, 번호이(가) 표시된 사진&#10;&#10;AI가 생성한 콘텐츠는 부정확할 수 있습니다." id="412" name="Google Shape;412;p4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900" y="2873528"/>
            <a:ext cx="3043031" cy="171170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8"/>
          <p:cNvSpPr txBox="1"/>
          <p:nvPr/>
        </p:nvSpPr>
        <p:spPr>
          <a:xfrm>
            <a:off x="1059255" y="4712663"/>
            <a:ext cx="2297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(좌측 상단 결함)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605061" y="3433477"/>
            <a:ext cx="275888" cy="20783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49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49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49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49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9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217001" y="1071078"/>
            <a:ext cx="5149326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Adaptation 전후 CAM 성능 비교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348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093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4676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1422" y="2255055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9"/>
          <p:cNvSpPr txBox="1"/>
          <p:nvPr/>
        </p:nvSpPr>
        <p:spPr>
          <a:xfrm>
            <a:off x="3845372" y="2440105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5347" y="1485102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093" y="1485102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4676" y="1485102"/>
            <a:ext cx="1046157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1422" y="1485102"/>
            <a:ext cx="1046157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9"/>
          <p:cNvSpPr txBox="1"/>
          <p:nvPr/>
        </p:nvSpPr>
        <p:spPr>
          <a:xfrm>
            <a:off x="3845372" y="1643059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4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5345" y="3920321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29652" y="3917140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2235" y="3917140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28981" y="3917140"/>
            <a:ext cx="1051034" cy="68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85345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32091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84674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031420" y="3155827"/>
            <a:ext cx="1046159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9"/>
          <p:cNvSpPr txBox="1"/>
          <p:nvPr/>
        </p:nvSpPr>
        <p:spPr>
          <a:xfrm>
            <a:off x="3845372" y="4089700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3845372" y="3298113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9"/>
          <p:cNvSpPr txBox="1"/>
          <p:nvPr/>
        </p:nvSpPr>
        <p:spPr>
          <a:xfrm>
            <a:off x="5961503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9"/>
          <p:cNvSpPr txBox="1"/>
          <p:nvPr/>
        </p:nvSpPr>
        <p:spPr>
          <a:xfrm>
            <a:off x="7091104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9"/>
          <p:cNvSpPr txBox="1"/>
          <p:nvPr/>
        </p:nvSpPr>
        <p:spPr>
          <a:xfrm>
            <a:off x="8243687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9373288" y="1272591"/>
            <a:ext cx="328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9"/>
          <p:cNvSpPr txBox="1"/>
          <p:nvPr/>
        </p:nvSpPr>
        <p:spPr>
          <a:xfrm>
            <a:off x="9882899" y="2057288"/>
            <a:ext cx="1826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9"/>
          <p:cNvSpPr txBox="1"/>
          <p:nvPr/>
        </p:nvSpPr>
        <p:spPr>
          <a:xfrm>
            <a:off x="10087693" y="3833910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4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82907" y="5637083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29652" y="5637083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82235" y="5637083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28981" y="5637083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82907" y="4875770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29653" y="4875770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82236" y="4875770"/>
            <a:ext cx="1031565" cy="68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28982" y="4875770"/>
            <a:ext cx="1031565" cy="68272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9"/>
          <p:cNvSpPr txBox="1"/>
          <p:nvPr/>
        </p:nvSpPr>
        <p:spPr>
          <a:xfrm>
            <a:off x="3845372" y="5856938"/>
            <a:ext cx="1607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9"/>
          <p:cNvSpPr txBox="1"/>
          <p:nvPr/>
        </p:nvSpPr>
        <p:spPr>
          <a:xfrm>
            <a:off x="3845372" y="5068532"/>
            <a:ext cx="1607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Adaptation 이전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10060546" y="5449623"/>
            <a:ext cx="1547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Brightness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4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900" y="2873528"/>
            <a:ext cx="3043030" cy="1711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9"/>
          <p:cNvSpPr txBox="1"/>
          <p:nvPr/>
        </p:nvSpPr>
        <p:spPr>
          <a:xfrm>
            <a:off x="1059255" y="4712663"/>
            <a:ext cx="2297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(중앙 결함)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9"/>
          <p:cNvSpPr/>
          <p:nvPr/>
        </p:nvSpPr>
        <p:spPr>
          <a:xfrm>
            <a:off x="1896894" y="3602581"/>
            <a:ext cx="236983" cy="22355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50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3" name="Google Shape;473;p50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p50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50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0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0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0"/>
          <p:cNvSpPr txBox="1"/>
          <p:nvPr/>
        </p:nvSpPr>
        <p:spPr>
          <a:xfrm>
            <a:off x="377983" y="1502868"/>
            <a:ext cx="11355308" cy="2319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미세하고 희미한 결함 탐지를 보다 정밀하게 수행하면서 다양한 Fully-TTA 기법들과 호환 가능한 프레임워크를 제안함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branch나 추가 module 없이, 단일 네트워크 구조만으로 attention 영역을 정확하게 결함 부위에 정렬하도록 설계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 기반의 attention map과 결함 마스크 간의 logit 정렬을 통해 모델이 실제 결함 영역에 집중하도록 유도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구조는 ResNet 기반의 BatchNorm을 활용한 다양한 Fully-TTA 기법과 효과적으로 결합 가능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결과에서도 높은 도메인 적응 성능을 보였으며, 결과적으로 본 연구가 제안한 프레임워크는 </a:t>
            </a:r>
            <a:r>
              <a:rPr b="1" lang="en-US" sz="1400">
                <a:solidFill>
                  <a:srgbClr val="A634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정확한 결함 탐지와 안정적인 도메인 적응을 동시에 달성할 수 있음을 입증함</a:t>
            </a:r>
            <a:endParaRPr b="1" sz="1400">
              <a:solidFill>
                <a:srgbClr val="A6342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1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51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5" name="Google Shape;485;p51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p51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7" name="Google Shape;487;p51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1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참고 문헌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1"/>
          <p:cNvSpPr txBox="1"/>
          <p:nvPr/>
        </p:nvSpPr>
        <p:spPr>
          <a:xfrm>
            <a:off x="377983" y="1301677"/>
            <a:ext cx="11355308" cy="448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Woo, S., Park, J., Lee, J. Y., &amp; Kweon, I. S. (2018). Cbam: Convolutional block attention module. In Proceedings of the European conference on computer vision (ECCV) (pp. 3-19).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Mo, K., Zhu, S., Chang, A. X., Yi, L., Tripathi, S., Guibas, L. J., &amp; Su, H. (2019). Partnet: A large-scale benchmark for fine-grained and hierarchical part-level 3d object understanding. In Proceedings of the IEEE/CVF conference on computer vision and pattern recognition (pp. 909-918).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Xu, S., Chang, D., Xie, J., &amp; Ma, Z. (2021, October). Grad-cam guided channel-spatial attention module for fine-grained visual classification. In 2021 IEEE 31st international workshop on machine learning for signal Processing (MLSP) (pp. 1-6). IEEE.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Dequan Wang, Evan Shelhamer, Shaoteng Liu, B. Olshausen, and Trevor Darrell. Tent: Fully test-time adaptation by entropy minimization. In ICLR, 2021.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Niu, Shuaicheng, et al. "Efficient test-time model adaptation without forgetting." International conference on machine learning. PMLR, 2022.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 Lee, J., Jung, D., Lee, S., Park, J., Shin, J., Hwang, U., &amp; Yoon, S. (2024). ENTROPY IS NOT ENOUGH FOR TEST-TIME ADAPTATION: FROM THE PERSPECTIVE OF DISENTANGLED FACTORS. Paper presented at 12th International Conference on Learning Representations, ICLR 2024, Hybrid, Vienna, Austria.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[7] Wei, Xiu-Shen, et al. "Mask-CNN: Localizing parts and selecting descriptors for fine-grained bird species categorization." Pattern Recognition 76 (2018): 704-714.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 Zhang, Qiang, et al. "Deep learning with attention supervision for automated motion artefact detection in quality control of cardiac T1-mapping." Artificial intelligence in medicine 110 (2020): 101955.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[9] Zhang, Ziheng, et al. "Finer-CAM: Spotting the Difference Reveals Finer Details for Visual Explanation." CVPR 2025.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2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2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5B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1" i="0" sz="18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8" name="Google Shape;498;p52"/>
          <p:cNvCxnSpPr/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cap="flat" cmpd="sng" w="57150">
            <a:solidFill>
              <a:srgbClr val="275B2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52"/>
          <p:cNvCxnSpPr/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cap="flat" cmpd="sng" w="19050">
            <a:solidFill>
              <a:srgbClr val="275B2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3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53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53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53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53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3600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3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실험</a:t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3"/>
          <p:cNvSpPr txBox="1"/>
          <p:nvPr/>
        </p:nvSpPr>
        <p:spPr>
          <a:xfrm>
            <a:off x="217001" y="1071078"/>
            <a:ext cx="2915498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Calibri"/>
                <a:ea typeface="Calibri"/>
                <a:cs typeface="Calibri"/>
                <a:sym typeface="Calibri"/>
              </a:rPr>
              <a:t>실험 결과</a:t>
            </a:r>
            <a:endParaRPr b="1" i="0" sz="1600" u="none" cap="none" strike="noStrike">
              <a:solidFill>
                <a:srgbClr val="275B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1" name="Google Shape;511;p53"/>
          <p:cNvGraphicFramePr/>
          <p:nvPr/>
        </p:nvGraphicFramePr>
        <p:xfrm>
          <a:off x="599440" y="1570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{E28EDC9F-5C4A-454B-89D6-1F2DC25870CB}</a:tableStyleId>
              </a:tblPr>
              <a:tblGrid>
                <a:gridCol w="1247425"/>
                <a:gridCol w="1247425"/>
                <a:gridCol w="1247425"/>
                <a:gridCol w="1247425"/>
                <a:gridCol w="1247425"/>
                <a:gridCol w="1247425"/>
                <a:gridCol w="1247425"/>
                <a:gridCol w="1247425"/>
                <a:gridCol w="1247425"/>
              </a:tblGrid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Resnet101+TENT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Mask-CNN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Mask-CNN+TENT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Ours(No TTA)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Ours+TENT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Ours+EATA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Ours+DeYO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drift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0.7153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0.8064 ± 0.0129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0.3987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0.7403 ± 0.0342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0.7224 ± 0.0103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0.7507 ± 0.0312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0.7458 ± 0.0286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0.7784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0.7632 ± 0.0169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0.7277 ± 0.0301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0.7312 ± 0.0285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0.7357 ± 0.0228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0.6204 ± 0.0203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0.7340 ± 0.0142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0.7498 ± 0.0306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0.7448 ± 0.0336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0.6910 ± 0.0182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0.7467 ± 0.0253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0.7543 ± 0.0224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0.7429 ± 0.0322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0.6817 ± 0.1252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0.7268 ± 0.0347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0.7379 ± 0.0215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0.7373 ± 0.0250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0.7624 ± 0.0829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0.7253 ± 0.0214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0.7337 ± 0.0311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0.7307 ± 0.0293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0.6611 ± 0.0632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0.6934 ± 0.0242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0.7375 ± 0.0232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0.7193 ± 0.0292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Brightness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0.3548 ± 0.0909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0.6636 ± 0.0240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0.6849 ± 0.0186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0.6666 ± 0.0069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0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0.6349 ± 0.0269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0.6643 ± 0.0109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0.6647 ± 0.0183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0.6509 ± 0.0197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0.7158 ± 0.0110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0.7000 ± 0.0079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0.7045 ± 0.0241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0.7085 ± 0.0103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2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0.6540 ± 0.0391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0.6944 ± 0.0193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0.7270 ± 0.0136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0.7111 ± 0.0114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3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0.5321 ± 0.0626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0.6634 ± 0.0438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0.6723 ± 0.0324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0.6817 ± 0.0279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4"/>
          <p:cNvSpPr txBox="1"/>
          <p:nvPr>
            <p:ph idx="12" type="sldNum"/>
          </p:nvPr>
        </p:nvSpPr>
        <p:spPr>
          <a:xfrm>
            <a:off x="9248775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54"/>
          <p:cNvSpPr/>
          <p:nvPr/>
        </p:nvSpPr>
        <p:spPr>
          <a:xfrm flipH="1" rot="10800000">
            <a:off x="0" y="6710793"/>
            <a:ext cx="9566815" cy="14720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54"/>
          <p:cNvSpPr/>
          <p:nvPr/>
        </p:nvSpPr>
        <p:spPr>
          <a:xfrm flipH="1" rot="10800000">
            <a:off x="9566760" y="6710218"/>
            <a:ext cx="2625240" cy="147782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9" name="Google Shape;519;p54"/>
          <p:cNvSpPr/>
          <p:nvPr/>
        </p:nvSpPr>
        <p:spPr>
          <a:xfrm>
            <a:off x="152400" y="879556"/>
            <a:ext cx="11912056" cy="60090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54"/>
          <p:cNvSpPr txBox="1"/>
          <p:nvPr/>
        </p:nvSpPr>
        <p:spPr>
          <a:xfrm>
            <a:off x="217000" y="1178672"/>
            <a:ext cx="6518777" cy="41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 를 해결하기 위한 다양한 방법들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54"/>
          <p:cNvSpPr txBox="1"/>
          <p:nvPr/>
        </p:nvSpPr>
        <p:spPr>
          <a:xfrm>
            <a:off x="377983" y="1851157"/>
            <a:ext cx="11255720" cy="3605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1"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Tuning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사전 학습된 모델을 새로운 레이블이 있는 타겟 데이터에 대해 재학습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타겟 데이터에 대한 레이블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Adaptation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라벨이 있는 소스 데이터와 라벨이 없는 타겟 데이터를 함께 사용하여 분포 차이를 줄이는 방식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훈련 시점부터 타겟 데이터에 대한 사전 정보를 필요로 함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b="1"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Time training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변화된 타겟에서도 적응할 수 있도록 사전 학습 진행</a:t>
            </a:r>
            <a:b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훈련 시점 부터 타겟 분포에 맞게 미리 학습 설계 필요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-"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방법들은 타겟 도메인에 대한 사전 정보가 필요하거나, 훈련 시점에 타겟 데이터에 미리 접근해야 하는 한계가 존재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2" name="Google Shape;52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691" y="1087200"/>
            <a:ext cx="6185309" cy="101099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4"/>
          <p:cNvSpPr txBox="1"/>
          <p:nvPr/>
        </p:nvSpPr>
        <p:spPr>
          <a:xfrm>
            <a:off x="217001" y="27846"/>
            <a:ext cx="842254" cy="8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sz="3600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p54"/>
          <p:cNvSpPr txBox="1"/>
          <p:nvPr/>
        </p:nvSpPr>
        <p:spPr>
          <a:xfrm>
            <a:off x="834367" y="19569"/>
            <a:ext cx="4045449" cy="81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2024-03-04T06:06:06Z</dcterms:created>
  <dc:creator>김나연</dc:creator>
</cp:coreProperties>
</file>