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Malgun Gothic" panose="020B0503020000020004" pitchFamily="50" charset="-127"/>
      <p:regular r:id="rId21"/>
      <p:bold r:id="rId22"/>
    </p:embeddedFont>
    <p:embeddedFont>
      <p:font typeface="Noto Sans KR" panose="020B0200000000000000" pitchFamily="50" charset="-127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RUoNQIRgm0CJ3jqJJLKJAxX6I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AF562C-1A7C-4787-A7C5-269FAF0E2DD1}">
  <a:tblStyle styleId="{8CAF562C-1A7C-4787-A7C5-269FAF0E2D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제목 검토 (main contribution 이 드러나게)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구조를 바꾸기 때문에 TTA 와의 호환성이 떨어짐</a:t>
            </a:r>
            <a:endParaRPr/>
          </a:p>
        </p:txBody>
      </p:sp>
      <p:sp>
        <p:nvSpPr>
          <p:cNvPr id="188" name="Google Shape;1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/>
              <a:t>연구 개요 ? Attention 기반 미세 결함 탐지 기법이 test time adaptation 에서 갖는 한계점?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/>
              <a:t>사실 layernorm groupnorm 등의 업데이트 방법도 있긴 한데 약간 애매</a:t>
            </a:r>
            <a:endParaRPr/>
          </a:p>
        </p:txBody>
      </p:sp>
      <p:sp>
        <p:nvSpPr>
          <p:cNvPr id="201" name="Google Shape;201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9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CAM 이랑 mask 랑 실제로 잘 정렬되더라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shift 됐을 때 달라지다가 TTA 하면 잘 맞더라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픽셀별 MSE Loss (잘되면 간단해지는거고 안되면 이 방법이 더 좋았다)</a:t>
            </a:r>
            <a:endParaRPr/>
          </a:p>
        </p:txBody>
      </p:sp>
      <p:sp>
        <p:nvSpPr>
          <p:cNvPr id="274" name="Google Shape;27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mailto:yhoon.lee@seoultech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 txBox="1"/>
          <p:nvPr/>
        </p:nvSpPr>
        <p:spPr>
          <a:xfrm>
            <a:off x="152400" y="2140309"/>
            <a:ext cx="11887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변화하는 제조 환경에서의 미세 결함 분류를 위한 테스트 시점 도메인 적응</a:t>
            </a:r>
            <a:endParaRPr sz="24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" name="Google Shape;92;p33"/>
          <p:cNvPicPr preferRelativeResize="0"/>
          <p:nvPr/>
        </p:nvPicPr>
        <p:blipFill rotWithShape="1">
          <a:blip r:embed="rId3">
            <a:alphaModFix/>
          </a:blip>
          <a:srcRect r="-1496" b="13986"/>
          <a:stretch/>
        </p:blipFill>
        <p:spPr>
          <a:xfrm>
            <a:off x="11011566" y="6150379"/>
            <a:ext cx="920946" cy="4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3"/>
          <p:cNvSpPr txBox="1"/>
          <p:nvPr/>
        </p:nvSpPr>
        <p:spPr>
          <a:xfrm>
            <a:off x="3094022" y="5286891"/>
            <a:ext cx="6188042" cy="69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대한산업공학회/한국경영과학회/한국시뮬레이션학회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춘계공동학술대회 </a:t>
            </a:r>
            <a:endParaRPr/>
          </a:p>
        </p:txBody>
      </p:sp>
      <p:sp>
        <p:nvSpPr>
          <p:cNvPr id="94" name="Google Shape;94;p33"/>
          <p:cNvSpPr txBox="1"/>
          <p:nvPr/>
        </p:nvSpPr>
        <p:spPr>
          <a:xfrm>
            <a:off x="2746697" y="3288718"/>
            <a:ext cx="688269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김나연¹, 이성호¹, 심재웅²*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데이터사이언스학과¹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산업공학과²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jaewoong@seoultech.ac.kr 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1485634" y="5983941"/>
            <a:ext cx="9393999" cy="55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2025년도 정부(산업통상자원부)의 재원으로 한국산업기술진흥회의 지원을 받아 수행되었음</a:t>
            </a:r>
            <a:endParaRPr sz="1050" b="0" i="0" u="none" strike="noStrike" cap="non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(P0017123 , 2025년 산업혁신인재성장지원사업)</a:t>
            </a:r>
            <a:endParaRPr sz="1050" b="0" i="0" u="none" strike="noStrike" cap="non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6" name="Google Shape;9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433" y="317175"/>
            <a:ext cx="4514850" cy="45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3" name="Google Shape;103;p34"/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28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2326710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2326710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4"/>
          <p:cNvSpPr txBox="1"/>
          <p:nvPr/>
        </p:nvSpPr>
        <p:spPr>
          <a:xfrm>
            <a:off x="2326710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4"/>
          <p:cNvSpPr txBox="1"/>
          <p:nvPr/>
        </p:nvSpPr>
        <p:spPr>
          <a:xfrm>
            <a:off x="7456551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4"/>
          <p:cNvSpPr txBox="1"/>
          <p:nvPr/>
        </p:nvSpPr>
        <p:spPr>
          <a:xfrm>
            <a:off x="7456551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4"/>
          <p:cNvSpPr txBox="1"/>
          <p:nvPr/>
        </p:nvSpPr>
        <p:spPr>
          <a:xfrm>
            <a:off x="7456551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2978311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연구배경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4"/>
          <p:cNvSpPr txBox="1"/>
          <p:nvPr/>
        </p:nvSpPr>
        <p:spPr>
          <a:xfrm>
            <a:off x="2978311" y="3323185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선행연구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4"/>
          <p:cNvSpPr txBox="1"/>
          <p:nvPr/>
        </p:nvSpPr>
        <p:spPr>
          <a:xfrm>
            <a:off x="2978311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4"/>
          <p:cNvSpPr txBox="1"/>
          <p:nvPr/>
        </p:nvSpPr>
        <p:spPr>
          <a:xfrm>
            <a:off x="8126759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실험결과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4"/>
          <p:cNvSpPr txBox="1"/>
          <p:nvPr/>
        </p:nvSpPr>
        <p:spPr>
          <a:xfrm>
            <a:off x="8126758" y="3323185"/>
            <a:ext cx="2263367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4"/>
          <p:cNvSpPr txBox="1"/>
          <p:nvPr/>
        </p:nvSpPr>
        <p:spPr>
          <a:xfrm>
            <a:off x="8126759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참고문헌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4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34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8" name="Google Shape;118;p34"/>
          <p:cNvPicPr preferRelativeResize="0"/>
          <p:nvPr/>
        </p:nvPicPr>
        <p:blipFill rotWithShape="1">
          <a:blip r:embed="rId3">
            <a:alphaModFix/>
          </a:blip>
          <a:srcRect r="-1496" b="13986"/>
          <a:stretch/>
        </p:blipFill>
        <p:spPr>
          <a:xfrm>
            <a:off x="11051499" y="151490"/>
            <a:ext cx="966119" cy="48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5" name="Google Shape;125;p35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35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217001" y="1253041"/>
            <a:ext cx="8003546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 비전을 활용한 결함 탐지(Defect classification)</a:t>
            </a:r>
            <a:endParaRPr/>
          </a:p>
        </p:txBody>
      </p:sp>
      <p:sp>
        <p:nvSpPr>
          <p:cNvPr id="129" name="Google Shape;129;p35"/>
          <p:cNvSpPr txBox="1"/>
          <p:nvPr/>
        </p:nvSpPr>
        <p:spPr>
          <a:xfrm>
            <a:off x="377983" y="1747771"/>
            <a:ext cx="9399760" cy="263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전통적인 기계 학습을 통해 불량 이미지에 대한 특징을 추출하여 결함 탐지 수행 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품질과 전반적인 시스템 효율성을 개선하며 제조 라인의 처리량 향상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인건비를 절감하고 근로자가 더 높은 가치의 작업에 집중할 수 있도록 함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최근, 딥러닝의 도입으로 비전 검사 능률이 크게 향상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결함은 크기가 작고 ~ 하여 기존의 분류 기반 방법으로는 정확한 탐지 및 구별이 어려움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배경과 결함의 구분이 모호한 경우가 많아 잘못된 attention 이 모델 성능을 저하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결함 부분에 정확히 집중하여 탐지할 수 있는 모델의 설계가 중요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3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3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36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36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36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217001" y="1178672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변화 (Domain Shift)</a:t>
            </a:r>
            <a:endParaRPr/>
          </a:p>
        </p:txBody>
      </p:sp>
      <p:sp>
        <p:nvSpPr>
          <p:cNvPr id="144" name="Google Shape;144;p36"/>
          <p:cNvSpPr txBox="1"/>
          <p:nvPr/>
        </p:nvSpPr>
        <p:spPr>
          <a:xfrm>
            <a:off x="377983" y="1700406"/>
            <a:ext cx="11597016" cy="231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기반의 결함 탐지 모델은 다른 생산 라인에 적용할 때, 예측 성능이 떨어지는 문제점을 가짐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제조 현장의 각 생산 라인에서 불량 검출을 위해 촬영하는 환경은 조명의 세기와 종류, 카메라의 위치와 각도, 장애물의 존재 등으로 인해 미세하게 다르므로 각 생산 라인에서 촬영된 이미지들이 </a:t>
            </a:r>
            <a:r>
              <a:rPr lang="en-US" sz="14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생산 라인마다 각자 다른 촬영 환경에 영향을 받음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딥러닝 기반 머신 비전 모델은 훈련 단계에서 학습한 이미지와 다른 촬영 환경(도메인)에서 수집한 인스턴스가 들어올 경우,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en-US" sz="14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변화(domain shift)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인해 성능 저하가 발생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환경 변화에 따른 성능 저하를 막기 위해선 각 생산 라인에 대해 별도의 결함 분류 모델을 구축하고 자주 재훈련하는 것이 이상적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이나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생산 라인마다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사용될 충분한 라벨링 데이터를 수집하는 것은 비용적 한계 존재</a:t>
            </a:r>
            <a:endParaRPr sz="140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8386" y="4361832"/>
            <a:ext cx="3895227" cy="2077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2" name="Google Shape;152;p37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37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37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37"/>
          <p:cNvSpPr txBox="1"/>
          <p:nvPr/>
        </p:nvSpPr>
        <p:spPr>
          <a:xfrm>
            <a:off x="217001" y="1246538"/>
            <a:ext cx="145810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목적</a:t>
            </a:r>
            <a:endParaRPr sz="16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37"/>
          <p:cNvSpPr txBox="1"/>
          <p:nvPr/>
        </p:nvSpPr>
        <p:spPr>
          <a:xfrm>
            <a:off x="377983" y="4199022"/>
            <a:ext cx="10984116" cy="71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본 연구에서는 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37"/>
          <p:cNvSpPr txBox="1"/>
          <p:nvPr/>
        </p:nvSpPr>
        <p:spPr>
          <a:xfrm>
            <a:off x="638128" y="4605735"/>
            <a:ext cx="9592071" cy="102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 탐지에 특화된 모델 구조를 설계하고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시점에서의 적응력 (Test-Time Adaptation)을 고려하여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다양한 환경에서도 정확하고 안정적인 미세 결함 분류가 가능한 방법을 제안함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3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3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37"/>
          <p:cNvSpPr txBox="1"/>
          <p:nvPr/>
        </p:nvSpPr>
        <p:spPr>
          <a:xfrm>
            <a:off x="377983" y="1765337"/>
            <a:ext cx="10984116" cy="19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 탐지 과제는 일반적인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 문제 보다 세밀한 attention 이 요구됨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제조 현장에서는 도메인 변화가 빈번하여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성능이 저하되는 Domain Shift 문제 발생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미세 결함 탐지 모델은 주로 Attention Module 이나 보조 Branch 를 추가하는 방식을 사용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이는 Test Time Adaptation (TTA) 적용 시 메인 네트워크와 보조 네트워크의 업데이트 방향이 달라져 성능을 저하시키고, 테스트 환경에 원활히 적응하기 어려움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6" name="Google Shape;166;p38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38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38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 를 해결하기 위한 다양한 방법들</a:t>
            </a:r>
            <a:endParaRPr sz="16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38"/>
          <p:cNvSpPr txBox="1"/>
          <p:nvPr/>
        </p:nvSpPr>
        <p:spPr>
          <a:xfrm>
            <a:off x="377983" y="1851157"/>
            <a:ext cx="11255720" cy="360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Tuning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사전 학습된 모델을 새로운 레이블이 있는 타겟 데이터에 대해 재학습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타겟 데이터에 대한 레이블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Adaptation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라벨이 있는 소스 데이터와 라벨이 없는 타겟 데이터를 함께 사용하여 분포 차이를 줄이는 방식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훈련 시점부터 타겟 데이터에 대한 사전 정보를 필요로 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Time training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변화된 타겟에서도 적응할 수 있도록 사전 학습 진행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훈련 시점 부터 타겟 분포에 맞게 미리 학습 설계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방법들은 타겟 도메인에 대한 사전 정보가 필요하거나, 훈련 시점에 타겟 데이터에 미리 접근해야 하는 한계가 존재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1" name="Google Shape;17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9691" y="1087200"/>
            <a:ext cx="6185309" cy="101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3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9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9" name="Google Shape;179;p39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39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39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39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endParaRPr/>
          </a:p>
        </p:txBody>
      </p:sp>
      <p:sp>
        <p:nvSpPr>
          <p:cNvPr id="183" name="Google Shape;183;p39"/>
          <p:cNvSpPr txBox="1"/>
          <p:nvPr/>
        </p:nvSpPr>
        <p:spPr>
          <a:xfrm>
            <a:off x="377983" y="1700406"/>
            <a:ext cx="11255720" cy="392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훈련 시에는 source 만을 이용하여 모델 학습 후, 추후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타겟에 맞추어 즉각적으로 파라미터 업데이트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타겟에 대한 정보를 미리 필요로 하지 않으며 테스트 데이터에 유연하게 적응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소스 데이터를 다시 활용할 수 없는 제한적인 현실 상황에서 가장 유용하며, 계산적으로도 효율적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방법론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 : 테스트 배치 데이터의 예측 엔트로피를 최소화하는 방향으로 BatchNorm 파라미터를 실시간으로 업데이트함으로써 간단하고 빠른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 : 엔트로피가 낮고 정보가 중복되는 샘플은 학습에서 제외하고, Fisher Information 을 통해 중요한 모델 파라미터를 파악 후 안정적으로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 : 객체의 shape을 변형했을 때 예측이 크게 달라지는 샘플을 정보량이 높은 샘플로 간주하여 선택적으로 학습에 활용함으로써 높은 성능의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3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3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1" name="Google Shape;191;p40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40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40"/>
          <p:cNvSpPr txBox="1"/>
          <p:nvPr/>
        </p:nvSpPr>
        <p:spPr>
          <a:xfrm>
            <a:off x="217001" y="1154872"/>
            <a:ext cx="46356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마스크 정보를 활용한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</a:t>
            </a:r>
            <a:r>
              <a:rPr 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</a:t>
            </a:r>
            <a:r>
              <a:rPr 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</a:t>
            </a:r>
            <a:endParaRPr sz="1600" b="1" i="0" u="none" strike="noStrike" cap="none" dirty="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40"/>
          <p:cNvSpPr txBox="1"/>
          <p:nvPr/>
        </p:nvSpPr>
        <p:spPr>
          <a:xfrm>
            <a:off x="377983" y="1700406"/>
            <a:ext cx="1135530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제조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데이터에서의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작고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명확하지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않아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아닌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영역에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주목하거나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결함을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인식하지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못하는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경우가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빈번</a:t>
            </a:r>
            <a:endParaRPr sz="14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해결하기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시각적으로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잘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집중하도록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시 마스크 정보를 활용하여 모델이 주요 객체 부분에 집중하도록 유도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방법들이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사용됨</a:t>
            </a: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</a:t>
            </a:r>
            <a:endParaRPr sz="14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MaizePestNet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Grad CAM 을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이용하여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중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집중해야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할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부분만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강조하여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crop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GAIN :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CBAM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Finer CAM</a:t>
            </a:r>
            <a:endParaRPr dirty="0"/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40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40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1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1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1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217001" y="110684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연구 개요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1"/>
          <p:cNvSpPr txBox="1"/>
          <p:nvPr/>
        </p:nvSpPr>
        <p:spPr>
          <a:xfrm>
            <a:off x="377983" y="1572786"/>
            <a:ext cx="11355308" cy="19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 / 중간 모듈 기반 구조의 문제점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별도의 attention 모듈이나 보조 branch 를 사용하는 Attention 기반 기법들은 미세 결함 탐지를 위해 모델이 집중하는 영역을 정교하게 조정하는데 효과적이지만, Test Time Adaptation (TTA) 과의 호환성 측면에서는 한계를 가짐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TTA 시에는 주로 main branch 만 업데이트 되어, 보조 모듈과의 representation alignment 가 깨지게 되어 성능이 급격히 저하됨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BatchNorm Layer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대부분의 TTA 방법론들은 BatchNorm 계층의 통계량을 이용해 파라미터 업데이트를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41"/>
          <p:cNvSpPr txBox="1"/>
          <p:nvPr/>
        </p:nvSpPr>
        <p:spPr>
          <a:xfrm>
            <a:off x="377983" y="4102897"/>
            <a:ext cx="11355308" cy="134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본 연구는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 기반의 batchNorm 구조를 채택하여 다양한 TTA 기법과의 호환성 확보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 없이 하나의 shared network 만을 사용하여 설계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alignment + TTA 안정성을 동시에 달성할 수 있는 구조 제안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"/>
          <p:cNvSpPr/>
          <p:nvPr/>
        </p:nvSpPr>
        <p:spPr>
          <a:xfrm>
            <a:off x="2981129" y="1841531"/>
            <a:ext cx="5936534" cy="1328269"/>
          </a:xfrm>
          <a:prstGeom prst="roundRect">
            <a:avLst>
              <a:gd name="adj" fmla="val 7440"/>
            </a:avLst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2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2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2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2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2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2"/>
          <p:cNvSpPr/>
          <p:nvPr/>
        </p:nvSpPr>
        <p:spPr>
          <a:xfrm>
            <a:off x="2915590" y="1742876"/>
            <a:ext cx="6133168" cy="4611586"/>
          </a:xfrm>
          <a:prstGeom prst="rect">
            <a:avLst/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2"/>
          <p:cNvSpPr/>
          <p:nvPr/>
        </p:nvSpPr>
        <p:spPr>
          <a:xfrm rot="5400000">
            <a:off x="6158015" y="5888216"/>
            <a:ext cx="374803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 rot="5400000">
            <a:off x="6488098" y="4356976"/>
            <a:ext cx="1297708" cy="17522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626163" y="3703233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4626162" y="4984597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4594013" y="2311847"/>
            <a:ext cx="2267526" cy="164357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42" descr="금속, 번호, 디자인이(가) 표시된 사진&#10;&#10;AI가 생성한 콘텐츠는 부정확할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9233" y="2057970"/>
            <a:ext cx="1487055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2" descr="어둠, 블랙이(가) 표시된 사진&#10;&#10;AI가 생성한 콘텐츠는 부정확할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9233" y="3380422"/>
            <a:ext cx="1487054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9233" y="4652985"/>
            <a:ext cx="1487054" cy="83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3435560" y="2846246"/>
            <a:ext cx="914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2"/>
          <p:cNvSpPr txBox="1"/>
          <p:nvPr/>
        </p:nvSpPr>
        <p:spPr>
          <a:xfrm>
            <a:off x="3292396" y="4216890"/>
            <a:ext cx="120072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mask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3149233" y="5489452"/>
            <a:ext cx="148705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cam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42"/>
          <p:cNvGrpSpPr/>
          <p:nvPr/>
        </p:nvGrpSpPr>
        <p:grpSpPr>
          <a:xfrm>
            <a:off x="6788746" y="4077772"/>
            <a:ext cx="1039094" cy="618217"/>
            <a:chOff x="5830454" y="3963272"/>
            <a:chExt cx="1039094" cy="618217"/>
          </a:xfrm>
        </p:grpSpPr>
        <p:sp>
          <p:nvSpPr>
            <p:cNvPr id="235" name="Google Shape;235;p42"/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2"/>
            <p:cNvSpPr txBox="1"/>
            <p:nvPr/>
          </p:nvSpPr>
          <p:spPr>
            <a:xfrm>
              <a:off x="5892801" y="4133880"/>
              <a:ext cx="914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KL div loss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42"/>
          <p:cNvSpPr/>
          <p:nvPr/>
        </p:nvSpPr>
        <p:spPr>
          <a:xfrm rot="5400000">
            <a:off x="6999184" y="1964085"/>
            <a:ext cx="618217" cy="10390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2"/>
          <p:cNvSpPr txBox="1"/>
          <p:nvPr/>
        </p:nvSpPr>
        <p:spPr>
          <a:xfrm>
            <a:off x="6851093" y="2345133"/>
            <a:ext cx="91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 loss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42"/>
          <p:cNvGrpSpPr/>
          <p:nvPr/>
        </p:nvGrpSpPr>
        <p:grpSpPr>
          <a:xfrm>
            <a:off x="4972527" y="2000530"/>
            <a:ext cx="1891269" cy="3764414"/>
            <a:chOff x="7906918" y="1953749"/>
            <a:chExt cx="1891269" cy="3764414"/>
          </a:xfrm>
        </p:grpSpPr>
        <p:sp>
          <p:nvSpPr>
            <p:cNvPr id="240" name="Google Shape;240;p42"/>
            <p:cNvSpPr/>
            <p:nvPr/>
          </p:nvSpPr>
          <p:spPr>
            <a:xfrm rot="5400000">
              <a:off x="6563362" y="3297305"/>
              <a:ext cx="3638457" cy="951345"/>
            </a:xfrm>
            <a:prstGeom prst="trapezoid">
              <a:avLst>
                <a:gd name="adj" fmla="val 18204"/>
              </a:avLst>
            </a:prstGeom>
            <a:solidFill>
              <a:srgbClr val="F2F2F2"/>
            </a:solidFill>
            <a:ln w="12700" cap="flat" cmpd="sng">
              <a:solidFill>
                <a:srgbClr val="45454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2"/>
            <p:cNvSpPr txBox="1"/>
            <p:nvPr/>
          </p:nvSpPr>
          <p:spPr>
            <a:xfrm>
              <a:off x="7925391" y="3466066"/>
              <a:ext cx="914400" cy="613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2"/>
            <p:cNvSpPr txBox="1"/>
            <p:nvPr/>
          </p:nvSpPr>
          <p:spPr>
            <a:xfrm>
              <a:off x="8883787" y="5383007"/>
              <a:ext cx="914400" cy="335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FC layer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42"/>
          <p:cNvSpPr txBox="1"/>
          <p:nvPr/>
        </p:nvSpPr>
        <p:spPr>
          <a:xfrm>
            <a:off x="8492755" y="2767094"/>
            <a:ext cx="5172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8604952" y="5905276"/>
            <a:ext cx="3417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2"/>
          <p:cNvSpPr/>
          <p:nvPr/>
        </p:nvSpPr>
        <p:spPr>
          <a:xfrm rot="5400000">
            <a:off x="4705359" y="3638908"/>
            <a:ext cx="3284994" cy="39716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6260112" y="2384551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2"/>
          <p:cNvSpPr txBox="1"/>
          <p:nvPr/>
        </p:nvSpPr>
        <p:spPr>
          <a:xfrm rot="5400000">
            <a:off x="6010840" y="3575882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3835303" y="6046306"/>
            <a:ext cx="259541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2"/>
          <p:cNvSpPr/>
          <p:nvPr/>
        </p:nvSpPr>
        <p:spPr>
          <a:xfrm rot="5400000">
            <a:off x="3760017" y="5955764"/>
            <a:ext cx="32713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3730442" y="5751062"/>
            <a:ext cx="383308" cy="168330"/>
          </a:xfrm>
          <a:prstGeom prst="triangle">
            <a:avLst>
              <a:gd name="adj" fmla="val 50000"/>
            </a:avLst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6260112" y="287195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6260112" y="328724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6260112" y="4225996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6260112" y="4753699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6260112" y="517087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11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3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3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3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5471707" y="1983000"/>
            <a:ext cx="6458329" cy="116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 ① 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학습 epoch E &lt; (total_epoch/2)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이미지만을 입력으로 사용하여 모델 학습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기본적인 분류 능력을 갖추고, 안정적인 attention (Grad-CAM) 을 형성하도록 함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72" y="1952318"/>
            <a:ext cx="5385435" cy="422464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/>
        </p:nvSpPr>
        <p:spPr>
          <a:xfrm>
            <a:off x="5471707" y="3102235"/>
            <a:ext cx="6779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 ②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후반부 epoch E &gt; (total_epoch/2)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이미지와 함께 Grad-CAM 이미지와 defect mask image를 추가적으로 입력하여 모델 학습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주목하는 시각 영역(Grad CAM)과 실제 결함이 존재하는 영역(mask)을 정렬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Grad-CAM으로 강조된 영역과 defect mask image로 추출한 feature에 대해, 각각 GAP와 softmax를 적용한 후의 분포 간 Kullback-Leibler Divergence를 계산하여 loss로 사용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4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4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4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4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70775"/>
            <a:ext cx="5385435" cy="422464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4"/>
          <p:cNvSpPr txBox="1"/>
          <p:nvPr/>
        </p:nvSpPr>
        <p:spPr>
          <a:xfrm>
            <a:off x="5825216" y="4268070"/>
            <a:ext cx="5436424" cy="6878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23" r="-559" b="-53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825216" y="1870775"/>
            <a:ext cx="3646538" cy="19236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3176" t="-2221" r="-1170" b="-38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6" name="Google Shape;286;p44"/>
          <p:cNvSpPr/>
          <p:nvPr/>
        </p:nvSpPr>
        <p:spPr>
          <a:xfrm>
            <a:off x="5634022" y="1775013"/>
            <a:ext cx="4028925" cy="2115127"/>
          </a:xfrm>
          <a:prstGeom prst="rect">
            <a:avLst/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2" name="Google Shape;292;p45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45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45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4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5"/>
          <p:cNvSpPr txBox="1"/>
          <p:nvPr/>
        </p:nvSpPr>
        <p:spPr>
          <a:xfrm>
            <a:off x="377983" y="1502868"/>
            <a:ext cx="11355308" cy="10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일반적인 상황에서 촬영한 기본 촬영 조건과, 각기 다른 3개의 촬영 조건이 포함된 총 4개의 도메인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45"/>
          <p:cNvSpPr txBox="1"/>
          <p:nvPr/>
        </p:nvSpPr>
        <p:spPr>
          <a:xfrm>
            <a:off x="4713737" y="5978444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7328524" y="1127967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45"/>
          <p:cNvGrpSpPr/>
          <p:nvPr/>
        </p:nvGrpSpPr>
        <p:grpSpPr>
          <a:xfrm>
            <a:off x="6055637" y="3199366"/>
            <a:ext cx="5255415" cy="2301313"/>
            <a:chOff x="360539" y="4140882"/>
            <a:chExt cx="5255415" cy="2301313"/>
          </a:xfrm>
        </p:grpSpPr>
        <p:pic>
          <p:nvPicPr>
            <p:cNvPr id="302" name="Google Shape;302;p45"/>
            <p:cNvPicPr preferRelativeResize="0"/>
            <p:nvPr/>
          </p:nvPicPr>
          <p:blipFill rotWithShape="1">
            <a:blip r:embed="rId3">
              <a:alphaModFix/>
            </a:blip>
            <a:srcRect l="68681" t="49674" r="1716" b="7862"/>
            <a:stretch/>
          </p:blipFill>
          <p:spPr>
            <a:xfrm>
              <a:off x="3888433" y="5305523"/>
              <a:ext cx="1727521" cy="91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45"/>
            <p:cNvPicPr preferRelativeResize="0"/>
            <p:nvPr/>
          </p:nvPicPr>
          <p:blipFill rotWithShape="1">
            <a:blip r:embed="rId3">
              <a:alphaModFix/>
            </a:blip>
            <a:srcRect r="70724" b="56101"/>
            <a:stretch/>
          </p:blipFill>
          <p:spPr>
            <a:xfrm>
              <a:off x="360539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45"/>
            <p:cNvPicPr preferRelativeResize="0"/>
            <p:nvPr/>
          </p:nvPicPr>
          <p:blipFill rotWithShape="1">
            <a:blip r:embed="rId3">
              <a:alphaModFix/>
            </a:blip>
            <a:srcRect t="49309" r="70724" b="6791"/>
            <a:stretch/>
          </p:blipFill>
          <p:spPr>
            <a:xfrm>
              <a:off x="360539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45"/>
            <p:cNvPicPr preferRelativeResize="0"/>
            <p:nvPr/>
          </p:nvPicPr>
          <p:blipFill rotWithShape="1">
            <a:blip r:embed="rId3">
              <a:alphaModFix/>
            </a:blip>
            <a:srcRect l="34340" r="36384" b="56101"/>
            <a:stretch/>
          </p:blipFill>
          <p:spPr>
            <a:xfrm>
              <a:off x="2104444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45"/>
            <p:cNvPicPr preferRelativeResize="0"/>
            <p:nvPr/>
          </p:nvPicPr>
          <p:blipFill rotWithShape="1">
            <a:blip r:embed="rId3">
              <a:alphaModFix/>
            </a:blip>
            <a:srcRect l="34340" t="48841" r="36384" b="7260"/>
            <a:stretch/>
          </p:blipFill>
          <p:spPr>
            <a:xfrm>
              <a:off x="2104444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45"/>
            <p:cNvPicPr preferRelativeResize="0"/>
            <p:nvPr/>
          </p:nvPicPr>
          <p:blipFill rotWithShape="1">
            <a:blip r:embed="rId3">
              <a:alphaModFix/>
            </a:blip>
            <a:srcRect l="68681" t="983" r="1716" b="57326"/>
            <a:stretch/>
          </p:blipFill>
          <p:spPr>
            <a:xfrm>
              <a:off x="3888433" y="4140882"/>
              <a:ext cx="1727521" cy="902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45"/>
            <p:cNvSpPr txBox="1"/>
            <p:nvPr/>
          </p:nvSpPr>
          <p:spPr>
            <a:xfrm>
              <a:off x="953479" y="5040587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5"/>
            <p:cNvSpPr txBox="1"/>
            <p:nvPr/>
          </p:nvSpPr>
          <p:spPr>
            <a:xfrm>
              <a:off x="953479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pin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5"/>
            <p:cNvSpPr txBox="1"/>
            <p:nvPr/>
          </p:nvSpPr>
          <p:spPr>
            <a:xfrm>
              <a:off x="2704045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dent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5"/>
            <p:cNvSpPr txBox="1"/>
            <p:nvPr/>
          </p:nvSpPr>
          <p:spPr>
            <a:xfrm>
              <a:off x="4490048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glue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45"/>
            <p:cNvSpPr txBox="1"/>
            <p:nvPr/>
          </p:nvSpPr>
          <p:spPr>
            <a:xfrm>
              <a:off x="2489383" y="50445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scratch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5"/>
            <p:cNvSpPr txBox="1"/>
            <p:nvPr/>
          </p:nvSpPr>
          <p:spPr>
            <a:xfrm>
              <a:off x="4292487" y="50282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fm</a:t>
              </a: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14" name="Google Shape;314;p45"/>
          <p:cNvGraphicFramePr/>
          <p:nvPr/>
        </p:nvGraphicFramePr>
        <p:xfrm>
          <a:off x="1113913" y="37528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{8CAF562C-1A7C-4787-A7C5-269FAF0E2DD1}</a:tableStyleId>
              </a:tblPr>
              <a:tblGrid>
                <a:gridCol w="9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Defect Meaning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Dent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hollow on black surface 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Scratch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to scrape or dig on black surface by sharpness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Pin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pin bent or deformed 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F.M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KR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foreign materials in pin hole 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Glue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KR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something sticky on black surface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0" name="Google Shape;320;p46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46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46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377983" y="1502868"/>
            <a:ext cx="11355308" cy="134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촬영 조건과, 각기 다른 3개의 촬영 조건이 포함된 총 4개의 도메인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환경들은 환경이 변화하는 정도에 따라 4단계로 나뉨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4660946" y="6291215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/>
          </a:blip>
          <a:srcRect t="1522" b="1523"/>
          <a:stretch/>
        </p:blipFill>
        <p:spPr>
          <a:xfrm>
            <a:off x="263053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46"/>
          <p:cNvGrpSpPr/>
          <p:nvPr/>
        </p:nvGrpSpPr>
        <p:grpSpPr>
          <a:xfrm>
            <a:off x="377983" y="3931592"/>
            <a:ext cx="1944174" cy="1396378"/>
            <a:chOff x="765943" y="3986544"/>
            <a:chExt cx="1724411" cy="1238536"/>
          </a:xfrm>
        </p:grpSpPr>
        <p:pic>
          <p:nvPicPr>
            <p:cNvPr id="330" name="Google Shape;330;p46"/>
            <p:cNvPicPr preferRelativeResize="0"/>
            <p:nvPr/>
          </p:nvPicPr>
          <p:blipFill rotWithShape="1">
            <a:blip r:embed="rId4">
              <a:alphaModFix/>
            </a:blip>
            <a:srcRect t="44498" r="75153" b="32575"/>
            <a:stretch/>
          </p:blipFill>
          <p:spPr>
            <a:xfrm>
              <a:off x="765943" y="3986544"/>
              <a:ext cx="1724411" cy="10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46"/>
            <p:cNvSpPr txBox="1"/>
            <p:nvPr/>
          </p:nvSpPr>
          <p:spPr>
            <a:xfrm>
              <a:off x="1059255" y="4948081"/>
              <a:ext cx="10992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Default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46"/>
          <p:cNvSpPr txBox="1"/>
          <p:nvPr/>
        </p:nvSpPr>
        <p:spPr>
          <a:xfrm>
            <a:off x="10968334" y="3533552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Lcondition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10968333" y="4523229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6"/>
          <p:cNvSpPr txBox="1"/>
          <p:nvPr/>
        </p:nvSpPr>
        <p:spPr>
          <a:xfrm>
            <a:off x="10962348" y="5507998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Cameraz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46"/>
          <p:cNvGraphicFramePr/>
          <p:nvPr/>
        </p:nvGraphicFramePr>
        <p:xfrm>
          <a:off x="7828107" y="14667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{8CAF562C-1A7C-4787-A7C5-269FAF0E2DD1}</a:tableStyleId>
              </a:tblPr>
              <a:tblGrid>
                <a:gridCol w="9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Environment Meaning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Change in the environment caused by light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Variation according to lighting brightness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Changes due to camera focus shaking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6" name="Google Shape;336;p46"/>
          <p:cNvPicPr preferRelativeResize="0"/>
          <p:nvPr/>
        </p:nvPicPr>
        <p:blipFill rotWithShape="1">
          <a:blip r:embed="rId5">
            <a:alphaModFix/>
          </a:blip>
          <a:srcRect t="1522" b="1523"/>
          <a:stretch/>
        </p:blipFill>
        <p:spPr>
          <a:xfrm>
            <a:off x="430922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6"/>
          <p:cNvPicPr preferRelativeResize="0"/>
          <p:nvPr/>
        </p:nvPicPr>
        <p:blipFill rotWithShape="1">
          <a:blip r:embed="rId6">
            <a:alphaModFix/>
          </a:blip>
          <a:srcRect t="1522" b="1523"/>
          <a:stretch/>
        </p:blipFill>
        <p:spPr>
          <a:xfrm>
            <a:off x="598791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6"/>
          <p:cNvPicPr preferRelativeResize="0"/>
          <p:nvPr/>
        </p:nvPicPr>
        <p:blipFill rotWithShape="1">
          <a:blip r:embed="rId7">
            <a:alphaModFix/>
          </a:blip>
          <a:srcRect t="1522" b="1523"/>
          <a:stretch/>
        </p:blipFill>
        <p:spPr>
          <a:xfrm>
            <a:off x="766660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6"/>
          <p:cNvPicPr preferRelativeResize="0"/>
          <p:nvPr/>
        </p:nvPicPr>
        <p:blipFill rotWithShape="1">
          <a:blip r:embed="rId8">
            <a:alphaModFix/>
          </a:blip>
          <a:srcRect t="1522" b="1523"/>
          <a:stretch/>
        </p:blipFill>
        <p:spPr>
          <a:xfrm>
            <a:off x="934529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6"/>
          <p:cNvPicPr preferRelativeResize="0"/>
          <p:nvPr/>
        </p:nvPicPr>
        <p:blipFill rotWithShape="1">
          <a:blip r:embed="rId9">
            <a:alphaModFix/>
          </a:blip>
          <a:srcRect t="1522" b="1523"/>
          <a:stretch/>
        </p:blipFill>
        <p:spPr>
          <a:xfrm>
            <a:off x="263053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6"/>
          <p:cNvPicPr preferRelativeResize="0"/>
          <p:nvPr/>
        </p:nvPicPr>
        <p:blipFill rotWithShape="1">
          <a:blip r:embed="rId10">
            <a:alphaModFix/>
          </a:blip>
          <a:srcRect t="1522" b="1523"/>
          <a:stretch/>
        </p:blipFill>
        <p:spPr>
          <a:xfrm>
            <a:off x="430922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6"/>
          <p:cNvPicPr preferRelativeResize="0"/>
          <p:nvPr/>
        </p:nvPicPr>
        <p:blipFill rotWithShape="1">
          <a:blip r:embed="rId11">
            <a:alphaModFix/>
          </a:blip>
          <a:srcRect t="1522" b="1523"/>
          <a:stretch/>
        </p:blipFill>
        <p:spPr>
          <a:xfrm>
            <a:off x="598791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6"/>
          <p:cNvPicPr preferRelativeResize="0"/>
          <p:nvPr/>
        </p:nvPicPr>
        <p:blipFill rotWithShape="1">
          <a:blip r:embed="rId12">
            <a:alphaModFix/>
          </a:blip>
          <a:srcRect t="1522" b="1523"/>
          <a:stretch/>
        </p:blipFill>
        <p:spPr>
          <a:xfrm>
            <a:off x="766660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/>
          <p:cNvPicPr preferRelativeResize="0"/>
          <p:nvPr/>
        </p:nvPicPr>
        <p:blipFill rotWithShape="1">
          <a:blip r:embed="rId13">
            <a:alphaModFix/>
          </a:blip>
          <a:srcRect t="1522" b="1523"/>
          <a:stretch/>
        </p:blipFill>
        <p:spPr>
          <a:xfrm>
            <a:off x="934529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6"/>
          <p:cNvPicPr preferRelativeResize="0"/>
          <p:nvPr/>
        </p:nvPicPr>
        <p:blipFill rotWithShape="1">
          <a:blip r:embed="rId14">
            <a:alphaModFix/>
          </a:blip>
          <a:srcRect t="1522" b="1523"/>
          <a:stretch/>
        </p:blipFill>
        <p:spPr>
          <a:xfrm>
            <a:off x="263053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/>
          <p:cNvPicPr preferRelativeResize="0"/>
          <p:nvPr/>
        </p:nvPicPr>
        <p:blipFill rotWithShape="1">
          <a:blip r:embed="rId15">
            <a:alphaModFix/>
          </a:blip>
          <a:srcRect t="1522" b="1523"/>
          <a:stretch/>
        </p:blipFill>
        <p:spPr>
          <a:xfrm>
            <a:off x="430922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6"/>
          <p:cNvPicPr preferRelativeResize="0"/>
          <p:nvPr/>
        </p:nvPicPr>
        <p:blipFill rotWithShape="1">
          <a:blip r:embed="rId16">
            <a:alphaModFix/>
          </a:blip>
          <a:srcRect t="1522" b="1523"/>
          <a:stretch/>
        </p:blipFill>
        <p:spPr>
          <a:xfrm>
            <a:off x="598791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6"/>
          <p:cNvPicPr preferRelativeResize="0"/>
          <p:nvPr/>
        </p:nvPicPr>
        <p:blipFill rotWithShape="1">
          <a:blip r:embed="rId17">
            <a:alphaModFix/>
          </a:blip>
          <a:srcRect t="1522" b="1523"/>
          <a:stretch/>
        </p:blipFill>
        <p:spPr>
          <a:xfrm>
            <a:off x="766660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6"/>
          <p:cNvPicPr preferRelativeResize="0"/>
          <p:nvPr/>
        </p:nvPicPr>
        <p:blipFill rotWithShape="1">
          <a:blip r:embed="rId18">
            <a:alphaModFix/>
          </a:blip>
          <a:srcRect t="1522" b="1523"/>
          <a:stretch/>
        </p:blipFill>
        <p:spPr>
          <a:xfrm>
            <a:off x="934529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 txBox="1"/>
          <p:nvPr/>
        </p:nvSpPr>
        <p:spPr>
          <a:xfrm>
            <a:off x="293003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460872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6"/>
          <p:cNvSpPr txBox="1"/>
          <p:nvPr/>
        </p:nvSpPr>
        <p:spPr>
          <a:xfrm>
            <a:off x="628741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796610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6"/>
          <p:cNvSpPr txBox="1"/>
          <p:nvPr/>
        </p:nvSpPr>
        <p:spPr>
          <a:xfrm>
            <a:off x="964479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60" name="Google Shape;360;p47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47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47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설정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377983" y="1502868"/>
            <a:ext cx="11355308" cy="360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 Network : ResNet-101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SGD(lr=0.01), Cosine Annealing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size : 32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 : 100 (50 epoch 동안 stage 1 / 이후 stage 2)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반복 실험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방법론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(Domain Shift)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72" name="Google Shape;372;p48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48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377983" y="1502868"/>
            <a:ext cx="11355308" cy="19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미세하고 희미한 결함 탐지를 보다 정밀하게 수행하면서, 다양한 Test-Time Adaptation(TTA) 기법들과 호환될 수 있는 구조를 제안함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브랜치나 기타 모듈 없이 단일 Share Network 구조만으로 모델이 집중하는 attention 영역을 정렬할 수 있는 구조를 설계함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 기반 attention map 과 결함 mask 간 logit 정렬을 통해 모델이 실제 결함 부위에 주목하도록 유도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구조는 ResNet 기반 BatchNorm 활용으로 다양한 TTA 방법들과 접목 가능하며, 실험에서도 높은 도메인 적응 성능을 보임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결과적으로, 제안된 프레임워크는 정확한 결함 탐지와 안정적인 도메인 적응을 동시에 달성할 수 있음을 입증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217001" y="3950847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향후 연구 방향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377983" y="4382637"/>
            <a:ext cx="11355308" cy="37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86" name="Google Shape;386;p49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49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4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참고 문헌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0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0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800"/>
              <a:buFont typeface="Malgun Gothic"/>
              <a:buNone/>
            </a:pPr>
            <a:r>
              <a:rPr lang="en-US" sz="18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18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9" name="Google Shape;399;p50"/>
          <p:cNvCxnSpPr/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w="571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" name="Google Shape;400;p50"/>
          <p:cNvCxnSpPr/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w="190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1379</Words>
  <Application>Microsoft Office PowerPoint</Application>
  <PresentationFormat>와이드스크린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Malgun Gothic</vt:lpstr>
      <vt:lpstr>Calibri</vt:lpstr>
      <vt:lpstr>Noto Sans KR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김나연</dc:creator>
  <cp:lastModifiedBy>LeeSungHo</cp:lastModifiedBy>
  <cp:revision>2</cp:revision>
  <dcterms:created xsi:type="dcterms:W3CDTF">2024-03-04T06:06:06Z</dcterms:created>
  <dcterms:modified xsi:type="dcterms:W3CDTF">2025-05-18T23:27:10Z</dcterms:modified>
</cp:coreProperties>
</file>