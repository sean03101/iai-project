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Noto Sans KR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jqcryHVc6hX/zMkuuBHRlLOkH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647E32-8D82-45E8-9975-F14BC089D919}">
  <a:tblStyle styleId="{1C647E32-8D82-45E8-9975-F14BC089D91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6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6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otoSansKR-bold.fntdata"/><Relationship Id="rId14" Type="http://schemas.openxmlformats.org/officeDocument/2006/relationships/font" Target="fonts/NotoSansKR-regular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&#53685;&#54633;%20&#47928;&#49436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Loss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Sheet1!$A$2:$A$61</c:f>
              <c:numCache>
                <c:formatCode>General</c:formatCode>
                <c:ptCount val="60"/>
                <c:pt idx="0">
                  <c:v>1.1546000000000001</c:v>
                </c:pt>
                <c:pt idx="1">
                  <c:v>0.2225</c:v>
                </c:pt>
                <c:pt idx="2">
                  <c:v>8.0299999999999996E-2</c:v>
                </c:pt>
                <c:pt idx="3">
                  <c:v>6.4600000000000005E-2</c:v>
                </c:pt>
                <c:pt idx="4">
                  <c:v>6.4799999999999996E-2</c:v>
                </c:pt>
                <c:pt idx="5">
                  <c:v>7.3999999999999996E-2</c:v>
                </c:pt>
                <c:pt idx="6">
                  <c:v>0.113</c:v>
                </c:pt>
                <c:pt idx="7">
                  <c:v>0.1883</c:v>
                </c:pt>
                <c:pt idx="8">
                  <c:v>0.29370000000000002</c:v>
                </c:pt>
                <c:pt idx="9">
                  <c:v>0.39129999999999998</c:v>
                </c:pt>
                <c:pt idx="10">
                  <c:v>0.39610000000000001</c:v>
                </c:pt>
                <c:pt idx="11">
                  <c:v>0.34110000000000001</c:v>
                </c:pt>
                <c:pt idx="12">
                  <c:v>0.25030000000000002</c:v>
                </c:pt>
                <c:pt idx="13">
                  <c:v>0.17949999999999999</c:v>
                </c:pt>
                <c:pt idx="14">
                  <c:v>0.13239999999999999</c:v>
                </c:pt>
                <c:pt idx="15">
                  <c:v>0.1013</c:v>
                </c:pt>
                <c:pt idx="16">
                  <c:v>8.7400000000000005E-2</c:v>
                </c:pt>
                <c:pt idx="17">
                  <c:v>7.8200000000000006E-2</c:v>
                </c:pt>
                <c:pt idx="18">
                  <c:v>7.9200000000000007E-2</c:v>
                </c:pt>
                <c:pt idx="19">
                  <c:v>9.4899999999999998E-2</c:v>
                </c:pt>
                <c:pt idx="20">
                  <c:v>0.15029999999999999</c:v>
                </c:pt>
                <c:pt idx="21">
                  <c:v>0.24440000000000001</c:v>
                </c:pt>
                <c:pt idx="22">
                  <c:v>0.34129999999999999</c:v>
                </c:pt>
                <c:pt idx="23">
                  <c:v>0.3982</c:v>
                </c:pt>
                <c:pt idx="24">
                  <c:v>0.38840000000000002</c:v>
                </c:pt>
                <c:pt idx="25">
                  <c:v>0.30659999999999998</c:v>
                </c:pt>
                <c:pt idx="26">
                  <c:v>0.21829999999999999</c:v>
                </c:pt>
                <c:pt idx="27">
                  <c:v>0.1633</c:v>
                </c:pt>
                <c:pt idx="28">
                  <c:v>0.1236</c:v>
                </c:pt>
                <c:pt idx="29">
                  <c:v>0.1067</c:v>
                </c:pt>
                <c:pt idx="30">
                  <c:v>0.1439</c:v>
                </c:pt>
                <c:pt idx="31">
                  <c:v>0.4229</c:v>
                </c:pt>
                <c:pt idx="32">
                  <c:v>0.77910000000000001</c:v>
                </c:pt>
                <c:pt idx="33">
                  <c:v>0.25390000000000001</c:v>
                </c:pt>
                <c:pt idx="34">
                  <c:v>7.7700000000000005E-2</c:v>
                </c:pt>
                <c:pt idx="35">
                  <c:v>8.1299999999999997E-2</c:v>
                </c:pt>
                <c:pt idx="36">
                  <c:v>0.1009</c:v>
                </c:pt>
                <c:pt idx="37">
                  <c:v>0.16070000000000001</c:v>
                </c:pt>
                <c:pt idx="38">
                  <c:v>0.23380000000000001</c:v>
                </c:pt>
                <c:pt idx="39">
                  <c:v>0.30020000000000002</c:v>
                </c:pt>
                <c:pt idx="40">
                  <c:v>0.3473</c:v>
                </c:pt>
                <c:pt idx="41">
                  <c:v>0.36470000000000002</c:v>
                </c:pt>
                <c:pt idx="42">
                  <c:v>0.32340000000000002</c:v>
                </c:pt>
                <c:pt idx="43">
                  <c:v>0.25240000000000001</c:v>
                </c:pt>
                <c:pt idx="44">
                  <c:v>0.21809999999999999</c:v>
                </c:pt>
                <c:pt idx="45">
                  <c:v>0.19420000000000001</c:v>
                </c:pt>
                <c:pt idx="46">
                  <c:v>0.16719999999999999</c:v>
                </c:pt>
                <c:pt idx="47">
                  <c:v>0.14199999999999999</c:v>
                </c:pt>
                <c:pt idx="48">
                  <c:v>0.1205</c:v>
                </c:pt>
                <c:pt idx="49">
                  <c:v>0.1066</c:v>
                </c:pt>
                <c:pt idx="50">
                  <c:v>9.6000000000000002E-2</c:v>
                </c:pt>
                <c:pt idx="51">
                  <c:v>9.1800000000000007E-2</c:v>
                </c:pt>
                <c:pt idx="52">
                  <c:v>9.2200000000000004E-2</c:v>
                </c:pt>
                <c:pt idx="53">
                  <c:v>0.1021</c:v>
                </c:pt>
                <c:pt idx="54">
                  <c:v>0.13780000000000001</c:v>
                </c:pt>
                <c:pt idx="55">
                  <c:v>0.19120000000000001</c:v>
                </c:pt>
                <c:pt idx="56">
                  <c:v>0.27329999999999999</c:v>
                </c:pt>
                <c:pt idx="57">
                  <c:v>0.35139999999999999</c:v>
                </c:pt>
                <c:pt idx="58">
                  <c:v>0.38200000000000001</c:v>
                </c:pt>
                <c:pt idx="59">
                  <c:v>0.3765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96-4CF2-A406-0E3FA1D6F0CA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Sheet1!$B$2:$B$61</c:f>
              <c:numCache>
                <c:formatCode>General</c:formatCode>
                <c:ptCount val="6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0.99690000000000001</c:v>
                </c:pt>
                <c:pt idx="7">
                  <c:v>0.99380000000000002</c:v>
                </c:pt>
                <c:pt idx="8">
                  <c:v>0.99380000000000002</c:v>
                </c:pt>
                <c:pt idx="9">
                  <c:v>0.99060000000000004</c:v>
                </c:pt>
                <c:pt idx="10">
                  <c:v>0.98119999999999996</c:v>
                </c:pt>
                <c:pt idx="11">
                  <c:v>0.98119999999999996</c:v>
                </c:pt>
                <c:pt idx="12">
                  <c:v>0.98119999999999996</c:v>
                </c:pt>
                <c:pt idx="13">
                  <c:v>0.98119999999999996</c:v>
                </c:pt>
                <c:pt idx="14">
                  <c:v>0.98119999999999996</c:v>
                </c:pt>
                <c:pt idx="15">
                  <c:v>0.99380000000000002</c:v>
                </c:pt>
                <c:pt idx="16">
                  <c:v>0.99380000000000002</c:v>
                </c:pt>
                <c:pt idx="17">
                  <c:v>0.99690000000000001</c:v>
                </c:pt>
                <c:pt idx="18">
                  <c:v>0.99690000000000001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0.99690000000000001</c:v>
                </c:pt>
                <c:pt idx="24">
                  <c:v>0.99690000000000001</c:v>
                </c:pt>
                <c:pt idx="25">
                  <c:v>0.99690000000000001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0.99690000000000001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0.99380000000000002</c:v>
                </c:pt>
                <c:pt idx="41">
                  <c:v>0.99380000000000002</c:v>
                </c:pt>
                <c:pt idx="42">
                  <c:v>0.99380000000000002</c:v>
                </c:pt>
                <c:pt idx="43">
                  <c:v>0.99380000000000002</c:v>
                </c:pt>
                <c:pt idx="44">
                  <c:v>0.99380000000000002</c:v>
                </c:pt>
                <c:pt idx="45">
                  <c:v>0.99380000000000002</c:v>
                </c:pt>
                <c:pt idx="46">
                  <c:v>0.99380000000000002</c:v>
                </c:pt>
                <c:pt idx="47">
                  <c:v>0.99380000000000002</c:v>
                </c:pt>
                <c:pt idx="48">
                  <c:v>0.99380000000000002</c:v>
                </c:pt>
                <c:pt idx="49">
                  <c:v>0.99380000000000002</c:v>
                </c:pt>
                <c:pt idx="50">
                  <c:v>0.99380000000000002</c:v>
                </c:pt>
                <c:pt idx="51">
                  <c:v>0.99380000000000002</c:v>
                </c:pt>
                <c:pt idx="52">
                  <c:v>0.99380000000000002</c:v>
                </c:pt>
                <c:pt idx="53">
                  <c:v>0.99380000000000002</c:v>
                </c:pt>
                <c:pt idx="54">
                  <c:v>0.99380000000000002</c:v>
                </c:pt>
                <c:pt idx="55">
                  <c:v>0.99380000000000002</c:v>
                </c:pt>
                <c:pt idx="56">
                  <c:v>0.99380000000000002</c:v>
                </c:pt>
                <c:pt idx="57">
                  <c:v>0.98119999999999996</c:v>
                </c:pt>
                <c:pt idx="58">
                  <c:v>0.95309999999999995</c:v>
                </c:pt>
                <c:pt idx="59">
                  <c:v>0.99060000000000004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96-4CF2-A406-0E3FA1D6F0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0708176"/>
        <c:axId val="1120714896"/>
      </c:lineChart>
      <c:catAx>
        <c:axId val="112070817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20714896"/>
        <c:crosses val="autoZero"/>
        <c:auto val="1"/>
        <c:lblAlgn val="ctr"/>
        <c:lblOffset val="100"/>
        <c:tickMarkSkip val="5"/>
        <c:noMultiLvlLbl val="0"/>
      </c:catAx>
      <c:valAx>
        <c:axId val="1120714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20708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200">
                <a:solidFill>
                  <a:srgbClr val="747474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rgbClr val="747474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model 에 따라 다르게 나올까 싶었지만 대부분 다 lightness TTA 를 선택함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10" Type="http://schemas.openxmlformats.org/officeDocument/2006/relationships/image" Target="../media/image4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242600" y="575626"/>
            <a:ext cx="107010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된 이미지들에 대한 Loss 를 예측하는 별도의 모듈 학습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모듈을 통해 가장 loss 가 낮을 것으로 예상되는 방법을 선택하여 TTA 적용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Learning Loss for Test Time Augmentation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2362" y="1321572"/>
            <a:ext cx="76848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ABAB"/>
                </a:solidFill>
                <a:latin typeface="Noto Sans KR"/>
                <a:ea typeface="Noto Sans KR"/>
                <a:cs typeface="Noto Sans KR"/>
                <a:sym typeface="Noto Sans KR"/>
              </a:rPr>
              <a:t>(augmentation)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lightness / brightness / clahe / cameraz 각각 augment 정도 0~4</a:t>
            </a:r>
            <a:endParaRPr/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ABAB"/>
                </a:solidFill>
                <a:latin typeface="Noto Sans KR"/>
                <a:ea typeface="Noto Sans KR"/>
                <a:cs typeface="Noto Sans KR"/>
                <a:sym typeface="Noto Sans KR"/>
              </a:rPr>
              <a:t>(target model) 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Online Augmentation 을 적용하여 학습한 ResNet101 </a:t>
            </a:r>
            <a:endParaRPr/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ABAB"/>
                </a:solidFill>
                <a:latin typeface="Noto Sans KR"/>
                <a:ea typeface="Noto Sans KR"/>
                <a:cs typeface="Noto Sans KR"/>
                <a:sym typeface="Noto Sans KR"/>
              </a:rPr>
              <a:t>(loss predict model)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EfficientNet B0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801606" y="2854860"/>
            <a:ext cx="3777600" cy="1444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All | Accuracy: 84.12   f1-score:0.7209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| Accuracy: 87.00   f1-score:0.7620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 | Accuracy: 81.25   f1-score:0.6887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 | Accuracy: 83.00   f1-score:0.6963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Lcondition | Accuracy: 85.25   f1-score:0.7355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30661" l="0" r="0" t="0"/>
          <a:stretch/>
        </p:blipFill>
        <p:spPr>
          <a:xfrm>
            <a:off x="7062631" y="149326"/>
            <a:ext cx="4886769" cy="234449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6438260" y="2854860"/>
            <a:ext cx="3777600" cy="1444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All | Accuracy: 82.81   f1-score:0.7217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| Accuracy: 82.50   f1-score:0.7414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| Accuracy: 83.25   f1-score:0.7710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 | Accuracy: 81.25   f1-score:0.6798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Lcondition | Accuracy: 84.25   f1-score:0.6663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949388" y="4322117"/>
            <a:ext cx="355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Online Aug 후 도메인 별 테스트 결과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549096" y="4322117"/>
            <a:ext cx="355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Loss prediction module 을 이용한 TTA 결과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42596" y="5248453"/>
            <a:ext cx="7484700" cy="76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tta_actions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'n'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'brightness_0'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'brightness_1'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'brightness_2'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'brightness_3'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'brightness_4'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</a:t>
            </a:r>
            <a:r>
              <a:rPr b="0" lang="en-US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'lightness_0'</a:t>
            </a: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'lightness_1'</a:t>
            </a: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'lightness_2'</a:t>
            </a: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'lightness_3'</a:t>
            </a: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'lightness_4'</a:t>
            </a: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</a:t>
            </a:r>
            <a:r>
              <a:rPr b="0" lang="en-US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'clahe_0'</a:t>
            </a: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'clahe_1'</a:t>
            </a: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'clahe_2'</a:t>
            </a: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'clahe_3'</a:t>
            </a: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'clahe_4'</a:t>
            </a: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</a:t>
            </a:r>
            <a:r>
              <a:rPr b="0" lang="en-US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'cameraz_0'</a:t>
            </a: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'cameraz_1'</a:t>
            </a: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'cameraz_2'</a:t>
            </a: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'cameraz_3'</a:t>
            </a: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'cameraz_4’</a:t>
            </a:r>
            <a:r>
              <a:rPr b="0" lang="en-US"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7924800" y="5248452"/>
            <a:ext cx="2059800" cy="76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TTA CNT [0, 0, 0, 0, 0, 0,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      0, 0, 320, 0, 0,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      0, 0, 0, 0, 0,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      0, 0, 0, 0, 0]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135350" y="4808550"/>
            <a:ext cx="1205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TTA 종류별로 몇 개가 선택되었는지 나타냄 -&gt; 대부분 lightness TTA 를 선택 (∵</a:t>
            </a:r>
            <a:r>
              <a:rPr lang="en-US" sz="1200">
                <a:solidFill>
                  <a:srgbClr val="222A35"/>
                </a:solidFill>
                <a:latin typeface="Noto Sans KR"/>
                <a:ea typeface="Noto Sans KR"/>
                <a:cs typeface="Noto Sans KR"/>
                <a:sym typeface="Noto Sans KR"/>
              </a:rPr>
              <a:t>원래 target model 으로부터 나온 실제 loss 값이 lightness 에서 낮은 경향을 보이기 때문으로 추정됨)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92362" y="6097723"/>
            <a:ext cx="1179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Test 시 lightness (간혹 brightness) 가 선택되는 모습을 보임 -&gt; brightness 도메인에서만 성능이 올라간 이유로 생각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7924800" y="6005375"/>
            <a:ext cx="4257900" cy="86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TTA CNT [0, 0, 1096, 0, 0, 0, 0, 0, 406, 0, 0, 0, 0, 0, 0, 0, 0, 0, 0, 0, 98]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Repeat TTA CNT [0, 0, 285, 0, 0, 0, 0, 0, 85, 0, 0, 0, 0, 0, 0, 0, 0, 0, 0, 0, 30]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Brightness TTA CNT [0, 0, 271, 0, 0, 0, 0, 0, 108, 0, 0, 0, 0, 0, 0, 0, 0, 0, 0, 0, 21]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Cameraz TTA CNT [0, 0, 278, 0, 0, 0, 0, 0, 100, 0, 0, 0, 0, 0, 0, 0, 0, 0, 0, 0, 22]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Lcondition TTA CNT [0, 0, 262, 0, 0, 0, 0, 0, 113, 0, 0, 0, 0, 0, 0, 0, 0, 0, 0, 0, 25]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242596" y="765973"/>
            <a:ext cx="107010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🤔 왜 실제 loss 에는 softmin 을 취하고, 예측 loss 에는 softmax 를 적용하는지,,,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242596" y="214584"/>
            <a:ext cx="9862500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Learning Loss for Test Time Augmentation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코드에 대한 의문…</a:t>
            </a:r>
            <a:endParaRPr b="1"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-8724" y="2149019"/>
            <a:ext cx="7000652" cy="470898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US" sz="1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example_id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img_orig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losses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corrects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enumerate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tqdm_loader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.unsqueeze(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batch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append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img_orig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losses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corrects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imgs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torch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cat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b="0" lang="en-US" sz="1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batch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]).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cuda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lbs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torch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cat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b="0" lang="en-US" sz="1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batch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]).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long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cuda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losses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torch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cat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b="0" lang="en-US" sz="1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batch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]).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cuda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corrects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torch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cat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b="0" lang="en-US" sz="1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batch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]).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cuda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imgs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imgs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imgs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imgs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imgs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imgs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imgs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lbs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lbs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lbs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lbs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losses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losses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losses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losses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corrects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corrects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corrects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corrects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softmin_target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torch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nn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.functional.softmin(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losses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.tau,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dim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).detach() </a:t>
            </a:r>
            <a:r>
              <a:rPr b="0" lang="en-US"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#실제loss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_model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imgs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pred_softmax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torch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nn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.functional.softmax(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dim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lang="en-US"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예측 loss</a:t>
            </a:r>
            <a:endParaRPr b="0"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pred_final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pred_softmax</a:t>
            </a:r>
            <a:endParaRPr b="0"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spearman_loss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pred_softmax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softmin_target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_optimizer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loss_total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.decay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torch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norm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.regularization) </a:t>
            </a:r>
            <a:r>
              <a:rPr b="0" lang="en-US" sz="1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params_without_bn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loss_total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.backward()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optimizer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step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optimizer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zero_grad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# SpearmanLoss</a:t>
            </a:r>
            <a:endParaRPr b="0"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예측 rank 와 실제 rank 간 mse 값을 통해 loss 계산</a:t>
            </a:r>
            <a:endParaRPr b="0"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6991928" y="1995130"/>
            <a:ext cx="6105236" cy="486287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SpearmanLoss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torch.nn.Module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sorter_type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seq_len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sorter_state_dict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lbd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t_easy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0.05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SpearmanLoss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sorter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model_loader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sorter_type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seq_len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sorter_state_dict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criterion_mse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torch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nn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MSELoss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reduction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'none'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criterionl1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torch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nn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L1Loss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lbd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lbd</a:t>
            </a:r>
            <a:endParaRPr b="0"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t_easy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t_easy</a:t>
            </a:r>
            <a:endParaRPr b="0"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forward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gt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masked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rank_gt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get_rank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gt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dim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rank_pred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sorter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masked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mask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[:, 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encoded_tta_default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()].unsqueeze(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)).float()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_pred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mask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mask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)).detach()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lang="en-US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torch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torch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eq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_pred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_pred</a:t>
            </a:r>
            <a:endParaRPr b="0"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rank_pred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rank_pred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mask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rank_pred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lang="en-US" sz="1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mask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)).detach()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losses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criterion_mse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rank_pred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rank_gt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mask_easy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losses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t_easy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).float()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losses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losses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mask_easy</a:t>
            </a:r>
            <a:endParaRPr b="0" sz="1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loss_mean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torch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mean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losses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US" sz="1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loss_mean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lbd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criterionl1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pred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gt</a:t>
            </a:r>
            <a:r>
              <a:rPr b="0" lang="en-US"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1985" y="325710"/>
            <a:ext cx="5715798" cy="5715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6168235" y="-39317"/>
            <a:ext cx="6105235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Rank 를 비교해본 결과 거의 반대로 학습되고 있음을 확인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6168235" y="905275"/>
            <a:ext cx="6105235" cy="10156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loss -&gt; softmin 적용 (=softmin_target) -&gt; 더 낮을수록 큰 값을 가짐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예측 loss -&gt; softmax 적용 (=pred_softmax) -&gt; 더 클수록 큰 값을 가짐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그리고 Spearman loss 를 통해 MSE Loss (실제 loss 의 rank, 예측 loss 의 Rank)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Test 의 Confusion Matrix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3"/>
          <p:cNvGrpSpPr/>
          <p:nvPr/>
        </p:nvGrpSpPr>
        <p:grpSpPr>
          <a:xfrm>
            <a:off x="0" y="1126835"/>
            <a:ext cx="6030885" cy="5082327"/>
            <a:chOff x="225282" y="738907"/>
            <a:chExt cx="6030885" cy="5082327"/>
          </a:xfrm>
        </p:grpSpPr>
        <p:pic>
          <p:nvPicPr>
            <p:cNvPr id="120" name="Google Shape;120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5282" y="738907"/>
              <a:ext cx="3006620" cy="252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31902" y="738907"/>
              <a:ext cx="3006620" cy="252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596" y="3301234"/>
              <a:ext cx="3006620" cy="252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249547" y="3301234"/>
              <a:ext cx="3006620" cy="252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" name="Google Shape;124;p3"/>
          <p:cNvGrpSpPr/>
          <p:nvPr/>
        </p:nvGrpSpPr>
        <p:grpSpPr>
          <a:xfrm>
            <a:off x="6178762" y="1126835"/>
            <a:ext cx="6013242" cy="5162957"/>
            <a:chOff x="6396824" y="1126835"/>
            <a:chExt cx="6013242" cy="5162957"/>
          </a:xfrm>
        </p:grpSpPr>
        <p:pic>
          <p:nvPicPr>
            <p:cNvPr id="125" name="Google Shape;125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403445" y="1126835"/>
              <a:ext cx="3006621" cy="252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396824" y="1126835"/>
              <a:ext cx="3006621" cy="252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396824" y="3769792"/>
              <a:ext cx="3006621" cy="252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403444" y="3769792"/>
              <a:ext cx="3006621" cy="252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" name="Google Shape;129;p3"/>
          <p:cNvSpPr txBox="1"/>
          <p:nvPr/>
        </p:nvSpPr>
        <p:spPr>
          <a:xfrm>
            <a:off x="5877752" y="3615903"/>
            <a:ext cx="6373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▶️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817954" y="6058974"/>
            <a:ext cx="4264745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Online augmentation 으로 학습 후 일반 test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7053008" y="6058974"/>
            <a:ext cx="4264745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Online augmentation 으로 학습 후 TTA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/>
        </p:nvSpPr>
        <p:spPr>
          <a:xfrm>
            <a:off x="242600" y="789175"/>
            <a:ext cx="107010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/ augmentation*class 별 TTA 에 적용하는 가중치를 학습하는 방법론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Better Aggregation in Test Time Augmentation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427925" y="1950425"/>
            <a:ext cx="262200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16"/>
          <p:cNvSpPr/>
          <p:nvPr/>
        </p:nvSpPr>
        <p:spPr>
          <a:xfrm flipH="1">
            <a:off x="5430800" y="1950425"/>
            <a:ext cx="262200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3447716" y="1869725"/>
            <a:ext cx="2477409" cy="6001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    ,     ,     ,     ,      ,      ],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3447716" y="2215775"/>
            <a:ext cx="2477409" cy="6001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    ,     ,     ,     ,      ,      ],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3447716" y="2582775"/>
            <a:ext cx="2477409" cy="6001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    ,     ,     ,     ,      ,      ],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3447716" y="2982975"/>
            <a:ext cx="2477409" cy="6001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     ,     ,     ,     ,      ,     ]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5778275" y="2351625"/>
            <a:ext cx="1141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num of </a:t>
            </a:r>
            <a:b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3989713" y="1470775"/>
            <a:ext cx="1141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num of </a:t>
            </a:r>
            <a:b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class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3427925" y="3588975"/>
            <a:ext cx="235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augmented image 별 logit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44975" y="1950425"/>
            <a:ext cx="262200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16"/>
          <p:cNvSpPr/>
          <p:nvPr/>
        </p:nvSpPr>
        <p:spPr>
          <a:xfrm flipH="1">
            <a:off x="2347850" y="1950425"/>
            <a:ext cx="262200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340625" y="1855700"/>
            <a:ext cx="278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    ,     ,     ,     ,      ,      ],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340625" y="2201751"/>
            <a:ext cx="278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    ,     ,     ,     ,      ,      ],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340625" y="2568753"/>
            <a:ext cx="278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    ,     ,     ,     ,      ,      ],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340625" y="2968955"/>
            <a:ext cx="278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     ,     ,     ,     ,      ,     ]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344975" y="3588975"/>
            <a:ext cx="235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weight matrix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5" name="Google Shape;1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4213" y="2623550"/>
            <a:ext cx="209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6919775" y="1815550"/>
            <a:ext cx="5272200" cy="18927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이미지에 대해 학습된 pre trained 모델 사용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classifier 의 파라미터는 고정해놓고 augmentation weight만 학습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두가지 방법으로 나뉨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1) augmentation*class 별 weight 를 학습 (ClassTTA)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2) augmentation 별 weight 를 학습 (AugTTA)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주로 AugTTA 의 성능 &gt; ClassTTA 의 성능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427925" y="4634900"/>
            <a:ext cx="262200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16"/>
          <p:cNvSpPr/>
          <p:nvPr/>
        </p:nvSpPr>
        <p:spPr>
          <a:xfrm flipH="1">
            <a:off x="5430800" y="4634900"/>
            <a:ext cx="262200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3436980" y="4570068"/>
            <a:ext cx="2350499" cy="6001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   ,     ,     ,     ,      ,      ],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3436980" y="4916118"/>
            <a:ext cx="2350499" cy="6001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   ,     ,     ,     ,      ,      ],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3436980" y="5283118"/>
            <a:ext cx="2350499" cy="6001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   ,     ,     ,     ,      ,      ],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3436980" y="5683318"/>
            <a:ext cx="2350499" cy="6001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    ,     ,     ,     ,      ,     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5778275" y="5036100"/>
            <a:ext cx="1141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num of </a:t>
            </a:r>
            <a:b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3989713" y="4155250"/>
            <a:ext cx="1141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num of </a:t>
            </a:r>
            <a:b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class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3427925" y="6273450"/>
            <a:ext cx="235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augmented image 별 logit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1265825" y="4634900"/>
            <a:ext cx="101848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16"/>
          <p:cNvSpPr/>
          <p:nvPr/>
        </p:nvSpPr>
        <p:spPr>
          <a:xfrm flipH="1">
            <a:off x="1863700" y="4634900"/>
            <a:ext cx="73200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1329944" y="4560873"/>
            <a:ext cx="759217" cy="6001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    ],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1329944" y="4906923"/>
            <a:ext cx="759217" cy="6001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    ],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329944" y="5273923"/>
            <a:ext cx="759217" cy="6001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    ],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1329944" y="5674123"/>
            <a:ext cx="759217" cy="6001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     ]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461750" y="6273450"/>
            <a:ext cx="235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weight matrix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73" name="Google Shape;1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4213" y="5308025"/>
            <a:ext cx="2095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/>
        </p:nvSpPr>
        <p:spPr>
          <a:xfrm>
            <a:off x="242596" y="214584"/>
            <a:ext cx="9862500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Better Aggregation in Test Time Augmentation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101600" y="1027901"/>
            <a:ext cx="762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EABAB"/>
                </a:solidFill>
                <a:latin typeface="Noto Sans KR"/>
                <a:ea typeface="Noto Sans KR"/>
                <a:cs typeface="Noto Sans KR"/>
                <a:sym typeface="Noto Sans KR"/>
              </a:rPr>
              <a:t>(augmentation)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lightness / brightness / clahe / cameraz 각각 augment 정도 0~4</a:t>
            </a:r>
            <a:endParaRPr/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EABAB"/>
                </a:solidFill>
                <a:latin typeface="Noto Sans KR"/>
                <a:ea typeface="Noto Sans KR"/>
                <a:cs typeface="Noto Sans KR"/>
                <a:sym typeface="Noto Sans KR"/>
              </a:rPr>
              <a:t>(target model) 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데이터만 학습한 ResNet101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EABAB"/>
                </a:solidFill>
                <a:latin typeface="Noto Sans KR"/>
                <a:ea typeface="Noto Sans KR"/>
                <a:cs typeface="Noto Sans KR"/>
                <a:sym typeface="Noto Sans KR"/>
              </a:rPr>
              <a:t>(epoch)</a:t>
            </a:r>
            <a:r>
              <a:rPr lang="en-US" sz="1200">
                <a:solidFill>
                  <a:srgbClr val="323F4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60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314036" y="2215239"/>
            <a:ext cx="18749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도출된 weight 결과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5564691" y="2593930"/>
            <a:ext cx="244763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 0~4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83" name="Google Shape;1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473" y="2492238"/>
            <a:ext cx="5144218" cy="356284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5564691" y="3422645"/>
            <a:ext cx="18472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Lightness 0~4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▶️ lightness 에만 가중치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5564691" y="4231154"/>
            <a:ext cx="18472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clahe 0~4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5564691" y="5039663"/>
            <a:ext cx="18472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 0~4</a:t>
            </a:r>
            <a:endParaRPr/>
          </a:p>
        </p:txBody>
      </p:sp>
      <p:pic>
        <p:nvPicPr>
          <p:cNvPr id="187" name="Google Shape;18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1963" y="2453467"/>
            <a:ext cx="3543795" cy="347711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8741562" y="2967335"/>
            <a:ext cx="38933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▶️ </a:t>
            </a:r>
            <a:r>
              <a:rPr lang="en-US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brightness0에 가중치 </a:t>
            </a:r>
            <a:br>
              <a:rPr lang="en-US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lightness0~4에 큰 가중치</a:t>
            </a:r>
            <a:endParaRPr b="0" i="0" sz="12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/>
        </p:nvSpPr>
        <p:spPr>
          <a:xfrm>
            <a:off x="242596" y="214584"/>
            <a:ext cx="9862500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Better Aggregation in Test Time Augmentation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5" name="Google Shape;195;p18"/>
          <p:cNvGraphicFramePr/>
          <p:nvPr/>
        </p:nvGraphicFramePr>
        <p:xfrm>
          <a:off x="1422399" y="16543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{1C647E32-8D82-45E8-9975-F14BC089D919}</a:tableStyleId>
              </a:tblPr>
              <a:tblGrid>
                <a:gridCol w="974225"/>
                <a:gridCol w="1405125"/>
                <a:gridCol w="1405125"/>
                <a:gridCol w="1405125"/>
                <a:gridCol w="1405125"/>
              </a:tblGrid>
              <a:tr h="300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Domain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(기존) Accuracy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(TTA) Accuracy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(기존) F1 score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(TTA) </a:t>
                      </a:r>
                      <a:r>
                        <a:rPr lang="en-US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 score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4E0B2"/>
                    </a:solidFill>
                  </a:tcPr>
                </a:tc>
              </a:tr>
              <a:tr h="300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/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84.12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73.13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0.7209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0.4631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87.00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78.75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0.7620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0.5839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81.25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68.75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0.6887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0.3133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83.00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68.75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0.6963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0.4191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85.25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76.25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0.7355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0.5038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7100" marB="37100" marR="74200" marL="7420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6" name="Google Shape;19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7703" y="1756394"/>
            <a:ext cx="3250880" cy="15041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18"/>
          <p:cNvGraphicFramePr/>
          <p:nvPr/>
        </p:nvGraphicFramePr>
        <p:xfrm>
          <a:off x="1422399" y="40059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{1C647E32-8D82-45E8-9975-F14BC089D919}</a:tableStyleId>
              </a:tblPr>
              <a:tblGrid>
                <a:gridCol w="974225"/>
                <a:gridCol w="1405125"/>
                <a:gridCol w="1405125"/>
                <a:gridCol w="1405125"/>
                <a:gridCol w="1405125"/>
              </a:tblGrid>
              <a:tr h="32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Domain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(기존) Accuracy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(TTA) Accuracy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(기존) F1 score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(TTA) </a:t>
                      </a:r>
                      <a:r>
                        <a:rPr lang="en-US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 score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4E0B2"/>
                    </a:solidFill>
                  </a:tcPr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84.12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80.63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0.7209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0.7012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87.00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82.50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0.7620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0.7404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81.25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75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0.6887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0.5554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83.00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81.25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0.6963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0.7172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85.25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83.75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0.7355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0.7352</a:t>
                      </a:r>
                      <a:endParaRPr sz="10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8" name="Google Shape;19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4554" y="4234453"/>
            <a:ext cx="3117178" cy="154327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1315621" y="1210075"/>
            <a:ext cx="37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 별 / Class 별 가중치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1315621" y="3576033"/>
            <a:ext cx="274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 별 가중치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/>
          <p:nvPr/>
        </p:nvSpPr>
        <p:spPr>
          <a:xfrm>
            <a:off x="242596" y="214584"/>
            <a:ext cx="9862500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Better Aggregation in Test Time Augmentation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101600" y="1027901"/>
            <a:ext cx="762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23F4F"/>
                </a:solidFill>
                <a:latin typeface="Noto Sans KR"/>
                <a:ea typeface="Noto Sans KR"/>
                <a:cs typeface="Noto Sans KR"/>
                <a:sym typeface="Noto Sans KR"/>
              </a:rPr>
              <a:t>(augmentation)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lightness / brightness / clahe / cameraz 각각 augment 정도 0~4</a:t>
            </a:r>
            <a:endParaRPr/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23F4F"/>
                </a:solidFill>
                <a:latin typeface="Noto Sans KR"/>
                <a:ea typeface="Noto Sans KR"/>
                <a:cs typeface="Noto Sans KR"/>
                <a:sym typeface="Noto Sans KR"/>
              </a:rPr>
              <a:t>(target model)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Repeat 데이터만 학습한 ResNet101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23F4F"/>
                </a:solidFill>
                <a:latin typeface="Noto Sans KR"/>
                <a:ea typeface="Noto Sans KR"/>
                <a:cs typeface="Noto Sans KR"/>
                <a:sym typeface="Noto Sans KR"/>
              </a:rPr>
              <a:t>(data)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train set 으로 pretrained 모델 학습 -&gt; freeze -&gt; train set 으로 weight 모델 학습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08" name="Google Shape;208;p19"/>
          <p:cNvGraphicFramePr/>
          <p:nvPr/>
        </p:nvGraphicFramePr>
        <p:xfrm>
          <a:off x="2651000" y="2563200"/>
          <a:ext cx="5967900" cy="24972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09" name="Google Shape;209;p19"/>
          <p:cNvSpPr txBox="1"/>
          <p:nvPr/>
        </p:nvSpPr>
        <p:spPr>
          <a:xfrm>
            <a:off x="648745" y="5353425"/>
            <a:ext cx="10894509" cy="89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학습 시 60 epoch 에 따른 Loss 와 Accuracy 는 위와 같음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처음부터 train set 에 fit 하게 pre train 된 target model 의 output 을 이용하여 weight model 을 학습했기 때문에 학습이 잘 이루어지지 않는 것인지 의심됨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논문에서 사용한 오픈소스 데이터셋을 이용하여 코드를 검증해볼 예정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10" name="Google Shape;2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1890" y="632901"/>
            <a:ext cx="3810532" cy="113363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7787235" y="301336"/>
            <a:ext cx="4162169" cy="613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논문에서의 실험 데이터 세팅 방법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7787235" y="1933439"/>
            <a:ext cx="4162169" cy="89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rgbClr val="222A3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데이터셋: Flowers102 / ImageNet / CIFAR 100 / STL 10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rgbClr val="222A35"/>
                </a:solidFill>
                <a:latin typeface="Noto Sans KR"/>
                <a:ea typeface="Noto Sans KR"/>
                <a:cs typeface="Noto Sans KR"/>
                <a:sym typeface="Noto Sans KR"/>
              </a:rPr>
              <a:t>Test set 을 train:valid:test 로 split 했다..?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A35"/>
                </a:solidFill>
                <a:latin typeface="Noto Sans KR"/>
                <a:ea typeface="Noto Sans KR"/>
                <a:cs typeface="Noto Sans KR"/>
                <a:sym typeface="Noto Sans KR"/>
              </a:rPr>
              <a:t>+) epoch 100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