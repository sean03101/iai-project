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6858000" cx="12192000"/>
  <p:notesSz cx="6858000" cy="9144000"/>
  <p:embeddedFontLst>
    <p:embeddedFont>
      <p:font typeface="Noto Sans KR"/>
      <p:regular r:id="rId17"/>
      <p:bold r:id="rId18"/>
    </p:embeddedFont>
    <p:embeddedFont>
      <p:font typeface="No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yxaC1HOCucFfXfFVtLvIebjOx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0B7B21-382A-4055-8DC9-BD8BCBE2A14B}">
  <a:tblStyle styleId="{640B7B21-382A-4055-8DC9-BD8BCBE2A14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4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3.xml"/><Relationship Id="rId21" Type="http://schemas.openxmlformats.org/officeDocument/2006/relationships/font" Target="fonts/Noto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NotoSansKR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NotoSans-regular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NotoSansKR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cdbc04084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4cdbc04084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4cdbc04084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ef1287c67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5ef1287c67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5ef1287c67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ee816b7e2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5ee816b7e2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5ee816b7e2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ef1287c67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5ef1287c67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5ef1287c67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ef1287c67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5ef1287c67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5ef1287c67_1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ef1287c67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5ef1287c67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5ef1287c67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ef1287c67_2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5ef1287c67_2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5ef1287c67_2_2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ef1287c67_2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5ef1287c67_2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ef1287c67_2_1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5ef1287c67_2_1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5ef1287c67_2_126"/>
          <p:cNvSpPr txBox="1"/>
          <p:nvPr>
            <p:ph idx="12" type="sldNum"/>
          </p:nvPr>
        </p:nvSpPr>
        <p:spPr>
          <a:xfrm>
            <a:off x="9248775" y="617696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ef1287c67_2_12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5ef1287c67_2_12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g35ef1287c67_2_1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5ef1287c67_2_1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5ef1287c67_2_1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ef1287c67_2_1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5ef1287c67_2_1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g35ef1287c67_2_1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5ef1287c67_2_1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5ef1287c67_2_1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ef1287c67_2_13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5ef1287c67_2_13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g35ef1287c67_2_1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5ef1287c67_2_1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35ef1287c67_2_1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ef1287c67_2_1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5ef1287c67_2_142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35ef1287c67_2_142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g35ef1287c67_2_1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5ef1287c67_2_14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5ef1287c67_2_1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ef1287c67_2_14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5ef1287c67_2_14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g35ef1287c67_2_14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g35ef1287c67_2_14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g35ef1287c67_2_14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35ef1287c67_2_14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5ef1287c67_2_14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5ef1287c67_2_1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ef1287c67_2_1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5ef1287c67_2_1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5ef1287c67_2_1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5ef1287c67_2_1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f1287c67_2_16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5ef1287c67_2_163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g35ef1287c67_2_16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g35ef1287c67_2_1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5ef1287c67_2_1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5ef1287c67_2_1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ef1287c67_2_17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5ef1287c67_2_17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5ef1287c67_2_17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g35ef1287c67_2_17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5ef1287c67_2_17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5ef1287c67_2_1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ef1287c67_2_1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5ef1287c67_2_177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g35ef1287c67_2_17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5ef1287c67_2_17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5ef1287c67_2_1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ef1287c67_2_18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5ef1287c67_2_18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5ef1287c67_2_18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5ef1287c67_2_18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5ef1287c67_2_1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ef1287c67_2_1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5ef1287c67_2_1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5ef1287c67_2_1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5ef1287c67_2_1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g35ef1287c67_2_1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2505</a:t>
            </a:r>
            <a:r>
              <a:rPr b="1" lang="en-US" sz="2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30</a:t>
            </a: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cdbc04084_0_41"/>
          <p:cNvSpPr txBox="1"/>
          <p:nvPr/>
        </p:nvSpPr>
        <p:spPr>
          <a:xfrm>
            <a:off x="51126" y="106850"/>
            <a:ext cx="117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API-Net: Robust Generative Classifier via a Single Discriminator(2020 ECCV / 12회)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4cdbc04084_0_41"/>
          <p:cNvSpPr txBox="1"/>
          <p:nvPr/>
        </p:nvSpPr>
        <p:spPr>
          <a:xfrm>
            <a:off x="396050" y="4466750"/>
            <a:ext cx="11382000" cy="20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Attentive Pairwise Interaction Module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쌍 간의 상호작용 정보(interaction-aware representation)를 사용해 같은 클래스 내 유사한 이미지와, 다른 클래스 간 비슷해 보이는 이미지 사이의 미세한 차이를 학습 </a:t>
            </a:r>
            <a:endParaRPr b="0" i="1" sz="1200" u="sng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시에만 interaction 수행 후 테스트 시엔 일반 classifier처럼 작동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학습할 때 각 이미지의 self representation이 독립적으로도 충분히 강력하도록 학습됨("We feed a single image and use the x_self branch for test-time prediction.")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test-time 구조만 보면 TENT, DeYO 같은 TTA 적용은 가능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2" name="Google Shape;172;g34cdbc04084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200" y="567950"/>
            <a:ext cx="10566795" cy="36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ef1287c67_1_14"/>
          <p:cNvSpPr txBox="1"/>
          <p:nvPr/>
        </p:nvSpPr>
        <p:spPr>
          <a:xfrm>
            <a:off x="51126" y="106850"/>
            <a:ext cx="117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MGANet: Mask Guided Attention For Fine-Grained Patchy Image Classification(2021 ICIP / 22회)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5ef1287c67_1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450" y="624850"/>
            <a:ext cx="8482350" cy="350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5ef1287c67_1_14"/>
          <p:cNvSpPr txBox="1"/>
          <p:nvPr/>
        </p:nvSpPr>
        <p:spPr>
          <a:xfrm>
            <a:off x="396050" y="4191450"/>
            <a:ext cx="113820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Segmentation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GT mask 를 이용하여 segmentation 모델 (HMSANet) 을 학습 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이미지의 예측 마스크 생성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Classification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Backbone 모델로 feature 를 추출하여, (AvgPooling Map + MaxPooling Map) 을 생성한 뒤,</a:t>
            </a:r>
            <a:b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에서 예측한 segmentation mask 기반 attention map 과의 MSE Loss 를 통해 Final Attention Map 학습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(Final Attention Map ⊗ Original Feature Map) + Original Feature Map) 으로 Classification 수행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Segmentation Mask 를 활용하여 Classification 수행하는 task 이며, segmentation mask 기반 attention을 정렬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ee816b7e2_1_3"/>
          <p:cNvSpPr txBox="1"/>
          <p:nvPr/>
        </p:nvSpPr>
        <p:spPr>
          <a:xfrm>
            <a:off x="51126" y="106850"/>
            <a:ext cx="117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두 실험 반영한 실험 결과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5ee816b7e2_1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07950"/>
            <a:ext cx="8390024" cy="3709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g35ee816b7e2_1_3"/>
          <p:cNvGraphicFramePr/>
          <p:nvPr/>
        </p:nvGraphicFramePr>
        <p:xfrm>
          <a:off x="8544925" y="90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{640B7B21-382A-4055-8DC9-BD8BCBE2A14B}</a:tableStyleId>
              </a:tblPr>
              <a:tblGrid>
                <a:gridCol w="1545350"/>
                <a:gridCol w="1545350"/>
              </a:tblGrid>
              <a:tr h="50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APINet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APINet + TENT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sng" cap="none" strike="noStrike"/>
                        <a:t>0.9834</a:t>
                      </a:r>
                      <a:endParaRPr b="1" sz="1400" u="sng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sng" cap="none" strike="noStrike"/>
                        <a:t>0.9866</a:t>
                      </a:r>
                      <a:endParaRPr b="1" sz="1400" u="sng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0.8307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sng" cap="none" strike="noStrike"/>
                        <a:t>0.9584</a:t>
                      </a:r>
                      <a:endParaRPr b="1" sz="1400" u="sng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0.8142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0.8019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0.8090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0.8586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0.8236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0.7858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0.8382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0.8849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0.8481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0.7501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0.7951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0.6007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0.7836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0.9375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0.8300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sng" cap="none" strike="noStrike"/>
                        <a:t>0.9735</a:t>
                      </a:r>
                      <a:endParaRPr b="1" sz="1400" u="sng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0.8353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0.8469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0.7949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0.7770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0.7519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9" name="Google Shape;189;g35ee816b7e2_1_3"/>
          <p:cNvSpPr txBox="1"/>
          <p:nvPr/>
        </p:nvSpPr>
        <p:spPr>
          <a:xfrm>
            <a:off x="51125" y="4580150"/>
            <a:ext cx="113820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MGANet 의 경우,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domain shift 에 취약함 -&gt; 이러한 도메인은 TENT 를 적용하면 성능이 향상되긴 하지만 한계가 있으며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실험 마다 성능 증감 양상이 다르게 나타나는 등 안정적인 성능 향상을 기대하기 어려움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APINet 의 경우,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fine grained feature 를 잘 학습하여 source 와 유사한 도메인에서 매우 높은 성능을 보임</a:t>
            </a:r>
            <a:b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하지만 domain shift 에 취약하고 TTA 를 적용했을 때 성능 저하가 많이 발생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ef1287c67_1_44"/>
          <p:cNvSpPr txBox="1"/>
          <p:nvPr/>
        </p:nvSpPr>
        <p:spPr>
          <a:xfrm>
            <a:off x="51126" y="106850"/>
            <a:ext cx="117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Introducing shape priors in Siamese networks for image classification(2024 뉴로컴퓨팅 / 2회)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5ef1287c67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1263" y="683788"/>
            <a:ext cx="8086725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5ef1287c67_1_44"/>
          <p:cNvSpPr txBox="1"/>
          <p:nvPr/>
        </p:nvSpPr>
        <p:spPr>
          <a:xfrm>
            <a:off x="396050" y="4466750"/>
            <a:ext cx="11382000" cy="20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목적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Siamese Network 구조에 shape prior(형태 사전 지식 / GT Mask)을 도입하여 이미지 분류 정확도를 향상시키는 방법 제안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GT Mask를 통해 중요한 시각적 특징(특히 물체의 모양)에 집중하도록 유도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방법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이미지와 마스크로 Positive &amp; Negative pair 생성 후, 마스크 이미지 쌍을 각각 CNN에 통과시켜 임베딩을 생성하고 이들 간의 거리를 계산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Contrastive Loss를 사용하여, 같은 클래스의 이미지-마스크 쌍은 임베딩 거리를 가깝게, 다른 클래스는 멀게 조정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ef1287c67_1_60"/>
          <p:cNvSpPr txBox="1"/>
          <p:nvPr/>
        </p:nvSpPr>
        <p:spPr>
          <a:xfrm>
            <a:off x="51126" y="106850"/>
            <a:ext cx="117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900" u="none" cap="none" strike="noStrike">
                <a:solidFill>
                  <a:srgbClr val="548135"/>
                </a:solidFill>
                <a:highlight>
                  <a:srgbClr val="FFFFFF"/>
                </a:highlight>
                <a:latin typeface="Noto Sans"/>
                <a:ea typeface="Noto Sans"/>
                <a:cs typeface="Noto Sans"/>
                <a:sym typeface="Noto Sans"/>
              </a:rPr>
              <a:t>Introducing shape priors in Siamese networks for image classification(2024 뉴로컴퓨팅 / 2회)</a:t>
            </a:r>
            <a:endParaRPr b="1" i="0" sz="10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5ef1287c67_1_60"/>
          <p:cNvSpPr txBox="1"/>
          <p:nvPr/>
        </p:nvSpPr>
        <p:spPr>
          <a:xfrm>
            <a:off x="396050" y="4466750"/>
            <a:ext cx="9312900" cy="20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단계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도메인의 데이터셋 : 마스크 이미지의 임베딩과 가장 가까운 클래스로 예측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도메인의 데이터셋 : 소스 도메인들의 마스크 임베딩을 proxy로 활용하여, 타깃 이미지의 임베딩이 가장 가까운 마스크 임베딩(class proxy)에 대응되는 클래스로 예측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: 클래스 간 미묘한 차이가 존재하는 Fine-grained classification 상황에서 탁월한 성능 &amp; cross-domain에서 또한 좋은 성능을 보임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5" name="Google Shape;205;g35ef1287c67_1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050" y="1475725"/>
            <a:ext cx="4933149" cy="226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5ef1287c67_1_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274" y="1475725"/>
            <a:ext cx="6624300" cy="213635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5ef1287c67_1_60"/>
          <p:cNvSpPr txBox="1"/>
          <p:nvPr/>
        </p:nvSpPr>
        <p:spPr>
          <a:xfrm>
            <a:off x="1881225" y="3845300"/>
            <a:ext cx="1537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소스 데이터 예측 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5ef1287c67_1_60"/>
          <p:cNvSpPr txBox="1"/>
          <p:nvPr/>
        </p:nvSpPr>
        <p:spPr>
          <a:xfrm>
            <a:off x="8607850" y="3741375"/>
            <a:ext cx="15372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타겟 데이터 예측 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g35ef1287c67_1_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08950" y="4076414"/>
            <a:ext cx="2262975" cy="269688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5ef1287c67_1_60"/>
          <p:cNvSpPr txBox="1"/>
          <p:nvPr/>
        </p:nvSpPr>
        <p:spPr>
          <a:xfrm>
            <a:off x="535975" y="6269250"/>
            <a:ext cx="114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※ 해당 논문에서 주장하고 방어하는 형태와 유사하게 우리의 연구에 대입해 연구의 정당성 확보할 생각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5ef1287c67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2275"/>
            <a:ext cx="1219200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5ef1287c67_2_0"/>
          <p:cNvSpPr/>
          <p:nvPr/>
        </p:nvSpPr>
        <p:spPr>
          <a:xfrm>
            <a:off x="9085225" y="283700"/>
            <a:ext cx="2417700" cy="83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5ef1287c67_2_0"/>
          <p:cNvSpPr txBox="1"/>
          <p:nvPr/>
        </p:nvSpPr>
        <p:spPr>
          <a:xfrm>
            <a:off x="9264925" y="439400"/>
            <a:ext cx="2238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기존 선행 연구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ef1287c67_2_208"/>
          <p:cNvSpPr txBox="1"/>
          <p:nvPr>
            <p:ph idx="12" type="sldNum"/>
          </p:nvPr>
        </p:nvSpPr>
        <p:spPr>
          <a:xfrm>
            <a:off x="9248775" y="617696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g35ef1287c67_2_208"/>
          <p:cNvSpPr/>
          <p:nvPr/>
        </p:nvSpPr>
        <p:spPr>
          <a:xfrm flipH="1" rot="10800000">
            <a:off x="0" y="6710883"/>
            <a:ext cx="9580412" cy="14711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g35ef1287c67_2_208"/>
          <p:cNvSpPr/>
          <p:nvPr/>
        </p:nvSpPr>
        <p:spPr>
          <a:xfrm flipH="1" rot="10800000">
            <a:off x="9566760" y="6710309"/>
            <a:ext cx="2628971" cy="147691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g35ef1287c67_2_208"/>
          <p:cNvSpPr/>
          <p:nvPr/>
        </p:nvSpPr>
        <p:spPr>
          <a:xfrm>
            <a:off x="152400" y="879556"/>
            <a:ext cx="11906520" cy="6014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g35ef1287c67_2_208"/>
          <p:cNvSpPr txBox="1"/>
          <p:nvPr/>
        </p:nvSpPr>
        <p:spPr>
          <a:xfrm>
            <a:off x="377975" y="1661000"/>
            <a:ext cx="11613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실제 제조 현장에서 새로운 라인에 결함 분류 모델을 도입할 때, 환경 변화로 인해 모델 성능이 저하되는 문제가 자주 발생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기존의 미세 결함 탐지 모델은 주로 attention module이나 보조 branch를 추가하는 방식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기존 도메인 적응 기법은 복잡한 구조에서 모듈 간 업데이트 방향이 충돌하거나 일관성이 깨져, 오히려 성능 저하 및 환경 변화에 효과적으로 적응하지 못하는 문제가 발생함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 연구에서 다루는 이미지 분류 설정은, 각각의 학습용 인스턴스마다 하나의 형태 정보(ground truth mask)가 제공됨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1" i="0" lang="en-US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기존에 연구된 도메인 적응 방법을 적용할 수 있는 단순한 구조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이면서, </a:t>
            </a:r>
            <a:r>
              <a:rPr b="1" i="0" lang="en-US" sz="14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형태 정보를 활용한 미세 결함 탐지에 특화된 학습 방법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을 통해 다양한 환경 변화에도 정확하고 안정적인 분류가 가능한 방법을 제안함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5ef1287c67_2_208"/>
          <p:cNvSpPr txBox="1"/>
          <p:nvPr/>
        </p:nvSpPr>
        <p:spPr>
          <a:xfrm>
            <a:off x="217001" y="91396"/>
            <a:ext cx="84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1" i="0" sz="3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g35ef1287c67_2_208"/>
          <p:cNvSpPr txBox="1"/>
          <p:nvPr/>
        </p:nvSpPr>
        <p:spPr>
          <a:xfrm>
            <a:off x="834367" y="91394"/>
            <a:ext cx="404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연구 배경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g35ef1287c67_2_208"/>
          <p:cNvSpPr/>
          <p:nvPr/>
        </p:nvSpPr>
        <p:spPr>
          <a:xfrm>
            <a:off x="9085225" y="283700"/>
            <a:ext cx="2417700" cy="83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5ef1287c67_2_208"/>
          <p:cNvSpPr txBox="1"/>
          <p:nvPr/>
        </p:nvSpPr>
        <p:spPr>
          <a:xfrm>
            <a:off x="9264925" y="439400"/>
            <a:ext cx="2238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수정 이후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5ef1287c67_2_208"/>
          <p:cNvSpPr txBox="1"/>
          <p:nvPr/>
        </p:nvSpPr>
        <p:spPr>
          <a:xfrm>
            <a:off x="217000" y="1154875"/>
            <a:ext cx="561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Arial"/>
                <a:ea typeface="Arial"/>
                <a:cs typeface="Arial"/>
                <a:sym typeface="Arial"/>
              </a:rPr>
              <a:t>연구 목적</a:t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ef1287c67_2_103"/>
          <p:cNvSpPr txBox="1"/>
          <p:nvPr>
            <p:ph idx="12" type="sldNum"/>
          </p:nvPr>
        </p:nvSpPr>
        <p:spPr>
          <a:xfrm>
            <a:off x="9248775" y="617696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g35ef1287c67_2_103"/>
          <p:cNvSpPr/>
          <p:nvPr/>
        </p:nvSpPr>
        <p:spPr>
          <a:xfrm flipH="1" rot="10800000">
            <a:off x="0" y="6710883"/>
            <a:ext cx="9580412" cy="14711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g35ef1287c67_2_103"/>
          <p:cNvSpPr/>
          <p:nvPr/>
        </p:nvSpPr>
        <p:spPr>
          <a:xfrm flipH="1" rot="10800000">
            <a:off x="9566760" y="6710309"/>
            <a:ext cx="2628971" cy="147691"/>
          </a:xfrm>
          <a:custGeom>
            <a:rect b="b" l="l" r="r" t="t"/>
            <a:pathLst>
              <a:path extrusionOk="0" h="163195" w="4327525">
                <a:moveTo>
                  <a:pt x="4327156" y="0"/>
                </a:moveTo>
                <a:lnTo>
                  <a:pt x="0" y="0"/>
                </a:lnTo>
                <a:lnTo>
                  <a:pt x="0" y="163107"/>
                </a:lnTo>
                <a:lnTo>
                  <a:pt x="4327156" y="163107"/>
                </a:lnTo>
                <a:lnTo>
                  <a:pt x="4327156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1" name="Google Shape;241;g35ef1287c67_2_103"/>
          <p:cNvSpPr/>
          <p:nvPr/>
        </p:nvSpPr>
        <p:spPr>
          <a:xfrm>
            <a:off x="152400" y="879556"/>
            <a:ext cx="11906520" cy="60147"/>
          </a:xfrm>
          <a:custGeom>
            <a:rect b="b" l="l" r="r" t="t"/>
            <a:pathLst>
              <a:path extrusionOk="0" h="162560" w="15770225">
                <a:moveTo>
                  <a:pt x="0" y="162378"/>
                </a:moveTo>
                <a:lnTo>
                  <a:pt x="15770133" y="162378"/>
                </a:lnTo>
                <a:lnTo>
                  <a:pt x="15770133" y="0"/>
                </a:lnTo>
                <a:lnTo>
                  <a:pt x="0" y="0"/>
                </a:lnTo>
                <a:lnTo>
                  <a:pt x="0" y="162378"/>
                </a:lnTo>
                <a:close/>
              </a:path>
            </a:pathLst>
          </a:custGeom>
          <a:solidFill>
            <a:srgbClr val="275B2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g35ef1287c67_2_103"/>
          <p:cNvSpPr txBox="1"/>
          <p:nvPr/>
        </p:nvSpPr>
        <p:spPr>
          <a:xfrm>
            <a:off x="217000" y="1154875"/>
            <a:ext cx="561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275B29"/>
                </a:solidFill>
                <a:latin typeface="Arial"/>
                <a:ea typeface="Arial"/>
                <a:cs typeface="Arial"/>
                <a:sym typeface="Arial"/>
              </a:rPr>
              <a:t>fine grained classification by segmentation mask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g35ef1287c67_2_103"/>
          <p:cNvSpPr txBox="1"/>
          <p:nvPr/>
        </p:nvSpPr>
        <p:spPr>
          <a:xfrm>
            <a:off x="377975" y="1700400"/>
            <a:ext cx="11613900" cy="364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시각적으로 유사한 클래스 간 미세한 차이를 구별하기 위한 fine grained classification 에서는 이미지 내의 미세한 구조나 중요 시각 정보를 보다 명확히 학습할 수 있도록 형태 정보를 추가로 활용하는 방식이 쓰임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형태 정보는 학습 단계에서 모델이 이미지 내 중요한 시각적 구조에 주의를 집중하게 만드는 보조적 수단으로 작용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형태 정보를 활용하여 학습된 모델은 테스트 단계에서 이미지만으로도 중요한 시각적 구조를 파악할 수 있음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기존 선행 연구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MGANet: GT segmentation mask로 학습한 HMSANet의 예측 마스크를 활용해 attention map을 학습하고, 이를 통해 생성된 attention map 기반으로 fine grained image classification 수행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Svetlana: GT segmentation mask 와 이미지 쌍을 모델 학습 입력으로 사용하여, 높은 성능으로 미세한 차이의 세포 분류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g35ef1287c67_2_103"/>
          <p:cNvSpPr txBox="1"/>
          <p:nvPr/>
        </p:nvSpPr>
        <p:spPr>
          <a:xfrm>
            <a:off x="217001" y="27846"/>
            <a:ext cx="84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75B29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1" i="0" sz="3600" u="none" cap="none" strike="noStrike">
              <a:solidFill>
                <a:srgbClr val="275B2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g35ef1287c67_2_103"/>
          <p:cNvSpPr txBox="1"/>
          <p:nvPr/>
        </p:nvSpPr>
        <p:spPr>
          <a:xfrm>
            <a:off x="834367" y="91394"/>
            <a:ext cx="404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 연구</a:t>
            </a:r>
            <a:endParaRPr b="1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6" name="Google Shape;246;g35ef1287c67_2_103"/>
          <p:cNvSpPr/>
          <p:nvPr/>
        </p:nvSpPr>
        <p:spPr>
          <a:xfrm>
            <a:off x="9085225" y="283700"/>
            <a:ext cx="2417700" cy="83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5ef1287c67_2_103"/>
          <p:cNvSpPr txBox="1"/>
          <p:nvPr/>
        </p:nvSpPr>
        <p:spPr>
          <a:xfrm>
            <a:off x="9264925" y="439400"/>
            <a:ext cx="2238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수정 초안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