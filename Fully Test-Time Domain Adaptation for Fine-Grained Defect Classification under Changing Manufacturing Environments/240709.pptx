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Noto Sans KR"/>
      <p:regular r:id="rId13"/>
      <p:bold r:id="rId14"/>
    </p:embeddedFont>
    <p:embeddedFont>
      <p:font typeface="Noto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qm1qeEt6epGV3riD+fR952v60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FFC78C-5BD4-4FF4-BD02-5E315447368E}">
  <a:tblStyle styleId="{08FFC78C-5BD4-4FF4-BD02-5E31544736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otoSansKR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otoSans-regular.fntdata"/><Relationship Id="rId14" Type="http://schemas.openxmlformats.org/officeDocument/2006/relationships/font" Target="fonts/NotoSansKR-bold.fntdata"/><Relationship Id="rId17" Type="http://schemas.openxmlformats.org/officeDocument/2006/relationships/font" Target="fonts/NotoSans-italic.fntdata"/><Relationship Id="rId16" Type="http://schemas.openxmlformats.org/officeDocument/2006/relationships/font" Target="fonts/NotoSans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Noto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38454e2c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738454e2c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ada65d14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2eada65d14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ada65d14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2eada65d14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ada65d148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2eada65d148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70be07b8a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2e70be07b8a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ada65d148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2eada65d148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738454e2c7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2738454e2c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2738454e2c7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38454e2c7_0_54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진행상황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9" name="Google Shape;89;g2738454e2c7_0_54"/>
          <p:cNvSpPr txBox="1"/>
          <p:nvPr/>
        </p:nvSpPr>
        <p:spPr>
          <a:xfrm>
            <a:off x="1887525" y="885850"/>
            <a:ext cx="7088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일반적인 MC dropout 방법과 제안하는 방법을 비교하려 했으나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방법론에서 학습이 이루어지지 않음 =&gt; Dropout 이 원인인 것으로 추정됨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+) Offline augmentation 을 이용한 학습의 성능이 대체적으로 좋지 않음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0" name="Google Shape;90;g2738454e2c7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700" y="2014700"/>
            <a:ext cx="41814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738454e2c7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9500" y="2014700"/>
            <a:ext cx="426720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ada65d148_0_21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진행상황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7" name="Google Shape;97;g2eada65d148_0_21"/>
          <p:cNvSpPr txBox="1"/>
          <p:nvPr/>
        </p:nvSpPr>
        <p:spPr>
          <a:xfrm>
            <a:off x="2107725" y="1242375"/>
            <a:ext cx="708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KLD 를 이용한 방법의 성능이 대체적으로 좋지 않았음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8" name="Google Shape;98;g2eada65d14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100" y="1724113"/>
            <a:ext cx="3911200" cy="39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eada65d148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2900" y="1763050"/>
            <a:ext cx="3911200" cy="38683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eada65d148_0_21"/>
          <p:cNvSpPr txBox="1"/>
          <p:nvPr/>
        </p:nvSpPr>
        <p:spPr>
          <a:xfrm>
            <a:off x="2406600" y="5670325"/>
            <a:ext cx="708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rgbClr val="757575"/>
                </a:solidFill>
                <a:latin typeface="Noto Sans KR"/>
                <a:ea typeface="Noto Sans KR"/>
                <a:cs typeface="Noto Sans KR"/>
                <a:sym typeface="Noto Sans KR"/>
              </a:rPr>
              <a:t>시작점은 약 0.721</a:t>
            </a:r>
            <a:endParaRPr sz="1200">
              <a:solidFill>
                <a:srgbClr val="75757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g2eada65d148_0_21"/>
          <p:cNvSpPr txBox="1"/>
          <p:nvPr/>
        </p:nvSpPr>
        <p:spPr>
          <a:xfrm>
            <a:off x="2107725" y="5647225"/>
            <a:ext cx="7088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방법별로 양상이 다르고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전체적으로 학습이 되지 않고 있기 때문에 추가 검증이 필요할 것으로 보임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ada65d148_0_0"/>
          <p:cNvSpPr/>
          <p:nvPr/>
        </p:nvSpPr>
        <p:spPr>
          <a:xfrm>
            <a:off x="3491925" y="1709250"/>
            <a:ext cx="3408000" cy="220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g2eada65d148_0_0"/>
          <p:cNvSpPr/>
          <p:nvPr/>
        </p:nvSpPr>
        <p:spPr>
          <a:xfrm>
            <a:off x="1059100" y="1677800"/>
            <a:ext cx="2265000" cy="251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" name="Google Shape;108;g2eada65d148_0_0"/>
          <p:cNvSpPr txBox="1"/>
          <p:nvPr/>
        </p:nvSpPr>
        <p:spPr>
          <a:xfrm>
            <a:off x="306450" y="962725"/>
            <a:ext cx="11144400" cy="10158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방법론</a:t>
            </a:r>
            <a:endParaRPr b="1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학습 : Online Augment 를 이용하여 진행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None/>
            </a:pP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샘플링 : 원본 인스턴스의 margin 값 + 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Offline Augment 의 인스턴스별 entropy </a:t>
            </a:r>
            <a:r>
              <a:rPr lang="en-US" sz="1500">
                <a:latin typeface="Noto Sans KR"/>
                <a:ea typeface="Noto Sans KR"/>
                <a:cs typeface="Noto Sans KR"/>
                <a:sym typeface="Noto Sans KR"/>
              </a:rPr>
              <a:t>값이 높은 인스턴스 샘플링  </a:t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g2eada65d148_0_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Augmentation 별 uncertainty </a:t>
            </a:r>
            <a:r>
              <a:rPr b="1" i="0" lang="en-US" sz="1800" u="none" cap="none" strike="noStrike">
                <a:solidFill>
                  <a:schemeClr val="accent6"/>
                </a:solidFill>
                <a:latin typeface="Noto Sans"/>
                <a:ea typeface="Noto Sans"/>
                <a:cs typeface="Noto Sans"/>
                <a:sym typeface="Noto Sans"/>
              </a:rPr>
              <a:t>mean</a:t>
            </a:r>
            <a:r>
              <a:rPr b="1" i="0" lang="en-US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 값으로 샘플링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110" name="Google Shape;110;g2eada65d148_0_0"/>
          <p:cNvPicPr preferRelativeResize="0"/>
          <p:nvPr/>
        </p:nvPicPr>
        <p:blipFill rotWithShape="1">
          <a:blip r:embed="rId3">
            <a:alphaModFix/>
          </a:blip>
          <a:srcRect b="49390" l="0" r="0" t="0"/>
          <a:stretch/>
        </p:blipFill>
        <p:spPr>
          <a:xfrm>
            <a:off x="31538" y="3525600"/>
            <a:ext cx="6010675" cy="283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2eada65d14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8112" y="3525600"/>
            <a:ext cx="5787650" cy="27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2eada65d148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5875" y="227175"/>
            <a:ext cx="3216125" cy="318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eada65d148_0_0"/>
          <p:cNvSpPr txBox="1"/>
          <p:nvPr/>
        </p:nvSpPr>
        <p:spPr>
          <a:xfrm>
            <a:off x="306450" y="2574125"/>
            <a:ext cx="782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알파 값을 다르게 해도 변화량 및 추이가 매우 유사함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오히려 original margin 의 비율을 높여도 repeat(source=target) 에서 더 낮은 성능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g2eada65d148_0_0"/>
          <p:cNvSpPr txBox="1"/>
          <p:nvPr/>
        </p:nvSpPr>
        <p:spPr>
          <a:xfrm>
            <a:off x="1536875" y="1929500"/>
            <a:ext cx="696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알파</a:t>
            </a:r>
            <a:endParaRPr/>
          </a:p>
        </p:txBody>
      </p:sp>
      <p:sp>
        <p:nvSpPr>
          <p:cNvPr id="115" name="Google Shape;115;g2eada65d148_0_0"/>
          <p:cNvSpPr txBox="1"/>
          <p:nvPr/>
        </p:nvSpPr>
        <p:spPr>
          <a:xfrm>
            <a:off x="4692050" y="1929500"/>
            <a:ext cx="96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1-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알파</a:t>
            </a:r>
            <a:endParaRPr/>
          </a:p>
        </p:txBody>
      </p:sp>
      <p:sp>
        <p:nvSpPr>
          <p:cNvPr id="116" name="Google Shape;116;g2eada65d148_0_0"/>
          <p:cNvSpPr txBox="1"/>
          <p:nvPr/>
        </p:nvSpPr>
        <p:spPr>
          <a:xfrm>
            <a:off x="306450" y="6365150"/>
            <a:ext cx="10022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+"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두 방법 간 10~20 iter 에서 샘플링 된 인스턴스 중 겹치는 게 없는데 똑같은 구간에서 성능이 하락하는 이유??..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ada65d148_0_57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도메인별 Uncertainty 평균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2" name="Google Shape;122;g2eada65d148_0_57"/>
          <p:cNvSpPr txBox="1"/>
          <p:nvPr/>
        </p:nvSpPr>
        <p:spPr>
          <a:xfrm>
            <a:off x="115350" y="932725"/>
            <a:ext cx="1187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iteration 별로 augmentation 방법별 불확실성의 평균 비교 (초반 불확실성과 후반 불확실성 비교)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3" name="Google Shape;123;g2eada65d148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40000"/>
            <a:ext cx="11887200" cy="213252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eada65d148_0_57"/>
          <p:cNvSpPr txBox="1"/>
          <p:nvPr/>
        </p:nvSpPr>
        <p:spPr>
          <a:xfrm>
            <a:off x="3376650" y="3728600"/>
            <a:ext cx="523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0.5*(원본 인스턴스) + 0.5*(Offline augment들의 entropy)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g2eada65d148_0_57"/>
          <p:cNvSpPr txBox="1"/>
          <p:nvPr/>
        </p:nvSpPr>
        <p:spPr>
          <a:xfrm>
            <a:off x="115350" y="6156400"/>
            <a:ext cx="11870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iteration 을 반복할수록 불확실성이 낮아질 것이라는 예상과 달리 불확실성이 높아지기도 함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	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6" name="Google Shape;126;g2eada65d148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95000"/>
            <a:ext cx="11887199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eada65d148_0_57"/>
          <p:cNvSpPr txBox="1"/>
          <p:nvPr/>
        </p:nvSpPr>
        <p:spPr>
          <a:xfrm>
            <a:off x="3890400" y="1404575"/>
            <a:ext cx="42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0.9*(원본 인스턴스) + 0.1*(Offline augment들의 entropy)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70be07b8a_0_20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도메인별 Uncertainty 평균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3" name="Google Shape;133;g2e70be07b8a_0_20"/>
          <p:cNvSpPr txBox="1"/>
          <p:nvPr/>
        </p:nvSpPr>
        <p:spPr>
          <a:xfrm>
            <a:off x="115350" y="932725"/>
            <a:ext cx="1187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iteration 별로 augmentation 방법별 불확실성의 평균 비교 (초반 불확실성과 후반 불확실성 비교)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g2e70be07b8a_0_20"/>
          <p:cNvSpPr txBox="1"/>
          <p:nvPr/>
        </p:nvSpPr>
        <p:spPr>
          <a:xfrm>
            <a:off x="5809450" y="1724850"/>
            <a:ext cx="523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0.5*(원본 인스턴스) + 0.5*(Offline augment들의 entropy)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g2e70be07b8a_0_20"/>
          <p:cNvSpPr txBox="1"/>
          <p:nvPr/>
        </p:nvSpPr>
        <p:spPr>
          <a:xfrm>
            <a:off x="912175" y="1724850"/>
            <a:ext cx="420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0.9*(원본 인스턴스) + 0.1*(Offline augment들의 entropy) 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6" name="Google Shape;136;g2e70be07b8a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450" y="2094150"/>
            <a:ext cx="4504825" cy="35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e70be07b8a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9500" y="2070050"/>
            <a:ext cx="4492504" cy="357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g2eada65d148_0_37"/>
          <p:cNvGraphicFramePr/>
          <p:nvPr/>
        </p:nvGraphicFramePr>
        <p:xfrm>
          <a:off x="1623625" y="16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{08FFC78C-5BD4-4FF4-BD02-5E315447368E}</a:tableStyleId>
              </a:tblPr>
              <a:tblGrid>
                <a:gridCol w="1761375"/>
                <a:gridCol w="3109350"/>
                <a:gridCol w="3214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순위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augmentation 비율이 0.5 일 때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augmentation 비율이 0.9 일 때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 (낮은 불확실성)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lightness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lightness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dropout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dropout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contrast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cameraz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cameraz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contrast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flip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noise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noise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flip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 (높은 불확실성)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brightness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brightness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143" name="Google Shape;143;g2eada65d148_0_37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도메인별 Uncertainty 평균 비교</a:t>
            </a:r>
            <a:endParaRPr b="1" i="0" sz="16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4" name="Google Shape;144;g2eada65d148_0_37"/>
          <p:cNvSpPr txBox="1"/>
          <p:nvPr/>
        </p:nvSpPr>
        <p:spPr>
          <a:xfrm>
            <a:off x="115350" y="932725"/>
            <a:ext cx="11870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iteration 별로 augmentation 방법별 불확실성의 평균 비교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g2eada65d148_0_37"/>
          <p:cNvSpPr txBox="1"/>
          <p:nvPr/>
        </p:nvSpPr>
        <p:spPr>
          <a:xfrm>
            <a:off x="1042475" y="5116725"/>
            <a:ext cx="101568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Generalization 에 도움 되는 Augment 방법은 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평균적으로 불확실성이 낮은 Augment 가 DG 에 도움 되는 것인지 </a:t>
            </a:r>
            <a:b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평균적으로 불확실성이 높은 Augment 가 DG 에 도움 되는 것인지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낮은 불확실성일수록 모델에게 도움이 되는 도메인인지? 혹은 모델이 이미 잘 알고 있는 도메인이라고 할 수 있는지? 의문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38454e2c7_0_86"/>
          <p:cNvSpPr txBox="1"/>
          <p:nvPr/>
        </p:nvSpPr>
        <p:spPr>
          <a:xfrm>
            <a:off x="242596" y="227177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보완점</a:t>
            </a:r>
            <a:endParaRPr b="1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g2738454e2c7_0_86"/>
          <p:cNvSpPr txBox="1"/>
          <p:nvPr/>
        </p:nvSpPr>
        <p:spPr>
          <a:xfrm>
            <a:off x="242596" y="1074459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추후 연구 방향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2738454e2c7_0_86"/>
          <p:cNvSpPr txBox="1"/>
          <p:nvPr/>
        </p:nvSpPr>
        <p:spPr>
          <a:xfrm>
            <a:off x="336971" y="1443758"/>
            <a:ext cx="9862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추가적으로 기록할 다른 로그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-"/>
            </a:pPr>
            <a:r>
              <a:rPr lang="en-US" sz="1600">
                <a:latin typeface="Noto Sans KR"/>
                <a:ea typeface="Noto Sans KR"/>
                <a:cs typeface="Noto Sans KR"/>
                <a:sym typeface="Noto Sans KR"/>
              </a:rPr>
              <a:t>다른 샘플링 방법에 대한 아이디어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