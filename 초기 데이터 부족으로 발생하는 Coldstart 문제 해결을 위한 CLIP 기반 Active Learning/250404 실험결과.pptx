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Noto Sans KR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g5LOQHDJ3xn55Y2IQGk8qlIz6a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KR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otoSansKR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ac5cb26fd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2ac5cb26fd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2ac5cb26fd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82952e5d5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482952e5d5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482952e5d5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82952e5d5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482952e5d5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482952e5d5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ff4f175b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3ff4f175b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</p:txBody>
      </p:sp>
      <p:sp>
        <p:nvSpPr>
          <p:cNvPr id="210" name="Google Shape;210;g33ff4f175b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47fedba03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47fedba03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"/>
              <a:t>이 방법이 기여하는 점이..</a:t>
            </a:r>
            <a:endParaRPr sz="1000"/>
          </a:p>
        </p:txBody>
      </p:sp>
      <p:sp>
        <p:nvSpPr>
          <p:cNvPr id="221" name="Google Shape;221;g347fedba03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47fedba03d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47fedba03d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g347fedba03d_0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164746" y="2982609"/>
            <a:ext cx="986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25</a:t>
            </a:r>
            <a:r>
              <a:rPr b="1" lang="en-US" sz="2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0404</a:t>
            </a:r>
            <a:r>
              <a:rPr b="1" i="0" lang="en-US" sz="2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 실험 결과</a:t>
            </a:r>
            <a:endParaRPr b="1" i="0" sz="2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– </a:t>
            </a:r>
            <a:r>
              <a:rPr b="1" i="0" lang="en-US" sz="12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entropy threshold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6255" y="49056"/>
            <a:ext cx="4291296" cy="195523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 txBox="1"/>
          <p:nvPr/>
        </p:nvSpPr>
        <p:spPr>
          <a:xfrm>
            <a:off x="324725" y="699984"/>
            <a:ext cx="10537239" cy="10156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배치별 entropy 평균보다 낮은 샘플들만 갖고 업데이트 (= 확신하는 데이터로 업데이트)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배치별 entropy 평균보다 높은 샘플들만 갖고 업데이트 (=불확실한 데이터로 업데이트)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랜덤 시드 변경하여 5번 반복 실험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0" y="3015591"/>
            <a:ext cx="6128326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TENT 적용 결과 (f1 score)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694" y="3308939"/>
            <a:ext cx="5754425" cy="164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7712" y="2534796"/>
            <a:ext cx="5388034" cy="154828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6"/>
          <p:cNvSpPr txBox="1"/>
          <p:nvPr/>
        </p:nvSpPr>
        <p:spPr>
          <a:xfrm>
            <a:off x="7178383" y="2233543"/>
            <a:ext cx="3426691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확신하는 샘플들로 업데이트 (f1 score)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7712" y="4185688"/>
            <a:ext cx="5368433" cy="155036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 txBox="1"/>
          <p:nvPr/>
        </p:nvSpPr>
        <p:spPr>
          <a:xfrm>
            <a:off x="7178383" y="5695081"/>
            <a:ext cx="3426691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불확신하는 샘플들로 업데이트 (f1 score)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– </a:t>
            </a:r>
            <a:r>
              <a:rPr b="1" i="0" lang="en-US" sz="12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entropy threshold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6255" y="49056"/>
            <a:ext cx="4291296" cy="195523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324725" y="699984"/>
            <a:ext cx="10537239" cy="10156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배치별 entropy 평균보다 낮은 샘플들만 갖고 업데이트 (= 확신하는 데이터로 업데이트)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배치별 entropy 평균보다 높은 샘플들만 갖고 업데이트 (=불확실한 데이터로 업데이트)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랜덤 시드 변경하여 5번 반복 실험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0" y="3015591"/>
            <a:ext cx="6128326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TENT 적용 결과 (auroc)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308939"/>
            <a:ext cx="6071665" cy="1554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7712" y="2531522"/>
            <a:ext cx="5388034" cy="155483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 txBox="1"/>
          <p:nvPr/>
        </p:nvSpPr>
        <p:spPr>
          <a:xfrm>
            <a:off x="7178383" y="2233543"/>
            <a:ext cx="3426691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확신하는 샘플들로 업데이트 (auroc)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7712" y="4183454"/>
            <a:ext cx="5368433" cy="155483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"/>
          <p:cNvSpPr txBox="1"/>
          <p:nvPr/>
        </p:nvSpPr>
        <p:spPr>
          <a:xfrm>
            <a:off x="7178383" y="5695081"/>
            <a:ext cx="3426691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불확신하는 샘플들로 업데이트 (auroc)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32ac5cb26fd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2219" y="2864032"/>
            <a:ext cx="8285018" cy="1318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2ac5cb26fd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2219" y="4128750"/>
            <a:ext cx="8285018" cy="1318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2ac5cb26fd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92219" y="1609899"/>
            <a:ext cx="8285018" cy="131878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2ac5cb26fd_1_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– </a:t>
            </a:r>
            <a:r>
              <a:rPr b="1" i="0" lang="en-US" sz="12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GradCAM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2ac5cb26fd_1_0"/>
          <p:cNvSpPr txBox="1"/>
          <p:nvPr/>
        </p:nvSpPr>
        <p:spPr>
          <a:xfrm>
            <a:off x="324725" y="699984"/>
            <a:ext cx="10537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Test data 에 GradCAM 적용 결과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레이어 1, 2 의 output 은 주로 edge 에 집중 (핀 내의 동그라미 테두리, 제품 외곽 부분)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레이어 3,4 의 output 은 비슷하지만 레이어 4의 결과가 3보다 좀 더 좁은 범위에 집중하는 경향을 보여 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레이어 4 output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으로 채택하여 비교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g32ac5cb26fd_1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92219" y="5341816"/>
            <a:ext cx="8285018" cy="131878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2ac5cb26fd_1_0"/>
          <p:cNvSpPr txBox="1"/>
          <p:nvPr/>
        </p:nvSpPr>
        <p:spPr>
          <a:xfrm>
            <a:off x="1062181" y="2258484"/>
            <a:ext cx="103447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Layer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2ac5cb26fd_1_0"/>
          <p:cNvSpPr txBox="1"/>
          <p:nvPr/>
        </p:nvSpPr>
        <p:spPr>
          <a:xfrm>
            <a:off x="1062181" y="3429000"/>
            <a:ext cx="103447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Layer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2ac5cb26fd_1_0"/>
          <p:cNvSpPr txBox="1"/>
          <p:nvPr/>
        </p:nvSpPr>
        <p:spPr>
          <a:xfrm>
            <a:off x="1062181" y="4762650"/>
            <a:ext cx="103447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Layer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2ac5cb26fd_1_0"/>
          <p:cNvSpPr txBox="1"/>
          <p:nvPr/>
        </p:nvSpPr>
        <p:spPr>
          <a:xfrm>
            <a:off x="1062181" y="6001208"/>
            <a:ext cx="103447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Layer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– </a:t>
            </a:r>
            <a:r>
              <a:rPr b="1" i="0" lang="en-US" sz="12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GradCAM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324725" y="699984"/>
            <a:ext cx="10537239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예측은 잘 하지만, GradCAM 이 집중하는 부분이 실제 결합 부분과 미묘하게 다른 경우도 많음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943600" y="3310353"/>
            <a:ext cx="300718" cy="284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836" y="1161619"/>
            <a:ext cx="9486260" cy="1463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 txBox="1"/>
          <p:nvPr/>
        </p:nvSpPr>
        <p:spPr>
          <a:xfrm>
            <a:off x="3375891" y="1112614"/>
            <a:ext cx="13805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라벨:scratch scratch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836" y="2836228"/>
            <a:ext cx="9486260" cy="1463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 txBox="1"/>
          <p:nvPr/>
        </p:nvSpPr>
        <p:spPr>
          <a:xfrm>
            <a:off x="7532255" y="2781623"/>
            <a:ext cx="13805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라벨: dent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836" y="5180935"/>
            <a:ext cx="9486260" cy="146385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 txBox="1"/>
          <p:nvPr/>
        </p:nvSpPr>
        <p:spPr>
          <a:xfrm>
            <a:off x="324725" y="4409609"/>
            <a:ext cx="1053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예측 확신도가 낮을수록 GradCAM 이 보는 부분도 실제 결함과 다름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정답이 아닌 클래스의 경우 제품 외곽에 집중하는 경우가 많음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7532255" y="5165648"/>
            <a:ext cx="1380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라벨: dent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8646" y="3401471"/>
            <a:ext cx="8493326" cy="97034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8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– </a:t>
            </a:r>
            <a:r>
              <a:rPr b="1" i="0" lang="en-US" sz="12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GradCAM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324725" y="699984"/>
            <a:ext cx="1053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domain 에서의 GradCAM 성능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예시) fm 클래스 108 번 인스턴스의 도메인별 Grad CAM 변화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5906655" y="3864114"/>
            <a:ext cx="300718" cy="284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7495310" y="3335384"/>
            <a:ext cx="13805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라벨: dent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8647" y="1555038"/>
            <a:ext cx="8493326" cy="970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48647" y="2479664"/>
            <a:ext cx="8493326" cy="970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48646" y="4321391"/>
            <a:ext cx="8493326" cy="970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48646" y="5241311"/>
            <a:ext cx="8493326" cy="97034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 txBox="1"/>
          <p:nvPr/>
        </p:nvSpPr>
        <p:spPr>
          <a:xfrm>
            <a:off x="324725" y="1830889"/>
            <a:ext cx="2923921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repeat</a:t>
            </a:r>
            <a:endParaRPr/>
          </a:p>
        </p:txBody>
      </p:sp>
      <p:sp>
        <p:nvSpPr>
          <p:cNvPr id="163" name="Google Shape;163;p8"/>
          <p:cNvSpPr txBox="1"/>
          <p:nvPr/>
        </p:nvSpPr>
        <p:spPr>
          <a:xfrm>
            <a:off x="324725" y="2794172"/>
            <a:ext cx="2923921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Cameraz_0</a:t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324725" y="3719324"/>
            <a:ext cx="2923921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Lcondition_2</a:t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1" y="5473021"/>
            <a:ext cx="3248646" cy="7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Brightness_4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brightness_4 에서 대부분 성능 급격히 저하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853382" y="1457478"/>
            <a:ext cx="1283854" cy="4858327"/>
          </a:xfrm>
          <a:prstGeom prst="rect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324725" y="4676256"/>
            <a:ext cx="2923921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Brightness_0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"/>
          <p:cNvPicPr preferRelativeResize="0"/>
          <p:nvPr/>
        </p:nvPicPr>
        <p:blipFill rotWithShape="1">
          <a:blip r:embed="rId3">
            <a:alphaModFix/>
          </a:blip>
          <a:srcRect b="0" l="0" r="0" t="4353"/>
          <a:stretch/>
        </p:blipFill>
        <p:spPr>
          <a:xfrm>
            <a:off x="3398982" y="1191490"/>
            <a:ext cx="8128000" cy="551872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– </a:t>
            </a:r>
            <a:r>
              <a:rPr b="1" i="0" lang="en-US" sz="12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GradCAM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324725" y="699984"/>
            <a:ext cx="10537239" cy="7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domain 에서의 GradCAM 성능 (예측하기 어려운 클래스)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예시) scratch 클래스 24 번 인스턴스의 도메인별 Grad CAM 변화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5698837" y="1126079"/>
            <a:ext cx="1283854" cy="5731921"/>
          </a:xfrm>
          <a:prstGeom prst="rect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g3482952e5d5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00" y="3393768"/>
            <a:ext cx="5957101" cy="65400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482952e5d5_0_9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– </a:t>
            </a:r>
            <a:r>
              <a:rPr b="1" lang="en-US" sz="12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GradCAM vs GradCAM++</a:t>
            </a:r>
            <a:endParaRPr b="1" sz="1800">
              <a:solidFill>
                <a:srgbClr val="54813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4" name="Google Shape;184;g3482952e5d5_0_9"/>
          <p:cNvSpPr txBox="1"/>
          <p:nvPr/>
        </p:nvSpPr>
        <p:spPr>
          <a:xfrm>
            <a:off x="324725" y="699984"/>
            <a:ext cx="1053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domain 에서의 GradCAM 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및 GradCAM++ 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비교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예시) fm 클래스 108 번 인스턴스의 도메인별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비교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순서: repeat, Cameraz_0, Lcondition_2, Brightness_0, Brightness_4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5" name="Google Shape;185;g3482952e5d5_0_9"/>
          <p:cNvSpPr/>
          <p:nvPr/>
        </p:nvSpPr>
        <p:spPr>
          <a:xfrm>
            <a:off x="2003189" y="3705587"/>
            <a:ext cx="2106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482952e5d5_0_9"/>
          <p:cNvSpPr txBox="1"/>
          <p:nvPr/>
        </p:nvSpPr>
        <p:spPr>
          <a:xfrm>
            <a:off x="3117449" y="3349225"/>
            <a:ext cx="968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g3482952e5d5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901" y="2149280"/>
            <a:ext cx="5957101" cy="654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482952e5d5_0_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8901" y="2772474"/>
            <a:ext cx="5957101" cy="654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482952e5d5_0_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8900" y="4013790"/>
            <a:ext cx="5957101" cy="654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482952e5d5_0_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8900" y="4633812"/>
            <a:ext cx="5957101" cy="65400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482952e5d5_0_9"/>
          <p:cNvSpPr/>
          <p:nvPr/>
        </p:nvSpPr>
        <p:spPr>
          <a:xfrm>
            <a:off x="2667210" y="2083525"/>
            <a:ext cx="900300" cy="3274500"/>
          </a:xfrm>
          <a:prstGeom prst="rect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g3482952e5d5_0_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09925" y="1593025"/>
            <a:ext cx="5330452" cy="42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482952e5d5_0_9"/>
          <p:cNvSpPr txBox="1"/>
          <p:nvPr/>
        </p:nvSpPr>
        <p:spPr>
          <a:xfrm>
            <a:off x="2798000" y="5997100"/>
            <a:ext cx="9003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GradCAM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482952e5d5_0_9"/>
          <p:cNvSpPr txBox="1"/>
          <p:nvPr/>
        </p:nvSpPr>
        <p:spPr>
          <a:xfrm>
            <a:off x="8998025" y="5997100"/>
            <a:ext cx="1588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GradCAM++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g3482952e5d5_0_1"/>
          <p:cNvPicPr preferRelativeResize="0"/>
          <p:nvPr/>
        </p:nvPicPr>
        <p:blipFill rotWithShape="1">
          <a:blip r:embed="rId3">
            <a:alphaModFix/>
          </a:blip>
          <a:srcRect b="0" l="0" r="0" t="4351"/>
          <a:stretch/>
        </p:blipFill>
        <p:spPr>
          <a:xfrm>
            <a:off x="94275" y="1739724"/>
            <a:ext cx="6001724" cy="407501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482952e5d5_0_1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– </a:t>
            </a:r>
            <a:r>
              <a:rPr b="1" i="0" lang="en-US" sz="12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GradCAM </a:t>
            </a:r>
            <a:r>
              <a:rPr b="1" lang="en-US" sz="12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vs GradCAM++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482952e5d5_0_1"/>
          <p:cNvSpPr txBox="1"/>
          <p:nvPr/>
        </p:nvSpPr>
        <p:spPr>
          <a:xfrm>
            <a:off x="324725" y="699984"/>
            <a:ext cx="1053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domain 에서의 GradCAM 및 GradCAM++ 성능 비교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예시) scratch 클래스 24 번 인스턴스의 도메인별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비교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(순서: repeat, Brightness_0, Brightness_4,  Lcondition_2, Cameraz_0)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3" name="Google Shape;203;g3482952e5d5_0_1"/>
          <p:cNvSpPr/>
          <p:nvPr/>
        </p:nvSpPr>
        <p:spPr>
          <a:xfrm>
            <a:off x="1792490" y="1691425"/>
            <a:ext cx="948000" cy="4232400"/>
          </a:xfrm>
          <a:prstGeom prst="rect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g3482952e5d5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0950" y="1462575"/>
            <a:ext cx="5550162" cy="44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482952e5d5_0_1"/>
          <p:cNvSpPr txBox="1"/>
          <p:nvPr/>
        </p:nvSpPr>
        <p:spPr>
          <a:xfrm>
            <a:off x="2569400" y="5997100"/>
            <a:ext cx="9003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GradCAM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482952e5d5_0_1"/>
          <p:cNvSpPr txBox="1"/>
          <p:nvPr/>
        </p:nvSpPr>
        <p:spPr>
          <a:xfrm>
            <a:off x="8769425" y="5997100"/>
            <a:ext cx="1588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GradCAM++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3ff4f175bf_0_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– </a:t>
            </a:r>
            <a:r>
              <a:rPr b="1" i="0" lang="en-US" sz="12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GradCAM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3ff4f175bf_0_0"/>
          <p:cNvSpPr txBox="1"/>
          <p:nvPr/>
        </p:nvSpPr>
        <p:spPr>
          <a:xfrm>
            <a:off x="324725" y="967838"/>
            <a:ext cx="10537239" cy="24006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GradCAM 으로 도출된 attention map 이 실제 결함 부위를 얼마나 잘 커버하고 있는지 측정 (대략적으로 참고용)</a:t>
            </a:r>
            <a:endParaRPr/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mask 된 부분은 매우 국소적이고, GradCAM 이 보는 부분은 광범위 함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따라서 GradCAM 내 attention map 중 상위 10% 집중하는 값만 뽑고, 실제 결함 mask 범위가 얼마나 많이 CAM 에 의해 커버되는지 확인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mask 범위는 굉장히 작기 때문에 대부분 attention map 이 완전히 다 포함하거나 / 아예 다른 부분을 가리켜  포함하지 않거나 로 나뉨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Ok 에 대한 mask 는 존재하지 않아 제외 = 불량 유형들에 대한 attention map 일치도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하지만 attention map 이 mask 를 잘 포함한다고 하더라도, 막상 최종 예측은 다른 클래스로 예측하는 경우도 존재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14" name="Google Shape;214;g33ff4f175b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2678" y="3034363"/>
            <a:ext cx="6638860" cy="17881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어둠, 블랙, 천체, 자연이(가) 표시된 사진&#10;&#10;AI가 생성한 콘텐츠는 부정확할 수 있습니다." id="215" name="Google Shape;215;g33ff4f175b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5714" y="135900"/>
            <a:ext cx="3038764" cy="170930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3ff4f175bf_0_0"/>
          <p:cNvSpPr txBox="1"/>
          <p:nvPr/>
        </p:nvSpPr>
        <p:spPr>
          <a:xfrm>
            <a:off x="9481399" y="1568206"/>
            <a:ext cx="13805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mask 이미지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3ff4f175bf_0_0"/>
          <p:cNvSpPr txBox="1"/>
          <p:nvPr/>
        </p:nvSpPr>
        <p:spPr>
          <a:xfrm>
            <a:off x="324725" y="4796787"/>
            <a:ext cx="11534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Brightness_4 에서 attention 을 거의 잡지 못함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mask 범위가 60~70% 정도의 수준으로 GradCAM 에 포함된다는 것이 좋은 수준 같진 않음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표 수치상으로는 target domain 과 repeat 이 큰 차이가 없으나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앞서 인스턴스 하나씩 살펴보았을 때 domain shift 상황에서 CAM 이 결함 부분을 잘 못잡는 상황이 여러 번 존재  -&gt; gradCAM 정보를 사용해도 괜찮을지 의심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lt2"/>
                </a:solidFill>
                <a:latin typeface="Noto Sans KR"/>
                <a:ea typeface="Noto Sans KR"/>
                <a:cs typeface="Noto Sans KR"/>
                <a:sym typeface="Noto Sans KR"/>
              </a:rPr>
              <a:t>혹은 train 때의 attention map 위치를 저장해두고, test 시의 attention map 이 평균적인 map 위치와 가까워지도록 adaptation 진행,,</a:t>
            </a:r>
            <a:br>
              <a:rPr b="0" i="0" lang="en-US" sz="1200" u="none" cap="none" strike="noStrike">
                <a:solidFill>
                  <a:schemeClr val="lt2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lt2"/>
                </a:solidFill>
                <a:latin typeface="Noto Sans KR"/>
                <a:ea typeface="Noto Sans KR"/>
                <a:cs typeface="Noto Sans KR"/>
                <a:sym typeface="Noto Sans KR"/>
              </a:rPr>
              <a:t>train 시의 attention map 과 test 시의 attention map 간 Divergence 낮추도록 조절</a:t>
            </a:r>
            <a:endParaRPr b="0" i="0" sz="1200" u="none" cap="none" strike="noStrike">
              <a:solidFill>
                <a:schemeClr val="lt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g347fedba03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3300" y="2275225"/>
            <a:ext cx="5830669" cy="31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347fedba03d_0_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– </a:t>
            </a:r>
            <a:r>
              <a:rPr b="1" i="0" lang="en-US" sz="12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GradCAM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47fedba03d_0_0"/>
          <p:cNvSpPr txBox="1"/>
          <p:nvPr/>
        </p:nvSpPr>
        <p:spPr>
          <a:xfrm>
            <a:off x="324725" y="967838"/>
            <a:ext cx="10537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GradCAM 으로 도출된 attention map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부분만 이용하여 TENT 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attention map 의 상위 10% 부분만 활용하여 BN 통계량 수집 및 이를 기반으로 파라미터 업데이트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26" name="Google Shape;226;g347fedba03d_0_0"/>
          <p:cNvCxnSpPr/>
          <p:nvPr/>
        </p:nvCxnSpPr>
        <p:spPr>
          <a:xfrm flipH="1">
            <a:off x="6121300" y="2038550"/>
            <a:ext cx="10500" cy="364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g347fedba03d_0_0"/>
          <p:cNvSpPr txBox="1"/>
          <p:nvPr/>
        </p:nvSpPr>
        <p:spPr>
          <a:xfrm>
            <a:off x="1531325" y="18912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 score</a:t>
            </a:r>
            <a:endParaRPr/>
          </a:p>
        </p:txBody>
      </p:sp>
      <p:sp>
        <p:nvSpPr>
          <p:cNvPr id="228" name="Google Shape;228;g347fedba03d_0_0"/>
          <p:cNvSpPr txBox="1"/>
          <p:nvPr/>
        </p:nvSpPr>
        <p:spPr>
          <a:xfrm>
            <a:off x="7721775" y="18912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f1 score</a:t>
            </a:r>
            <a:endParaRPr/>
          </a:p>
        </p:txBody>
      </p:sp>
      <p:sp>
        <p:nvSpPr>
          <p:cNvPr id="229" name="Google Shape;229;g347fedba03d_0_0"/>
          <p:cNvSpPr/>
          <p:nvPr/>
        </p:nvSpPr>
        <p:spPr>
          <a:xfrm>
            <a:off x="2910875" y="3759900"/>
            <a:ext cx="240900" cy="198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47fedba03d_0_0"/>
          <p:cNvSpPr/>
          <p:nvPr/>
        </p:nvSpPr>
        <p:spPr>
          <a:xfrm>
            <a:off x="9306250" y="3759900"/>
            <a:ext cx="240900" cy="198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47fedba03d_0_0"/>
          <p:cNvSpPr txBox="1"/>
          <p:nvPr/>
        </p:nvSpPr>
        <p:spPr>
          <a:xfrm>
            <a:off x="324725" y="5636138"/>
            <a:ext cx="1053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auroc 의 경우, 0.01 단위로 아주 소폭 증가    /    f1 의 경우, 값이 똑같은 경우가 많음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큰 성능 차이가 없음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32" name="Google Shape;232;g347fedba03d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363" y="2275225"/>
            <a:ext cx="5841915" cy="31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47fedba03d_0_0"/>
          <p:cNvSpPr/>
          <p:nvPr/>
        </p:nvSpPr>
        <p:spPr>
          <a:xfrm>
            <a:off x="2910875" y="3759900"/>
            <a:ext cx="240900" cy="198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기타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324725" y="463813"/>
            <a:ext cx="10537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524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Attention map 이 크고 진한 top 3 개를 뽑아 이들끼리 entropy 가 높도록 업데이트</a:t>
            </a:r>
            <a:b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top 2~3 개를 over confidence 시 가능한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후보 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클래스로 보고 이들끼리는 entropy 가 높도록 (예측 확률이 거의 비슷하도록) 업데이트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일반적인 TENT 와 거의 똑같은 수치를 보임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1" name="Google Shape;241;p9"/>
          <p:cNvSpPr txBox="1"/>
          <p:nvPr/>
        </p:nvSpPr>
        <p:spPr>
          <a:xfrm>
            <a:off x="324725" y="28625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추후 연구 방향</a:t>
            </a:r>
            <a:endParaRPr b="1">
              <a:solidFill>
                <a:srgbClr val="548135"/>
              </a:solidFill>
            </a:endParaRPr>
          </a:p>
        </p:txBody>
      </p:sp>
      <p:sp>
        <p:nvSpPr>
          <p:cNvPr id="242" name="Google Shape;242;p9"/>
          <p:cNvSpPr txBox="1"/>
          <p:nvPr/>
        </p:nvSpPr>
        <p:spPr>
          <a:xfrm>
            <a:off x="406850" y="3423575"/>
            <a:ext cx="122997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GradCAM 외 다른 attention map 적용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Ex)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LayerCAM : 마지막 레이어 값만을 반영하는 gradCAM 과 달리 얕은 레이어 정보도 함께 반영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MaxPooling 이 데이터의 뚜렷한 특징 = 클래스 정보 / AvgPooling 이 데이터의 전반적인 특징 = 도메인 정보 를 나타낸다는 가정 하에 adaptation 수행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3. attention 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해야 할 위치를 정해준 후, test 때도 비슷한 위치에 집중하도록 모델 업데이트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original attention map 과 augmentation 한 인스턴스의 attention map 간 consistency loss 로 모델 업데이트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다만 현재 데이터에 augmentation 을 적용하는 것이 적합하진 않아보임..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클래스별 attention map prototype 을 만들어 pseudo label 이 prototype 과 비슷하게 집중하도록 모델 업데이트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1) attention map 이 결함 부위를 정확히 지정하지 못하는 문제 2) 같은 클래스여도 상하좌우 각기 다르게 결함이 발생할 수 있어 prototype 을 만들기 어려운 문제 존재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47fedba03d_0_52"/>
          <p:cNvSpPr txBox="1"/>
          <p:nvPr/>
        </p:nvSpPr>
        <p:spPr>
          <a:xfrm>
            <a:off x="242600" y="1410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추후 연구 방향</a:t>
            </a:r>
            <a:endParaRPr b="1">
              <a:solidFill>
                <a:srgbClr val="548135"/>
              </a:solidFill>
            </a:endParaRPr>
          </a:p>
        </p:txBody>
      </p:sp>
      <p:sp>
        <p:nvSpPr>
          <p:cNvPr id="249" name="Google Shape;249;g347fedba03d_0_52"/>
          <p:cNvSpPr txBox="1"/>
          <p:nvPr/>
        </p:nvSpPr>
        <p:spPr>
          <a:xfrm>
            <a:off x="324725" y="702125"/>
            <a:ext cx="1229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4. 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0" name="Google Shape;250;g347fedba03d_0_52"/>
          <p:cNvSpPr/>
          <p:nvPr/>
        </p:nvSpPr>
        <p:spPr>
          <a:xfrm>
            <a:off x="901200" y="996600"/>
            <a:ext cx="669900" cy="544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47fedba03d_0_52"/>
          <p:cNvSpPr/>
          <p:nvPr/>
        </p:nvSpPr>
        <p:spPr>
          <a:xfrm>
            <a:off x="1571100" y="996600"/>
            <a:ext cx="669900" cy="544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47fedba03d_0_52"/>
          <p:cNvSpPr/>
          <p:nvPr/>
        </p:nvSpPr>
        <p:spPr>
          <a:xfrm>
            <a:off x="2241000" y="996600"/>
            <a:ext cx="669900" cy="544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47fedba03d_0_52"/>
          <p:cNvSpPr/>
          <p:nvPr/>
        </p:nvSpPr>
        <p:spPr>
          <a:xfrm>
            <a:off x="2910900" y="996600"/>
            <a:ext cx="669900" cy="544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47fedba03d_0_52"/>
          <p:cNvSpPr/>
          <p:nvPr/>
        </p:nvSpPr>
        <p:spPr>
          <a:xfrm>
            <a:off x="3580800" y="996600"/>
            <a:ext cx="669900" cy="544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47fedba03d_0_52"/>
          <p:cNvSpPr/>
          <p:nvPr/>
        </p:nvSpPr>
        <p:spPr>
          <a:xfrm>
            <a:off x="4250700" y="996600"/>
            <a:ext cx="669900" cy="544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g347fedba03d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275" y="996600"/>
            <a:ext cx="551759" cy="5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47fedba03d_0_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0175" y="993582"/>
            <a:ext cx="551750" cy="550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47fedba03d_0_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9775" y="992054"/>
            <a:ext cx="551750" cy="553294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47fedba03d_0_52"/>
          <p:cNvSpPr txBox="1"/>
          <p:nvPr/>
        </p:nvSpPr>
        <p:spPr>
          <a:xfrm>
            <a:off x="2359200" y="1084050"/>
            <a:ext cx="55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…</a:t>
            </a:r>
            <a:endParaRPr/>
          </a:p>
        </p:txBody>
      </p:sp>
      <p:sp>
        <p:nvSpPr>
          <p:cNvPr id="260" name="Google Shape;260;g347fedba03d_0_52"/>
          <p:cNvSpPr txBox="1"/>
          <p:nvPr/>
        </p:nvSpPr>
        <p:spPr>
          <a:xfrm>
            <a:off x="5153900" y="1084050"/>
            <a:ext cx="290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클래스별 prototype</a:t>
            </a:r>
            <a:endParaRPr/>
          </a:p>
        </p:txBody>
      </p:sp>
      <p:sp>
        <p:nvSpPr>
          <p:cNvPr id="261" name="Google Shape;261;g347fedba03d_0_52"/>
          <p:cNvSpPr/>
          <p:nvPr/>
        </p:nvSpPr>
        <p:spPr>
          <a:xfrm>
            <a:off x="2785275" y="1624625"/>
            <a:ext cx="209400" cy="20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47fedba03d_0_52"/>
          <p:cNvSpPr txBox="1"/>
          <p:nvPr/>
        </p:nvSpPr>
        <p:spPr>
          <a:xfrm>
            <a:off x="2694825" y="1544675"/>
            <a:ext cx="39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X</a:t>
            </a:r>
            <a:endParaRPr/>
          </a:p>
        </p:txBody>
      </p:sp>
      <p:sp>
        <p:nvSpPr>
          <p:cNvPr id="263" name="Google Shape;263;g347fedba03d_0_52"/>
          <p:cNvSpPr txBox="1"/>
          <p:nvPr/>
        </p:nvSpPr>
        <p:spPr>
          <a:xfrm>
            <a:off x="1436625" y="1917850"/>
            <a:ext cx="290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input image</a:t>
            </a:r>
            <a:endParaRPr/>
          </a:p>
        </p:txBody>
      </p:sp>
      <p:sp>
        <p:nvSpPr>
          <p:cNvPr id="264" name="Google Shape;264;g347fedba03d_0_52"/>
          <p:cNvSpPr txBox="1"/>
          <p:nvPr/>
        </p:nvSpPr>
        <p:spPr>
          <a:xfrm>
            <a:off x="1436625" y="3636738"/>
            <a:ext cx="290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 중 가장 max confidence 한 것을 pseudo label 로 사용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Ex) pseudo label = 0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5" name="Google Shape;265;g347fedba03d_0_52"/>
          <p:cNvSpPr/>
          <p:nvPr/>
        </p:nvSpPr>
        <p:spPr>
          <a:xfrm rot="5400000">
            <a:off x="2726925" y="4740225"/>
            <a:ext cx="669900" cy="5532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47fedba03d_0_52"/>
          <p:cNvSpPr txBox="1"/>
          <p:nvPr/>
        </p:nvSpPr>
        <p:spPr>
          <a:xfrm>
            <a:off x="3580800" y="5037000"/>
            <a:ext cx="144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input image</a:t>
            </a:r>
            <a:endParaRPr/>
          </a:p>
        </p:txBody>
      </p:sp>
      <p:sp>
        <p:nvSpPr>
          <p:cNvPr id="267" name="Google Shape;267;g347fedba03d_0_52"/>
          <p:cNvSpPr/>
          <p:nvPr/>
        </p:nvSpPr>
        <p:spPr>
          <a:xfrm>
            <a:off x="4905475" y="5116950"/>
            <a:ext cx="209400" cy="20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47fedba03d_0_52"/>
          <p:cNvSpPr txBox="1"/>
          <p:nvPr/>
        </p:nvSpPr>
        <p:spPr>
          <a:xfrm>
            <a:off x="4815025" y="5037000"/>
            <a:ext cx="39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X</a:t>
            </a:r>
            <a:endParaRPr/>
          </a:p>
        </p:txBody>
      </p:sp>
      <p:pic>
        <p:nvPicPr>
          <p:cNvPr id="269" name="Google Shape;269;g347fedba03d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6900" y="4949550"/>
            <a:ext cx="551759" cy="54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47fedba03d_0_52"/>
          <p:cNvSpPr txBox="1"/>
          <p:nvPr/>
        </p:nvSpPr>
        <p:spPr>
          <a:xfrm>
            <a:off x="4694775" y="4464800"/>
            <a:ext cx="18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class 0 의 prototype</a:t>
            </a:r>
            <a:endParaRPr/>
          </a:p>
        </p:txBody>
      </p:sp>
      <p:sp>
        <p:nvSpPr>
          <p:cNvPr id="271" name="Google Shape;271;g347fedba03d_0_52"/>
          <p:cNvSpPr txBox="1"/>
          <p:nvPr/>
        </p:nvSpPr>
        <p:spPr>
          <a:xfrm>
            <a:off x="0" y="31457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prob : [0.9, 0.0, 0.0, 0.05, 0.05, 0.0]</a:t>
            </a:r>
            <a:endParaRPr/>
          </a:p>
        </p:txBody>
      </p:sp>
      <p:sp>
        <p:nvSpPr>
          <p:cNvPr id="272" name="Google Shape;272;g347fedba03d_0_52"/>
          <p:cNvSpPr txBox="1"/>
          <p:nvPr/>
        </p:nvSpPr>
        <p:spPr>
          <a:xfrm>
            <a:off x="3085650" y="31457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prob : [0.3, 0.0, 0.6, 0.05, 0.05, 0.0]</a:t>
            </a:r>
            <a:endParaRPr/>
          </a:p>
        </p:txBody>
      </p:sp>
      <p:cxnSp>
        <p:nvCxnSpPr>
          <p:cNvPr id="273" name="Google Shape;273;g347fedba03d_0_52"/>
          <p:cNvCxnSpPr>
            <a:stCxn id="256" idx="2"/>
          </p:cNvCxnSpPr>
          <p:nvPr/>
        </p:nvCxnSpPr>
        <p:spPr>
          <a:xfrm>
            <a:off x="1236154" y="1540800"/>
            <a:ext cx="0" cy="16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4" name="Google Shape;274;g347fedba03d_0_52"/>
          <p:cNvCxnSpPr/>
          <p:nvPr/>
        </p:nvCxnSpPr>
        <p:spPr>
          <a:xfrm>
            <a:off x="1897442" y="1540800"/>
            <a:ext cx="0" cy="16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5" name="Google Shape;275;g347fedba03d_0_52"/>
          <p:cNvCxnSpPr/>
          <p:nvPr/>
        </p:nvCxnSpPr>
        <p:spPr>
          <a:xfrm>
            <a:off x="4585642" y="1540800"/>
            <a:ext cx="0" cy="16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6" name="Google Shape;276;g347fedba03d_0_52"/>
          <p:cNvCxnSpPr/>
          <p:nvPr/>
        </p:nvCxnSpPr>
        <p:spPr>
          <a:xfrm>
            <a:off x="3915742" y="1540800"/>
            <a:ext cx="0" cy="16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7" name="Google Shape;277;g347fedba03d_0_52"/>
          <p:cNvCxnSpPr/>
          <p:nvPr/>
        </p:nvCxnSpPr>
        <p:spPr>
          <a:xfrm>
            <a:off x="3245842" y="1540800"/>
            <a:ext cx="0" cy="16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8" name="Google Shape;278;g347fedba03d_0_52"/>
          <p:cNvCxnSpPr/>
          <p:nvPr/>
        </p:nvCxnSpPr>
        <p:spPr>
          <a:xfrm>
            <a:off x="2546404" y="1540800"/>
            <a:ext cx="0" cy="16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9" name="Google Shape;279;g347fedba03d_0_52"/>
          <p:cNvSpPr/>
          <p:nvPr/>
        </p:nvSpPr>
        <p:spPr>
          <a:xfrm flipH="1" rot="10800000">
            <a:off x="937875" y="2476088"/>
            <a:ext cx="3904200" cy="687600"/>
          </a:xfrm>
          <a:prstGeom prst="trapezoid">
            <a:avLst>
              <a:gd fmla="val 25000" name="adj"/>
            </a:avLst>
          </a:prstGeom>
          <a:solidFill>
            <a:srgbClr val="AEABAB"/>
          </a:solidFill>
          <a:ln cap="flat" cmpd="sng" w="9525">
            <a:solidFill>
              <a:srgbClr val="AEAB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47fedba03d_0_52"/>
          <p:cNvSpPr txBox="1"/>
          <p:nvPr/>
        </p:nvSpPr>
        <p:spPr>
          <a:xfrm>
            <a:off x="1436625" y="2531775"/>
            <a:ext cx="290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model</a:t>
            </a:r>
            <a:endParaRPr/>
          </a:p>
        </p:txBody>
      </p:sp>
      <p:sp>
        <p:nvSpPr>
          <p:cNvPr id="281" name="Google Shape;281;g347fedba03d_0_52"/>
          <p:cNvSpPr/>
          <p:nvPr/>
        </p:nvSpPr>
        <p:spPr>
          <a:xfrm rot="5400000">
            <a:off x="6582625" y="4761750"/>
            <a:ext cx="847800" cy="8313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47fedba03d_0_52"/>
          <p:cNvSpPr txBox="1"/>
          <p:nvPr/>
        </p:nvSpPr>
        <p:spPr>
          <a:xfrm>
            <a:off x="5553175" y="4992750"/>
            <a:ext cx="290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model</a:t>
            </a:r>
            <a:endParaRPr/>
          </a:p>
        </p:txBody>
      </p:sp>
      <p:sp>
        <p:nvSpPr>
          <p:cNvPr id="283" name="Google Shape;283;g347fedba03d_0_52"/>
          <p:cNvSpPr txBox="1"/>
          <p:nvPr/>
        </p:nvSpPr>
        <p:spPr>
          <a:xfrm>
            <a:off x="8094400" y="4992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prob : [0.9, 0.0, 0.0, 0.05, 0.05, 0.0]</a:t>
            </a:r>
            <a:endParaRPr/>
          </a:p>
        </p:txBody>
      </p:sp>
      <p:sp>
        <p:nvSpPr>
          <p:cNvPr id="284" name="Google Shape;284;g347fedba03d_0_52"/>
          <p:cNvSpPr/>
          <p:nvPr/>
        </p:nvSpPr>
        <p:spPr>
          <a:xfrm>
            <a:off x="7670300" y="5072700"/>
            <a:ext cx="390300" cy="20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47fedba03d_0_52"/>
          <p:cNvSpPr txBox="1"/>
          <p:nvPr/>
        </p:nvSpPr>
        <p:spPr>
          <a:xfrm>
            <a:off x="8646400" y="5326350"/>
            <a:ext cx="18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Entropy 최적화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