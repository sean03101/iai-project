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4" r:id="rId4"/>
    <p:sldId id="265" r:id="rId5"/>
    <p:sldId id="263" r:id="rId6"/>
    <p:sldId id="266" r:id="rId7"/>
    <p:sldId id="271" r:id="rId8"/>
    <p:sldId id="272" r:id="rId9"/>
    <p:sldId id="268" r:id="rId10"/>
    <p:sldId id="267" r:id="rId11"/>
  </p:sldIdLst>
  <p:sldSz cx="12192000" cy="6858000"/>
  <p:notesSz cx="6858000" cy="9144000"/>
  <p:embeddedFontLst>
    <p:embeddedFont>
      <p:font typeface="맑은 고딕" panose="020B0503020000020004" pitchFamily="50" charset="-127"/>
      <p:regular r:id="rId13"/>
      <p:bold r:id="rId14"/>
    </p:embeddedFont>
    <p:embeddedFont>
      <p:font typeface="맑은 고딕" panose="020B0503020000020004" pitchFamily="50" charset="-127"/>
      <p:regular r:id="rId13"/>
      <p:bold r:id="rId14"/>
    </p:embeddedFont>
    <p:embeddedFont>
      <p:font typeface="Cambria Math" panose="02040503050406030204" pitchFamily="18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Noto Sans KR" panose="020B0200000000000000" pitchFamily="50" charset="-127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SlUiA/rjYi4LelDAMruK6s9Ds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4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E2BE2465-6B7E-20C0-90F0-1D419AB5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0E0E4E95-747C-2179-708D-2F81FC6A1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602F32DE-A970-02BC-DEF8-DBE13090F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36902338-63E9-3837-C8EE-6B9B2BDF00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2024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9A5E2DD3-E872-7D69-E710-397A0385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8E98C206-551E-797A-D388-6725F79EF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A9C13A75-2198-B084-FAB9-6A21DF80B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E5C5AEBD-695B-A9B3-DB02-9E314E4677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331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9B656B14-2B35-CFFD-99BB-C5442051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089664C5-0517-801C-3FDA-8516EFF54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EC7CF298-8DDA-74E4-A746-9128F201B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94BEA448-9600-6BD5-EF00-FD7CC772AF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9957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09C125C-869C-02EC-AB41-CACFBDBE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6474DE4D-EF2C-EC26-BF96-CC09FB98A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B4293DCC-4546-330B-2721-45AB3BD1AB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CF58D596-53AD-12FD-5E82-11DDF7E6D3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6997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79448C0-D674-E597-EBCA-24D9D8C2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86DDFC21-2071-1F2B-481A-B8E90BCF6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5232BCB8-4A69-3A42-E27B-5ECC412A6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76D48D47-110D-70FA-AE0D-492FEAD6B8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8925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102975A-7B21-BFF4-6800-F90C78FA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F9572C91-39F2-2F48-EE4C-FC428BA29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2768B082-1500-4DCA-7A5E-A4EB5E0DA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F2B2859F-314E-6B3A-F45A-5BF7453829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6959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102975A-7B21-BFF4-6800-F90C78FA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F9572C91-39F2-2F48-EE4C-FC428BA29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2768B082-1500-4DCA-7A5E-A4EB5E0DA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F2B2859F-314E-6B3A-F45A-5BF7453829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594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FF18970-3800-3060-42D9-6A47910E3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FADF2BF3-2E70-C78C-EB7A-52BA9D2A8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B518B9CE-FE81-C2C3-D61B-A92044A13E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D08F98E6-F1CE-833D-BD8C-C8A8EB6047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2937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FE43DAD-8500-01B3-A2ED-F3F2E9BC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0945bc02_0_17:notes">
            <a:extLst>
              <a:ext uri="{FF2B5EF4-FFF2-40B4-BE49-F238E27FC236}">
                <a16:creationId xmlns:a16="http://schemas.microsoft.com/office/drawing/2014/main" id="{C2B1E1E5-7B0C-FDBA-CD80-950F7234BB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4f0945bc02_0_17:notes">
            <a:extLst>
              <a:ext uri="{FF2B5EF4-FFF2-40B4-BE49-F238E27FC236}">
                <a16:creationId xmlns:a16="http://schemas.microsoft.com/office/drawing/2014/main" id="{01FDE6CC-F52B-97E0-AD87-460F52A50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4f0945bc02_0_17:notes">
            <a:extLst>
              <a:ext uri="{FF2B5EF4-FFF2-40B4-BE49-F238E27FC236}">
                <a16:creationId xmlns:a16="http://schemas.microsoft.com/office/drawing/2014/main" id="{2C2E8465-8A14-37FF-0624-D1EE63564E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811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access.thecvf.com/content_cvpr_2018/papers/Li_Tell_Me_Where_CVPR_2018_paper.pdf#:~:text=make%20attention%20maps%20an%20explicit,Besides%2C%20the%20proposed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250516 </a:t>
            </a:r>
            <a:r>
              <a:rPr lang="en-US" sz="2800" b="1" i="0" u="none" strike="noStrike" cap="none" dirty="0" err="1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</a:t>
            </a:r>
            <a:r>
              <a:rPr lang="en-US" sz="2800" b="1" i="0" u="none" strike="noStrike" cap="none" dirty="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800" b="1" i="0" u="none" strike="noStrike" cap="none" dirty="0" err="1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endParaRPr sz="2400" b="1" i="0" u="none" strike="noStrike" cap="none" dirty="0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B3E1EA-E8FF-D9B8-65E9-89C8A750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13C70DEF-C6D8-06C2-FA6B-72564BB5AC67}"/>
              </a:ext>
            </a:extLst>
          </p:cNvPr>
          <p:cNvSpPr txBox="1"/>
          <p:nvPr/>
        </p:nvSpPr>
        <p:spPr>
          <a:xfrm>
            <a:off x="242596" y="214584"/>
            <a:ext cx="9862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제안하는 방법</a:t>
            </a:r>
            <a:endParaRPr sz="1400" b="1" i="0" u="none" strike="noStrike" cap="none" dirty="0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D9F992-A4FE-2230-CC05-1ECC993A8B0F}"/>
              </a:ext>
            </a:extLst>
          </p:cNvPr>
          <p:cNvSpPr txBox="1"/>
          <p:nvPr/>
        </p:nvSpPr>
        <p:spPr>
          <a:xfrm>
            <a:off x="5347856" y="1496455"/>
            <a:ext cx="6620022" cy="39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미세 결함을 잘 탐지하면서도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Test Time Adaptation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활용하기 용이한 구조의 모델 설계 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대부분의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방법론들은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BatchNorm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파라미터들을 업데이트하는 방식을 사용함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LayerNorm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GroupNorm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등을 업데이트 하는 방법도 있으나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✅ </a:t>
            </a:r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ResNet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계열의 모델 필요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미세 결함을 잘 탐지하기 위해 보조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Branch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등을 삽입하여 학습하는 방법은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추후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적용시 본 모델의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업데이트 방향과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브랜치의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학습 결과가 달라져 테스트 시점에 적응하지 못하고 오히려 성능이 저하됨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Ex.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CBAM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등의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attention module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이용한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source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model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적용했을 때 성능 급격하게 하락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✅ 따라서 보조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브랜치를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사용하지 않고 하나의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share network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학습할 수 있는 구조 필요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6A4E7C3-A331-E0ED-9421-C25AD67B4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9" y="1875146"/>
            <a:ext cx="5142204" cy="364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0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E95491B-6E28-D545-3A6F-AFF91266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2B7B29D2-5FDE-A3D8-D893-375DB41E55B3}"/>
              </a:ext>
            </a:extLst>
          </p:cNvPr>
          <p:cNvSpPr txBox="1"/>
          <p:nvPr/>
        </p:nvSpPr>
        <p:spPr>
          <a:xfrm>
            <a:off x="242596" y="214584"/>
            <a:ext cx="9862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제안하는 방법</a:t>
            </a:r>
            <a:endParaRPr sz="1400" b="1" i="0" u="none" strike="noStrike" cap="none" dirty="0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5D5248-FDD3-8671-7255-648F55C9FD8A}"/>
              </a:ext>
            </a:extLst>
          </p:cNvPr>
          <p:cNvSpPr txBox="1"/>
          <p:nvPr/>
        </p:nvSpPr>
        <p:spPr>
          <a:xfrm>
            <a:off x="6918549" y="1655617"/>
            <a:ext cx="3186547" cy="89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Stage        :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epoch / 2) &lt;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epoch)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대해서만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train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진행하여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안정된 상태에서의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grad cam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추출할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 있도록 함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84AC0D-BD45-3141-4D4A-506C6F522354}"/>
              </a:ext>
            </a:extLst>
          </p:cNvPr>
          <p:cNvSpPr txBox="1"/>
          <p:nvPr/>
        </p:nvSpPr>
        <p:spPr>
          <a:xfrm>
            <a:off x="6918549" y="3357859"/>
            <a:ext cx="3915706" cy="89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Stage        :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epoch / 2) &gt;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epoch)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추출된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Grad CAM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통해 얻은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logit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mask image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통해 얻은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logit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KL div loss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적용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285285-AB56-1469-045D-1ED83C71754E}"/>
              </a:ext>
            </a:extLst>
          </p:cNvPr>
          <p:cNvSpPr txBox="1"/>
          <p:nvPr/>
        </p:nvSpPr>
        <p:spPr>
          <a:xfrm>
            <a:off x="7371129" y="1687426"/>
            <a:ext cx="517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D958B0-A02C-C237-C045-E4C0DCC524B2}"/>
              </a:ext>
            </a:extLst>
          </p:cNvPr>
          <p:cNvSpPr txBox="1"/>
          <p:nvPr/>
        </p:nvSpPr>
        <p:spPr>
          <a:xfrm>
            <a:off x="7371129" y="3388932"/>
            <a:ext cx="341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②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81F495-B7A1-A02D-1EAD-BC3E0CACD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13" y="1655617"/>
            <a:ext cx="5945960" cy="4214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2F8DAD-37BF-B053-EC01-2FB21558BB80}"/>
              </a:ext>
            </a:extLst>
          </p:cNvPr>
          <p:cNvSpPr txBox="1"/>
          <p:nvPr/>
        </p:nvSpPr>
        <p:spPr>
          <a:xfrm>
            <a:off x="6918549" y="4279753"/>
            <a:ext cx="3818980" cy="89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➡️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FinerCAM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을 활용해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class activation map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추출 후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, GT defect mask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와의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feature-level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정렬을 통해 모델이 주목한 영역을 간접적으로 유도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631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D087B23-66BE-DBF2-B72D-077F8BB1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093FC20C-8277-7389-09D6-B705D0F25969}"/>
              </a:ext>
            </a:extLst>
          </p:cNvPr>
          <p:cNvSpPr txBox="1"/>
          <p:nvPr/>
        </p:nvSpPr>
        <p:spPr>
          <a:xfrm>
            <a:off x="242596" y="214584"/>
            <a:ext cx="9862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제안하는 방법</a:t>
            </a:r>
            <a:endParaRPr sz="1400" b="1" i="0" u="none" strike="noStrike" cap="none" dirty="0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27D468-AC01-D7A1-E268-DEF809CECF5E}"/>
                  </a:ext>
                </a:extLst>
              </p:cNvPr>
              <p:cNvSpPr txBox="1"/>
              <p:nvPr/>
            </p:nvSpPr>
            <p:spPr>
              <a:xfrm>
                <a:off x="2697991" y="5457989"/>
                <a:ext cx="80269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i="1" baseline="-2500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​ =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i="1" baseline="-2500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altLang="ko-KR" i="1" baseline="-25000">
                          <a:latin typeface="Cambria Math" panose="02040503050406030204" pitchFamily="18" charset="0"/>
                        </a:rPr>
                        <m:t>​ 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baseline="-25000" smtClean="0">
                          <a:latin typeface="Cambria Math" panose="02040503050406030204" pitchFamily="18" charset="0"/>
                        </a:rPr>
                        <m:t>𝑖𝑚𝑔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​ ),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)+(1−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i="1" baseline="-25000" smtClean="0">
                          <a:latin typeface="Cambria Math" panose="02040503050406030204" pitchFamily="18" charset="0"/>
                        </a:rPr>
                        <m:t>𝐾𝐿𝐷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​ 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𝐺𝐴𝑃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𝑥𝑚𝑎𝑠𝑘</m:t>
                      </m:r>
                      <m:r>
                        <a:rPr lang="en-US" altLang="ko-KR" i="1" baseline="-25000">
                          <a:latin typeface="Cambria Math" panose="02040503050406030204" pitchFamily="18" charset="0"/>
                        </a:rPr>
                        <m:t>​ ))),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𝐺𝐴𝑃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𝑥𝑓𝑖𝑛𝑒𝑟𝑐𝑎𝑚</m:t>
                      </m:r>
                      <m:r>
                        <a:rPr lang="en-US" altLang="ko-KR" i="1" baseline="-25000">
                          <a:latin typeface="Cambria Math" panose="02040503050406030204" pitchFamily="18" charset="0"/>
                        </a:rPr>
                        <m:t>​ ))))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27D468-AC01-D7A1-E268-DEF809CEC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991" y="5457989"/>
                <a:ext cx="8026941" cy="215444"/>
              </a:xfrm>
              <a:prstGeom prst="rect">
                <a:avLst/>
              </a:prstGeom>
              <a:blipFill>
                <a:blip r:embed="rId3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8523CFDF-DFFA-188E-F799-F4AE540F9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13" y="1101436"/>
            <a:ext cx="5945960" cy="421456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A8C8F85-5706-0B0D-2D7F-76064EA05BBF}"/>
              </a:ext>
            </a:extLst>
          </p:cNvPr>
          <p:cNvSpPr txBox="1"/>
          <p:nvPr/>
        </p:nvSpPr>
        <p:spPr>
          <a:xfrm>
            <a:off x="122523" y="5427211"/>
            <a:ext cx="23737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Stage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Total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Loss :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5F2CAF-B700-6E49-5700-218F5C3AACB3}"/>
                  </a:ext>
                </a:extLst>
              </p:cNvPr>
              <p:cNvSpPr txBox="1"/>
              <p:nvPr/>
            </p:nvSpPr>
            <p:spPr>
              <a:xfrm>
                <a:off x="817931" y="6020450"/>
                <a:ext cx="10681342" cy="336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200" i="1" baseline="-25000" smtClean="0">
                        <a:latin typeface="Cambria Math" panose="02040503050406030204" pitchFamily="18" charset="0"/>
                      </a:rPr>
                      <m:t>𝐾𝐿𝐷</m:t>
                    </m:r>
                  </m:oMath>
                </a14:m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: 3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채널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mask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이미지의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logit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과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채널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grad cam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이미지의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logit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간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KLD Loss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5F2CAF-B700-6E49-5700-218F5C3AA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31" y="6020450"/>
                <a:ext cx="10681342" cy="336823"/>
              </a:xfrm>
              <a:prstGeom prst="rect">
                <a:avLst/>
              </a:prstGeom>
              <a:blipFill>
                <a:blip r:embed="rId5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1C8D8-CD03-6AE1-8C9E-B493372466BF}"/>
                  </a:ext>
                </a:extLst>
              </p:cNvPr>
              <p:cNvSpPr txBox="1"/>
              <p:nvPr/>
            </p:nvSpPr>
            <p:spPr>
              <a:xfrm>
                <a:off x="6686840" y="1101436"/>
                <a:ext cx="4549912" cy="3749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모델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forward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함수</a:t>
                </a:r>
                <a:endPara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i="1" dirty="0" err="1">
                    <a:latin typeface="Cambria Math" panose="02040503050406030204" pitchFamily="18" charset="0"/>
                  </a:rPr>
                  <a:t>x</a:t>
                </a:r>
                <a:r>
                  <a:rPr lang="en-US" altLang="ko-KR" i="1" baseline="-25000" dirty="0" err="1">
                    <a:latin typeface="Cambria Math" panose="02040503050406030204" pitchFamily="18" charset="0"/>
                  </a:rPr>
                  <a:t>img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​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: </a:t>
                </a: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원본 제품 이미지</a:t>
                </a:r>
                <a:endPara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i="1" dirty="0" err="1">
                    <a:latin typeface="Cambria Math" panose="02040503050406030204" pitchFamily="18" charset="0"/>
                  </a:rPr>
                  <a:t>x</a:t>
                </a:r>
                <a:r>
                  <a:rPr lang="en-US" altLang="ko-KR" i="1" baseline="-25000" dirty="0" err="1">
                    <a:latin typeface="Cambria Math" panose="02040503050406030204" pitchFamily="18" charset="0"/>
                  </a:rPr>
                  <a:t>mask</a:t>
                </a:r>
                <a:r>
                  <a:rPr lang="en-US" altLang="ko-KR" i="1" baseline="-25000" dirty="0">
                    <a:latin typeface="Cambria Math" panose="02040503050406030204" pitchFamily="18" charset="0"/>
                  </a:rPr>
                  <a:t>​ 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: </a:t>
                </a: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이미지에 대응되는 마스크 이미지</a:t>
                </a:r>
                <a:endParaRPr lang="en-US" altLang="ko-KR" i="1" baseline="-25000" dirty="0">
                  <a:latin typeface="Cambria Math" panose="02040503050406030204" pitchFamily="18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i="1" dirty="0" err="1">
                    <a:latin typeface="Cambria Math" panose="02040503050406030204" pitchFamily="18" charset="0"/>
                  </a:rPr>
                  <a:t>x</a:t>
                </a:r>
                <a:r>
                  <a:rPr lang="en-US" altLang="ko-KR" i="1" baseline="-25000" dirty="0" err="1">
                    <a:latin typeface="Cambria Math" panose="02040503050406030204" pitchFamily="18" charset="0"/>
                  </a:rPr>
                  <a:t>cam</a:t>
                </a:r>
                <a:r>
                  <a:rPr lang="en-US" altLang="ko-KR" i="1" baseline="-25000" dirty="0">
                    <a:latin typeface="Cambria Math" panose="02040503050406030204" pitchFamily="18" charset="0"/>
                  </a:rPr>
                  <a:t> 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: </a:t>
                </a: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이전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epoch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모델의 마지막 레이어에서 추출된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CAM </a:t>
                </a:r>
                <a:r>
                  <a:rPr lang="ko-KR" altLang="en-US" sz="12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히트맵을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ko-KR" altLang="en-US" sz="12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정규화하여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만든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채널 이미지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i="1" dirty="0">
                    <a:latin typeface="Cambria Math" panose="02040503050406030204" pitchFamily="18" charset="0"/>
                  </a:rPr>
                  <a:t>y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: </a:t>
                </a:r>
                <a:r>
                  <a:rPr kumimoji="0" lang="ko-KR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정답 레이블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i="1" dirty="0">
                    <a:latin typeface="Cambria Math" panose="02040503050406030204" pitchFamily="18" charset="0"/>
                  </a:rPr>
                  <a:t>L</a:t>
                </a:r>
                <a:r>
                  <a:rPr lang="en-US" altLang="ko-KR" i="1" baseline="-25000" dirty="0">
                    <a:latin typeface="Cambria Math" panose="02040503050406030204" pitchFamily="18" charset="0"/>
                  </a:rPr>
                  <a:t>CE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: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Cross Entropy Loss</a:t>
                </a:r>
                <a:endParaRPr lang="en-US" altLang="ko-KR" i="1" baseline="-25000" dirty="0">
                  <a:latin typeface="Cambria Math" panose="02040503050406030204" pitchFamily="18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i="1" dirty="0">
                    <a:latin typeface="Cambria Math" panose="02040503050406030204" pitchFamily="18" charset="0"/>
                  </a:rPr>
                  <a:t>L</a:t>
                </a:r>
                <a:r>
                  <a:rPr lang="en-US" altLang="ko-KR" i="1" baseline="-25000" dirty="0">
                    <a:latin typeface="Cambria Math" panose="02040503050406030204" pitchFamily="18" charset="0"/>
                  </a:rPr>
                  <a:t>KLD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: KL divergence Loss</a:t>
                </a:r>
                <a:endParaRPr lang="en-US" altLang="ko-KR" i="1" baseline="-25000" dirty="0">
                  <a:latin typeface="Cambria Math" panose="02040503050406030204" pitchFamily="18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l-GR" altLang="ko-KR" i="1" dirty="0">
                    <a:latin typeface="Cambria Math" panose="02040503050406030204" pitchFamily="18" charset="0"/>
                  </a:rPr>
                  <a:t>α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 </a:t>
                </a:r>
                <a:r>
                  <a: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  <a:cs typeface="Arial"/>
                    <a:sym typeface="Arial"/>
                  </a:rPr>
                  <a:t>: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CE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vs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KLD loss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가중치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</a:t>
                </a:r>
                <a:r>
                  <a:rPr lang="el-GR" altLang="ko-KR" sz="1200" i="1" dirty="0">
                    <a:latin typeface="Cambria Math" panose="02040503050406030204" pitchFamily="18" charset="0"/>
                  </a:rPr>
                  <a:t>α </a:t>
                </a:r>
                <a:r>
                  <a:rPr lang="en-US" altLang="ko-KR" sz="1200" i="1" dirty="0">
                    <a:latin typeface="Cambria Math" panose="02040503050406030204" pitchFamily="18" charset="0"/>
                  </a:rPr>
                  <a:t>= 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0.5 </a:t>
                </a:r>
                <a:r>
                  <a:rPr lang="ko-KR" altLang="en-US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사용</a:t>
                </a:r>
                <a:r>
                  <a:rPr lang="en-US" altLang="ko-KR" sz="12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  <a:endParaRPr kumimoji="0" lang="en-US" altLang="ko-KR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1C8D8-CD03-6AE1-8C9E-B49337246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840" y="1101436"/>
                <a:ext cx="4549912" cy="3749553"/>
              </a:xfrm>
              <a:prstGeom prst="rect">
                <a:avLst/>
              </a:prstGeom>
              <a:blipFill>
                <a:blip r:embed="rId6"/>
                <a:stretch>
                  <a:fillRect l="-2279" r="-2279" b="-1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12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CC9A5CA-3FDA-7A16-1EE5-9B3B5158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BA847C-6EB7-3A21-4B01-CA37D5C8E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417" y="953058"/>
            <a:ext cx="8447165" cy="3406449"/>
          </a:xfrm>
          <a:prstGeom prst="rect">
            <a:avLst/>
          </a:prstGeom>
        </p:spPr>
      </p:pic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04D91B56-F50F-618F-2034-058015B56365}"/>
              </a:ext>
            </a:extLst>
          </p:cNvPr>
          <p:cNvSpPr txBox="1"/>
          <p:nvPr/>
        </p:nvSpPr>
        <p:spPr>
          <a:xfrm>
            <a:off x="242596" y="214584"/>
            <a:ext cx="11949404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Noto Sans KR"/>
              </a:rPr>
              <a:t>선행 연구</a:t>
            </a:r>
            <a:r>
              <a:rPr lang="en-US" altLang="ko-KR" sz="1800" b="1" dirty="0">
                <a:solidFill>
                  <a:srgbClr val="54813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Noto Sans KR"/>
              </a:rPr>
              <a:t>(GAIN)</a:t>
            </a:r>
            <a:r>
              <a:rPr lang="ko-KR" altLang="en-US" sz="1800" b="1" dirty="0">
                <a:solidFill>
                  <a:srgbClr val="54813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Noto Sans KR"/>
              </a:rPr>
              <a:t> </a:t>
            </a:r>
            <a:r>
              <a:rPr lang="en-US" altLang="ko-KR" b="1" dirty="0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Noto Sans K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Tell Me Where to Look: Guided Attention Inference Network)</a:t>
            </a:r>
            <a:br>
              <a:rPr lang="en-US" altLang="ko-KR" dirty="0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100" b="0" i="0" dirty="0">
                <a:solidFill>
                  <a:schemeClr val="accent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Li, </a:t>
            </a:r>
            <a:r>
              <a:rPr lang="en-US" altLang="ko-KR" sz="1100" b="0" i="0" dirty="0" err="1">
                <a:solidFill>
                  <a:schemeClr val="accent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Kunpeng</a:t>
            </a:r>
            <a:r>
              <a:rPr lang="en-US" altLang="ko-KR" sz="1100" b="0" i="0" dirty="0">
                <a:solidFill>
                  <a:schemeClr val="accent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et al. "Tell me where to look: Guided attention inference network." </a:t>
            </a:r>
            <a:r>
              <a:rPr lang="en-US" altLang="ko-KR" sz="1100" b="0" i="1" dirty="0">
                <a:solidFill>
                  <a:schemeClr val="accent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Proceedings of the IEEE conference on computer vision and pattern recognition</a:t>
            </a:r>
            <a:r>
              <a:rPr lang="en-US" altLang="ko-KR" sz="1100" b="0" i="0" dirty="0">
                <a:solidFill>
                  <a:schemeClr val="accent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 2018. (719</a:t>
            </a:r>
            <a:r>
              <a:rPr lang="ko-KR" altLang="en-US" sz="1100" b="0" i="0" dirty="0">
                <a:solidFill>
                  <a:schemeClr val="accent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 인용</a:t>
            </a:r>
            <a:r>
              <a:rPr lang="en-US" altLang="ko-KR" sz="1100" b="0" i="0" dirty="0">
                <a:solidFill>
                  <a:schemeClr val="accent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sz="1100" b="1" i="0" u="none" strike="noStrike" cap="none" dirty="0">
              <a:solidFill>
                <a:schemeClr val="accent6"/>
              </a:solidFill>
              <a:latin typeface="Noto Sans KR" panose="020B0200000000000000" pitchFamily="50" charset="-127"/>
              <a:ea typeface="Noto Sans KR" panose="020B0200000000000000" pitchFamily="50" charset="-127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60187D-B0BF-BC24-3E62-665262C7DF3F}"/>
              </a:ext>
            </a:extLst>
          </p:cNvPr>
          <p:cNvSpPr txBox="1"/>
          <p:nvPr/>
        </p:nvSpPr>
        <p:spPr>
          <a:xfrm>
            <a:off x="121297" y="4781085"/>
            <a:ext cx="11949404" cy="14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 배경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Segmentation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은 보통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pixel level label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필요로 하지만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level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label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만 존재하는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weakly supervised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환경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기여점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학습된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attention map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가공하는 방식 대신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훈련 중에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attention map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자체를 학습 가능한 요소로 포함시켜 올바른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attention map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생성하도록 지도하는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end to end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553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EA2AFBE-79F5-58C2-7782-AFD7E9F9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732B08F3-502D-FF00-F817-9B14EF88C818}"/>
              </a:ext>
            </a:extLst>
          </p:cNvPr>
          <p:cNvSpPr txBox="1"/>
          <p:nvPr/>
        </p:nvSpPr>
        <p:spPr>
          <a:xfrm>
            <a:off x="242596" y="214584"/>
            <a:ext cx="9862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Noto Sans KR"/>
              </a:rPr>
              <a:t>선행 연구 </a:t>
            </a:r>
            <a:r>
              <a:rPr lang="en-US" altLang="ko-KR" sz="1800" b="1" dirty="0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Noto Sans KR"/>
              </a:rPr>
              <a:t>Finer CAM</a:t>
            </a:r>
            <a:endParaRPr b="1" i="0" u="none" strike="noStrike" cap="none" dirty="0">
              <a:solidFill>
                <a:schemeClr val="accent6"/>
              </a:solidFill>
              <a:latin typeface="Noto Sans KR" panose="020B0200000000000000" pitchFamily="50" charset="-127"/>
              <a:ea typeface="Noto Sans KR" panose="020B0200000000000000" pitchFamily="50" charset="-127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1CA0A8-1471-78D3-FFA2-32635700795A}"/>
              </a:ext>
            </a:extLst>
          </p:cNvPr>
          <p:cNvSpPr txBox="1"/>
          <p:nvPr/>
        </p:nvSpPr>
        <p:spPr>
          <a:xfrm>
            <a:off x="242596" y="1318679"/>
            <a:ext cx="11321331" cy="14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Fine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grained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Task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에 특화된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CAM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기존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CAM 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단일 클래스에 대한 특징만을 강조하여 유사한 다른 클래스가 있을 경우 함께 활성화된다는 문제점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타겟 클래스와 유사 클래스의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logit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차이를 기반으로 특징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맵을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강조함으로써 차이점을 보다 잘 구분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정답 클래스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 가장 유사한 클래스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대해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타겟 클래스에 중요한 채널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–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유사 클래스에도 중요한 채널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=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타겟 클래스에만 특화된 중요 채널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835B040-29CC-8FD1-9D8B-40E84A088A94}"/>
              </a:ext>
            </a:extLst>
          </p:cNvPr>
          <p:cNvGrpSpPr/>
          <p:nvPr/>
        </p:nvGrpSpPr>
        <p:grpSpPr>
          <a:xfrm>
            <a:off x="482687" y="4338018"/>
            <a:ext cx="5235040" cy="733527"/>
            <a:chOff x="1434032" y="3429000"/>
            <a:chExt cx="5235040" cy="73352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1C39105-B955-CA65-738B-F35BB0863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4032" y="3429000"/>
              <a:ext cx="2876951" cy="733527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B84BC50-6666-5D77-C516-3C43142B1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20964" y="3600473"/>
              <a:ext cx="1848108" cy="39058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5D51DFD9-2303-DECA-B78F-4E216F231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574" y="3098292"/>
            <a:ext cx="3543795" cy="10383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382FCDB-015B-814D-DD8E-A89EA8B77D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049" y="4338018"/>
            <a:ext cx="3191320" cy="3238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D54011-600A-C214-477B-8049D38E2D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0" y="4617354"/>
            <a:ext cx="3143689" cy="77163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AE6F217-ADC3-80E5-53AA-75433B696E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2703" y="5539839"/>
            <a:ext cx="318179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1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8ACB673-B7F7-A2F4-CDBB-C301343E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AB103B01-1CD2-7BE2-6904-118BDFF320CF}"/>
              </a:ext>
            </a:extLst>
          </p:cNvPr>
          <p:cNvSpPr txBox="1"/>
          <p:nvPr/>
        </p:nvSpPr>
        <p:spPr>
          <a:xfrm>
            <a:off x="242596" y="214584"/>
            <a:ext cx="9862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실험결과</a:t>
            </a:r>
            <a:r>
              <a:rPr lang="en-US" altLang="ko-KR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(AUC)</a:t>
            </a:r>
            <a:endParaRPr sz="1400" b="1" i="0" u="none" strike="noStrike" cap="none" dirty="0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8712A1-D600-B99C-18C3-88FB10A2D900}"/>
              </a:ext>
            </a:extLst>
          </p:cNvPr>
          <p:cNvSpPr txBox="1"/>
          <p:nvPr/>
        </p:nvSpPr>
        <p:spPr>
          <a:xfrm>
            <a:off x="242595" y="857945"/>
            <a:ext cx="11321331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 반복 실험 결과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69084" y="1294839"/>
          <a:ext cx="5819653" cy="16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79">
                  <a:extLst>
                    <a:ext uri="{9D8B030D-6E8A-4147-A177-3AD203B41FA5}">
                      <a16:colId xmlns:a16="http://schemas.microsoft.com/office/drawing/2014/main" val="298503864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60807117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10191660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9426115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375140345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5075344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865516171"/>
                    </a:ext>
                  </a:extLst>
                </a:gridCol>
              </a:tblGrid>
              <a:tr h="33139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평균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614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Lcondition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0.9451 ± 0.0081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0.9388 ± 0.0196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0.9422 ± 0.0065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0.9317 ± 0.0220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0.9425 ± 0.0142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0.9401 ± 0.0137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822199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0.9140 ± 0.0023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0.9282 ± 0.0033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0.9433 ± 0.0086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0.9402 ± 0.0077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0.8620 ± 0.0460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0.9175 ± 0.0066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88146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Cameraz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0.9404 ± 0.0063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0.9526 ± 0.0093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0.9439 ± 0.0104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0.9204 ± 0.0074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0.9092 ± 0.0080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0.9333 ± 0.0056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45463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Repeat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0.9440 ± 0.0093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0.9447 ± 0.0092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0.9445 ± 0.0083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0.9439 ± 0.0087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0.9444 ± 0.0085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0.9443 ± 0.0088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73235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283956" y="1294838"/>
          <a:ext cx="5819653" cy="16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79">
                  <a:extLst>
                    <a:ext uri="{9D8B030D-6E8A-4147-A177-3AD203B41FA5}">
                      <a16:colId xmlns:a16="http://schemas.microsoft.com/office/drawing/2014/main" val="298503864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60807117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10191660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9426115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375140345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5075344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865516171"/>
                    </a:ext>
                  </a:extLst>
                </a:gridCol>
              </a:tblGrid>
              <a:tr h="33139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평균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614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Lcondition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0.9544 ± 0.0064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0.9583 ± 0.0109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0.9506 ± 0.0056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0.9509 ± 0.0047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0.9484 ± 0.0052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0.9525 ± 0.0062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822199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0.9405 ± 0.0040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0.9456 ± 0.0019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0.9530 ± 0.0061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0.9463 ± 0.0049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0.9354 ± 0.0058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0.9441 ± 0.0039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88146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Cameraz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0.9433 ± 0.0086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0.9500 ± 0.0087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0.9547 ± 0.0098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0.9343 ± 0.0021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0.9169 ± 0.0031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0.9398 ± 0.0050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45463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Repeat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0.9526 ± 0.0073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0.9530 ± 0.0067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0.9526 ± 0.0065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0.9527 ± 0.0069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0.9535 ± 0.0074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0.9529 ± 0.0069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73235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69084" y="3406740"/>
          <a:ext cx="5819653" cy="16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79">
                  <a:extLst>
                    <a:ext uri="{9D8B030D-6E8A-4147-A177-3AD203B41FA5}">
                      <a16:colId xmlns:a16="http://schemas.microsoft.com/office/drawing/2014/main" val="298503864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60807117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10191660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9426115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375140345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5075344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865516171"/>
                    </a:ext>
                  </a:extLst>
                </a:gridCol>
              </a:tblGrid>
              <a:tr h="33139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614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Lcondition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0.9534 ± 0.0063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0.9583 ± 0.0108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0.9528 ± 0.0085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0.9522 ± 0.0066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0.9509 ± 0.0068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0.9535 ± 0.0074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822199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0.9463 ± 0.0110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0.9497 ± 0.0095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0.9520 ± 0.0063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0.9486 ± 0.0052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0.9404 ± 0.0049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0.9474 ± 0.0069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88146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Cameraz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0.9486 ± 0.0064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0.9522 ± 0.0067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0.9537 ± 0.0104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0.9393 ± 0.0017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0.9194 ± 0.0040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0.9426 ± 0.0041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45463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Repeat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0.9516 ± 0.0060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0.9512 ± 0.0061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0.9526 ± 0.0053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0.9531 ± 0.0061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0.9534 ± 0.0065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0.9524 ± 0.0060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732355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6283956" y="3406739"/>
          <a:ext cx="5819653" cy="16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79">
                  <a:extLst>
                    <a:ext uri="{9D8B030D-6E8A-4147-A177-3AD203B41FA5}">
                      <a16:colId xmlns:a16="http://schemas.microsoft.com/office/drawing/2014/main" val="298503864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60807117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10191660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9426115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375140345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5075344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865516171"/>
                    </a:ext>
                  </a:extLst>
                </a:gridCol>
              </a:tblGrid>
              <a:tr h="33139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614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Lcondition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0.9516 ± 0.0080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0.9556 ± 0.0130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0.9520 ± 0.0092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0.9516 ± 0.0075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0.9494 ± 0.0073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0.9520 ± 0.0087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822199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0.9465 ± 0.0115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0.9484 ± 0.0107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0.9509 ± 0.0092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0.9479 ± 0.0054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0.9376 ± 0.0067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0.9463 ± 0.0083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88146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Cameraz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0.9464 ± 0.0064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0.9512 ± 0.0084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0.9532 ± 0.0109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0.9376 ± 0.0010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0.9171 ± 0.0035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0.9411 ± 0.0044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45463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Repeat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0.9506 ± 0.0080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0.9509 ± 0.0077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0.9514 ± 0.0071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0.9523 ± 0.0084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0.9516 ± 0.0087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0.9514 ± 0.0080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73235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9084" y="2943988"/>
            <a:ext cx="581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</a:t>
            </a:r>
            <a:r>
              <a:rPr lang="en-US" altLang="ko-KR" dirty="0"/>
              <a:t>Fine-grained </a:t>
            </a:r>
            <a:r>
              <a:rPr lang="ko-KR" altLang="en-US" dirty="0"/>
              <a:t>방식만</a:t>
            </a:r>
            <a:r>
              <a:rPr lang="en-US" altLang="ko-KR" dirty="0"/>
              <a:t>(</a:t>
            </a:r>
            <a:r>
              <a:rPr lang="ko-KR" altLang="en-US" dirty="0"/>
              <a:t>바닐라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83957" y="2943988"/>
            <a:ext cx="581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</a:t>
            </a:r>
            <a:r>
              <a:rPr lang="en-US" altLang="ko-KR" dirty="0"/>
              <a:t>Fine-grained </a:t>
            </a:r>
            <a:r>
              <a:rPr lang="ko-KR" altLang="en-US" dirty="0"/>
              <a:t>방식 </a:t>
            </a:r>
            <a:r>
              <a:rPr lang="en-US" altLang="ko-KR" dirty="0"/>
              <a:t>+ TENT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9083" y="5062348"/>
            <a:ext cx="581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</a:t>
            </a:r>
            <a:r>
              <a:rPr lang="en-US" altLang="ko-KR" dirty="0"/>
              <a:t>Fine-grained + EATA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283956" y="5062348"/>
            <a:ext cx="581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</a:t>
            </a:r>
            <a:r>
              <a:rPr lang="en-US" altLang="ko-KR" dirty="0"/>
              <a:t>Fine-grained </a:t>
            </a:r>
            <a:r>
              <a:rPr lang="ko-KR" altLang="en-US" dirty="0"/>
              <a:t>방식 </a:t>
            </a:r>
            <a:r>
              <a:rPr lang="en-US" altLang="ko-KR" dirty="0"/>
              <a:t>+ </a:t>
            </a:r>
            <a:r>
              <a:rPr lang="en-US" altLang="ko-KR" dirty="0" err="1"/>
              <a:t>DeYO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8712A1-D600-B99C-18C3-88FB10A2D900}"/>
              </a:ext>
            </a:extLst>
          </p:cNvPr>
          <p:cNvSpPr txBox="1"/>
          <p:nvPr/>
        </p:nvSpPr>
        <p:spPr>
          <a:xfrm>
            <a:off x="242595" y="5519409"/>
            <a:ext cx="11321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거의 모든 도메인에 대해서 제안하는 방법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TTA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방식이 가장 좋은 성능을 보임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특히 제안하는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Fine-grained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방법은 단순히 학습한 </a:t>
            </a:r>
            <a:r>
              <a:rPr lang="ko-KR" altLang="en-US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레스넷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모델보다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Domain Shift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현상이 큰데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TTA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통해 도메인 적응력을 향상시켰다 볼 수 있음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반복 실험 중 성능이 불안정한 바닐라 모델에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TTA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적용하자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저조한 결과들도 기존 성능 수준까지 안정적으로 향상되는 결과를 보임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-&gt; TTA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모델의 학습 및 안정화 역할 수행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68BCE-6BE0-D0F3-221C-5275520A796C}"/>
              </a:ext>
            </a:extLst>
          </p:cNvPr>
          <p:cNvSpPr txBox="1"/>
          <p:nvPr/>
        </p:nvSpPr>
        <p:spPr>
          <a:xfrm>
            <a:off x="2678545" y="371520"/>
            <a:ext cx="9513455" cy="89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EATA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엔트로피가 낮은 샘플 위주로 업데이트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비슷한 정보량을 갖는 데이터 제외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Fisher info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측정하여 중요한 파라미터는 변화 억제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DeYO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인스턴스 내 객체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shape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정보를 변형한 이미지에서 예측 확률이 얼마나 감소하는지를 측정하고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많이 감소하면 정보량이 높은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shape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이라 판단하여 학습에 사용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3902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8ACB673-B7F7-A2F4-CDBB-C301343E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AB103B01-1CD2-7BE2-6904-118BDFF320CF}"/>
              </a:ext>
            </a:extLst>
          </p:cNvPr>
          <p:cNvSpPr txBox="1"/>
          <p:nvPr/>
        </p:nvSpPr>
        <p:spPr>
          <a:xfrm>
            <a:off x="242596" y="214584"/>
            <a:ext cx="9862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실험결과</a:t>
            </a:r>
            <a:r>
              <a:rPr lang="en-US" altLang="ko-KR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(F1)</a:t>
            </a:r>
            <a:endParaRPr sz="1400" b="1" i="0" u="none" strike="noStrike" cap="none" dirty="0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8712A1-D600-B99C-18C3-88FB10A2D900}"/>
              </a:ext>
            </a:extLst>
          </p:cNvPr>
          <p:cNvSpPr txBox="1"/>
          <p:nvPr/>
        </p:nvSpPr>
        <p:spPr>
          <a:xfrm>
            <a:off x="242595" y="857945"/>
            <a:ext cx="11321331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 반복 실험 결과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69084" y="1294839"/>
          <a:ext cx="5819653" cy="16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79">
                  <a:extLst>
                    <a:ext uri="{9D8B030D-6E8A-4147-A177-3AD203B41FA5}">
                      <a16:colId xmlns:a16="http://schemas.microsoft.com/office/drawing/2014/main" val="298503864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60807117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10191660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9426115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375140345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5075344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865516171"/>
                    </a:ext>
                  </a:extLst>
                </a:gridCol>
              </a:tblGrid>
              <a:tr h="33139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평균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614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Lcondition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0.8076 ± 0.0149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0.7403 ± 0.0342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0.7632 ± 0.0169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0.6204 ± 0.0203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0.6910 ± 0.0182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0.7245 ± 0.0151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822199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0.6817 ± 0.1252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0.7624 ± 0.0829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0.8076 ± 0.0149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0.6611 ± 0.0632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0.3548 ± 0.0909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0.6535 ± 0.0234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88146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Cameraz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0.6349 ± 0.0269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0.7158 ± 0.0110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0.7981 ± 0.0183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0.6540 ± 0.0391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0.5321 ± 0.0626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0.6670 ± 0.0224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45463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Repeat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0.8076 ± 0.0149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0.8076 ± 0.0149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0.8076 ± 0.0149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0.8076 ± 0.0149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0.8076 ± 0.0149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0.8076 ± 0.0149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73235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283956" y="1294838"/>
          <a:ext cx="5819653" cy="16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79">
                  <a:extLst>
                    <a:ext uri="{9D8B030D-6E8A-4147-A177-3AD203B41FA5}">
                      <a16:colId xmlns:a16="http://schemas.microsoft.com/office/drawing/2014/main" val="298503864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60807117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10191660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9426115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375140345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5075344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865516171"/>
                    </a:ext>
                  </a:extLst>
                </a:gridCol>
              </a:tblGrid>
              <a:tr h="33139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평균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614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Lcondition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0.7387 ± 0.0320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0.7224 ± 0.0103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0.7277 ± 0.0301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0.7340 ± 0.0142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0.7467 ± 0.0253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0.7339 ± 0.0174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822199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0.7268 ± 0.0347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0.7253 ± 0.0214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0.7339 ± 0.0287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0.6934 ± 0.0242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0.6636 ± 0.0240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0.7086 ± 0.0200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88146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Cameraz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0.6643 ± 0.0109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0.7000 ± 0.0079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0.7364 ± 0.0299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0.6944 ± 0.0193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0.6634 ± 0.0438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0.6917 ± 0.0072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45463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Repeat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0.7305 ± 0.0277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0.7364 ± 0.0299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0.7367 ± 0.0312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0.7455 ± 0.0390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0.7305 ± 0.0277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0.7359 ± 0.0309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73235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69084" y="3406740"/>
          <a:ext cx="5819653" cy="16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79">
                  <a:extLst>
                    <a:ext uri="{9D8B030D-6E8A-4147-A177-3AD203B41FA5}">
                      <a16:colId xmlns:a16="http://schemas.microsoft.com/office/drawing/2014/main" val="298503864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60807117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10191660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9426115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375140345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5075344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865516171"/>
                    </a:ext>
                  </a:extLst>
                </a:gridCol>
              </a:tblGrid>
              <a:tr h="33139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614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Lcondition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0.7364 ± 0.0299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0.7507 ± 0.0312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0.7312 ± 0.0285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0.7498 ± 0.0306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0.7543 ± 0.0224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0.7445 ± 0.0245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822199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0.7379 ± 0.0215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0.7337 ± 0.0311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0.7343 ± 0.0289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0.7375 ± 0.0232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0.6849 ± 0.0186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0.7256 ± 0.0234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88146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Cameraz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0.6647 ± 0.0183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0.7045 ± 0.0241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0.7364 ± 0.0299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0.7270 ± 0.0136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0.6723 ± 0.0324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0.7010 ± 0.0028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45463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Repeat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0.7305 ± 0.0277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0.7364 ± 0.0299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0.7367 ± 0.0312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0.7364 ± 0.0299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0.7305 ± 0.0277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0.7341 ± 0.0290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732355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6283956" y="3406739"/>
          <a:ext cx="5819653" cy="16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79">
                  <a:extLst>
                    <a:ext uri="{9D8B030D-6E8A-4147-A177-3AD203B41FA5}">
                      <a16:colId xmlns:a16="http://schemas.microsoft.com/office/drawing/2014/main" val="298503864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60807117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710191660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9426115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375140345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2507534429"/>
                    </a:ext>
                  </a:extLst>
                </a:gridCol>
                <a:gridCol w="831379">
                  <a:extLst>
                    <a:ext uri="{9D8B030D-6E8A-4147-A177-3AD203B41FA5}">
                      <a16:colId xmlns:a16="http://schemas.microsoft.com/office/drawing/2014/main" val="3865516171"/>
                    </a:ext>
                  </a:extLst>
                </a:gridCol>
              </a:tblGrid>
              <a:tr h="33139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614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Lcondition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0.7362 ± 0.0301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0.7458 ± 0.0286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0.7357 ± 0.0228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0.7448 ± 0.0336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0.7429 ± 0.0322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0.7411 ± 0.0242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822199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0.7373 ± 0.0250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0.7307 ± 0.0293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0.7386 ± 0.0268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0.7193 ± 0.0292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0.6666 ± 0.0069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0.7185 ± 0.0231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88146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Cameraz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0.6509 ± 0.0197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0.7085 ± 0.0103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0.7454 ± 0.0173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0.7111 ± 0.0114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ko-KR" sz="10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0.6817 ± 0.0279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0.6995 ± 0.0054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545463"/>
                  </a:ext>
                </a:extLst>
              </a:tr>
              <a:tr h="302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Repeat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7803" marR="67803" marT="33901" marB="339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0.7386 ± 0.0268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0.7362 ± 0.0301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0.7386 ± 0.0322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0.7362 ± 0.0301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0.7386 ± 0.0268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맑은 고딕" panose="020B0503020000020004" pitchFamily="50" charset="-127"/>
                        </a:rPr>
                        <a:t>0.7376 ± 0.0292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73235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9084" y="2943988"/>
            <a:ext cx="581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</a:t>
            </a:r>
            <a:r>
              <a:rPr lang="en-US" altLang="ko-KR" dirty="0"/>
              <a:t>Fine-grained </a:t>
            </a:r>
            <a:r>
              <a:rPr lang="ko-KR" altLang="en-US" dirty="0"/>
              <a:t>방식만</a:t>
            </a:r>
            <a:r>
              <a:rPr lang="en-US" altLang="ko-KR" dirty="0"/>
              <a:t>(</a:t>
            </a:r>
            <a:r>
              <a:rPr lang="ko-KR" altLang="en-US" dirty="0"/>
              <a:t>바닐라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83957" y="2943988"/>
            <a:ext cx="581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</a:t>
            </a:r>
            <a:r>
              <a:rPr lang="en-US" altLang="ko-KR" dirty="0"/>
              <a:t>Fine-grained </a:t>
            </a:r>
            <a:r>
              <a:rPr lang="ko-KR" altLang="en-US" dirty="0"/>
              <a:t>방식 </a:t>
            </a:r>
            <a:r>
              <a:rPr lang="en-US" altLang="ko-KR" dirty="0"/>
              <a:t>+ TENT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9083" y="5062348"/>
            <a:ext cx="581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</a:t>
            </a:r>
            <a:r>
              <a:rPr lang="en-US" altLang="ko-KR" dirty="0"/>
              <a:t>Fine-grained + EATA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283956" y="5062348"/>
            <a:ext cx="5819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제안하는 </a:t>
            </a:r>
            <a:r>
              <a:rPr lang="en-US" altLang="ko-KR" dirty="0"/>
              <a:t>Fine-grained </a:t>
            </a:r>
            <a:r>
              <a:rPr lang="ko-KR" altLang="en-US" dirty="0"/>
              <a:t>방식 </a:t>
            </a:r>
            <a:r>
              <a:rPr lang="en-US" altLang="ko-KR" dirty="0"/>
              <a:t>+ </a:t>
            </a:r>
            <a:r>
              <a:rPr lang="en-US" altLang="ko-KR" dirty="0" err="1"/>
              <a:t>DeYO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8712A1-D600-B99C-18C3-88FB10A2D900}"/>
              </a:ext>
            </a:extLst>
          </p:cNvPr>
          <p:cNvSpPr txBox="1"/>
          <p:nvPr/>
        </p:nvSpPr>
        <p:spPr>
          <a:xfrm>
            <a:off x="242595" y="5519409"/>
            <a:ext cx="11321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도메인 변화가 크지 않는 방식은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Fine-grained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방식이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큰 방식은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Fine-grained + EATA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방식이 가장 좋은 성능을 보임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lvl="1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하지만 앞선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AUC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결과와 종합해보면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과정을 통해 모델의 분류 능력 향상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타겟 도메인에 대한 적응력 향상 했다고 볼 수 있음 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432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0321995-DC36-9BCC-9EFA-1AA96220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3EE8400D-8292-3FAB-C063-556C50C9520D}"/>
              </a:ext>
            </a:extLst>
          </p:cNvPr>
          <p:cNvSpPr txBox="1"/>
          <p:nvPr/>
        </p:nvSpPr>
        <p:spPr>
          <a:xfrm>
            <a:off x="242596" y="214584"/>
            <a:ext cx="9862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발표 내용 흐름 구성</a:t>
            </a:r>
            <a:endParaRPr sz="1400" b="1" i="0" u="none" strike="noStrike" cap="none" dirty="0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AC1148-D98B-22E2-4923-A1BA20ADB2F9}"/>
              </a:ext>
            </a:extLst>
          </p:cNvPr>
          <p:cNvSpPr txBox="1"/>
          <p:nvPr/>
        </p:nvSpPr>
        <p:spPr>
          <a:xfrm>
            <a:off x="242595" y="1044597"/>
            <a:ext cx="11321331" cy="5045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Introduction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Related Work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Fully Test Time Adaptation 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Fine Grained (+ Finer CAM)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Method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 상황 설명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제안하는 방법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Experiments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데이터셋 소개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실험 세팅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실험 결과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제안하는 방법의 성능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방법별 성능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 적용하기 용이하고 성능도 좋다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다른 구조의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network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TTA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쓰기 어려웠음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성능 무너짐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– CBAM (+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추가 모델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Ablation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Grad CAM vs Finer Cam</a:t>
            </a:r>
          </a:p>
        </p:txBody>
      </p:sp>
    </p:spTree>
    <p:extLst>
      <p:ext uri="{BB962C8B-B14F-4D97-AF65-F5344CB8AC3E}">
        <p14:creationId xmlns:p14="http://schemas.microsoft.com/office/powerpoint/2010/main" val="256822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85ECAFF-33FF-0B86-2F2D-3ADBCFFC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081F38-C9B4-16B4-6DCB-8270F39DF30C}"/>
              </a:ext>
            </a:extLst>
          </p:cNvPr>
          <p:cNvSpPr/>
          <p:nvPr/>
        </p:nvSpPr>
        <p:spPr>
          <a:xfrm>
            <a:off x="535709" y="1108365"/>
            <a:ext cx="7038109" cy="4641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C496C6B-6365-B284-8BC1-2573301546F9}"/>
              </a:ext>
            </a:extLst>
          </p:cNvPr>
          <p:cNvSpPr/>
          <p:nvPr/>
        </p:nvSpPr>
        <p:spPr>
          <a:xfrm rot="5400000">
            <a:off x="4214003" y="5591938"/>
            <a:ext cx="692639" cy="17061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7FEC691-2304-13B1-B516-1D2CA6AE5D4F}"/>
              </a:ext>
            </a:extLst>
          </p:cNvPr>
          <p:cNvSpPr/>
          <p:nvPr/>
        </p:nvSpPr>
        <p:spPr>
          <a:xfrm rot="5400000">
            <a:off x="4666805" y="4228523"/>
            <a:ext cx="1297708" cy="17522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12E353-07CB-6A0E-FE31-9B330B861928}"/>
              </a:ext>
            </a:extLst>
          </p:cNvPr>
          <p:cNvSpPr/>
          <p:nvPr/>
        </p:nvSpPr>
        <p:spPr>
          <a:xfrm>
            <a:off x="641926" y="1262228"/>
            <a:ext cx="6825673" cy="17211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B13E4FD-5D2E-7646-23A3-E9653434575B}"/>
              </a:ext>
            </a:extLst>
          </p:cNvPr>
          <p:cNvSpPr/>
          <p:nvPr/>
        </p:nvSpPr>
        <p:spPr>
          <a:xfrm>
            <a:off x="2789381" y="3667281"/>
            <a:ext cx="2595419" cy="1706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60503A-6672-B2BC-E6A4-848EC6F426C9}"/>
              </a:ext>
            </a:extLst>
          </p:cNvPr>
          <p:cNvSpPr/>
          <p:nvPr/>
        </p:nvSpPr>
        <p:spPr>
          <a:xfrm>
            <a:off x="2789381" y="4794292"/>
            <a:ext cx="2595419" cy="17061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4BF40AF-A17F-D7BC-D29E-911AE3E774EA}"/>
              </a:ext>
            </a:extLst>
          </p:cNvPr>
          <p:cNvSpPr/>
          <p:nvPr/>
        </p:nvSpPr>
        <p:spPr>
          <a:xfrm>
            <a:off x="2789381" y="2152572"/>
            <a:ext cx="2267526" cy="1643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Google Shape;107;g34f0945bc02_0_17">
            <a:extLst>
              <a:ext uri="{FF2B5EF4-FFF2-40B4-BE49-F238E27FC236}">
                <a16:creationId xmlns:a16="http://schemas.microsoft.com/office/drawing/2014/main" id="{3EE24F2E-0276-95A9-2730-DC395BFAC4CB}"/>
              </a:ext>
            </a:extLst>
          </p:cNvPr>
          <p:cNvSpPr txBox="1"/>
          <p:nvPr/>
        </p:nvSpPr>
        <p:spPr>
          <a:xfrm>
            <a:off x="242596" y="214584"/>
            <a:ext cx="9862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altLang="en-US" sz="1800" b="1" dirty="0">
                <a:solidFill>
                  <a:srgbClr val="548135"/>
                </a:solidFill>
                <a:latin typeface="Noto Sans KR"/>
                <a:ea typeface="Noto Sans KR"/>
                <a:sym typeface="Noto Sans KR"/>
              </a:rPr>
              <a:t>제안하는 방법</a:t>
            </a:r>
            <a:endParaRPr sz="1400" b="1" i="0" u="none" strike="noStrike" cap="none" dirty="0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 descr="금속, 번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FFC6AC-B75B-B3B1-C40D-7A7E6F8C1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27" y="1701223"/>
            <a:ext cx="1487055" cy="836468"/>
          </a:xfrm>
          <a:prstGeom prst="rect">
            <a:avLst/>
          </a:prstGeom>
        </p:spPr>
      </p:pic>
      <p:pic>
        <p:nvPicPr>
          <p:cNvPr id="8" name="그림 7" descr="어둠, 블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838DA1-21BE-CAA1-916E-B26C37A79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327" y="3236805"/>
            <a:ext cx="1487054" cy="83646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5A69EF1-8289-C6F7-45BD-9F41100CE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2328" y="4503212"/>
            <a:ext cx="1487054" cy="8364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04083C-D73A-7E39-799A-ED2E21D91FC2}"/>
              </a:ext>
            </a:extLst>
          </p:cNvPr>
          <p:cNvSpPr txBox="1"/>
          <p:nvPr/>
        </p:nvSpPr>
        <p:spPr>
          <a:xfrm>
            <a:off x="1588654" y="2489499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91CE4-1190-21FA-A0A8-D60E5A5D1452}"/>
              </a:ext>
            </a:extLst>
          </p:cNvPr>
          <p:cNvSpPr txBox="1"/>
          <p:nvPr/>
        </p:nvSpPr>
        <p:spPr>
          <a:xfrm>
            <a:off x="1445490" y="4073273"/>
            <a:ext cx="1200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mask image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36B05C-BEF9-CC20-E33A-875A7AA26600}"/>
              </a:ext>
            </a:extLst>
          </p:cNvPr>
          <p:cNvSpPr txBox="1"/>
          <p:nvPr/>
        </p:nvSpPr>
        <p:spPr>
          <a:xfrm>
            <a:off x="1302328" y="5339679"/>
            <a:ext cx="148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Grad cam image</a:t>
            </a:r>
            <a:endParaRPr lang="ko-KR" alt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사다리꼴 18">
            <a:extLst>
              <a:ext uri="{FF2B5EF4-FFF2-40B4-BE49-F238E27FC236}">
                <a16:creationId xmlns:a16="http://schemas.microsoft.com/office/drawing/2014/main" id="{9B51026D-45C1-E6F8-DAB4-B7E6FE32304C}"/>
              </a:ext>
            </a:extLst>
          </p:cNvPr>
          <p:cNvSpPr/>
          <p:nvPr/>
        </p:nvSpPr>
        <p:spPr>
          <a:xfrm rot="5400000">
            <a:off x="1792186" y="3044779"/>
            <a:ext cx="3638457" cy="951345"/>
          </a:xfrm>
          <a:prstGeom prst="trapezoid">
            <a:avLst>
              <a:gd name="adj" fmla="val 1820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F4BB3CA-CEAE-D352-D5E6-B5A421037F57}"/>
              </a:ext>
            </a:extLst>
          </p:cNvPr>
          <p:cNvGrpSpPr/>
          <p:nvPr/>
        </p:nvGrpSpPr>
        <p:grpSpPr>
          <a:xfrm>
            <a:off x="5137717" y="3936703"/>
            <a:ext cx="1039094" cy="618217"/>
            <a:chOff x="5830454" y="3963271"/>
            <a:chExt cx="1039094" cy="618217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10F1A4E-0875-DA7A-B8CF-018F3E35F7A4}"/>
                </a:ext>
              </a:extLst>
            </p:cNvPr>
            <p:cNvSpPr/>
            <p:nvPr/>
          </p:nvSpPr>
          <p:spPr>
            <a:xfrm rot="5400000">
              <a:off x="6040892" y="3752833"/>
              <a:ext cx="618217" cy="103909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EC864B-43CB-16C0-FF57-21D2FF007171}"/>
                </a:ext>
              </a:extLst>
            </p:cNvPr>
            <p:cNvSpPr txBox="1"/>
            <p:nvPr/>
          </p:nvSpPr>
          <p:spPr>
            <a:xfrm>
              <a:off x="5892801" y="4041547"/>
              <a:ext cx="914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KL div loss</a:t>
              </a:r>
              <a:endPara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8AFF7A-1FBF-C683-359A-140D42C4A2DE}"/>
              </a:ext>
            </a:extLst>
          </p:cNvPr>
          <p:cNvSpPr/>
          <p:nvPr/>
        </p:nvSpPr>
        <p:spPr>
          <a:xfrm rot="5400000">
            <a:off x="5221163" y="1673638"/>
            <a:ext cx="618217" cy="10390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BC40EE-4C53-2687-4A8F-89C7F5EB8680}"/>
              </a:ext>
            </a:extLst>
          </p:cNvPr>
          <p:cNvSpPr txBox="1"/>
          <p:nvPr/>
        </p:nvSpPr>
        <p:spPr>
          <a:xfrm>
            <a:off x="5073072" y="2054686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CE loss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647FAC-71EC-070D-9747-E7E7A5BEAFA7}"/>
              </a:ext>
            </a:extLst>
          </p:cNvPr>
          <p:cNvSpPr txBox="1"/>
          <p:nvPr/>
        </p:nvSpPr>
        <p:spPr>
          <a:xfrm>
            <a:off x="3154215" y="3213540"/>
            <a:ext cx="914400" cy="613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Shared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Model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A981BD-C83C-40FE-DADB-1F85E88F3FDB}"/>
              </a:ext>
            </a:extLst>
          </p:cNvPr>
          <p:cNvSpPr txBox="1"/>
          <p:nvPr/>
        </p:nvSpPr>
        <p:spPr>
          <a:xfrm>
            <a:off x="7753926" y="2119457"/>
            <a:ext cx="3186547" cy="89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Stage        :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epoch / 2) &lt;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epoch)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대해서만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train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진행하여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안정된 상태에서의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grad cam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추출할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 있도록 함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8D2ABC-2307-6051-248F-DF9980AF082F}"/>
              </a:ext>
            </a:extLst>
          </p:cNvPr>
          <p:cNvSpPr txBox="1"/>
          <p:nvPr/>
        </p:nvSpPr>
        <p:spPr>
          <a:xfrm>
            <a:off x="7753926" y="3316189"/>
            <a:ext cx="3579092" cy="89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Stage        :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epoch / 2) &gt; 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epoch)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추출된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Grad CAM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통해 얻은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logit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mask image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통해 얻은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logit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KL div loss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적용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2D9A17-68E1-F830-59E5-32E61828E39F}"/>
              </a:ext>
            </a:extLst>
          </p:cNvPr>
          <p:cNvSpPr txBox="1"/>
          <p:nvPr/>
        </p:nvSpPr>
        <p:spPr>
          <a:xfrm>
            <a:off x="7109690" y="2657676"/>
            <a:ext cx="517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14E726-0239-E6C7-9B19-88A13D49622D}"/>
              </a:ext>
            </a:extLst>
          </p:cNvPr>
          <p:cNvSpPr txBox="1"/>
          <p:nvPr/>
        </p:nvSpPr>
        <p:spPr>
          <a:xfrm>
            <a:off x="7151255" y="5388646"/>
            <a:ext cx="341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②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DBFA82-06B6-8ED1-DE09-31AAD2F794B5}"/>
              </a:ext>
            </a:extLst>
          </p:cNvPr>
          <p:cNvSpPr txBox="1"/>
          <p:nvPr/>
        </p:nvSpPr>
        <p:spPr>
          <a:xfrm>
            <a:off x="8206506" y="2151266"/>
            <a:ext cx="517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35B8DF-F269-B8AB-80A4-166AA4113492}"/>
              </a:ext>
            </a:extLst>
          </p:cNvPr>
          <p:cNvSpPr txBox="1"/>
          <p:nvPr/>
        </p:nvSpPr>
        <p:spPr>
          <a:xfrm>
            <a:off x="8206506" y="3347262"/>
            <a:ext cx="341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②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2B4CB0-66DF-792E-3439-1C440557F411}"/>
              </a:ext>
            </a:extLst>
          </p:cNvPr>
          <p:cNvSpPr/>
          <p:nvPr/>
        </p:nvSpPr>
        <p:spPr>
          <a:xfrm rot="5400000">
            <a:off x="2738914" y="3321868"/>
            <a:ext cx="3638457" cy="397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3461824-187D-1CFA-B33E-3F1A55E0474C}"/>
              </a:ext>
            </a:extLst>
          </p:cNvPr>
          <p:cNvSpPr/>
          <p:nvPr/>
        </p:nvSpPr>
        <p:spPr>
          <a:xfrm>
            <a:off x="4479636" y="1884075"/>
            <a:ext cx="170610" cy="17061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B87368C-2F5C-C13E-9A42-0CDEEA083294}"/>
              </a:ext>
            </a:extLst>
          </p:cNvPr>
          <p:cNvSpPr/>
          <p:nvPr/>
        </p:nvSpPr>
        <p:spPr>
          <a:xfrm>
            <a:off x="4479636" y="2340144"/>
            <a:ext cx="170610" cy="17061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9BBCAC3-9750-D803-FE64-C45A49B931A9}"/>
              </a:ext>
            </a:extLst>
          </p:cNvPr>
          <p:cNvSpPr/>
          <p:nvPr/>
        </p:nvSpPr>
        <p:spPr>
          <a:xfrm>
            <a:off x="4479636" y="2828788"/>
            <a:ext cx="170610" cy="17061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9740C66-4454-A89F-1951-A105876170B1}"/>
              </a:ext>
            </a:extLst>
          </p:cNvPr>
          <p:cNvSpPr/>
          <p:nvPr/>
        </p:nvSpPr>
        <p:spPr>
          <a:xfrm>
            <a:off x="4479636" y="4964902"/>
            <a:ext cx="170610" cy="17061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C552FE6-42CD-B036-4B85-02F16BEDDCE7}"/>
              </a:ext>
            </a:extLst>
          </p:cNvPr>
          <p:cNvSpPr/>
          <p:nvPr/>
        </p:nvSpPr>
        <p:spPr>
          <a:xfrm>
            <a:off x="4479636" y="4532047"/>
            <a:ext cx="170610" cy="17061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D674C-76A9-09EA-5353-8A81B38A37AE}"/>
              </a:ext>
            </a:extLst>
          </p:cNvPr>
          <p:cNvSpPr txBox="1"/>
          <p:nvPr/>
        </p:nvSpPr>
        <p:spPr>
          <a:xfrm rot="5400000">
            <a:off x="4084826" y="3412956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…</a:t>
            </a:r>
            <a:endParaRPr lang="ko-KR" altLang="en-US" sz="1200" spc="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F6B5981-5911-F495-28B7-38B655AF7A31}"/>
              </a:ext>
            </a:extLst>
          </p:cNvPr>
          <p:cNvSpPr/>
          <p:nvPr/>
        </p:nvSpPr>
        <p:spPr>
          <a:xfrm>
            <a:off x="4479636" y="4075202"/>
            <a:ext cx="170610" cy="17061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CF757FE-0AD8-B34F-BAF8-FD362481A3F2}"/>
              </a:ext>
            </a:extLst>
          </p:cNvPr>
          <p:cNvSpPr/>
          <p:nvPr/>
        </p:nvSpPr>
        <p:spPr>
          <a:xfrm>
            <a:off x="2050209" y="5865262"/>
            <a:ext cx="2595419" cy="17061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7449352-31B7-C7BD-3869-955E42988D2C}"/>
              </a:ext>
            </a:extLst>
          </p:cNvPr>
          <p:cNvSpPr/>
          <p:nvPr/>
        </p:nvSpPr>
        <p:spPr>
          <a:xfrm rot="5400000">
            <a:off x="1972203" y="5774690"/>
            <a:ext cx="327139" cy="17061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53487C5B-446F-C350-EA1F-087EC8FB78B4}"/>
              </a:ext>
            </a:extLst>
          </p:cNvPr>
          <p:cNvSpPr/>
          <p:nvPr/>
        </p:nvSpPr>
        <p:spPr>
          <a:xfrm>
            <a:off x="1944118" y="5542534"/>
            <a:ext cx="383308" cy="168330"/>
          </a:xfrm>
          <a:prstGeom prst="triangl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67F43C4-13BF-3DDF-BCAD-9FB766535459}"/>
                  </a:ext>
                </a:extLst>
              </p:cNvPr>
              <p:cNvSpPr txBox="1"/>
              <p:nvPr/>
            </p:nvSpPr>
            <p:spPr>
              <a:xfrm>
                <a:off x="3303033" y="6400509"/>
                <a:ext cx="77534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i="1" baseline="-2500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​ =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i="1" baseline="-2500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altLang="ko-KR" i="1" baseline="-25000">
                          <a:latin typeface="Cambria Math" panose="02040503050406030204" pitchFamily="18" charset="0"/>
                        </a:rPr>
                        <m:t>​ 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baseline="-25000" smtClean="0">
                          <a:latin typeface="Cambria Math" panose="02040503050406030204" pitchFamily="18" charset="0"/>
                        </a:rPr>
                        <m:t>𝑖𝑚𝑔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​ ),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)+(1−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i="1" baseline="-25000" smtClean="0">
                          <a:latin typeface="Cambria Math" panose="02040503050406030204" pitchFamily="18" charset="0"/>
                        </a:rPr>
                        <m:t>𝐾𝐿𝐷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​ 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𝐺𝐴𝑃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𝑥𝑚𝑎𝑠𝑘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​ ))),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𝐺𝐴𝑃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𝑥𝑐𝑎𝑚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​ ))))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67F43C4-13BF-3DDF-BCAD-9FB766535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033" y="6400509"/>
                <a:ext cx="7753468" cy="215444"/>
              </a:xfrm>
              <a:prstGeom prst="rect">
                <a:avLst/>
              </a:prstGeom>
              <a:blipFill>
                <a:blip r:embed="rId6"/>
                <a:stretch>
                  <a:fillRect b="-3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79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1584</Words>
  <Application>Microsoft Office PowerPoint</Application>
  <PresentationFormat>와이드스크린</PresentationFormat>
  <Paragraphs>362</Paragraphs>
  <Slides>10</Slides>
  <Notes>10</Notes>
  <HiddenSlides>1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Cambria Math</vt:lpstr>
      <vt:lpstr>Noto Sans KR</vt:lpstr>
      <vt:lpstr>맑은 고딕</vt:lpstr>
      <vt:lpstr>Arial</vt:lpstr>
      <vt:lpstr>맑은 고딕</vt:lpstr>
      <vt:lpstr>Consolas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김나연</dc:creator>
  <cp:lastModifiedBy>김나연</cp:lastModifiedBy>
  <cp:revision>19</cp:revision>
  <dcterms:created xsi:type="dcterms:W3CDTF">2024-05-05T08:04:52Z</dcterms:created>
  <dcterms:modified xsi:type="dcterms:W3CDTF">2025-05-15T15:15:19Z</dcterms:modified>
</cp:coreProperties>
</file>