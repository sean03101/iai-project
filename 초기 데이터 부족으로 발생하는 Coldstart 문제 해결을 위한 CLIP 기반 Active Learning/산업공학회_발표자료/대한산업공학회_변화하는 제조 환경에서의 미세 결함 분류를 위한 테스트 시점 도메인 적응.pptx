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6858000" cx="12192000"/>
  <p:notesSz cx="6858000" cy="9144000"/>
  <p:embeddedFontLst>
    <p:embeddedFont>
      <p:font typeface="Noto Sans KR"/>
      <p:regular r:id="rId29"/>
      <p:bold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31" roundtripDataSignature="AMtx7mju/LfGW1fYbC0bxsq35BDmJfnm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81432E8-5E44-4741-85E4-307C110AF21B}">
  <a:tblStyle styleId="{F81432E8-5E44-4741-85E4-307C110AF21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FB93FD02-0907-47E2-BC64-8514076B7ED1}" styleName="Table_1">
    <a:wholeTbl>
      <a:tcTxStyle b="off" i="off">
        <a:font>
          <a:latin typeface="Noto Sans KR"/>
          <a:ea typeface="Noto Sans KR"/>
          <a:cs typeface="Noto Sans KR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 b="off" i="off"/>
      <a:tcStyle>
        <a:fill>
          <a:solidFill>
            <a:srgbClr val="D0DEEF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D0DEEF"/>
          </a:solidFill>
        </a:fill>
      </a:tcStyle>
    </a:band1V>
    <a:band2V>
      <a:tcTxStyle b="off" i="off"/>
    </a:band2V>
    <a:lastCol>
      <a:tcTxStyle b="on" i="off">
        <a:font>
          <a:latin typeface="Noto Sans KR"/>
          <a:ea typeface="Noto Sans KR"/>
          <a:cs typeface="Noto Sans KR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Noto Sans KR"/>
          <a:ea typeface="Noto Sans KR"/>
          <a:cs typeface="Noto Sans KR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Noto Sans KR"/>
          <a:ea typeface="Noto Sans KR"/>
          <a:cs typeface="Noto Sans KR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Noto Sans KR"/>
          <a:ea typeface="Noto Sans KR"/>
          <a:cs typeface="Noto Sans KR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FAD6F6BA-E1E8-48C8-B97D-FBCC41438427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NotoSansKR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customschemas.google.com/relationships/presentationmetadata" Target="metadata"/><Relationship Id="rId30" Type="http://schemas.openxmlformats.org/officeDocument/2006/relationships/font" Target="fonts/NotoSansKR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7" name="Google Shape;87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0" name="Google Shape;100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2" name="Google Shape;122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5" name="Google Shape;135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1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</a:pPr>
            <a:r>
              <a:t/>
            </a:r>
            <a:endParaRPr sz="14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1" name="Google Shape;151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3" name="Google Shape;163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Malgun Gothic"/>
                <a:ea typeface="Malgun Gothic"/>
                <a:cs typeface="Malgun Gothic"/>
                <a:sym typeface="Malgun Gothic"/>
              </a:rPr>
              <a:t>1-3 선행연구하고 -&gt; 얘네는 구조가 복잡하고 TTA 에 대한 연구는 이루어지지 않았다 , 적용시키기 어렵다 -&gt; mask 정보를 활용하면 성능 개선이 있을 수 잇다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7" name="Google Shape;177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9" name="Google Shape;189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5" name="Google Shape;235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8" name="Google Shape;248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Malgun Gothic"/>
                <a:ea typeface="Malgun Gothic"/>
                <a:cs typeface="Malgun Gothic"/>
                <a:sym typeface="Malgun Gothic"/>
              </a:rPr>
              <a:t>- Feature extractor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들어가면 GAP 빼도 됨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4" name="Google Shape;264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4" name="Google Shape;284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7" name="Google Shape;297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4" name="Google Shape;324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0" name="Google Shape;360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Malgun Gothic"/>
                <a:ea typeface="Malgun Gothic"/>
                <a:cs typeface="Malgun Gothic"/>
                <a:sym typeface="Malgun Gothic"/>
              </a:rPr>
              <a:t>-  베이스라인 왜 썼는지 문제 상황 명확하게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2" name="Google Shape;37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>
                <a:latin typeface="Malgun Gothic"/>
                <a:ea typeface="Malgun Gothic"/>
                <a:cs typeface="Malgun Gothic"/>
                <a:sym typeface="Malgun Gothic"/>
              </a:rPr>
              <a:t>ResNet / </a:t>
            </a:r>
            <a:r>
              <a:rPr lang="en-US" strike="sngStrike">
                <a:latin typeface="Malgun Gothic"/>
                <a:ea typeface="Malgun Gothic"/>
                <a:cs typeface="Malgun Gothic"/>
                <a:sym typeface="Malgun Gothic"/>
              </a:rPr>
              <a:t>CBAM</a:t>
            </a:r>
            <a:r>
              <a:rPr lang="en-US">
                <a:latin typeface="Malgun Gothic"/>
                <a:ea typeface="Malgun Gothic"/>
                <a:cs typeface="Malgun Gothic"/>
                <a:sym typeface="Malgun Gothic"/>
              </a:rPr>
              <a:t> / U Net / HRNet / MGANet / SegDecisionNet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>
                <a:latin typeface="Malgun Gothic"/>
                <a:ea typeface="Malgun Gothic"/>
                <a:cs typeface="Malgun Gothic"/>
                <a:sym typeface="Malgun Gothic"/>
              </a:rPr>
              <a:t>1. 에서 나온 젤 성능 좋은 거 / Ours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>
                <a:latin typeface="Malgun Gothic"/>
                <a:ea typeface="Malgun Gothic"/>
                <a:cs typeface="Malgun Gothic"/>
                <a:sym typeface="Malgun Gothic"/>
              </a:rPr>
              <a:t>Ours + TTA</a:t>
            </a:r>
            <a:endParaRPr/>
          </a:p>
        </p:txBody>
      </p:sp>
      <p:sp>
        <p:nvSpPr>
          <p:cNvPr id="385" name="Google Shape;385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7" name="Google Shape;397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Malgun Gothic"/>
                <a:ea typeface="Malgun Gothic"/>
                <a:cs typeface="Malgun Gothic"/>
                <a:sym typeface="Malgun Gothic"/>
              </a:rPr>
              <a:t>074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8" name="Google Shape;398;p4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</a:rPr>
              <a:t>‹#›</a:t>
            </a:fld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9" name="Google Shape;449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Malgun Gothic"/>
                <a:ea typeface="Malgun Gothic"/>
                <a:cs typeface="Malgun Gothic"/>
                <a:sym typeface="Malgun Gothic"/>
              </a:rPr>
              <a:t>074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0" name="Google Shape;450;p4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</a:rPr>
              <a:t>‹#›</a:t>
            </a:fld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2" name="Google Shape;502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4" name="Google Shape;514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5" name="Google Shape;525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6" name="Google Shape;526;p5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5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7"/>
          <p:cNvSpPr txBox="1"/>
          <p:nvPr>
            <p:ph idx="12" type="sldNum"/>
          </p:nvPr>
        </p:nvSpPr>
        <p:spPr>
          <a:xfrm>
            <a:off x="9248775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5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5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6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6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6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6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6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6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6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6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6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6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6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6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6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6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6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6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6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6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6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6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6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6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6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6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6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5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5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5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5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hyperlink" Target="mailto:jaewoong@seoultech.ac.kr" TargetMode="External"/><Relationship Id="rId5" Type="http://schemas.openxmlformats.org/officeDocument/2006/relationships/hyperlink" Target="mailto:yhoon.lee@seoultech.ac.kr" TargetMode="External"/><Relationship Id="rId6" Type="http://schemas.openxmlformats.org/officeDocument/2006/relationships/image" Target="../media/image1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Relationship Id="rId4" Type="http://schemas.openxmlformats.org/officeDocument/2006/relationships/image" Target="../media/image9.png"/><Relationship Id="rId5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1" Type="http://schemas.openxmlformats.org/officeDocument/2006/relationships/image" Target="../media/image28.png"/><Relationship Id="rId10" Type="http://schemas.openxmlformats.org/officeDocument/2006/relationships/image" Target="../media/image15.png"/><Relationship Id="rId13" Type="http://schemas.openxmlformats.org/officeDocument/2006/relationships/image" Target="../media/image30.png"/><Relationship Id="rId1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3.png"/><Relationship Id="rId4" Type="http://schemas.openxmlformats.org/officeDocument/2006/relationships/image" Target="../media/image7.png"/><Relationship Id="rId9" Type="http://schemas.openxmlformats.org/officeDocument/2006/relationships/image" Target="../media/image14.png"/><Relationship Id="rId15" Type="http://schemas.openxmlformats.org/officeDocument/2006/relationships/image" Target="../media/image34.png"/><Relationship Id="rId14" Type="http://schemas.openxmlformats.org/officeDocument/2006/relationships/image" Target="../media/image29.png"/><Relationship Id="rId5" Type="http://schemas.openxmlformats.org/officeDocument/2006/relationships/image" Target="../media/image8.png"/><Relationship Id="rId6" Type="http://schemas.openxmlformats.org/officeDocument/2006/relationships/image" Target="../media/image19.png"/><Relationship Id="rId7" Type="http://schemas.openxmlformats.org/officeDocument/2006/relationships/image" Target="../media/image25.png"/><Relationship Id="rId8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20" Type="http://schemas.openxmlformats.org/officeDocument/2006/relationships/image" Target="../media/image46.png"/><Relationship Id="rId22" Type="http://schemas.openxmlformats.org/officeDocument/2006/relationships/image" Target="../media/image35.png"/><Relationship Id="rId21" Type="http://schemas.openxmlformats.org/officeDocument/2006/relationships/image" Target="../media/image38.png"/><Relationship Id="rId24" Type="http://schemas.openxmlformats.org/officeDocument/2006/relationships/image" Target="../media/image51.png"/><Relationship Id="rId23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Relationship Id="rId4" Type="http://schemas.openxmlformats.org/officeDocument/2006/relationships/image" Target="../media/image26.png"/><Relationship Id="rId9" Type="http://schemas.openxmlformats.org/officeDocument/2006/relationships/image" Target="../media/image39.png"/><Relationship Id="rId26" Type="http://schemas.openxmlformats.org/officeDocument/2006/relationships/image" Target="../media/image59.png"/><Relationship Id="rId25" Type="http://schemas.openxmlformats.org/officeDocument/2006/relationships/image" Target="../media/image53.png"/><Relationship Id="rId27" Type="http://schemas.openxmlformats.org/officeDocument/2006/relationships/image" Target="../media/image58.png"/><Relationship Id="rId5" Type="http://schemas.openxmlformats.org/officeDocument/2006/relationships/image" Target="../media/image41.png"/><Relationship Id="rId6" Type="http://schemas.openxmlformats.org/officeDocument/2006/relationships/image" Target="../media/image22.png"/><Relationship Id="rId7" Type="http://schemas.openxmlformats.org/officeDocument/2006/relationships/image" Target="../media/image47.png"/><Relationship Id="rId8" Type="http://schemas.openxmlformats.org/officeDocument/2006/relationships/image" Target="../media/image43.png"/><Relationship Id="rId11" Type="http://schemas.openxmlformats.org/officeDocument/2006/relationships/image" Target="../media/image50.png"/><Relationship Id="rId10" Type="http://schemas.openxmlformats.org/officeDocument/2006/relationships/image" Target="../media/image31.png"/><Relationship Id="rId13" Type="http://schemas.openxmlformats.org/officeDocument/2006/relationships/image" Target="../media/image27.png"/><Relationship Id="rId12" Type="http://schemas.openxmlformats.org/officeDocument/2006/relationships/image" Target="../media/image24.png"/><Relationship Id="rId15" Type="http://schemas.openxmlformats.org/officeDocument/2006/relationships/image" Target="../media/image32.png"/><Relationship Id="rId14" Type="http://schemas.openxmlformats.org/officeDocument/2006/relationships/image" Target="../media/image44.png"/><Relationship Id="rId17" Type="http://schemas.openxmlformats.org/officeDocument/2006/relationships/image" Target="../media/image37.png"/><Relationship Id="rId16" Type="http://schemas.openxmlformats.org/officeDocument/2006/relationships/image" Target="../media/image23.png"/><Relationship Id="rId19" Type="http://schemas.openxmlformats.org/officeDocument/2006/relationships/image" Target="../media/image36.png"/><Relationship Id="rId18" Type="http://schemas.openxmlformats.org/officeDocument/2006/relationships/image" Target="../media/image40.png"/></Relationships>
</file>

<file path=ppt/slides/_rels/slide19.xml.rels><?xml version="1.0" encoding="UTF-8" standalone="yes"?><Relationships xmlns="http://schemas.openxmlformats.org/package/2006/relationships"><Relationship Id="rId20" Type="http://schemas.openxmlformats.org/officeDocument/2006/relationships/image" Target="../media/image69.png"/><Relationship Id="rId22" Type="http://schemas.openxmlformats.org/officeDocument/2006/relationships/image" Target="../media/image56.png"/><Relationship Id="rId21" Type="http://schemas.openxmlformats.org/officeDocument/2006/relationships/image" Target="../media/image65.png"/><Relationship Id="rId24" Type="http://schemas.openxmlformats.org/officeDocument/2006/relationships/image" Target="../media/image68.png"/><Relationship Id="rId23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2.png"/><Relationship Id="rId4" Type="http://schemas.openxmlformats.org/officeDocument/2006/relationships/image" Target="../media/image55.png"/><Relationship Id="rId9" Type="http://schemas.openxmlformats.org/officeDocument/2006/relationships/image" Target="../media/image71.png"/><Relationship Id="rId26" Type="http://schemas.openxmlformats.org/officeDocument/2006/relationships/image" Target="../media/image67.png"/><Relationship Id="rId25" Type="http://schemas.openxmlformats.org/officeDocument/2006/relationships/image" Target="../media/image74.png"/><Relationship Id="rId27" Type="http://schemas.openxmlformats.org/officeDocument/2006/relationships/image" Target="../media/image70.png"/><Relationship Id="rId5" Type="http://schemas.openxmlformats.org/officeDocument/2006/relationships/image" Target="../media/image62.png"/><Relationship Id="rId6" Type="http://schemas.openxmlformats.org/officeDocument/2006/relationships/image" Target="../media/image54.png"/><Relationship Id="rId7" Type="http://schemas.openxmlformats.org/officeDocument/2006/relationships/image" Target="../media/image49.png"/><Relationship Id="rId8" Type="http://schemas.openxmlformats.org/officeDocument/2006/relationships/image" Target="../media/image48.png"/><Relationship Id="rId11" Type="http://schemas.openxmlformats.org/officeDocument/2006/relationships/image" Target="../media/image64.png"/><Relationship Id="rId10" Type="http://schemas.openxmlformats.org/officeDocument/2006/relationships/image" Target="../media/image76.png"/><Relationship Id="rId13" Type="http://schemas.openxmlformats.org/officeDocument/2006/relationships/image" Target="../media/image72.png"/><Relationship Id="rId12" Type="http://schemas.openxmlformats.org/officeDocument/2006/relationships/image" Target="../media/image57.png"/><Relationship Id="rId15" Type="http://schemas.openxmlformats.org/officeDocument/2006/relationships/image" Target="../media/image66.png"/><Relationship Id="rId14" Type="http://schemas.openxmlformats.org/officeDocument/2006/relationships/image" Target="../media/image63.png"/><Relationship Id="rId17" Type="http://schemas.openxmlformats.org/officeDocument/2006/relationships/image" Target="../media/image52.png"/><Relationship Id="rId16" Type="http://schemas.openxmlformats.org/officeDocument/2006/relationships/image" Target="../media/image73.png"/><Relationship Id="rId19" Type="http://schemas.openxmlformats.org/officeDocument/2006/relationships/image" Target="../media/image61.png"/><Relationship Id="rId18" Type="http://schemas.openxmlformats.org/officeDocument/2006/relationships/image" Target="../media/image6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75B2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33"/>
          <p:cNvSpPr/>
          <p:nvPr/>
        </p:nvSpPr>
        <p:spPr>
          <a:xfrm>
            <a:off x="152400" y="152400"/>
            <a:ext cx="11887200" cy="6553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33"/>
          <p:cNvSpPr txBox="1"/>
          <p:nvPr/>
        </p:nvSpPr>
        <p:spPr>
          <a:xfrm>
            <a:off x="152400" y="2140309"/>
            <a:ext cx="11887200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5B29"/>
              </a:buClr>
              <a:buSzPts val="2400"/>
              <a:buFont typeface="Malgun Gothic"/>
              <a:buNone/>
            </a:pPr>
            <a:r>
              <a:rPr b="1" i="0" lang="en-US" sz="2400" u="none" cap="none" strike="noStrike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변화하는 제조 환경에서의 미세 결함 분류를 위한 테스트 시점 도메인 적응</a:t>
            </a:r>
            <a:endParaRPr b="1" i="0" sz="2400" u="none" cap="none" strike="noStrike">
              <a:solidFill>
                <a:srgbClr val="275B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92" name="Google Shape;92;p33"/>
          <p:cNvPicPr preferRelativeResize="0"/>
          <p:nvPr/>
        </p:nvPicPr>
        <p:blipFill rotWithShape="1">
          <a:blip r:embed="rId3">
            <a:alphaModFix/>
          </a:blip>
          <a:srcRect b="13986" l="0" r="-1496" t="0"/>
          <a:stretch/>
        </p:blipFill>
        <p:spPr>
          <a:xfrm>
            <a:off x="11011566" y="6150379"/>
            <a:ext cx="920946" cy="461624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33"/>
          <p:cNvSpPr txBox="1"/>
          <p:nvPr/>
        </p:nvSpPr>
        <p:spPr>
          <a:xfrm>
            <a:off x="3094022" y="5286891"/>
            <a:ext cx="6188042" cy="697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대한산업공학회/한국경영과학회/한국시뮬레이션학회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2025년 춘계공동학술대회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33"/>
          <p:cNvSpPr txBox="1"/>
          <p:nvPr/>
        </p:nvSpPr>
        <p:spPr>
          <a:xfrm>
            <a:off x="2746697" y="3288718"/>
            <a:ext cx="6882692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김나연¹, 이성호¹, 심재웅²*</a:t>
            </a:r>
            <a:endParaRPr b="0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서울과학기술대학교 데이터사이언스학과¹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서울과학기술대학교 산업공학과²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sng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jaewoong@seoultech.ac.kr</a:t>
            </a:r>
            <a:r>
              <a:rPr b="0" i="0" lang="en-US" sz="2400" u="sng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endParaRPr b="0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5" name="Google Shape;95;p33"/>
          <p:cNvSpPr txBox="1"/>
          <p:nvPr/>
        </p:nvSpPr>
        <p:spPr>
          <a:xfrm>
            <a:off x="1485634" y="5983941"/>
            <a:ext cx="9393999" cy="5568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757070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 연구는 2025년도 정부(산업통상자원부)의 재원으로 한국산업기술진흥회의 지원을 받아 수행되었음</a:t>
            </a:r>
            <a:endParaRPr b="0" i="0" sz="1050" u="none" cap="none" strike="noStrike">
              <a:solidFill>
                <a:srgbClr val="75707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757070"/>
                </a:solidFill>
                <a:latin typeface="Malgun Gothic"/>
                <a:ea typeface="Malgun Gothic"/>
                <a:cs typeface="Malgun Gothic"/>
                <a:sym typeface="Malgun Gothic"/>
              </a:rPr>
              <a:t>(P0017123 , 2025년 산업혁신인재성장지원사업)</a:t>
            </a:r>
            <a:endParaRPr b="0" i="0" sz="1050" u="none" cap="none" strike="noStrike">
              <a:solidFill>
                <a:srgbClr val="75707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96" name="Google Shape;96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74433" y="317175"/>
            <a:ext cx="4514850" cy="4514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4"/>
          <p:cNvSpPr txBox="1"/>
          <p:nvPr>
            <p:ph idx="12" type="sldNum"/>
          </p:nvPr>
        </p:nvSpPr>
        <p:spPr>
          <a:xfrm>
            <a:off x="11581397" y="6240318"/>
            <a:ext cx="4160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3" name="Google Shape;103;p34"/>
          <p:cNvSpPr txBox="1"/>
          <p:nvPr/>
        </p:nvSpPr>
        <p:spPr>
          <a:xfrm>
            <a:off x="216780" y="266031"/>
            <a:ext cx="220954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Contents</a:t>
            </a:r>
            <a:endParaRPr b="1" i="0" sz="2800" u="none" cap="none" strike="noStrike">
              <a:solidFill>
                <a:srgbClr val="275B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4" name="Google Shape;104;p34"/>
          <p:cNvSpPr txBox="1"/>
          <p:nvPr/>
        </p:nvSpPr>
        <p:spPr>
          <a:xfrm>
            <a:off x="2326710" y="1758813"/>
            <a:ext cx="670208" cy="5749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 b="1" i="0" sz="2400" u="none" cap="none" strike="noStrike">
              <a:solidFill>
                <a:srgbClr val="275B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5" name="Google Shape;105;p34"/>
          <p:cNvSpPr txBox="1"/>
          <p:nvPr/>
        </p:nvSpPr>
        <p:spPr>
          <a:xfrm>
            <a:off x="2326710" y="3265727"/>
            <a:ext cx="670208" cy="5749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 b="1" i="0" sz="2400" u="none" cap="none" strike="noStrike">
              <a:solidFill>
                <a:srgbClr val="275B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6" name="Google Shape;106;p34"/>
          <p:cNvSpPr txBox="1"/>
          <p:nvPr/>
        </p:nvSpPr>
        <p:spPr>
          <a:xfrm>
            <a:off x="2326710" y="4772641"/>
            <a:ext cx="670208" cy="5749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03</a:t>
            </a:r>
            <a:endParaRPr b="1" i="0" sz="2400" u="none" cap="none" strike="noStrike">
              <a:solidFill>
                <a:srgbClr val="275B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7" name="Google Shape;107;p34"/>
          <p:cNvSpPr txBox="1"/>
          <p:nvPr/>
        </p:nvSpPr>
        <p:spPr>
          <a:xfrm>
            <a:off x="7456551" y="1758813"/>
            <a:ext cx="670208" cy="5749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04</a:t>
            </a:r>
            <a:endParaRPr b="1" i="0" sz="2400" u="none" cap="none" strike="noStrike">
              <a:solidFill>
                <a:srgbClr val="275B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8" name="Google Shape;108;p34"/>
          <p:cNvSpPr txBox="1"/>
          <p:nvPr/>
        </p:nvSpPr>
        <p:spPr>
          <a:xfrm>
            <a:off x="7456551" y="3265727"/>
            <a:ext cx="670208" cy="5749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05</a:t>
            </a:r>
            <a:endParaRPr b="1" i="0" sz="2400" u="none" cap="none" strike="noStrike">
              <a:solidFill>
                <a:srgbClr val="275B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9" name="Google Shape;109;p34"/>
          <p:cNvSpPr txBox="1"/>
          <p:nvPr/>
        </p:nvSpPr>
        <p:spPr>
          <a:xfrm>
            <a:off x="7456551" y="4772641"/>
            <a:ext cx="670208" cy="5749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06</a:t>
            </a:r>
            <a:endParaRPr b="1" i="0" sz="2400" u="none" cap="none" strike="noStrike">
              <a:solidFill>
                <a:srgbClr val="275B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0" name="Google Shape;110;p34"/>
          <p:cNvSpPr txBox="1"/>
          <p:nvPr/>
        </p:nvSpPr>
        <p:spPr>
          <a:xfrm>
            <a:off x="2978311" y="1822292"/>
            <a:ext cx="1458108" cy="4542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연구배경</a:t>
            </a:r>
            <a:endParaRPr b="0" i="0" sz="18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1" name="Google Shape;111;p34"/>
          <p:cNvSpPr txBox="1"/>
          <p:nvPr/>
        </p:nvSpPr>
        <p:spPr>
          <a:xfrm>
            <a:off x="2978311" y="3323185"/>
            <a:ext cx="1458108" cy="4542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선행연구</a:t>
            </a:r>
            <a:endParaRPr b="0" i="0" sz="18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2" name="Google Shape;112;p34"/>
          <p:cNvSpPr txBox="1"/>
          <p:nvPr/>
        </p:nvSpPr>
        <p:spPr>
          <a:xfrm>
            <a:off x="2978311" y="4824654"/>
            <a:ext cx="1458108" cy="4542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제안 방법</a:t>
            </a:r>
            <a:endParaRPr b="0" i="0" sz="18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3" name="Google Shape;113;p34"/>
          <p:cNvSpPr txBox="1"/>
          <p:nvPr/>
        </p:nvSpPr>
        <p:spPr>
          <a:xfrm>
            <a:off x="8126759" y="1822292"/>
            <a:ext cx="1458108" cy="4542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실험결과</a:t>
            </a:r>
            <a:endParaRPr b="0" i="0" sz="18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4" name="Google Shape;114;p34"/>
          <p:cNvSpPr txBox="1"/>
          <p:nvPr/>
        </p:nvSpPr>
        <p:spPr>
          <a:xfrm>
            <a:off x="8126758" y="3323185"/>
            <a:ext cx="2263367" cy="4542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결론</a:t>
            </a:r>
            <a:endParaRPr b="0" i="0" sz="18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5" name="Google Shape;115;p34"/>
          <p:cNvSpPr txBox="1"/>
          <p:nvPr/>
        </p:nvSpPr>
        <p:spPr>
          <a:xfrm>
            <a:off x="8126759" y="4824654"/>
            <a:ext cx="1458108" cy="4542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참고문헌</a:t>
            </a:r>
            <a:endParaRPr b="0" i="0" sz="18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6" name="Google Shape;116;p34"/>
          <p:cNvSpPr/>
          <p:nvPr/>
        </p:nvSpPr>
        <p:spPr>
          <a:xfrm flipH="1" rot="10800000">
            <a:off x="0" y="6710793"/>
            <a:ext cx="9566815" cy="147207"/>
          </a:xfrm>
          <a:custGeom>
            <a:rect b="b" l="l" r="r" t="t"/>
            <a:pathLst>
              <a:path extrusionOk="0" h="162560" w="15770225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7" name="Google Shape;117;p34"/>
          <p:cNvSpPr/>
          <p:nvPr/>
        </p:nvSpPr>
        <p:spPr>
          <a:xfrm flipH="1" rot="10800000">
            <a:off x="9566760" y="6710218"/>
            <a:ext cx="2625240" cy="147782"/>
          </a:xfrm>
          <a:custGeom>
            <a:rect b="b" l="l" r="r" t="t"/>
            <a:pathLst>
              <a:path extrusionOk="0" h="163195" w="4327525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18" name="Google Shape;118;p34"/>
          <p:cNvPicPr preferRelativeResize="0"/>
          <p:nvPr/>
        </p:nvPicPr>
        <p:blipFill rotWithShape="1">
          <a:blip r:embed="rId3">
            <a:alphaModFix/>
          </a:blip>
          <a:srcRect b="13986" l="0" r="-1496" t="0"/>
          <a:stretch/>
        </p:blipFill>
        <p:spPr>
          <a:xfrm>
            <a:off x="11051499" y="151490"/>
            <a:ext cx="966119" cy="4842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5"/>
          <p:cNvSpPr txBox="1"/>
          <p:nvPr>
            <p:ph idx="12" type="sldNum"/>
          </p:nvPr>
        </p:nvSpPr>
        <p:spPr>
          <a:xfrm>
            <a:off x="11581397" y="6240318"/>
            <a:ext cx="4160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5" name="Google Shape;125;p35"/>
          <p:cNvSpPr/>
          <p:nvPr/>
        </p:nvSpPr>
        <p:spPr>
          <a:xfrm flipH="1" rot="10800000">
            <a:off x="0" y="6710793"/>
            <a:ext cx="9566815" cy="147207"/>
          </a:xfrm>
          <a:custGeom>
            <a:rect b="b" l="l" r="r" t="t"/>
            <a:pathLst>
              <a:path extrusionOk="0" h="162560" w="15770225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6" name="Google Shape;126;p35"/>
          <p:cNvSpPr/>
          <p:nvPr/>
        </p:nvSpPr>
        <p:spPr>
          <a:xfrm flipH="1" rot="10800000">
            <a:off x="9566760" y="6710218"/>
            <a:ext cx="2625240" cy="147782"/>
          </a:xfrm>
          <a:custGeom>
            <a:rect b="b" l="l" r="r" t="t"/>
            <a:pathLst>
              <a:path extrusionOk="0" h="163195" w="4327525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7" name="Google Shape;127;p35"/>
          <p:cNvSpPr/>
          <p:nvPr/>
        </p:nvSpPr>
        <p:spPr>
          <a:xfrm>
            <a:off x="152400" y="879556"/>
            <a:ext cx="11912056" cy="60090"/>
          </a:xfrm>
          <a:custGeom>
            <a:rect b="b" l="l" r="r" t="t"/>
            <a:pathLst>
              <a:path extrusionOk="0" h="162560" w="15770225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8" name="Google Shape;128;p35"/>
          <p:cNvSpPr txBox="1"/>
          <p:nvPr/>
        </p:nvSpPr>
        <p:spPr>
          <a:xfrm>
            <a:off x="217001" y="1253041"/>
            <a:ext cx="8003546" cy="414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머신 비전을 활용한 미세 결함 탐지</a:t>
            </a:r>
            <a:endParaRPr b="1" i="0" sz="1600" u="none" cap="none" strike="noStrike">
              <a:solidFill>
                <a:srgbClr val="275B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9" name="Google Shape;129;p35"/>
          <p:cNvSpPr txBox="1"/>
          <p:nvPr/>
        </p:nvSpPr>
        <p:spPr>
          <a:xfrm>
            <a:off x="250438" y="1747771"/>
            <a:ext cx="11814018" cy="2677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전통적 기계학습 기반 결함 탐지는 제조 품질과 효율을 증가시켰으며, 최근에는 딥러닝 도입으로 비전 검사 정확도와 자동화 수준이 크게 상승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96850" lvl="0" marL="3746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하지만 미세 결함은 크기가 작고 희미하여 </a:t>
            </a:r>
            <a:r>
              <a:rPr b="1" i="0" lang="en-US" sz="1400" u="none" cap="none" strike="noStrike">
                <a:solidFill>
                  <a:srgbClr val="A6342F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기존의 분류 기반 방법으로는 정확한 탐지 및 구별이 어려움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제품 내 </a:t>
            </a:r>
            <a:r>
              <a:rPr b="0" i="0" lang="en-US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결함과 배경의 경계가 모호해,</a:t>
            </a: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b="1" i="0" lang="en-US" sz="1400" u="none" cap="none" strike="noStrike">
                <a:solidFill>
                  <a:srgbClr val="A6342F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모델이 잘못된 영역에 attention을 집중</a:t>
            </a: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할 가능성 존재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따라서 결함 부위에 정확히 집중할 수 있는 모델 설계가 필요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68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b="0" i="0" lang="en-US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단순한 ResNet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계열 모델은 구조상 </a:t>
            </a:r>
            <a:r>
              <a:rPr b="0" i="0" lang="en-US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지역적 특징 구분에 한계가 존재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b="0" i="0" lang="en-US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미세한 시각적 차이를 효과적으로 포착하기 위해 attention 모듈이나 보조 branch 구조의 활용이 일반적</a:t>
            </a:r>
            <a:r>
              <a:rPr b="0" baseline="30000" i="0" lang="en-US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[1] [2] [3]</a:t>
            </a:r>
            <a:endParaRPr b="0" baseline="3000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0" name="Google Shape;130;p35"/>
          <p:cNvSpPr txBox="1"/>
          <p:nvPr/>
        </p:nvSpPr>
        <p:spPr>
          <a:xfrm>
            <a:off x="217001" y="27846"/>
            <a:ext cx="842254" cy="816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 b="1" i="0" sz="3600" u="none" cap="none" strike="noStrike">
              <a:solidFill>
                <a:srgbClr val="275B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1" name="Google Shape;131;p35"/>
          <p:cNvSpPr txBox="1"/>
          <p:nvPr/>
        </p:nvSpPr>
        <p:spPr>
          <a:xfrm>
            <a:off x="834367" y="19569"/>
            <a:ext cx="4045449" cy="816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연구 배경</a:t>
            </a:r>
            <a:endParaRPr b="1" i="0" sz="36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6"/>
          <p:cNvSpPr txBox="1"/>
          <p:nvPr>
            <p:ph idx="12" type="sldNum"/>
          </p:nvPr>
        </p:nvSpPr>
        <p:spPr>
          <a:xfrm>
            <a:off x="11581397" y="6259774"/>
            <a:ext cx="4160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8" name="Google Shape;138;p36"/>
          <p:cNvSpPr txBox="1"/>
          <p:nvPr/>
        </p:nvSpPr>
        <p:spPr>
          <a:xfrm>
            <a:off x="217001" y="27846"/>
            <a:ext cx="842254" cy="816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 b="1" i="0" sz="3600" u="none" cap="none" strike="noStrike">
              <a:solidFill>
                <a:srgbClr val="275B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9" name="Google Shape;139;p36"/>
          <p:cNvSpPr txBox="1"/>
          <p:nvPr/>
        </p:nvSpPr>
        <p:spPr>
          <a:xfrm>
            <a:off x="834367" y="19569"/>
            <a:ext cx="4045449" cy="816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연구 배경</a:t>
            </a:r>
            <a:endParaRPr b="1" i="0" sz="36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0" name="Google Shape;140;p36"/>
          <p:cNvSpPr/>
          <p:nvPr/>
        </p:nvSpPr>
        <p:spPr>
          <a:xfrm flipH="1" rot="10800000">
            <a:off x="0" y="6710793"/>
            <a:ext cx="9566815" cy="147207"/>
          </a:xfrm>
          <a:custGeom>
            <a:rect b="b" l="l" r="r" t="t"/>
            <a:pathLst>
              <a:path extrusionOk="0" h="162560" w="15770225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1" name="Google Shape;141;p36"/>
          <p:cNvSpPr/>
          <p:nvPr/>
        </p:nvSpPr>
        <p:spPr>
          <a:xfrm flipH="1" rot="10800000">
            <a:off x="9566760" y="6710218"/>
            <a:ext cx="2625240" cy="147782"/>
          </a:xfrm>
          <a:custGeom>
            <a:rect b="b" l="l" r="r" t="t"/>
            <a:pathLst>
              <a:path extrusionOk="0" h="163195" w="4327525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2" name="Google Shape;142;p36"/>
          <p:cNvSpPr/>
          <p:nvPr/>
        </p:nvSpPr>
        <p:spPr>
          <a:xfrm>
            <a:off x="152400" y="879556"/>
            <a:ext cx="11912056" cy="60090"/>
          </a:xfrm>
          <a:custGeom>
            <a:rect b="b" l="l" r="r" t="t"/>
            <a:pathLst>
              <a:path extrusionOk="0" h="162560" w="15770225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3" name="Google Shape;143;p36"/>
          <p:cNvSpPr txBox="1"/>
          <p:nvPr/>
        </p:nvSpPr>
        <p:spPr>
          <a:xfrm>
            <a:off x="217001" y="1111725"/>
            <a:ext cx="3343322" cy="414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환경 변화(Environment Shift)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36"/>
          <p:cNvSpPr txBox="1"/>
          <p:nvPr/>
        </p:nvSpPr>
        <p:spPr>
          <a:xfrm>
            <a:off x="377982" y="1557270"/>
            <a:ext cx="11912055" cy="10617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b="0" i="0" lang="en-US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딥러닝 모델을 다른 생산 라인에 도입할 경우, 생산 라인마다 조명, 각도, 배경 등의 차이로 인해 촬영 환경이 달라지는 상황 발생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 훈련 단계와 다른 촬영 환경에서 수집한 인스턴스가 들어올 경우, </a:t>
            </a:r>
            <a:r>
              <a:rPr b="1" i="0" lang="en-US" sz="1400" u="none" cap="none" strike="noStrike">
                <a:solidFill>
                  <a:srgbClr val="A6342F"/>
                </a:solidFill>
                <a:latin typeface="Malgun Gothic"/>
                <a:ea typeface="Malgun Gothic"/>
                <a:cs typeface="Malgun Gothic"/>
                <a:sym typeface="Malgun Gothic"/>
              </a:rPr>
              <a:t>환경/도메인 변화(Environment/Domain Shift)</a:t>
            </a: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 인해 성능 저하 발생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96850" lvl="0" marL="3746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45" name="Google Shape;145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23251" y="2498911"/>
            <a:ext cx="4286715" cy="228624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36"/>
          <p:cNvSpPr txBox="1"/>
          <p:nvPr/>
        </p:nvSpPr>
        <p:spPr>
          <a:xfrm>
            <a:off x="377982" y="5300730"/>
            <a:ext cx="11686473" cy="1021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촬영 환경 변화에 따른 성능 저하를 막기 위해선 각 생산 라인에 대해 별도의 결함 분류 모델을 구축하고 자주 재훈련하는 것이 이상적이나 생산 라인마다 학습에 사용될 충분한 라벨링 데이터를 수집하는 것은 </a:t>
            </a:r>
            <a:r>
              <a:rPr b="1" i="0" lang="en-US" sz="1400" u="none" cap="none" strike="noStrike">
                <a:solidFill>
                  <a:srgbClr val="A6342F"/>
                </a:solidFill>
                <a:latin typeface="Arial"/>
                <a:ea typeface="Arial"/>
                <a:cs typeface="Arial"/>
                <a:sym typeface="Arial"/>
              </a:rPr>
              <a:t>비용적 한계 존재</a:t>
            </a:r>
            <a:endParaRPr b="1" i="0" sz="1400" u="none" cap="none" strike="noStrike">
              <a:solidFill>
                <a:srgbClr val="A6342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→ 새로운 라벨링 데이터나 재학습을 필요로 하지 않고, 실시간으로 환경 변화에 적응하는 </a:t>
            </a:r>
            <a:r>
              <a:rPr b="1" i="0" lang="en-US" sz="1400" u="none" cap="none" strike="noStrike">
                <a:solidFill>
                  <a:srgbClr val="A6342F"/>
                </a:solidFill>
                <a:latin typeface="Arial"/>
                <a:ea typeface="Arial"/>
                <a:cs typeface="Arial"/>
                <a:sym typeface="Arial"/>
              </a:rPr>
              <a:t>Fully-Test Time Adaptation</a:t>
            </a:r>
            <a:r>
              <a:rPr b="1" i="0" lang="en-US" sz="1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이 가장 실용적 대안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6"/>
          <p:cNvSpPr txBox="1"/>
          <p:nvPr/>
        </p:nvSpPr>
        <p:spPr>
          <a:xfrm>
            <a:off x="3048000" y="4785159"/>
            <a:ext cx="609600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EABAB"/>
                </a:solidFill>
                <a:latin typeface="Malgun Gothic"/>
                <a:ea typeface="Malgun Gothic"/>
                <a:cs typeface="Malgun Gothic"/>
                <a:sym typeface="Malgun Gothic"/>
              </a:rPr>
              <a:t>환경 변화에 따른 생산 라인별 모델 성능 저하</a:t>
            </a:r>
            <a:endParaRPr b="0" i="0" sz="1000" u="none" cap="none" strike="noStrike">
              <a:solidFill>
                <a:srgbClr val="AEABA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7"/>
          <p:cNvSpPr txBox="1"/>
          <p:nvPr>
            <p:ph idx="12" type="sldNum"/>
          </p:nvPr>
        </p:nvSpPr>
        <p:spPr>
          <a:xfrm>
            <a:off x="11581397" y="6240318"/>
            <a:ext cx="4160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4" name="Google Shape;154;p37"/>
          <p:cNvSpPr/>
          <p:nvPr/>
        </p:nvSpPr>
        <p:spPr>
          <a:xfrm flipH="1" rot="10800000">
            <a:off x="0" y="6710793"/>
            <a:ext cx="9566815" cy="147207"/>
          </a:xfrm>
          <a:custGeom>
            <a:rect b="b" l="l" r="r" t="t"/>
            <a:pathLst>
              <a:path extrusionOk="0" h="162560" w="15770225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5" name="Google Shape;155;p37"/>
          <p:cNvSpPr/>
          <p:nvPr/>
        </p:nvSpPr>
        <p:spPr>
          <a:xfrm flipH="1" rot="10800000">
            <a:off x="9566760" y="6710218"/>
            <a:ext cx="2625240" cy="147782"/>
          </a:xfrm>
          <a:custGeom>
            <a:rect b="b" l="l" r="r" t="t"/>
            <a:pathLst>
              <a:path extrusionOk="0" h="163195" w="4327525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6" name="Google Shape;156;p37"/>
          <p:cNvSpPr/>
          <p:nvPr/>
        </p:nvSpPr>
        <p:spPr>
          <a:xfrm>
            <a:off x="152400" y="879556"/>
            <a:ext cx="11912056" cy="60090"/>
          </a:xfrm>
          <a:custGeom>
            <a:rect b="b" l="l" r="r" t="t"/>
            <a:pathLst>
              <a:path extrusionOk="0" h="162560" w="15770225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7" name="Google Shape;157;p37"/>
          <p:cNvSpPr txBox="1"/>
          <p:nvPr/>
        </p:nvSpPr>
        <p:spPr>
          <a:xfrm>
            <a:off x="217001" y="27846"/>
            <a:ext cx="842254" cy="816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 b="1" i="0" sz="3600" u="none" cap="none" strike="noStrike">
              <a:solidFill>
                <a:srgbClr val="275B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8" name="Google Shape;158;p37"/>
          <p:cNvSpPr txBox="1"/>
          <p:nvPr/>
        </p:nvSpPr>
        <p:spPr>
          <a:xfrm>
            <a:off x="834367" y="19569"/>
            <a:ext cx="4045449" cy="816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연구 배경</a:t>
            </a:r>
            <a:endParaRPr b="1" i="0" sz="36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9" name="Google Shape;159;p37"/>
          <p:cNvSpPr txBox="1"/>
          <p:nvPr/>
        </p:nvSpPr>
        <p:spPr>
          <a:xfrm>
            <a:off x="377983" y="1396024"/>
            <a:ext cx="10984200" cy="10617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3" marL="425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기존의 미세 결함 탐지 모델은 주로 attention module이나 보조 branch를 추가하는 복잡한 구조를 사용</a:t>
            </a:r>
            <a:r>
              <a:rPr b="0" baseline="30000" i="0" lang="en-US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[1] [2] [3]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3" marL="425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실제 제조 현장에서 새로운 라인에 결함 분류 모델을 도입할 시, 환경 변화로 인해 모델 성능이 저하되는 문제가 자주 발생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68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0" name="Google Shape;160;p37"/>
          <p:cNvSpPr txBox="1"/>
          <p:nvPr/>
        </p:nvSpPr>
        <p:spPr>
          <a:xfrm>
            <a:off x="377982" y="2308929"/>
            <a:ext cx="11686500" cy="235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b="0" i="0" lang="en-US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 연구는 이미지마다 결함 영역(mask)이 주어지는 환경을 기반으로 다음 두 가지 목표를 동시에 달성하는 프레임워크를 제안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1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1)  결함 마스크를 활용하여 </a:t>
            </a:r>
            <a:r>
              <a:rPr b="1" i="0" lang="en-US" sz="1400" u="none" cap="none" strike="noStrike">
                <a:solidFill>
                  <a:srgbClr val="A6342F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보조 branch 없이 단일 network만으로</a:t>
            </a: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결함 부위에 집중하는 단순한 구조 설계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1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2)  </a:t>
            </a:r>
            <a:r>
              <a:rPr b="1" i="0" lang="en-US" sz="1400" u="none" cap="none" strike="noStrike">
                <a:solidFill>
                  <a:srgbClr val="A6342F"/>
                </a:solidFill>
                <a:latin typeface="Malgun Gothic"/>
                <a:ea typeface="Malgun Gothic"/>
                <a:cs typeface="Malgun Gothic"/>
                <a:sym typeface="Malgun Gothic"/>
              </a:rPr>
              <a:t>Fully-Test Time Adaptation 의 안정성과 적용 가능성</a:t>
            </a: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까지 고려한 구조 설계로 도메인 변화에 대응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96850" lvl="1" marL="8318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6850" lvl="1" marL="8318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✔"/>
            </a:pP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기존에 연구된 도메인 적응 기법을 적용할 수 있는 단순한 구조이면서, 형태 정보를 활용한 미세 결함 탐지에 특화된 학습 방법을 바탕으로 다양한 환경 변화에도 정확하고 안정적인 분류를 수행하고자 함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8"/>
          <p:cNvSpPr txBox="1"/>
          <p:nvPr>
            <p:ph idx="12" type="sldNum"/>
          </p:nvPr>
        </p:nvSpPr>
        <p:spPr>
          <a:xfrm>
            <a:off x="9248775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6" name="Google Shape;166;p38"/>
          <p:cNvSpPr/>
          <p:nvPr/>
        </p:nvSpPr>
        <p:spPr>
          <a:xfrm flipH="1" rot="10800000">
            <a:off x="0" y="6710793"/>
            <a:ext cx="9566815" cy="147207"/>
          </a:xfrm>
          <a:custGeom>
            <a:rect b="b" l="l" r="r" t="t"/>
            <a:pathLst>
              <a:path extrusionOk="0" h="162560" w="15770225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7" name="Google Shape;167;p38"/>
          <p:cNvSpPr/>
          <p:nvPr/>
        </p:nvSpPr>
        <p:spPr>
          <a:xfrm flipH="1" rot="10800000">
            <a:off x="9566760" y="6710218"/>
            <a:ext cx="2625240" cy="147782"/>
          </a:xfrm>
          <a:custGeom>
            <a:rect b="b" l="l" r="r" t="t"/>
            <a:pathLst>
              <a:path extrusionOk="0" h="163195" w="4327525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8" name="Google Shape;168;p38"/>
          <p:cNvSpPr/>
          <p:nvPr/>
        </p:nvSpPr>
        <p:spPr>
          <a:xfrm>
            <a:off x="152400" y="879556"/>
            <a:ext cx="11912056" cy="60090"/>
          </a:xfrm>
          <a:custGeom>
            <a:rect b="b" l="l" r="r" t="t"/>
            <a:pathLst>
              <a:path extrusionOk="0" h="162560" w="15770225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9" name="Google Shape;169;p38"/>
          <p:cNvSpPr txBox="1"/>
          <p:nvPr/>
        </p:nvSpPr>
        <p:spPr>
          <a:xfrm>
            <a:off x="217000" y="1108352"/>
            <a:ext cx="6518777" cy="414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Fully Test Time Adaptation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38"/>
          <p:cNvSpPr txBox="1"/>
          <p:nvPr/>
        </p:nvSpPr>
        <p:spPr>
          <a:xfrm>
            <a:off x="377982" y="1592696"/>
            <a:ext cx="11686474" cy="4939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훈련 시에는 source data만으로 모델을 학습하고, 테스트 단계에서는 라벨 없는 target data에 기반하여 실시간으로 파라미터 업데이트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라벨 없이 target data에 실시간으로 적응할 수 있어, </a:t>
            </a:r>
            <a:r>
              <a:rPr b="1" i="0" lang="en-US" sz="1400" u="none" cap="none" strike="noStrike">
                <a:solidFill>
                  <a:srgbClr val="A6342F"/>
                </a:solidFill>
                <a:latin typeface="Malgun Gothic"/>
                <a:ea typeface="Malgun Gothic"/>
                <a:cs typeface="Malgun Gothic"/>
                <a:sym typeface="Malgun Gothic"/>
              </a:rPr>
              <a:t>라벨링이 어렵고 환경 변화가 빈번하며 데이터 수집이 제한적인 산업 현장에서 재학습 없이도 효과적으로 대응</a:t>
            </a:r>
            <a:r>
              <a:rPr b="0" i="0" lang="en-US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할 수 있는 현실적이고 실용적인 대안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96850" lvl="0" marL="3746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96850" lvl="0" marL="3746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96850" lvl="0" marL="3746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96850" lvl="0" marL="3746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96850" lvl="0" marL="3746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Fully-TTA 기존 방법론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TENT </a:t>
            </a:r>
            <a:r>
              <a:rPr b="0" baseline="3000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[4]</a:t>
            </a: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: 테스트 배치 데이터의 예측 엔트로피를 최소화하는 방향으로 BatchNorm 파라미터를 실시간으로 업데이트함으로써 간단하고 빠른 적응을 수행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EATA</a:t>
            </a:r>
            <a:r>
              <a:rPr b="0" baseline="3000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[5]</a:t>
            </a: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: 엔트로피가 낮고 정보가 중복되는 샘플은 학습에서 제외하고, Fisher Information 을 통해 중요한 모델 파라미터를 파악 후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안정적으로 적응을 수행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DeYO</a:t>
            </a:r>
            <a:r>
              <a:rPr b="0" baseline="3000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[6]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: 객체의 shape을 변형했을 때 예측이 크게 달라지는 샘플을 정보량이 높은 샘플로 간주하여 선택적으로 학습에 활용함으로써 높은 성능의 적응을 수행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1" name="Google Shape;171;p38"/>
          <p:cNvSpPr txBox="1"/>
          <p:nvPr/>
        </p:nvSpPr>
        <p:spPr>
          <a:xfrm>
            <a:off x="217001" y="27846"/>
            <a:ext cx="842254" cy="816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 b="1" i="0" sz="3600" u="none" cap="none" strike="noStrike">
              <a:solidFill>
                <a:srgbClr val="275B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2" name="Google Shape;172;p38"/>
          <p:cNvSpPr txBox="1"/>
          <p:nvPr/>
        </p:nvSpPr>
        <p:spPr>
          <a:xfrm>
            <a:off x="834367" y="19569"/>
            <a:ext cx="4045449" cy="816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선행 연구</a:t>
            </a:r>
            <a:endParaRPr b="1" i="0" sz="36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73" name="Google Shape;17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18666" y="2847975"/>
            <a:ext cx="6154667" cy="1005983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38"/>
          <p:cNvSpPr txBox="1"/>
          <p:nvPr/>
        </p:nvSpPr>
        <p:spPr>
          <a:xfrm>
            <a:off x="3048000" y="3853958"/>
            <a:ext cx="609600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EABAB"/>
                </a:solidFill>
                <a:latin typeface="Malgun Gothic"/>
                <a:ea typeface="Malgun Gothic"/>
                <a:cs typeface="Malgun Gothic"/>
                <a:sym typeface="Malgun Gothic"/>
              </a:rPr>
              <a:t>도메인 변화를 해결하기 위한 방법론 비교</a:t>
            </a:r>
            <a:endParaRPr b="0" i="0" sz="1000" u="none" cap="none" strike="noStrike">
              <a:solidFill>
                <a:srgbClr val="AEABA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9"/>
          <p:cNvSpPr txBox="1"/>
          <p:nvPr>
            <p:ph idx="12" type="sldNum"/>
          </p:nvPr>
        </p:nvSpPr>
        <p:spPr>
          <a:xfrm>
            <a:off x="9248775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0" name="Google Shape;180;p39"/>
          <p:cNvSpPr/>
          <p:nvPr/>
        </p:nvSpPr>
        <p:spPr>
          <a:xfrm flipH="1" rot="10800000">
            <a:off x="0" y="6710793"/>
            <a:ext cx="9566815" cy="147207"/>
          </a:xfrm>
          <a:custGeom>
            <a:rect b="b" l="l" r="r" t="t"/>
            <a:pathLst>
              <a:path extrusionOk="0" h="162560" w="15770225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1" name="Google Shape;181;p39"/>
          <p:cNvSpPr/>
          <p:nvPr/>
        </p:nvSpPr>
        <p:spPr>
          <a:xfrm flipH="1" rot="10800000">
            <a:off x="9566760" y="6710218"/>
            <a:ext cx="2625240" cy="147782"/>
          </a:xfrm>
          <a:custGeom>
            <a:rect b="b" l="l" r="r" t="t"/>
            <a:pathLst>
              <a:path extrusionOk="0" h="163195" w="4327525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2" name="Google Shape;182;p39"/>
          <p:cNvSpPr/>
          <p:nvPr/>
        </p:nvSpPr>
        <p:spPr>
          <a:xfrm>
            <a:off x="152400" y="879556"/>
            <a:ext cx="11912056" cy="60090"/>
          </a:xfrm>
          <a:custGeom>
            <a:rect b="b" l="l" r="r" t="t"/>
            <a:pathLst>
              <a:path extrusionOk="0" h="162560" w="15770225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3" name="Google Shape;183;p39"/>
          <p:cNvSpPr txBox="1"/>
          <p:nvPr/>
        </p:nvSpPr>
        <p:spPr>
          <a:xfrm>
            <a:off x="217001" y="1048791"/>
            <a:ext cx="4635656" cy="461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5B29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미세 결함 탐지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39"/>
          <p:cNvSpPr txBox="1"/>
          <p:nvPr/>
        </p:nvSpPr>
        <p:spPr>
          <a:xfrm>
            <a:off x="217000" y="1510415"/>
            <a:ext cx="11613000" cy="48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▪"/>
            </a:pP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Attention 기반 미세 결함 탐지 : 모델이 미세한 구조나 결함 위치를 파악하고 이에 집중하여 학습하도록 유도하는 방식 사용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CBAM</a:t>
            </a:r>
            <a:r>
              <a:rPr b="0" baseline="3000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[1]</a:t>
            </a: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: 채널별/위치별 attention을 통해 모델이 시각적으로 중요한 영역에 집중하도록 유도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Xu, Shuai, et al.</a:t>
            </a:r>
            <a:r>
              <a:rPr b="0" baseline="3000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[2]</a:t>
            </a: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: Grad-CAM으로 시각화한 중요 영역과 모델의 attention map이 일치하도록 학습하여 attention 정확성과 해석 가능성 향상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86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▪"/>
            </a:pP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형태 정보를 활용한 미세 결함 탐지 : 형태 정보를 활용해 모델이 중요한 시각적 구조에 보다 정확히 집중하도록 학습시켜, fine-grained classification의 성능을 높임. 이렇게 학습된 모델은 테스트 단계에서는 이미지만으로도 시각적 구조를 효과적으로 파악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•"/>
            </a:pPr>
            <a:r>
              <a:rPr b="0" i="0" lang="en-US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Tabernik, Domen, et al.</a:t>
            </a:r>
            <a:r>
              <a:rPr b="0" baseline="30000" i="0" lang="en-US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[10]</a:t>
            </a:r>
            <a:r>
              <a:rPr b="0" i="0" lang="en-US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: GT segmentation mask를 활용해 결함 위치를 픽셀 단위로 국소화한 뒤, 해당 정보를 기반으로 불량 여부를 분류하는 two stage 구조 제안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MGANet </a:t>
            </a:r>
            <a:r>
              <a:rPr b="0" baseline="3000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[11]</a:t>
            </a: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: GT segmentation mask로 학습한 예측 마스크를 활용해 attention map을 학습하고, 이를 통해 생성된 attention map 기반으로 fine grained image classification 수행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968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968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✔"/>
            </a:pP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대부분의 기존 연구는 </a:t>
            </a:r>
            <a:r>
              <a:rPr b="1" i="0" lang="en-US" sz="1400" u="none" cap="none" strike="noStrike">
                <a:solidFill>
                  <a:srgbClr val="A6342F"/>
                </a:solidFill>
                <a:latin typeface="Malgun Gothic"/>
                <a:ea typeface="Malgun Gothic"/>
                <a:cs typeface="Malgun Gothic"/>
                <a:sym typeface="Malgun Gothic"/>
              </a:rPr>
              <a:t>복잡한 attention module 구조</a:t>
            </a: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를 가지며</a:t>
            </a:r>
            <a:r>
              <a:rPr b="0" i="0" lang="en-US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,</a:t>
            </a:r>
            <a:r>
              <a:rPr b="1" i="0" lang="en-US" sz="1400" u="none" cap="none" strike="noStrike">
                <a:solidFill>
                  <a:srgbClr val="A6342F"/>
                </a:solidFill>
                <a:latin typeface="Malgun Gothic"/>
                <a:ea typeface="Malgun Gothic"/>
                <a:cs typeface="Malgun Gothic"/>
                <a:sym typeface="Malgun Gothic"/>
              </a:rPr>
              <a:t> Test-Time Adaptation(TTA)과의 연계가 고려되지 않아 domain shift 환경에서는 적용이 어렵다는 한계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존재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5" name="Google Shape;185;p39"/>
          <p:cNvSpPr txBox="1"/>
          <p:nvPr/>
        </p:nvSpPr>
        <p:spPr>
          <a:xfrm>
            <a:off x="217001" y="27846"/>
            <a:ext cx="842254" cy="816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 b="1" i="0" sz="3600" u="none" cap="none" strike="noStrike">
              <a:solidFill>
                <a:srgbClr val="275B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6" name="Google Shape;186;p39"/>
          <p:cNvSpPr txBox="1"/>
          <p:nvPr/>
        </p:nvSpPr>
        <p:spPr>
          <a:xfrm>
            <a:off x="834367" y="19569"/>
            <a:ext cx="4045449" cy="816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선행 연구</a:t>
            </a:r>
            <a:endParaRPr b="1" i="0" sz="36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41"/>
          <p:cNvSpPr/>
          <p:nvPr/>
        </p:nvSpPr>
        <p:spPr>
          <a:xfrm>
            <a:off x="2981129" y="1841531"/>
            <a:ext cx="5936534" cy="1328269"/>
          </a:xfrm>
          <a:prstGeom prst="roundRect">
            <a:avLst>
              <a:gd fmla="val 7440" name="adj"/>
            </a:avLst>
          </a:prstGeom>
          <a:noFill/>
          <a:ln cap="flat" cmpd="sng" w="12700">
            <a:solidFill>
              <a:srgbClr val="75707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41"/>
          <p:cNvSpPr txBox="1"/>
          <p:nvPr>
            <p:ph idx="12" type="sldNum"/>
          </p:nvPr>
        </p:nvSpPr>
        <p:spPr>
          <a:xfrm>
            <a:off x="9248775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41"/>
          <p:cNvSpPr/>
          <p:nvPr/>
        </p:nvSpPr>
        <p:spPr>
          <a:xfrm flipH="1" rot="10800000">
            <a:off x="0" y="6710793"/>
            <a:ext cx="9566815" cy="147207"/>
          </a:xfrm>
          <a:custGeom>
            <a:rect b="b" l="l" r="r" t="t"/>
            <a:pathLst>
              <a:path extrusionOk="0" h="162560" w="15770225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41"/>
          <p:cNvSpPr/>
          <p:nvPr/>
        </p:nvSpPr>
        <p:spPr>
          <a:xfrm flipH="1" rot="10800000">
            <a:off x="9566760" y="6710218"/>
            <a:ext cx="2625240" cy="147782"/>
          </a:xfrm>
          <a:custGeom>
            <a:rect b="b" l="l" r="r" t="t"/>
            <a:pathLst>
              <a:path extrusionOk="0" h="163195" w="4327525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41"/>
          <p:cNvSpPr/>
          <p:nvPr/>
        </p:nvSpPr>
        <p:spPr>
          <a:xfrm>
            <a:off x="152400" y="879556"/>
            <a:ext cx="11912056" cy="60090"/>
          </a:xfrm>
          <a:custGeom>
            <a:rect b="b" l="l" r="r" t="t"/>
            <a:pathLst>
              <a:path extrusionOk="0" h="162560" w="15770225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41"/>
          <p:cNvSpPr txBox="1"/>
          <p:nvPr/>
        </p:nvSpPr>
        <p:spPr>
          <a:xfrm>
            <a:off x="217001" y="1140996"/>
            <a:ext cx="2915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제안 프레임워크</a:t>
            </a:r>
            <a:endParaRPr b="1" i="0" sz="1600" u="none" cap="none" strike="noStrike">
              <a:solidFill>
                <a:srgbClr val="275B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7" name="Google Shape;197;p41"/>
          <p:cNvSpPr/>
          <p:nvPr/>
        </p:nvSpPr>
        <p:spPr>
          <a:xfrm>
            <a:off x="2915590" y="1742876"/>
            <a:ext cx="6133168" cy="4611586"/>
          </a:xfrm>
          <a:prstGeom prst="rect">
            <a:avLst/>
          </a:prstGeom>
          <a:noFill/>
          <a:ln cap="flat" cmpd="sng" w="12700">
            <a:solidFill>
              <a:srgbClr val="75707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41"/>
          <p:cNvSpPr/>
          <p:nvPr/>
        </p:nvSpPr>
        <p:spPr>
          <a:xfrm rot="5400000">
            <a:off x="6158015" y="5888216"/>
            <a:ext cx="374803" cy="170610"/>
          </a:xfrm>
          <a:prstGeom prst="rect">
            <a:avLst/>
          </a:prstGeom>
          <a:solidFill>
            <a:srgbClr val="3D4B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41"/>
          <p:cNvSpPr/>
          <p:nvPr/>
        </p:nvSpPr>
        <p:spPr>
          <a:xfrm rot="5400000">
            <a:off x="6488098" y="4356976"/>
            <a:ext cx="1297708" cy="175228"/>
          </a:xfrm>
          <a:prstGeom prst="rect">
            <a:avLst/>
          </a:prstGeom>
          <a:solidFill>
            <a:srgbClr val="222A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41"/>
          <p:cNvSpPr/>
          <p:nvPr/>
        </p:nvSpPr>
        <p:spPr>
          <a:xfrm>
            <a:off x="4626163" y="3703233"/>
            <a:ext cx="2595419" cy="170610"/>
          </a:xfrm>
          <a:prstGeom prst="rect">
            <a:avLst/>
          </a:prstGeom>
          <a:solidFill>
            <a:srgbClr val="222A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41"/>
          <p:cNvSpPr/>
          <p:nvPr/>
        </p:nvSpPr>
        <p:spPr>
          <a:xfrm>
            <a:off x="4626162" y="4984597"/>
            <a:ext cx="2595419" cy="170610"/>
          </a:xfrm>
          <a:prstGeom prst="rect">
            <a:avLst/>
          </a:prstGeom>
          <a:solidFill>
            <a:srgbClr val="222A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41"/>
          <p:cNvSpPr/>
          <p:nvPr/>
        </p:nvSpPr>
        <p:spPr>
          <a:xfrm>
            <a:off x="4594013" y="2311847"/>
            <a:ext cx="2267526" cy="164357"/>
          </a:xfrm>
          <a:prstGeom prst="rect">
            <a:avLst/>
          </a:prstGeom>
          <a:solidFill>
            <a:srgbClr val="222A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금속, 번호, 디자인이(가) 표시된 사진&#10;&#10;AI가 생성한 콘텐츠는 부정확할 수 있습니다." id="203" name="Google Shape;203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49233" y="2057970"/>
            <a:ext cx="1487055" cy="8364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어둠, 블랙이(가) 표시된 사진&#10;&#10;AI가 생성한 콘텐츠는 부정확할 수 있습니다." id="204" name="Google Shape;204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49233" y="3380422"/>
            <a:ext cx="1487054" cy="836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49233" y="4652985"/>
            <a:ext cx="1487054" cy="836468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41"/>
          <p:cNvSpPr txBox="1"/>
          <p:nvPr/>
        </p:nvSpPr>
        <p:spPr>
          <a:xfrm>
            <a:off x="3435560" y="2846246"/>
            <a:ext cx="91440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41"/>
          <p:cNvSpPr txBox="1"/>
          <p:nvPr/>
        </p:nvSpPr>
        <p:spPr>
          <a:xfrm>
            <a:off x="3292396" y="4216890"/>
            <a:ext cx="1200727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mask image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41"/>
          <p:cNvSpPr txBox="1"/>
          <p:nvPr/>
        </p:nvSpPr>
        <p:spPr>
          <a:xfrm>
            <a:off x="3149233" y="5489452"/>
            <a:ext cx="1487054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Grad cam image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9" name="Google Shape;209;p41"/>
          <p:cNvGrpSpPr/>
          <p:nvPr/>
        </p:nvGrpSpPr>
        <p:grpSpPr>
          <a:xfrm>
            <a:off x="6788746" y="4077772"/>
            <a:ext cx="1039094" cy="618217"/>
            <a:chOff x="5830454" y="3963272"/>
            <a:chExt cx="1039094" cy="618217"/>
          </a:xfrm>
        </p:grpSpPr>
        <p:sp>
          <p:nvSpPr>
            <p:cNvPr id="210" name="Google Shape;210;p41"/>
            <p:cNvSpPr/>
            <p:nvPr/>
          </p:nvSpPr>
          <p:spPr>
            <a:xfrm rot="5400000">
              <a:off x="6040892" y="3752833"/>
              <a:ext cx="618217" cy="1039094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41"/>
            <p:cNvSpPr txBox="1"/>
            <p:nvPr/>
          </p:nvSpPr>
          <p:spPr>
            <a:xfrm>
              <a:off x="5892801" y="4133880"/>
              <a:ext cx="914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KL div loss</a:t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2" name="Google Shape;212;p41"/>
          <p:cNvSpPr/>
          <p:nvPr/>
        </p:nvSpPr>
        <p:spPr>
          <a:xfrm rot="5400000">
            <a:off x="6999184" y="1964085"/>
            <a:ext cx="618217" cy="103909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41"/>
          <p:cNvSpPr txBox="1"/>
          <p:nvPr/>
        </p:nvSpPr>
        <p:spPr>
          <a:xfrm>
            <a:off x="6851093" y="2345133"/>
            <a:ext cx="9144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 loss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4" name="Google Shape;214;p41"/>
          <p:cNvGrpSpPr/>
          <p:nvPr/>
        </p:nvGrpSpPr>
        <p:grpSpPr>
          <a:xfrm>
            <a:off x="4972527" y="2000530"/>
            <a:ext cx="1891269" cy="3764414"/>
            <a:chOff x="7906918" y="1953749"/>
            <a:chExt cx="1891269" cy="3764414"/>
          </a:xfrm>
        </p:grpSpPr>
        <p:sp>
          <p:nvSpPr>
            <p:cNvPr id="215" name="Google Shape;215;p41"/>
            <p:cNvSpPr/>
            <p:nvPr/>
          </p:nvSpPr>
          <p:spPr>
            <a:xfrm rot="5400000">
              <a:off x="6563362" y="3297305"/>
              <a:ext cx="3638457" cy="951345"/>
            </a:xfrm>
            <a:prstGeom prst="trapezoid">
              <a:avLst>
                <a:gd fmla="val 18204" name="adj"/>
              </a:avLst>
            </a:prstGeom>
            <a:solidFill>
              <a:srgbClr val="F2F2F2"/>
            </a:solidFill>
            <a:ln cap="flat" cmpd="sng" w="12700">
              <a:solidFill>
                <a:srgbClr val="45454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41"/>
            <p:cNvSpPr txBox="1"/>
            <p:nvPr/>
          </p:nvSpPr>
          <p:spPr>
            <a:xfrm>
              <a:off x="7925391" y="3466066"/>
              <a:ext cx="914400" cy="6138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Shared</a:t>
              </a:r>
              <a:b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Network</a:t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41"/>
            <p:cNvSpPr txBox="1"/>
            <p:nvPr/>
          </p:nvSpPr>
          <p:spPr>
            <a:xfrm>
              <a:off x="8883787" y="5383007"/>
              <a:ext cx="914400" cy="3351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FC layer</a:t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8" name="Google Shape;218;p41"/>
          <p:cNvSpPr txBox="1"/>
          <p:nvPr/>
        </p:nvSpPr>
        <p:spPr>
          <a:xfrm>
            <a:off x="7308292" y="5951517"/>
            <a:ext cx="159626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Train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41"/>
          <p:cNvSpPr/>
          <p:nvPr/>
        </p:nvSpPr>
        <p:spPr>
          <a:xfrm rot="5400000">
            <a:off x="4705359" y="3638908"/>
            <a:ext cx="3284994" cy="397168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45454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41"/>
          <p:cNvSpPr/>
          <p:nvPr/>
        </p:nvSpPr>
        <p:spPr>
          <a:xfrm>
            <a:off x="6260112" y="2384551"/>
            <a:ext cx="207928" cy="207928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rgbClr val="45454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41"/>
          <p:cNvSpPr txBox="1"/>
          <p:nvPr/>
        </p:nvSpPr>
        <p:spPr>
          <a:xfrm rot="5400000">
            <a:off x="6010840" y="3575882"/>
            <a:ext cx="9144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41"/>
          <p:cNvSpPr/>
          <p:nvPr/>
        </p:nvSpPr>
        <p:spPr>
          <a:xfrm>
            <a:off x="3835303" y="6046306"/>
            <a:ext cx="2595419" cy="170610"/>
          </a:xfrm>
          <a:prstGeom prst="rect">
            <a:avLst/>
          </a:prstGeom>
          <a:solidFill>
            <a:srgbClr val="3D4B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41"/>
          <p:cNvSpPr/>
          <p:nvPr/>
        </p:nvSpPr>
        <p:spPr>
          <a:xfrm rot="5400000">
            <a:off x="3760017" y="5955764"/>
            <a:ext cx="327139" cy="170610"/>
          </a:xfrm>
          <a:prstGeom prst="rect">
            <a:avLst/>
          </a:prstGeom>
          <a:solidFill>
            <a:srgbClr val="3D4B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41"/>
          <p:cNvSpPr/>
          <p:nvPr/>
        </p:nvSpPr>
        <p:spPr>
          <a:xfrm>
            <a:off x="3730442" y="5751062"/>
            <a:ext cx="383308" cy="168330"/>
          </a:xfrm>
          <a:prstGeom prst="triangle">
            <a:avLst>
              <a:gd fmla="val 50000" name="adj"/>
            </a:avLst>
          </a:prstGeom>
          <a:solidFill>
            <a:srgbClr val="3D4B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41"/>
          <p:cNvSpPr txBox="1"/>
          <p:nvPr/>
        </p:nvSpPr>
        <p:spPr>
          <a:xfrm>
            <a:off x="217001" y="27846"/>
            <a:ext cx="842254" cy="816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75B29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1" i="0" sz="3600" u="none" cap="none" strike="noStrike">
              <a:solidFill>
                <a:srgbClr val="275B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41"/>
          <p:cNvSpPr txBox="1"/>
          <p:nvPr/>
        </p:nvSpPr>
        <p:spPr>
          <a:xfrm>
            <a:off x="834367" y="19569"/>
            <a:ext cx="4045449" cy="816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제안 방법</a:t>
            </a:r>
            <a:endParaRPr b="1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41"/>
          <p:cNvSpPr/>
          <p:nvPr/>
        </p:nvSpPr>
        <p:spPr>
          <a:xfrm>
            <a:off x="6260112" y="2871950"/>
            <a:ext cx="207928" cy="207928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rgbClr val="45454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41"/>
          <p:cNvSpPr/>
          <p:nvPr/>
        </p:nvSpPr>
        <p:spPr>
          <a:xfrm>
            <a:off x="6260112" y="3287240"/>
            <a:ext cx="207928" cy="207928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rgbClr val="45454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41"/>
          <p:cNvSpPr/>
          <p:nvPr/>
        </p:nvSpPr>
        <p:spPr>
          <a:xfrm>
            <a:off x="6260112" y="4225996"/>
            <a:ext cx="207928" cy="207928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rgbClr val="45454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41"/>
          <p:cNvSpPr/>
          <p:nvPr/>
        </p:nvSpPr>
        <p:spPr>
          <a:xfrm>
            <a:off x="6260112" y="4753699"/>
            <a:ext cx="207928" cy="207928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rgbClr val="45454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41"/>
          <p:cNvSpPr/>
          <p:nvPr/>
        </p:nvSpPr>
        <p:spPr>
          <a:xfrm>
            <a:off x="6260112" y="5170870"/>
            <a:ext cx="207928" cy="207928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rgbClr val="45454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41"/>
          <p:cNvSpPr txBox="1"/>
          <p:nvPr/>
        </p:nvSpPr>
        <p:spPr>
          <a:xfrm>
            <a:off x="7221581" y="2828617"/>
            <a:ext cx="159626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Warm UP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53"/>
          <p:cNvSpPr txBox="1"/>
          <p:nvPr>
            <p:ph idx="12" type="sldNum"/>
          </p:nvPr>
        </p:nvSpPr>
        <p:spPr>
          <a:xfrm>
            <a:off x="9248775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8" name="Google Shape;238;p53"/>
          <p:cNvSpPr/>
          <p:nvPr/>
        </p:nvSpPr>
        <p:spPr>
          <a:xfrm flipH="1" rot="10800000">
            <a:off x="0" y="6710793"/>
            <a:ext cx="9566815" cy="147207"/>
          </a:xfrm>
          <a:custGeom>
            <a:rect b="b" l="l" r="r" t="t"/>
            <a:pathLst>
              <a:path extrusionOk="0" h="162560" w="15770225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53"/>
          <p:cNvSpPr/>
          <p:nvPr/>
        </p:nvSpPr>
        <p:spPr>
          <a:xfrm flipH="1" rot="10800000">
            <a:off x="9566760" y="6710218"/>
            <a:ext cx="2625240" cy="147782"/>
          </a:xfrm>
          <a:custGeom>
            <a:rect b="b" l="l" r="r" t="t"/>
            <a:pathLst>
              <a:path extrusionOk="0" h="163195" w="4327525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53"/>
          <p:cNvSpPr/>
          <p:nvPr/>
        </p:nvSpPr>
        <p:spPr>
          <a:xfrm>
            <a:off x="152400" y="879556"/>
            <a:ext cx="11912056" cy="60090"/>
          </a:xfrm>
          <a:custGeom>
            <a:rect b="b" l="l" r="r" t="t"/>
            <a:pathLst>
              <a:path extrusionOk="0" h="162560" w="15770225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53"/>
          <p:cNvSpPr txBox="1"/>
          <p:nvPr/>
        </p:nvSpPr>
        <p:spPr>
          <a:xfrm>
            <a:off x="217001" y="1140996"/>
            <a:ext cx="2915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제안 프레임워크</a:t>
            </a:r>
            <a:endParaRPr b="1" i="0" sz="1600" u="none" cap="none" strike="noStrike">
              <a:solidFill>
                <a:srgbClr val="275B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2" name="Google Shape;242;p53"/>
          <p:cNvSpPr txBox="1"/>
          <p:nvPr/>
        </p:nvSpPr>
        <p:spPr>
          <a:xfrm>
            <a:off x="217001" y="27846"/>
            <a:ext cx="842254" cy="816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75B29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1" i="0" sz="3600" u="none" cap="none" strike="noStrike">
              <a:solidFill>
                <a:srgbClr val="275B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53"/>
          <p:cNvSpPr txBox="1"/>
          <p:nvPr/>
        </p:nvSpPr>
        <p:spPr>
          <a:xfrm>
            <a:off x="834367" y="19569"/>
            <a:ext cx="4045449" cy="816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제안 방법</a:t>
            </a:r>
            <a:endParaRPr b="1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4" name="Google Shape;244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62862" y="2617868"/>
            <a:ext cx="4866276" cy="3741657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53"/>
          <p:cNvSpPr txBox="1"/>
          <p:nvPr/>
        </p:nvSpPr>
        <p:spPr>
          <a:xfrm>
            <a:off x="377983" y="1647826"/>
            <a:ext cx="10984200" cy="4154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3" marL="425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연구 개요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2"/>
          <p:cNvSpPr txBox="1"/>
          <p:nvPr>
            <p:ph idx="12" type="sldNum"/>
          </p:nvPr>
        </p:nvSpPr>
        <p:spPr>
          <a:xfrm>
            <a:off x="9248775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42"/>
          <p:cNvSpPr/>
          <p:nvPr/>
        </p:nvSpPr>
        <p:spPr>
          <a:xfrm flipH="1" rot="10800000">
            <a:off x="0" y="6710793"/>
            <a:ext cx="9566815" cy="147207"/>
          </a:xfrm>
          <a:custGeom>
            <a:rect b="b" l="l" r="r" t="t"/>
            <a:pathLst>
              <a:path extrusionOk="0" h="162560" w="15770225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42"/>
          <p:cNvSpPr/>
          <p:nvPr/>
        </p:nvSpPr>
        <p:spPr>
          <a:xfrm flipH="1" rot="10800000">
            <a:off x="9566760" y="6710218"/>
            <a:ext cx="2625240" cy="147782"/>
          </a:xfrm>
          <a:custGeom>
            <a:rect b="b" l="l" r="r" t="t"/>
            <a:pathLst>
              <a:path extrusionOk="0" h="163195" w="4327525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42"/>
          <p:cNvSpPr/>
          <p:nvPr/>
        </p:nvSpPr>
        <p:spPr>
          <a:xfrm>
            <a:off x="152400" y="879556"/>
            <a:ext cx="11912056" cy="60090"/>
          </a:xfrm>
          <a:custGeom>
            <a:rect b="b" l="l" r="r" t="t"/>
            <a:pathLst>
              <a:path extrusionOk="0" h="162560" w="15770225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42"/>
          <p:cNvSpPr txBox="1"/>
          <p:nvPr/>
        </p:nvSpPr>
        <p:spPr>
          <a:xfrm>
            <a:off x="217001" y="1140996"/>
            <a:ext cx="2915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제안 프레임워크</a:t>
            </a:r>
            <a:endParaRPr b="1" i="0" sz="1600" u="none" cap="none" strike="noStrike">
              <a:solidFill>
                <a:srgbClr val="275B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5" name="Google Shape;255;p42"/>
          <p:cNvSpPr txBox="1"/>
          <p:nvPr/>
        </p:nvSpPr>
        <p:spPr>
          <a:xfrm>
            <a:off x="217001" y="27846"/>
            <a:ext cx="842254" cy="816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75B29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1" i="0" sz="3600" u="none" cap="none" strike="noStrike">
              <a:solidFill>
                <a:srgbClr val="275B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42"/>
          <p:cNvSpPr txBox="1"/>
          <p:nvPr/>
        </p:nvSpPr>
        <p:spPr>
          <a:xfrm>
            <a:off x="834367" y="19569"/>
            <a:ext cx="4045449" cy="816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제안 방법</a:t>
            </a:r>
            <a:endParaRPr b="1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42"/>
          <p:cNvSpPr txBox="1"/>
          <p:nvPr/>
        </p:nvSpPr>
        <p:spPr>
          <a:xfrm>
            <a:off x="5581271" y="1652660"/>
            <a:ext cx="6458329" cy="4154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</a:pPr>
            <a:r>
              <a:rPr b="1" i="0" lang="en-US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Warm UP </a:t>
            </a:r>
            <a:endParaRPr b="1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58" name="Google Shape;258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7001" y="1938945"/>
            <a:ext cx="5253640" cy="4039499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42"/>
          <p:cNvSpPr txBox="1"/>
          <p:nvPr/>
        </p:nvSpPr>
        <p:spPr>
          <a:xfrm>
            <a:off x="5780283" y="2017398"/>
            <a:ext cx="6096000" cy="1020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1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일반 image만을 활용하여 분류 학습 (CE Loss)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Grad-CAM이 안정적으로 형성되도록 사전 학습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✔"/>
            </a:pP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기본적인 분류 능력 확보 및 안정적인 attention(Grad-CAM) 형성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0" name="Google Shape;260;p42"/>
          <p:cNvSpPr txBox="1"/>
          <p:nvPr/>
        </p:nvSpPr>
        <p:spPr>
          <a:xfrm>
            <a:off x="5581271" y="3319014"/>
            <a:ext cx="6458329" cy="4154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</a:pPr>
            <a:r>
              <a:rPr b="1" i="0" lang="en-US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Train</a:t>
            </a:r>
            <a:endParaRPr b="1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1" name="Google Shape;261;p42"/>
          <p:cNvSpPr txBox="1"/>
          <p:nvPr/>
        </p:nvSpPr>
        <p:spPr>
          <a:xfrm>
            <a:off x="5780283" y="3683752"/>
            <a:ext cx="6096000" cy="23128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1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이전 epoch 에서 생성된 Grad-CAM 이미지와 defect mask를 모델에 각각 입력하여 feature 추출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1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추출한 feature에 각각 GAP와 softmax를 적용하여 확률 분포로 정규화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1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두 분포 간 Kullback-Leibler Divergence Loss + 일반 이미지와 label 간 CE Loss로 학습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✔"/>
            </a:pP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모델이 주목하는 영역(Grad CAM)이 실제 결함(mask)과 일치하도록 정렬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3"/>
          <p:cNvSpPr txBox="1"/>
          <p:nvPr>
            <p:ph idx="12" type="sldNum"/>
          </p:nvPr>
        </p:nvSpPr>
        <p:spPr>
          <a:xfrm>
            <a:off x="9248775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43"/>
          <p:cNvSpPr/>
          <p:nvPr/>
        </p:nvSpPr>
        <p:spPr>
          <a:xfrm flipH="1" rot="10800000">
            <a:off x="0" y="6710793"/>
            <a:ext cx="9566815" cy="147207"/>
          </a:xfrm>
          <a:custGeom>
            <a:rect b="b" l="l" r="r" t="t"/>
            <a:pathLst>
              <a:path extrusionOk="0" h="162560" w="15770225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43"/>
          <p:cNvSpPr/>
          <p:nvPr/>
        </p:nvSpPr>
        <p:spPr>
          <a:xfrm flipH="1" rot="10800000">
            <a:off x="9566760" y="6710218"/>
            <a:ext cx="2625240" cy="147782"/>
          </a:xfrm>
          <a:custGeom>
            <a:rect b="b" l="l" r="r" t="t"/>
            <a:pathLst>
              <a:path extrusionOk="0" h="163195" w="4327525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43"/>
          <p:cNvSpPr/>
          <p:nvPr/>
        </p:nvSpPr>
        <p:spPr>
          <a:xfrm>
            <a:off x="152400" y="879556"/>
            <a:ext cx="11912056" cy="60090"/>
          </a:xfrm>
          <a:custGeom>
            <a:rect b="b" l="l" r="r" t="t"/>
            <a:pathLst>
              <a:path extrusionOk="0" h="162560" w="15770225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43"/>
          <p:cNvSpPr txBox="1"/>
          <p:nvPr/>
        </p:nvSpPr>
        <p:spPr>
          <a:xfrm>
            <a:off x="217001" y="1140996"/>
            <a:ext cx="2915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제안 프레임워크</a:t>
            </a:r>
            <a:endParaRPr b="1" i="0" sz="1600" u="none" cap="none" strike="noStrike">
              <a:solidFill>
                <a:srgbClr val="275B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1" name="Google Shape;271;p43"/>
          <p:cNvSpPr txBox="1"/>
          <p:nvPr/>
        </p:nvSpPr>
        <p:spPr>
          <a:xfrm>
            <a:off x="217001" y="27846"/>
            <a:ext cx="842254" cy="816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75B29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1" i="0" sz="3600" u="none" cap="none" strike="noStrike">
              <a:solidFill>
                <a:srgbClr val="275B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43"/>
          <p:cNvSpPr txBox="1"/>
          <p:nvPr/>
        </p:nvSpPr>
        <p:spPr>
          <a:xfrm>
            <a:off x="834367" y="19569"/>
            <a:ext cx="4045449" cy="816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제안 방법</a:t>
            </a:r>
            <a:endParaRPr b="1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3" name="Google Shape;273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7001" y="1555020"/>
            <a:ext cx="5253640" cy="4039499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43"/>
          <p:cNvSpPr txBox="1"/>
          <p:nvPr/>
        </p:nvSpPr>
        <p:spPr>
          <a:xfrm>
            <a:off x="466725" y="5663411"/>
            <a:ext cx="397192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 학습 Loss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5" name="Google Shape;275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21407" y="5673171"/>
            <a:ext cx="9408966" cy="305273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43"/>
          <p:cNvSpPr txBox="1"/>
          <p:nvPr/>
        </p:nvSpPr>
        <p:spPr>
          <a:xfrm>
            <a:off x="6108428" y="1885175"/>
            <a:ext cx="5712097" cy="2960554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230" l="-105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43"/>
          <p:cNvSpPr/>
          <p:nvPr/>
        </p:nvSpPr>
        <p:spPr>
          <a:xfrm>
            <a:off x="5962650" y="1797300"/>
            <a:ext cx="5753100" cy="3149835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8" name="Google Shape;278;p43"/>
          <p:cNvCxnSpPr/>
          <p:nvPr/>
        </p:nvCxnSpPr>
        <p:spPr>
          <a:xfrm>
            <a:off x="2847975" y="6054644"/>
            <a:ext cx="1771650" cy="0"/>
          </a:xfrm>
          <a:prstGeom prst="straightConnector1">
            <a:avLst/>
          </a:prstGeom>
          <a:noFill/>
          <a:ln cap="flat" cmpd="sng" w="19050">
            <a:solidFill>
              <a:srgbClr val="38562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9" name="Google Shape;279;p43"/>
          <p:cNvCxnSpPr/>
          <p:nvPr/>
        </p:nvCxnSpPr>
        <p:spPr>
          <a:xfrm>
            <a:off x="5629275" y="6054644"/>
            <a:ext cx="5901098" cy="0"/>
          </a:xfrm>
          <a:prstGeom prst="straightConnector1">
            <a:avLst/>
          </a:prstGeom>
          <a:noFill/>
          <a:ln cap="flat" cmpd="sng" w="19050">
            <a:solidFill>
              <a:srgbClr val="38562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0" name="Google Shape;280;p43"/>
          <p:cNvSpPr txBox="1"/>
          <p:nvPr/>
        </p:nvSpPr>
        <p:spPr>
          <a:xfrm>
            <a:off x="2353851" y="6079383"/>
            <a:ext cx="2891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기본 분류 성능 학습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(CE Loss)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43"/>
          <p:cNvSpPr txBox="1"/>
          <p:nvPr/>
        </p:nvSpPr>
        <p:spPr>
          <a:xfrm>
            <a:off x="5629274" y="6130845"/>
            <a:ext cx="590109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Grad-CAM이 실제 결함(mask) 부위에 주목하도록 유도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(KL Divergence Loss)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54"/>
          <p:cNvSpPr txBox="1"/>
          <p:nvPr>
            <p:ph idx="12" type="sldNum"/>
          </p:nvPr>
        </p:nvSpPr>
        <p:spPr>
          <a:xfrm>
            <a:off x="9248775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54"/>
          <p:cNvSpPr/>
          <p:nvPr/>
        </p:nvSpPr>
        <p:spPr>
          <a:xfrm flipH="1" rot="10800000">
            <a:off x="0" y="6710793"/>
            <a:ext cx="9566815" cy="147207"/>
          </a:xfrm>
          <a:custGeom>
            <a:rect b="b" l="l" r="r" t="t"/>
            <a:pathLst>
              <a:path extrusionOk="0" h="162560" w="15770225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54"/>
          <p:cNvSpPr/>
          <p:nvPr/>
        </p:nvSpPr>
        <p:spPr>
          <a:xfrm flipH="1" rot="10800000">
            <a:off x="9566760" y="6710218"/>
            <a:ext cx="2625240" cy="147782"/>
          </a:xfrm>
          <a:custGeom>
            <a:rect b="b" l="l" r="r" t="t"/>
            <a:pathLst>
              <a:path extrusionOk="0" h="163195" w="4327525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54"/>
          <p:cNvSpPr/>
          <p:nvPr/>
        </p:nvSpPr>
        <p:spPr>
          <a:xfrm>
            <a:off x="152400" y="879556"/>
            <a:ext cx="11912056" cy="60090"/>
          </a:xfrm>
          <a:custGeom>
            <a:rect b="b" l="l" r="r" t="t"/>
            <a:pathLst>
              <a:path extrusionOk="0" h="162560" w="15770225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54"/>
          <p:cNvSpPr txBox="1"/>
          <p:nvPr/>
        </p:nvSpPr>
        <p:spPr>
          <a:xfrm>
            <a:off x="217001" y="1140996"/>
            <a:ext cx="2915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제안 프레임워크</a:t>
            </a:r>
            <a:endParaRPr b="1" i="0" sz="1600" u="none" cap="none" strike="noStrike">
              <a:solidFill>
                <a:srgbClr val="275B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1" name="Google Shape;291;p54"/>
          <p:cNvSpPr txBox="1"/>
          <p:nvPr/>
        </p:nvSpPr>
        <p:spPr>
          <a:xfrm>
            <a:off x="217001" y="27846"/>
            <a:ext cx="842254" cy="816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75B29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1" i="0" sz="3600" u="none" cap="none" strike="noStrike">
              <a:solidFill>
                <a:srgbClr val="275B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54"/>
          <p:cNvSpPr txBox="1"/>
          <p:nvPr/>
        </p:nvSpPr>
        <p:spPr>
          <a:xfrm>
            <a:off x="834367" y="19569"/>
            <a:ext cx="4045449" cy="816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제안 방법</a:t>
            </a:r>
            <a:endParaRPr b="1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3" name="Google Shape;293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7001" y="1555020"/>
            <a:ext cx="5253640" cy="4039499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54"/>
          <p:cNvSpPr txBox="1"/>
          <p:nvPr/>
        </p:nvSpPr>
        <p:spPr>
          <a:xfrm>
            <a:off x="5629274" y="6130845"/>
            <a:ext cx="590109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Grad-CAM이 실제 결함(mask) 부위에 주목하도록 유도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(KL Divergence Loss)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4"/>
          <p:cNvSpPr txBox="1"/>
          <p:nvPr>
            <p:ph idx="12" type="sldNum"/>
          </p:nvPr>
        </p:nvSpPr>
        <p:spPr>
          <a:xfrm>
            <a:off x="9248775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0" name="Google Shape;300;p44"/>
          <p:cNvSpPr/>
          <p:nvPr/>
        </p:nvSpPr>
        <p:spPr>
          <a:xfrm flipH="1" rot="10800000">
            <a:off x="0" y="6710793"/>
            <a:ext cx="9566815" cy="147207"/>
          </a:xfrm>
          <a:custGeom>
            <a:rect b="b" l="l" r="r" t="t"/>
            <a:pathLst>
              <a:path extrusionOk="0" h="162560" w="15770225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1" name="Google Shape;301;p44"/>
          <p:cNvSpPr/>
          <p:nvPr/>
        </p:nvSpPr>
        <p:spPr>
          <a:xfrm flipH="1" rot="10800000">
            <a:off x="9566760" y="6710218"/>
            <a:ext cx="2625240" cy="147782"/>
          </a:xfrm>
          <a:custGeom>
            <a:rect b="b" l="l" r="r" t="t"/>
            <a:pathLst>
              <a:path extrusionOk="0" h="163195" w="4327525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2" name="Google Shape;302;p44"/>
          <p:cNvSpPr/>
          <p:nvPr/>
        </p:nvSpPr>
        <p:spPr>
          <a:xfrm>
            <a:off x="152400" y="879556"/>
            <a:ext cx="11912056" cy="60090"/>
          </a:xfrm>
          <a:custGeom>
            <a:rect b="b" l="l" r="r" t="t"/>
            <a:pathLst>
              <a:path extrusionOk="0" h="162560" w="15770225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3" name="Google Shape;303;p44"/>
          <p:cNvSpPr txBox="1"/>
          <p:nvPr/>
        </p:nvSpPr>
        <p:spPr>
          <a:xfrm>
            <a:off x="217001" y="27846"/>
            <a:ext cx="842254" cy="816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75B29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1" i="0" sz="3600" u="none" cap="none" strike="noStrike">
              <a:solidFill>
                <a:srgbClr val="275B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44"/>
          <p:cNvSpPr txBox="1"/>
          <p:nvPr/>
        </p:nvSpPr>
        <p:spPr>
          <a:xfrm>
            <a:off x="834367" y="19569"/>
            <a:ext cx="4045449" cy="816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실험</a:t>
            </a:r>
            <a:endParaRPr b="1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44"/>
          <p:cNvSpPr txBox="1"/>
          <p:nvPr/>
        </p:nvSpPr>
        <p:spPr>
          <a:xfrm>
            <a:off x="217001" y="1071078"/>
            <a:ext cx="2915498" cy="414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75B29"/>
                </a:solidFill>
                <a:latin typeface="Calibri"/>
                <a:ea typeface="Calibri"/>
                <a:cs typeface="Calibri"/>
                <a:sym typeface="Calibri"/>
              </a:rPr>
              <a:t>활용 데이터</a:t>
            </a:r>
            <a:endParaRPr b="1" i="0" sz="1600" u="none" cap="none" strike="noStrike">
              <a:solidFill>
                <a:srgbClr val="275B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44"/>
          <p:cNvSpPr txBox="1"/>
          <p:nvPr/>
        </p:nvSpPr>
        <p:spPr>
          <a:xfrm>
            <a:off x="377983" y="1502868"/>
            <a:ext cx="11355308" cy="7386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국내 제조 AI 기업의 모니터 D-SUB 커넥터의 제품 이미지 데이터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1개의 정상과 5개의 각기 다른 결함 종류가 포함되어 총 6개의 클래스 정보를 가짐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7" name="Google Shape;307;p44"/>
          <p:cNvSpPr txBox="1"/>
          <p:nvPr/>
        </p:nvSpPr>
        <p:spPr>
          <a:xfrm>
            <a:off x="4713737" y="5978444"/>
            <a:ext cx="278938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클래스 정보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8" name="Google Shape;308;p44"/>
          <p:cNvGrpSpPr/>
          <p:nvPr/>
        </p:nvGrpSpPr>
        <p:grpSpPr>
          <a:xfrm>
            <a:off x="6055637" y="3199366"/>
            <a:ext cx="5255415" cy="2301313"/>
            <a:chOff x="360539" y="4140882"/>
            <a:chExt cx="5255415" cy="2301313"/>
          </a:xfrm>
        </p:grpSpPr>
        <p:pic>
          <p:nvPicPr>
            <p:cNvPr id="309" name="Google Shape;309;p44"/>
            <p:cNvPicPr preferRelativeResize="0"/>
            <p:nvPr/>
          </p:nvPicPr>
          <p:blipFill rotWithShape="1">
            <a:blip r:embed="rId3">
              <a:alphaModFix/>
            </a:blip>
            <a:srcRect b="7860" l="68681" r="1716" t="49674"/>
            <a:stretch/>
          </p:blipFill>
          <p:spPr>
            <a:xfrm>
              <a:off x="3888433" y="5305523"/>
              <a:ext cx="1727521" cy="9196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0" name="Google Shape;310;p44"/>
            <p:cNvPicPr preferRelativeResize="0"/>
            <p:nvPr/>
          </p:nvPicPr>
          <p:blipFill rotWithShape="1">
            <a:blip r:embed="rId3">
              <a:alphaModFix/>
            </a:blip>
            <a:srcRect b="56101" l="0" r="70724" t="0"/>
            <a:stretch/>
          </p:blipFill>
          <p:spPr>
            <a:xfrm>
              <a:off x="360539" y="4140882"/>
              <a:ext cx="1708406" cy="9508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1" name="Google Shape;311;p44"/>
            <p:cNvPicPr preferRelativeResize="0"/>
            <p:nvPr/>
          </p:nvPicPr>
          <p:blipFill rotWithShape="1">
            <a:blip r:embed="rId3">
              <a:alphaModFix/>
            </a:blip>
            <a:srcRect b="6791" l="0" r="70724" t="49309"/>
            <a:stretch/>
          </p:blipFill>
          <p:spPr>
            <a:xfrm>
              <a:off x="360539" y="5289858"/>
              <a:ext cx="1708406" cy="9508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2" name="Google Shape;312;p44"/>
            <p:cNvPicPr preferRelativeResize="0"/>
            <p:nvPr/>
          </p:nvPicPr>
          <p:blipFill rotWithShape="1">
            <a:blip r:embed="rId3">
              <a:alphaModFix/>
            </a:blip>
            <a:srcRect b="56101" l="34340" r="36384" t="0"/>
            <a:stretch/>
          </p:blipFill>
          <p:spPr>
            <a:xfrm>
              <a:off x="2104444" y="4140882"/>
              <a:ext cx="1708406" cy="9508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3" name="Google Shape;313;p44"/>
            <p:cNvPicPr preferRelativeResize="0"/>
            <p:nvPr/>
          </p:nvPicPr>
          <p:blipFill rotWithShape="1">
            <a:blip r:embed="rId3">
              <a:alphaModFix/>
            </a:blip>
            <a:srcRect b="7260" l="34340" r="36384" t="48841"/>
            <a:stretch/>
          </p:blipFill>
          <p:spPr>
            <a:xfrm>
              <a:off x="2104444" y="5289858"/>
              <a:ext cx="1708406" cy="9508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4" name="Google Shape;314;p44"/>
            <p:cNvPicPr preferRelativeResize="0"/>
            <p:nvPr/>
          </p:nvPicPr>
          <p:blipFill rotWithShape="1">
            <a:blip r:embed="rId3">
              <a:alphaModFix/>
            </a:blip>
            <a:srcRect b="57326" l="68681" r="1716" t="983"/>
            <a:stretch/>
          </p:blipFill>
          <p:spPr>
            <a:xfrm>
              <a:off x="3888433" y="4140882"/>
              <a:ext cx="1727521" cy="9029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5" name="Google Shape;315;p44"/>
            <p:cNvSpPr txBox="1"/>
            <p:nvPr/>
          </p:nvSpPr>
          <p:spPr>
            <a:xfrm>
              <a:off x="953479" y="5040587"/>
              <a:ext cx="515865" cy="261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US" sz="1100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ok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" name="Google Shape;316;p44"/>
            <p:cNvSpPr txBox="1"/>
            <p:nvPr/>
          </p:nvSpPr>
          <p:spPr>
            <a:xfrm>
              <a:off x="953479" y="6180585"/>
              <a:ext cx="515865" cy="261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US" sz="1100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pin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" name="Google Shape;317;p44"/>
            <p:cNvSpPr txBox="1"/>
            <p:nvPr/>
          </p:nvSpPr>
          <p:spPr>
            <a:xfrm>
              <a:off x="2704045" y="6180585"/>
              <a:ext cx="515865" cy="261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US" sz="1100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dent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" name="Google Shape;318;p44"/>
            <p:cNvSpPr txBox="1"/>
            <p:nvPr/>
          </p:nvSpPr>
          <p:spPr>
            <a:xfrm>
              <a:off x="4490048" y="6180585"/>
              <a:ext cx="515865" cy="261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US" sz="1100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glue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Google Shape;319;p44"/>
            <p:cNvSpPr txBox="1"/>
            <p:nvPr/>
          </p:nvSpPr>
          <p:spPr>
            <a:xfrm>
              <a:off x="2489383" y="5044548"/>
              <a:ext cx="938528" cy="261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US" sz="1100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scratch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" name="Google Shape;320;p44"/>
            <p:cNvSpPr txBox="1"/>
            <p:nvPr/>
          </p:nvSpPr>
          <p:spPr>
            <a:xfrm>
              <a:off x="4292487" y="5028248"/>
              <a:ext cx="938528" cy="261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US" sz="11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fm</a:t>
              </a:r>
              <a:endParaRPr b="0" i="0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aphicFrame>
        <p:nvGraphicFramePr>
          <p:cNvPr id="321" name="Google Shape;321;p44"/>
          <p:cNvGraphicFramePr/>
          <p:nvPr/>
        </p:nvGraphicFramePr>
        <p:xfrm>
          <a:off x="628650" y="331337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{F81432E8-5E44-4741-85E4-307C110AF21B}</a:tableStyleId>
              </a:tblPr>
              <a:tblGrid>
                <a:gridCol w="1157950"/>
                <a:gridCol w="3789400"/>
              </a:tblGrid>
              <a:tr h="3061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Defect Meaning</a:t>
                      </a:r>
                      <a:endParaRPr sz="11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0725" marB="30725" marR="61450" marL="6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 hMerge="1"/>
              </a:tr>
              <a:tr h="306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Dent</a:t>
                      </a:r>
                      <a:endParaRPr sz="11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0725" marB="30725" marR="61450" marL="6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hollow on black surface </a:t>
                      </a:r>
                      <a:endParaRPr sz="1800" u="none" cap="none" strike="noStrike"/>
                    </a:p>
                  </a:txBody>
                  <a:tcPr marT="30725" marB="30725" marR="61450" marL="6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6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Scratch</a:t>
                      </a:r>
                      <a:endParaRPr sz="11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0725" marB="30725" marR="61450" marL="6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to scrape or dig on black surface by sharpness</a:t>
                      </a:r>
                      <a:endParaRPr sz="1800" u="none" cap="none" strike="noStrike"/>
                    </a:p>
                  </a:txBody>
                  <a:tcPr marT="30725" marB="30725" marR="61450" marL="6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6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Pin</a:t>
                      </a:r>
                      <a:endParaRPr sz="11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0725" marB="30725" marR="61450" marL="6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pin bent or deformed </a:t>
                      </a:r>
                      <a:endParaRPr sz="11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0725" marB="30725" marR="61450" marL="6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6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F.M</a:t>
                      </a:r>
                      <a:endParaRPr sz="11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0725" marB="30725" marR="61450" marL="6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foreign materials in pin hole </a:t>
                      </a:r>
                      <a:endParaRPr sz="1800" u="none" cap="none" strike="noStrike"/>
                    </a:p>
                  </a:txBody>
                  <a:tcPr marT="30725" marB="30725" marR="61450" marL="6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6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Glue</a:t>
                      </a:r>
                      <a:endParaRPr sz="11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0725" marB="30725" marR="61450" marL="6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something sticky on black surface</a:t>
                      </a:r>
                      <a:endParaRPr sz="11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0725" marB="30725" marR="61450" marL="6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5"/>
          <p:cNvSpPr txBox="1"/>
          <p:nvPr>
            <p:ph idx="12" type="sldNum"/>
          </p:nvPr>
        </p:nvSpPr>
        <p:spPr>
          <a:xfrm>
            <a:off x="9248775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7" name="Google Shape;327;p45"/>
          <p:cNvSpPr/>
          <p:nvPr/>
        </p:nvSpPr>
        <p:spPr>
          <a:xfrm flipH="1" rot="10800000">
            <a:off x="0" y="6710793"/>
            <a:ext cx="9566815" cy="147207"/>
          </a:xfrm>
          <a:custGeom>
            <a:rect b="b" l="l" r="r" t="t"/>
            <a:pathLst>
              <a:path extrusionOk="0" h="162560" w="15770225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8" name="Google Shape;328;p45"/>
          <p:cNvSpPr/>
          <p:nvPr/>
        </p:nvSpPr>
        <p:spPr>
          <a:xfrm flipH="1" rot="10800000">
            <a:off x="9566760" y="6710218"/>
            <a:ext cx="2625240" cy="147782"/>
          </a:xfrm>
          <a:custGeom>
            <a:rect b="b" l="l" r="r" t="t"/>
            <a:pathLst>
              <a:path extrusionOk="0" h="163195" w="4327525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9" name="Google Shape;329;p45"/>
          <p:cNvSpPr/>
          <p:nvPr/>
        </p:nvSpPr>
        <p:spPr>
          <a:xfrm>
            <a:off x="152400" y="879556"/>
            <a:ext cx="11912056" cy="60090"/>
          </a:xfrm>
          <a:custGeom>
            <a:rect b="b" l="l" r="r" t="t"/>
            <a:pathLst>
              <a:path extrusionOk="0" h="162560" w="15770225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0" name="Google Shape;330;p45"/>
          <p:cNvSpPr txBox="1"/>
          <p:nvPr/>
        </p:nvSpPr>
        <p:spPr>
          <a:xfrm>
            <a:off x="217001" y="27846"/>
            <a:ext cx="842254" cy="816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75B29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1" i="0" sz="3600" u="none" cap="none" strike="noStrike">
              <a:solidFill>
                <a:srgbClr val="275B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45"/>
          <p:cNvSpPr txBox="1"/>
          <p:nvPr/>
        </p:nvSpPr>
        <p:spPr>
          <a:xfrm>
            <a:off x="834367" y="19569"/>
            <a:ext cx="4045449" cy="816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실험</a:t>
            </a:r>
            <a:endParaRPr b="1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45"/>
          <p:cNvSpPr txBox="1"/>
          <p:nvPr/>
        </p:nvSpPr>
        <p:spPr>
          <a:xfrm>
            <a:off x="217001" y="1071078"/>
            <a:ext cx="2915498" cy="414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75B29"/>
                </a:solidFill>
                <a:latin typeface="Calibri"/>
                <a:ea typeface="Calibri"/>
                <a:cs typeface="Calibri"/>
                <a:sym typeface="Calibri"/>
              </a:rPr>
              <a:t>활용 데이터</a:t>
            </a:r>
            <a:endParaRPr b="1" i="0" sz="1600" u="none" cap="none" strike="noStrike">
              <a:solidFill>
                <a:srgbClr val="275B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45"/>
          <p:cNvSpPr txBox="1"/>
          <p:nvPr/>
        </p:nvSpPr>
        <p:spPr>
          <a:xfrm>
            <a:off x="377982" y="1502868"/>
            <a:ext cx="8327867" cy="13849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해당 데이터셋은 기본 환경(Default)에서 3종류의 환경(Color, Brightness, Focus) 변화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정도에 따라 다르게 촬영된 이미지로 구성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Default는 모두 동일한 초기 기본 환경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Default를 제외한 각 환경들은 환경이 변화하는 정도에 따라 4단계의 서브 조건을 가짐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334" name="Google Shape;334;p45"/>
          <p:cNvGrpSpPr/>
          <p:nvPr/>
        </p:nvGrpSpPr>
        <p:grpSpPr>
          <a:xfrm>
            <a:off x="641241" y="4403600"/>
            <a:ext cx="1944174" cy="1396378"/>
            <a:chOff x="765943" y="3986544"/>
            <a:chExt cx="1724411" cy="1238536"/>
          </a:xfrm>
        </p:grpSpPr>
        <p:pic>
          <p:nvPicPr>
            <p:cNvPr id="335" name="Google Shape;335;p45"/>
            <p:cNvPicPr preferRelativeResize="0"/>
            <p:nvPr/>
          </p:nvPicPr>
          <p:blipFill rotWithShape="1">
            <a:blip r:embed="rId3">
              <a:alphaModFix/>
            </a:blip>
            <a:srcRect b="32575" l="0" r="75153" t="44498"/>
            <a:stretch/>
          </p:blipFill>
          <p:spPr>
            <a:xfrm>
              <a:off x="765943" y="3986544"/>
              <a:ext cx="1724411" cy="10202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6" name="Google Shape;336;p45"/>
            <p:cNvSpPr txBox="1"/>
            <p:nvPr/>
          </p:nvSpPr>
          <p:spPr>
            <a:xfrm>
              <a:off x="1059255" y="4948081"/>
              <a:ext cx="109929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Default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7" name="Google Shape;337;p45"/>
          <p:cNvSpPr txBox="1"/>
          <p:nvPr/>
        </p:nvSpPr>
        <p:spPr>
          <a:xfrm>
            <a:off x="9790505" y="3835113"/>
            <a:ext cx="109929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Color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45"/>
          <p:cNvSpPr txBox="1"/>
          <p:nvPr/>
        </p:nvSpPr>
        <p:spPr>
          <a:xfrm>
            <a:off x="9790504" y="4824790"/>
            <a:ext cx="109929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Brightness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45"/>
          <p:cNvSpPr txBox="1"/>
          <p:nvPr/>
        </p:nvSpPr>
        <p:spPr>
          <a:xfrm>
            <a:off x="9784519" y="5809559"/>
            <a:ext cx="109929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Focus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40" name="Google Shape;340;p45"/>
          <p:cNvGraphicFramePr/>
          <p:nvPr/>
        </p:nvGraphicFramePr>
        <p:xfrm>
          <a:off x="7700563" y="129483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{F81432E8-5E44-4741-85E4-307C110AF21B}</a:tableStyleId>
              </a:tblPr>
              <a:tblGrid>
                <a:gridCol w="1021375"/>
                <a:gridCol w="3342500"/>
              </a:tblGrid>
              <a:tr h="2829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Environment Meaning</a:t>
                      </a:r>
                      <a:endParaRPr sz="11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0725" marB="30725" marR="61450" marL="6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 hMerge="1"/>
              </a:tr>
              <a:tr h="282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Color</a:t>
                      </a:r>
                      <a:endParaRPr sz="11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0725" marB="30725" marR="61450" marL="6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Change in the environment caused by light</a:t>
                      </a:r>
                      <a:endParaRPr sz="1800" u="none" cap="none" strike="noStrike"/>
                    </a:p>
                  </a:txBody>
                  <a:tcPr marT="30725" marB="30725" marR="61450" marL="6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2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Brightness</a:t>
                      </a:r>
                      <a:endParaRPr sz="11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0725" marB="30725" marR="61450" marL="6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Variation according to lighting brightness</a:t>
                      </a:r>
                      <a:endParaRPr sz="1800" u="none" cap="none" strike="noStrike"/>
                    </a:p>
                  </a:txBody>
                  <a:tcPr marT="30725" marB="30725" marR="61450" marL="6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2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Focus</a:t>
                      </a:r>
                      <a:endParaRPr sz="11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0725" marB="30725" marR="61450" marL="6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Changes due to camera focus shaking</a:t>
                      </a:r>
                      <a:endParaRPr sz="11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0725" marB="30725" marR="61450" marL="6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341" name="Google Shape;341;p45"/>
          <p:cNvPicPr preferRelativeResize="0"/>
          <p:nvPr/>
        </p:nvPicPr>
        <p:blipFill rotWithShape="1">
          <a:blip r:embed="rId4">
            <a:alphaModFix/>
          </a:blip>
          <a:srcRect b="1523" l="0" r="0" t="1522"/>
          <a:stretch/>
        </p:blipFill>
        <p:spPr>
          <a:xfrm>
            <a:off x="2893791" y="3532162"/>
            <a:ext cx="1636899" cy="892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45"/>
          <p:cNvPicPr preferRelativeResize="0"/>
          <p:nvPr/>
        </p:nvPicPr>
        <p:blipFill rotWithShape="1">
          <a:blip r:embed="rId5">
            <a:alphaModFix/>
          </a:blip>
          <a:srcRect b="1523" l="0" r="0" t="1522"/>
          <a:stretch/>
        </p:blipFill>
        <p:spPr>
          <a:xfrm>
            <a:off x="4572481" y="3532162"/>
            <a:ext cx="1636899" cy="892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45"/>
          <p:cNvPicPr preferRelativeResize="0"/>
          <p:nvPr/>
        </p:nvPicPr>
        <p:blipFill rotWithShape="1">
          <a:blip r:embed="rId6">
            <a:alphaModFix/>
          </a:blip>
          <a:srcRect b="1523" l="0" r="0" t="1522"/>
          <a:stretch/>
        </p:blipFill>
        <p:spPr>
          <a:xfrm>
            <a:off x="6251171" y="3532162"/>
            <a:ext cx="1636899" cy="892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45"/>
          <p:cNvPicPr preferRelativeResize="0"/>
          <p:nvPr/>
        </p:nvPicPr>
        <p:blipFill rotWithShape="1">
          <a:blip r:embed="rId7">
            <a:alphaModFix/>
          </a:blip>
          <a:srcRect b="1523" l="0" r="0" t="1522"/>
          <a:stretch/>
        </p:blipFill>
        <p:spPr>
          <a:xfrm>
            <a:off x="7929861" y="3532162"/>
            <a:ext cx="1636899" cy="892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45"/>
          <p:cNvPicPr preferRelativeResize="0"/>
          <p:nvPr/>
        </p:nvPicPr>
        <p:blipFill rotWithShape="1">
          <a:blip r:embed="rId8">
            <a:alphaModFix/>
          </a:blip>
          <a:srcRect b="1523" l="0" r="0" t="1522"/>
          <a:stretch/>
        </p:blipFill>
        <p:spPr>
          <a:xfrm>
            <a:off x="2893791" y="4532005"/>
            <a:ext cx="1636899" cy="892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45"/>
          <p:cNvPicPr preferRelativeResize="0"/>
          <p:nvPr/>
        </p:nvPicPr>
        <p:blipFill rotWithShape="1">
          <a:blip r:embed="rId9">
            <a:alphaModFix/>
          </a:blip>
          <a:srcRect b="1523" l="0" r="0" t="1522"/>
          <a:stretch/>
        </p:blipFill>
        <p:spPr>
          <a:xfrm>
            <a:off x="4572481" y="4532005"/>
            <a:ext cx="1636899" cy="892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45"/>
          <p:cNvPicPr preferRelativeResize="0"/>
          <p:nvPr/>
        </p:nvPicPr>
        <p:blipFill rotWithShape="1">
          <a:blip r:embed="rId10">
            <a:alphaModFix/>
          </a:blip>
          <a:srcRect b="1523" l="0" r="0" t="1522"/>
          <a:stretch/>
        </p:blipFill>
        <p:spPr>
          <a:xfrm>
            <a:off x="6251171" y="4532005"/>
            <a:ext cx="1636899" cy="892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45"/>
          <p:cNvPicPr preferRelativeResize="0"/>
          <p:nvPr/>
        </p:nvPicPr>
        <p:blipFill rotWithShape="1">
          <a:blip r:embed="rId11">
            <a:alphaModFix/>
          </a:blip>
          <a:srcRect b="1523" l="0" r="0" t="1522"/>
          <a:stretch/>
        </p:blipFill>
        <p:spPr>
          <a:xfrm>
            <a:off x="7929861" y="4532005"/>
            <a:ext cx="1636899" cy="892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45"/>
          <p:cNvPicPr preferRelativeResize="0"/>
          <p:nvPr/>
        </p:nvPicPr>
        <p:blipFill rotWithShape="1">
          <a:blip r:embed="rId12">
            <a:alphaModFix/>
          </a:blip>
          <a:srcRect b="1523" l="0" r="0" t="1522"/>
          <a:stretch/>
        </p:blipFill>
        <p:spPr>
          <a:xfrm>
            <a:off x="2893791" y="5531352"/>
            <a:ext cx="1636899" cy="892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45"/>
          <p:cNvPicPr preferRelativeResize="0"/>
          <p:nvPr/>
        </p:nvPicPr>
        <p:blipFill rotWithShape="1">
          <a:blip r:embed="rId13">
            <a:alphaModFix/>
          </a:blip>
          <a:srcRect b="1523" l="0" r="0" t="1522"/>
          <a:stretch/>
        </p:blipFill>
        <p:spPr>
          <a:xfrm>
            <a:off x="4572481" y="5531352"/>
            <a:ext cx="1636899" cy="892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45"/>
          <p:cNvPicPr preferRelativeResize="0"/>
          <p:nvPr/>
        </p:nvPicPr>
        <p:blipFill rotWithShape="1">
          <a:blip r:embed="rId14">
            <a:alphaModFix/>
          </a:blip>
          <a:srcRect b="1523" l="0" r="0" t="1522"/>
          <a:stretch/>
        </p:blipFill>
        <p:spPr>
          <a:xfrm>
            <a:off x="6251171" y="5531352"/>
            <a:ext cx="1636899" cy="892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45"/>
          <p:cNvPicPr preferRelativeResize="0"/>
          <p:nvPr/>
        </p:nvPicPr>
        <p:blipFill rotWithShape="1">
          <a:blip r:embed="rId15">
            <a:alphaModFix/>
          </a:blip>
          <a:srcRect b="1523" l="0" r="0" t="1522"/>
          <a:stretch/>
        </p:blipFill>
        <p:spPr>
          <a:xfrm>
            <a:off x="7929861" y="5531352"/>
            <a:ext cx="1636899" cy="892718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45"/>
          <p:cNvSpPr txBox="1"/>
          <p:nvPr/>
        </p:nvSpPr>
        <p:spPr>
          <a:xfrm>
            <a:off x="3193295" y="3311147"/>
            <a:ext cx="103789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1단계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45"/>
          <p:cNvSpPr txBox="1"/>
          <p:nvPr/>
        </p:nvSpPr>
        <p:spPr>
          <a:xfrm>
            <a:off x="4871985" y="3311147"/>
            <a:ext cx="103789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2단계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45"/>
          <p:cNvSpPr txBox="1"/>
          <p:nvPr/>
        </p:nvSpPr>
        <p:spPr>
          <a:xfrm>
            <a:off x="6550675" y="3311147"/>
            <a:ext cx="103789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3단계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45"/>
          <p:cNvSpPr txBox="1"/>
          <p:nvPr/>
        </p:nvSpPr>
        <p:spPr>
          <a:xfrm>
            <a:off x="8229365" y="3311147"/>
            <a:ext cx="103789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4단계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45"/>
          <p:cNvSpPr txBox="1"/>
          <p:nvPr/>
        </p:nvSpPr>
        <p:spPr>
          <a:xfrm>
            <a:off x="2893792" y="2958168"/>
            <a:ext cx="6672968" cy="31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※ 총 13개의 도메인(Default + Color, Brightness, Focus 마다 4개) 존재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6"/>
          <p:cNvSpPr txBox="1"/>
          <p:nvPr>
            <p:ph idx="12" type="sldNum"/>
          </p:nvPr>
        </p:nvSpPr>
        <p:spPr>
          <a:xfrm>
            <a:off x="9248775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3" name="Google Shape;363;p46"/>
          <p:cNvSpPr/>
          <p:nvPr/>
        </p:nvSpPr>
        <p:spPr>
          <a:xfrm flipH="1" rot="10800000">
            <a:off x="0" y="6710793"/>
            <a:ext cx="9566815" cy="147207"/>
          </a:xfrm>
          <a:custGeom>
            <a:rect b="b" l="l" r="r" t="t"/>
            <a:pathLst>
              <a:path extrusionOk="0" h="162560" w="15770225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4" name="Google Shape;364;p46"/>
          <p:cNvSpPr/>
          <p:nvPr/>
        </p:nvSpPr>
        <p:spPr>
          <a:xfrm flipH="1" rot="10800000">
            <a:off x="9566760" y="6710218"/>
            <a:ext cx="2625240" cy="147782"/>
          </a:xfrm>
          <a:custGeom>
            <a:rect b="b" l="l" r="r" t="t"/>
            <a:pathLst>
              <a:path extrusionOk="0" h="163195" w="4327525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5" name="Google Shape;365;p46"/>
          <p:cNvSpPr/>
          <p:nvPr/>
        </p:nvSpPr>
        <p:spPr>
          <a:xfrm>
            <a:off x="152400" y="879556"/>
            <a:ext cx="11912056" cy="60090"/>
          </a:xfrm>
          <a:custGeom>
            <a:rect b="b" l="l" r="r" t="t"/>
            <a:pathLst>
              <a:path extrusionOk="0" h="162560" w="15770225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6" name="Google Shape;366;p46"/>
          <p:cNvSpPr txBox="1"/>
          <p:nvPr/>
        </p:nvSpPr>
        <p:spPr>
          <a:xfrm>
            <a:off x="217001" y="27846"/>
            <a:ext cx="842254" cy="816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75B29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1" i="0" sz="3600" u="none" cap="none" strike="noStrike">
              <a:solidFill>
                <a:srgbClr val="275B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46"/>
          <p:cNvSpPr txBox="1"/>
          <p:nvPr/>
        </p:nvSpPr>
        <p:spPr>
          <a:xfrm>
            <a:off x="834367" y="19569"/>
            <a:ext cx="4045449" cy="816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실험</a:t>
            </a:r>
            <a:endParaRPr b="1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46"/>
          <p:cNvSpPr txBox="1"/>
          <p:nvPr/>
        </p:nvSpPr>
        <p:spPr>
          <a:xfrm>
            <a:off x="217001" y="1071078"/>
            <a:ext cx="2915498" cy="414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75B29"/>
                </a:solidFill>
                <a:latin typeface="Calibri"/>
                <a:ea typeface="Calibri"/>
                <a:cs typeface="Calibri"/>
                <a:sym typeface="Calibri"/>
              </a:rPr>
              <a:t>실험 설정</a:t>
            </a:r>
            <a:endParaRPr b="1" i="0" sz="1600" u="none" cap="none" strike="noStrike">
              <a:solidFill>
                <a:srgbClr val="275B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46"/>
          <p:cNvSpPr txBox="1"/>
          <p:nvPr/>
        </p:nvSpPr>
        <p:spPr>
          <a:xfrm>
            <a:off x="377983" y="1502868"/>
            <a:ext cx="11355308" cy="235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Backbone Network : ResNet-101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Optimizer : SGD(lr=0.01, momentum=0.9, weight decay=0.0005)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Scheduler : Cosine Annealing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Batch size : 32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Epochs : 100 (제안하는 방법 : 50 epoch 동안 warm up / 이후 train 진행)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평가지표 : AUROC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3회 반복 실험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"/>
          <p:cNvSpPr txBox="1"/>
          <p:nvPr>
            <p:ph idx="12" type="sldNum"/>
          </p:nvPr>
        </p:nvSpPr>
        <p:spPr>
          <a:xfrm>
            <a:off x="9248775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5" name="Google Shape;375;p1"/>
          <p:cNvSpPr/>
          <p:nvPr/>
        </p:nvSpPr>
        <p:spPr>
          <a:xfrm flipH="1" rot="10800000">
            <a:off x="0" y="6710793"/>
            <a:ext cx="9566815" cy="147207"/>
          </a:xfrm>
          <a:custGeom>
            <a:rect b="b" l="l" r="r" t="t"/>
            <a:pathLst>
              <a:path extrusionOk="0" h="162560" w="15770225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6" name="Google Shape;376;p1"/>
          <p:cNvSpPr/>
          <p:nvPr/>
        </p:nvSpPr>
        <p:spPr>
          <a:xfrm flipH="1" rot="10800000">
            <a:off x="9566760" y="6710218"/>
            <a:ext cx="2625240" cy="147782"/>
          </a:xfrm>
          <a:custGeom>
            <a:rect b="b" l="l" r="r" t="t"/>
            <a:pathLst>
              <a:path extrusionOk="0" h="163195" w="4327525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7" name="Google Shape;377;p1"/>
          <p:cNvSpPr/>
          <p:nvPr/>
        </p:nvSpPr>
        <p:spPr>
          <a:xfrm>
            <a:off x="152400" y="879556"/>
            <a:ext cx="11912056" cy="60090"/>
          </a:xfrm>
          <a:custGeom>
            <a:rect b="b" l="l" r="r" t="t"/>
            <a:pathLst>
              <a:path extrusionOk="0" h="162560" w="15770225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8" name="Google Shape;378;p1"/>
          <p:cNvSpPr txBox="1"/>
          <p:nvPr/>
        </p:nvSpPr>
        <p:spPr>
          <a:xfrm>
            <a:off x="217001" y="27846"/>
            <a:ext cx="842254" cy="816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75B29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1" i="0" sz="3600" u="none" cap="none" strike="noStrike">
              <a:solidFill>
                <a:srgbClr val="275B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"/>
          <p:cNvSpPr txBox="1"/>
          <p:nvPr/>
        </p:nvSpPr>
        <p:spPr>
          <a:xfrm>
            <a:off x="834367" y="19569"/>
            <a:ext cx="4045449" cy="816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실험</a:t>
            </a:r>
            <a:endParaRPr b="1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"/>
          <p:cNvSpPr txBox="1"/>
          <p:nvPr/>
        </p:nvSpPr>
        <p:spPr>
          <a:xfrm>
            <a:off x="217001" y="1047278"/>
            <a:ext cx="2915498" cy="461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75B29"/>
                </a:solidFill>
                <a:latin typeface="Calibri"/>
                <a:ea typeface="Calibri"/>
                <a:cs typeface="Calibri"/>
                <a:sym typeface="Calibri"/>
              </a:rPr>
              <a:t>실험 설정</a:t>
            </a:r>
            <a:endParaRPr b="1" i="0" sz="1600" u="none" cap="none" strike="noStrike">
              <a:solidFill>
                <a:srgbClr val="275B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"/>
          <p:cNvSpPr txBox="1"/>
          <p:nvPr/>
        </p:nvSpPr>
        <p:spPr>
          <a:xfrm>
            <a:off x="377983" y="1502868"/>
            <a:ext cx="11355308" cy="3647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ResNet101 :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기본적인 이미지 분류용 모델로,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별도의 attention이나 mask supervision 없이 전체 이미지를 입력으로 학습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ResNet101 + TENT : ResNet101에 TENT 적용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968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MGANet :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mask 기반 attention map 학습 후, fine-grained classification을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수행하는 attention guided classification 방법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MGANet + TENT : MGANet 에 TENT 적용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968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Ours : Grad-CAM과 mask 정렬 기반 단일 네트워크 모델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Ours + TENT / EATA / DeYO : 제안하는 방법에 다양한 TTA 방법 적용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968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82" name="Google Shape;382;p1"/>
          <p:cNvGraphicFramePr/>
          <p:nvPr/>
        </p:nvGraphicFramePr>
        <p:xfrm>
          <a:off x="6848475" y="139628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{FB93FD02-0907-47E2-BC64-8514076B7ED1}</a:tableStyleId>
              </a:tblPr>
              <a:tblGrid>
                <a:gridCol w="1221200"/>
                <a:gridCol w="1221200"/>
                <a:gridCol w="1300750"/>
                <a:gridCol w="1141675"/>
              </a:tblGrid>
              <a:tr h="430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모델</a:t>
                      </a:r>
                      <a:endParaRPr sz="16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Fine-grained 사용</a:t>
                      </a:r>
                      <a:endParaRPr sz="16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TTA 적용 여부</a:t>
                      </a:r>
                      <a:endParaRPr sz="16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TTA 방식</a:t>
                      </a:r>
                      <a:endParaRPr sz="16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</a:tr>
              <a:tr h="430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ResNet101</a:t>
                      </a:r>
                      <a:b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(No TTA)</a:t>
                      </a:r>
                      <a:endParaRPr sz="16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X</a:t>
                      </a:r>
                      <a:endParaRPr sz="105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X</a:t>
                      </a:r>
                      <a:endParaRPr sz="105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 sz="16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31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ResNet101</a:t>
                      </a:r>
                      <a:b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+ TENT</a:t>
                      </a:r>
                      <a:endParaRPr sz="16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X</a:t>
                      </a:r>
                      <a:endParaRPr sz="105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</a:t>
                      </a:r>
                      <a:endParaRPr sz="105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TENT</a:t>
                      </a:r>
                      <a:endParaRPr sz="16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31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MGANet</a:t>
                      </a:r>
                      <a:b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(No TTA)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X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 sz="16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31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MGANet</a:t>
                      </a:r>
                      <a:b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+ TENT</a:t>
                      </a:r>
                      <a:endParaRPr sz="16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</a:t>
                      </a:r>
                      <a:endParaRPr sz="105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TENT</a:t>
                      </a:r>
                      <a:endParaRPr sz="16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31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Ours (No TTA)</a:t>
                      </a:r>
                      <a:endParaRPr sz="16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</a:t>
                      </a:r>
                      <a:endParaRPr sz="105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X</a:t>
                      </a:r>
                      <a:endParaRPr sz="105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 sz="16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31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Ours + TENT</a:t>
                      </a:r>
                      <a:endParaRPr sz="16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</a:t>
                      </a:r>
                      <a:endParaRPr sz="105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</a:t>
                      </a:r>
                      <a:endParaRPr sz="105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TENT</a:t>
                      </a:r>
                      <a:endParaRPr sz="16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31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Ours + EATA</a:t>
                      </a:r>
                      <a:endParaRPr sz="16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</a:t>
                      </a:r>
                      <a:endParaRPr sz="105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</a:t>
                      </a:r>
                      <a:endParaRPr sz="105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EATA</a:t>
                      </a:r>
                      <a:endParaRPr sz="16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31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Ours + DeYO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</a:t>
                      </a:r>
                      <a:endParaRPr sz="105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</a:t>
                      </a:r>
                      <a:endParaRPr sz="105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DeYO</a:t>
                      </a:r>
                      <a:endParaRPr sz="105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7"/>
          <p:cNvSpPr txBox="1"/>
          <p:nvPr>
            <p:ph idx="12" type="sldNum"/>
          </p:nvPr>
        </p:nvSpPr>
        <p:spPr>
          <a:xfrm>
            <a:off x="9248775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8" name="Google Shape;388;p47"/>
          <p:cNvSpPr/>
          <p:nvPr/>
        </p:nvSpPr>
        <p:spPr>
          <a:xfrm flipH="1" rot="10800000">
            <a:off x="0" y="6710793"/>
            <a:ext cx="9566815" cy="147207"/>
          </a:xfrm>
          <a:custGeom>
            <a:rect b="b" l="l" r="r" t="t"/>
            <a:pathLst>
              <a:path extrusionOk="0" h="162560" w="15770225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9" name="Google Shape;389;p47"/>
          <p:cNvSpPr/>
          <p:nvPr/>
        </p:nvSpPr>
        <p:spPr>
          <a:xfrm flipH="1" rot="10800000">
            <a:off x="9566760" y="6710218"/>
            <a:ext cx="2625240" cy="147782"/>
          </a:xfrm>
          <a:custGeom>
            <a:rect b="b" l="l" r="r" t="t"/>
            <a:pathLst>
              <a:path extrusionOk="0" h="163195" w="4327525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0" name="Google Shape;390;p47"/>
          <p:cNvSpPr/>
          <p:nvPr/>
        </p:nvSpPr>
        <p:spPr>
          <a:xfrm>
            <a:off x="152400" y="879556"/>
            <a:ext cx="11912056" cy="60090"/>
          </a:xfrm>
          <a:custGeom>
            <a:rect b="b" l="l" r="r" t="t"/>
            <a:pathLst>
              <a:path extrusionOk="0" h="162560" w="15770225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1" name="Google Shape;391;p47"/>
          <p:cNvSpPr txBox="1"/>
          <p:nvPr/>
        </p:nvSpPr>
        <p:spPr>
          <a:xfrm>
            <a:off x="217001" y="27846"/>
            <a:ext cx="842254" cy="816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75B29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1" i="0" sz="3600" u="none" cap="none" strike="noStrike">
              <a:solidFill>
                <a:srgbClr val="275B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47"/>
          <p:cNvSpPr txBox="1"/>
          <p:nvPr/>
        </p:nvSpPr>
        <p:spPr>
          <a:xfrm>
            <a:off x="834367" y="19569"/>
            <a:ext cx="4045449" cy="816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실험</a:t>
            </a:r>
            <a:endParaRPr b="1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47"/>
          <p:cNvSpPr txBox="1"/>
          <p:nvPr/>
        </p:nvSpPr>
        <p:spPr>
          <a:xfrm>
            <a:off x="217001" y="1071078"/>
            <a:ext cx="2915498" cy="414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75B29"/>
                </a:solidFill>
                <a:latin typeface="Calibri"/>
                <a:ea typeface="Calibri"/>
                <a:cs typeface="Calibri"/>
                <a:sym typeface="Calibri"/>
              </a:rPr>
              <a:t>실험 결과</a:t>
            </a:r>
            <a:endParaRPr b="1" i="0" sz="1600" u="none" cap="none" strike="noStrike">
              <a:solidFill>
                <a:srgbClr val="275B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94" name="Google Shape;394;p47"/>
          <p:cNvGraphicFramePr/>
          <p:nvPr/>
        </p:nvGraphicFramePr>
        <p:xfrm>
          <a:off x="350192" y="157047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{FAD6F6BA-E1E8-48C8-B97D-FBCC41438427}</a:tableStyleId>
              </a:tblPr>
              <a:tblGrid>
                <a:gridCol w="1141100"/>
                <a:gridCol w="1277400"/>
                <a:gridCol w="1359100"/>
                <a:gridCol w="1259200"/>
                <a:gridCol w="1259200"/>
                <a:gridCol w="1259200"/>
                <a:gridCol w="1259200"/>
                <a:gridCol w="1259200"/>
                <a:gridCol w="1259200"/>
              </a:tblGrid>
              <a:tr h="347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Auroc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Resnet101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Resnet101+TENT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MGANet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MGANet + TENT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Ours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Ours+TENT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Ours+EATA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Ours+DeYO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1EFD8"/>
                    </a:solidFill>
                  </a:tcPr>
                </a:tc>
              </a:tr>
              <a:tr h="347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 drift</a:t>
                      </a:r>
                      <a:endParaRPr b="1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0.9236±0.0169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 anchor="ctr"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0.9385±0.0061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-US" sz="1100" u="sng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0.9442 ± 0.0073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b="0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b="0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b="0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47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Color 0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0.8869±0.0194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0.9161±0.0259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 anchor="ctr"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0.9494±0.0114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0.9159±0.0058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0.9388 ± 0.0196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0.9583 ± 0.0109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-US" sz="1100" u="sng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0.9583 ± 0.0108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0.9556 ± 0.0130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47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Color 1</a:t>
                      </a:r>
                      <a:endParaRPr b="1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0.9008±0.0185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0.9271±0.0106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 anchor="ctr"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0.9294±0.0082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0.9238±0.0066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0.9422 ± 0.0065</a:t>
                      </a:r>
                      <a:endParaRPr b="0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0.9506 ± 0.0056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-US" sz="1100" u="sng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0.9528 ± 0.0085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0.9520 ± 0.0092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47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Color 2</a:t>
                      </a:r>
                      <a:endParaRPr b="1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0.8397±0.0328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0.9305±0.0211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 anchor="ctr"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0.8429±0.0198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0.9031±0.0056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0.9317 ± 0.0220</a:t>
                      </a:r>
                      <a:endParaRPr b="0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0.9509 ± 0.0047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-US" sz="1100" u="sng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0.9522 ± 0.0066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0.9516 ± 0.0075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47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Color 3</a:t>
                      </a:r>
                      <a:endParaRPr b="1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0.8132±0.0598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0.9183±0.0135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 anchor="ctr"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0.8600±0.0044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0.9245±0.0072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0.9425 ± 0.0142</a:t>
                      </a:r>
                      <a:endParaRPr b="0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0.9484 ± 0.0052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-US" sz="1100" u="sng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0.9509 ± 0.0068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0.9494 ± 0.0073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47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Brightness 0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0.8084±0.0346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0.9017±0.0282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 anchor="ctr"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0.8168±0.0115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0.8727±0.0118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0.9140 ± 0.0023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0.9405 ± 0.0040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0.9463 ± 0.0110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-US" sz="1100" u="sng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0.9465 ± 0.0115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47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Brightness 1</a:t>
                      </a:r>
                      <a:endParaRPr b="1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0.8694±0.0201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0.9124±0.0231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 anchor="ctr"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0.8866±0.0006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0.8928±0.0139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0.9282 ± 0.0033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0.9456 ± 0.0019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sng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0.9497 ± 0.0095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0.9484 ± 0.0107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47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Brightness 2</a:t>
                      </a:r>
                      <a:endParaRPr b="1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0.7253±0.1077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0.9319±0.0117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 anchor="ctr"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0.8531±0.0059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0.8994±0.0044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0.9402 ± 0.0077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0.9463 ± 0.0049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sng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0.9486 ± 0.0052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0.9479 ± 0.0054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47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Brightness 3</a:t>
                      </a:r>
                      <a:endParaRPr b="1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0.5032±0.0071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0.9127±0.0254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 anchor="ctr"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0.5048±0.0036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0.8344±0.0061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0.8620 ± 0.0460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0.9354 ± 0.0058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sng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0.9404 ± 0.0049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0.9376 ± 0.0067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47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Focus 0</a:t>
                      </a:r>
                      <a:endParaRPr b="1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0.8774±0.0442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0.9084±0.0318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 anchor="ctr"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0.8178±0.1206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0.9101±0.0308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0.9404 ± 0.0063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0.9433 ± 0.0086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sng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0.9486 ± 0.0064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0.9464 ± 0.0064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47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Focus 1</a:t>
                      </a:r>
                      <a:endParaRPr b="1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0.9136±0.0231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0.9177±0.0156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 anchor="ctr"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0.9227±0.0136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0.9147±0.0110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-US" sz="1100" u="sng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0.9526 ± 0.0093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0.9500 ± 0.0087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0.9522 ± 0.0067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0.9512 ± 0.0084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47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Focus 2</a:t>
                      </a:r>
                      <a:endParaRPr b="1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0.8822±0.0534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0.9010±0.0373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 anchor="ctr"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0.9164±0.0194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0.9221±0.0010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0.9204 ± 0.0074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0.9343 ± 0.0021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-US" sz="1100" u="sng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0.9393 ± 0.0017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0.9376 ± 0.0010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47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Focus 3</a:t>
                      </a:r>
                      <a:endParaRPr b="1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0.7922±0.1121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 anchor="ctr"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0.8499±0.0423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 anchor="ctr"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0.8509±0.0198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0.8643±0.0301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0.9092 ± 0.0080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0.9169 ± 0.0031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-US" sz="1100" u="sng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0.9194 ± 0.0040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0.9171 ± 0.0035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8"/>
          <p:cNvSpPr txBox="1"/>
          <p:nvPr>
            <p:ph idx="12" type="sldNum"/>
          </p:nvPr>
        </p:nvSpPr>
        <p:spPr>
          <a:xfrm>
            <a:off x="9248775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1" name="Google Shape;401;p48"/>
          <p:cNvSpPr/>
          <p:nvPr/>
        </p:nvSpPr>
        <p:spPr>
          <a:xfrm flipH="1" rot="10800000">
            <a:off x="0" y="6710793"/>
            <a:ext cx="9566815" cy="147207"/>
          </a:xfrm>
          <a:custGeom>
            <a:rect b="b" l="l" r="r" t="t"/>
            <a:pathLst>
              <a:path extrusionOk="0" h="162560" w="15770225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2" name="Google Shape;402;p48"/>
          <p:cNvSpPr/>
          <p:nvPr/>
        </p:nvSpPr>
        <p:spPr>
          <a:xfrm flipH="1" rot="10800000">
            <a:off x="9566760" y="6710218"/>
            <a:ext cx="2625240" cy="147782"/>
          </a:xfrm>
          <a:custGeom>
            <a:rect b="b" l="l" r="r" t="t"/>
            <a:pathLst>
              <a:path extrusionOk="0" h="163195" w="4327525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3" name="Google Shape;403;p48"/>
          <p:cNvSpPr/>
          <p:nvPr/>
        </p:nvSpPr>
        <p:spPr>
          <a:xfrm>
            <a:off x="152400" y="879556"/>
            <a:ext cx="11912056" cy="60090"/>
          </a:xfrm>
          <a:custGeom>
            <a:rect b="b" l="l" r="r" t="t"/>
            <a:pathLst>
              <a:path extrusionOk="0" h="162560" w="15770225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4" name="Google Shape;404;p48"/>
          <p:cNvSpPr txBox="1"/>
          <p:nvPr/>
        </p:nvSpPr>
        <p:spPr>
          <a:xfrm>
            <a:off x="217001" y="27846"/>
            <a:ext cx="842254" cy="816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75B29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1" i="0" sz="3600" u="none" cap="none" strike="noStrike">
              <a:solidFill>
                <a:srgbClr val="275B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48"/>
          <p:cNvSpPr txBox="1"/>
          <p:nvPr/>
        </p:nvSpPr>
        <p:spPr>
          <a:xfrm>
            <a:off x="834367" y="19569"/>
            <a:ext cx="4045449" cy="816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실험</a:t>
            </a:r>
            <a:endParaRPr b="1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48"/>
          <p:cNvSpPr txBox="1"/>
          <p:nvPr/>
        </p:nvSpPr>
        <p:spPr>
          <a:xfrm>
            <a:off x="217001" y="1071078"/>
            <a:ext cx="5149326" cy="414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75B29"/>
                </a:solidFill>
                <a:latin typeface="Calibri"/>
                <a:ea typeface="Calibri"/>
                <a:cs typeface="Calibri"/>
                <a:sym typeface="Calibri"/>
              </a:rPr>
              <a:t>Adaptation 전후 CAM 성능 비교</a:t>
            </a:r>
            <a:endParaRPr b="1" i="0" sz="1600" u="none" cap="none" strike="noStrike">
              <a:solidFill>
                <a:srgbClr val="275B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텍스트, 램프, 네온, 다채로움이(가) 표시된 사진&#10;&#10;AI가 생성한 콘텐츠는 부정확할 수 있습니다." id="407" name="Google Shape;407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85351" y="2112180"/>
            <a:ext cx="1046159" cy="6827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텍스트, 다채로움, 램프, 네온이(가) 표시된 사진&#10;&#10;AI가 생성한 콘텐츠는 부정확할 수 있습니다." id="408" name="Google Shape;408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32096" y="2112180"/>
            <a:ext cx="1046159" cy="6827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다채로움, 네온, 램프, 그래픽이(가) 표시된 사진&#10;&#10;AI가 생성한 콘텐츠는 부정확할 수 있습니다." id="409" name="Google Shape;409;p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84679" y="2112180"/>
            <a:ext cx="1046159" cy="6827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텍스트, 다채로움, 램프, 네온이(가) 표시된 사진&#10;&#10;AI가 생성한 콘텐츠는 부정확할 수 있습니다." id="410" name="Google Shape;410;p4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31425" y="2112180"/>
            <a:ext cx="1046159" cy="682721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48"/>
          <p:cNvSpPr txBox="1"/>
          <p:nvPr/>
        </p:nvSpPr>
        <p:spPr>
          <a:xfrm>
            <a:off x="3845372" y="2297230"/>
            <a:ext cx="160712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Adaptation 이후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2" name="Google Shape;412;p4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585349" y="1342227"/>
            <a:ext cx="1046159" cy="682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4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32095" y="1342227"/>
            <a:ext cx="1046159" cy="682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4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884678" y="1342227"/>
            <a:ext cx="1046159" cy="682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4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031424" y="1342227"/>
            <a:ext cx="1046159" cy="682721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48"/>
          <p:cNvSpPr txBox="1"/>
          <p:nvPr/>
        </p:nvSpPr>
        <p:spPr>
          <a:xfrm>
            <a:off x="3845372" y="1500184"/>
            <a:ext cx="160712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Adaptation 이전</a:t>
            </a:r>
            <a:b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(domain shift)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7" name="Google Shape;417;p4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585348" y="3777446"/>
            <a:ext cx="1046159" cy="682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4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732093" y="3774265"/>
            <a:ext cx="1046158" cy="685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4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884676" y="3774265"/>
            <a:ext cx="1046158" cy="685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4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031422" y="3774265"/>
            <a:ext cx="1046158" cy="685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48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585349" y="3012952"/>
            <a:ext cx="1046159" cy="682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48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732095" y="3012952"/>
            <a:ext cx="1046159" cy="682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48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7884678" y="3012952"/>
            <a:ext cx="1046159" cy="682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48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9031424" y="3012952"/>
            <a:ext cx="1046159" cy="682721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48"/>
          <p:cNvSpPr txBox="1"/>
          <p:nvPr/>
        </p:nvSpPr>
        <p:spPr>
          <a:xfrm>
            <a:off x="3845372" y="3946825"/>
            <a:ext cx="160712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Adaptation 이후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48"/>
          <p:cNvSpPr txBox="1"/>
          <p:nvPr/>
        </p:nvSpPr>
        <p:spPr>
          <a:xfrm>
            <a:off x="3845372" y="3155238"/>
            <a:ext cx="160712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Adaptation 이전</a:t>
            </a:r>
            <a:b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(domain shift)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48"/>
          <p:cNvSpPr txBox="1"/>
          <p:nvPr/>
        </p:nvSpPr>
        <p:spPr>
          <a:xfrm>
            <a:off x="5961503" y="1129716"/>
            <a:ext cx="32813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48"/>
          <p:cNvSpPr txBox="1"/>
          <p:nvPr/>
        </p:nvSpPr>
        <p:spPr>
          <a:xfrm>
            <a:off x="7091104" y="1129716"/>
            <a:ext cx="32813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48"/>
          <p:cNvSpPr txBox="1"/>
          <p:nvPr/>
        </p:nvSpPr>
        <p:spPr>
          <a:xfrm>
            <a:off x="8243687" y="1129716"/>
            <a:ext cx="32813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48"/>
          <p:cNvSpPr txBox="1"/>
          <p:nvPr/>
        </p:nvSpPr>
        <p:spPr>
          <a:xfrm>
            <a:off x="9373288" y="1129716"/>
            <a:ext cx="32813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48"/>
          <p:cNvSpPr txBox="1"/>
          <p:nvPr/>
        </p:nvSpPr>
        <p:spPr>
          <a:xfrm>
            <a:off x="9882899" y="1914413"/>
            <a:ext cx="182688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Focus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48"/>
          <p:cNvSpPr txBox="1"/>
          <p:nvPr/>
        </p:nvSpPr>
        <p:spPr>
          <a:xfrm>
            <a:off x="10087693" y="3691035"/>
            <a:ext cx="15478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Color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3" name="Google Shape;433;p48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5585348" y="5494208"/>
            <a:ext cx="1046159" cy="682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48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6732093" y="5494208"/>
            <a:ext cx="1046159" cy="682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48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7884676" y="5494208"/>
            <a:ext cx="1046159" cy="682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48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9031422" y="5494208"/>
            <a:ext cx="1046159" cy="682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48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5585349" y="4732895"/>
            <a:ext cx="1046158" cy="682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48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6732095" y="4732895"/>
            <a:ext cx="1046158" cy="682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48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7884678" y="4732895"/>
            <a:ext cx="1046158" cy="682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48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9031424" y="4732895"/>
            <a:ext cx="1046158" cy="682721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48"/>
          <p:cNvSpPr txBox="1"/>
          <p:nvPr/>
        </p:nvSpPr>
        <p:spPr>
          <a:xfrm>
            <a:off x="3845372" y="5714063"/>
            <a:ext cx="160712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Adaptation 이후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48"/>
          <p:cNvSpPr txBox="1"/>
          <p:nvPr/>
        </p:nvSpPr>
        <p:spPr>
          <a:xfrm>
            <a:off x="3845372" y="4925657"/>
            <a:ext cx="160712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Adaptation 이전</a:t>
            </a:r>
            <a:b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(domain shift)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48"/>
          <p:cNvSpPr txBox="1"/>
          <p:nvPr/>
        </p:nvSpPr>
        <p:spPr>
          <a:xfrm>
            <a:off x="10060546" y="5306748"/>
            <a:ext cx="15478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Brightness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금속, 번호이(가) 표시된 사진&#10;&#10;AI가 생성한 콘텐츠는 부정확할 수 있습니다." id="444" name="Google Shape;444;p48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592900" y="2730653"/>
            <a:ext cx="3043031" cy="1711705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48"/>
          <p:cNvSpPr txBox="1"/>
          <p:nvPr/>
        </p:nvSpPr>
        <p:spPr>
          <a:xfrm>
            <a:off x="1059255" y="4569788"/>
            <a:ext cx="229780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Original (좌측 상단 결함)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48"/>
          <p:cNvSpPr/>
          <p:nvPr/>
        </p:nvSpPr>
        <p:spPr>
          <a:xfrm>
            <a:off x="1605061" y="3290602"/>
            <a:ext cx="275888" cy="20783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9"/>
          <p:cNvSpPr txBox="1"/>
          <p:nvPr>
            <p:ph idx="12" type="sldNum"/>
          </p:nvPr>
        </p:nvSpPr>
        <p:spPr>
          <a:xfrm>
            <a:off x="9248775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3" name="Google Shape;453;p49"/>
          <p:cNvSpPr/>
          <p:nvPr/>
        </p:nvSpPr>
        <p:spPr>
          <a:xfrm flipH="1" rot="10800000">
            <a:off x="0" y="6710793"/>
            <a:ext cx="9566815" cy="147207"/>
          </a:xfrm>
          <a:custGeom>
            <a:rect b="b" l="l" r="r" t="t"/>
            <a:pathLst>
              <a:path extrusionOk="0" h="162560" w="15770225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4" name="Google Shape;454;p49"/>
          <p:cNvSpPr/>
          <p:nvPr/>
        </p:nvSpPr>
        <p:spPr>
          <a:xfrm flipH="1" rot="10800000">
            <a:off x="9566760" y="6710218"/>
            <a:ext cx="2625240" cy="147782"/>
          </a:xfrm>
          <a:custGeom>
            <a:rect b="b" l="l" r="r" t="t"/>
            <a:pathLst>
              <a:path extrusionOk="0" h="163195" w="4327525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5" name="Google Shape;455;p49"/>
          <p:cNvSpPr/>
          <p:nvPr/>
        </p:nvSpPr>
        <p:spPr>
          <a:xfrm>
            <a:off x="152400" y="879556"/>
            <a:ext cx="11912056" cy="60090"/>
          </a:xfrm>
          <a:custGeom>
            <a:rect b="b" l="l" r="r" t="t"/>
            <a:pathLst>
              <a:path extrusionOk="0" h="162560" w="15770225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6" name="Google Shape;456;p49"/>
          <p:cNvSpPr txBox="1"/>
          <p:nvPr/>
        </p:nvSpPr>
        <p:spPr>
          <a:xfrm>
            <a:off x="217001" y="27846"/>
            <a:ext cx="842254" cy="816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75B29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1" i="0" sz="3600" u="none" cap="none" strike="noStrike">
              <a:solidFill>
                <a:srgbClr val="275B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49"/>
          <p:cNvSpPr txBox="1"/>
          <p:nvPr/>
        </p:nvSpPr>
        <p:spPr>
          <a:xfrm>
            <a:off x="834367" y="19569"/>
            <a:ext cx="4045449" cy="816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실험</a:t>
            </a:r>
            <a:endParaRPr b="1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49"/>
          <p:cNvSpPr txBox="1"/>
          <p:nvPr/>
        </p:nvSpPr>
        <p:spPr>
          <a:xfrm>
            <a:off x="217001" y="1071078"/>
            <a:ext cx="5149326" cy="414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75B29"/>
                </a:solidFill>
                <a:latin typeface="Calibri"/>
                <a:ea typeface="Calibri"/>
                <a:cs typeface="Calibri"/>
                <a:sym typeface="Calibri"/>
              </a:rPr>
              <a:t>Adaptation 전후 CAM 성능 비교</a:t>
            </a:r>
            <a:endParaRPr b="1" i="0" sz="1600" u="none" cap="none" strike="noStrike">
              <a:solidFill>
                <a:srgbClr val="275B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9" name="Google Shape;45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85348" y="2112180"/>
            <a:ext cx="1046159" cy="682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32093" y="2112180"/>
            <a:ext cx="1046159" cy="682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1" name="Google Shape;461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84676" y="2112180"/>
            <a:ext cx="1046159" cy="682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p4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31422" y="2112180"/>
            <a:ext cx="1046159" cy="682721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49"/>
          <p:cNvSpPr txBox="1"/>
          <p:nvPr/>
        </p:nvSpPr>
        <p:spPr>
          <a:xfrm>
            <a:off x="3845372" y="2297230"/>
            <a:ext cx="160712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Adaptation 이후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4" name="Google Shape;464;p4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585347" y="1342227"/>
            <a:ext cx="1046157" cy="682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4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32093" y="1342227"/>
            <a:ext cx="1046157" cy="682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4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884676" y="1342227"/>
            <a:ext cx="1046157" cy="682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p4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031422" y="1342227"/>
            <a:ext cx="1046157" cy="682721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49"/>
          <p:cNvSpPr txBox="1"/>
          <p:nvPr/>
        </p:nvSpPr>
        <p:spPr>
          <a:xfrm>
            <a:off x="3845372" y="1500184"/>
            <a:ext cx="160712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Adaptation 이전</a:t>
            </a:r>
            <a:b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(domain shift)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9" name="Google Shape;469;p4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585345" y="3777446"/>
            <a:ext cx="1046159" cy="682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4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729652" y="3774265"/>
            <a:ext cx="1051034" cy="685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4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882235" y="3774265"/>
            <a:ext cx="1051034" cy="685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4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028981" y="3774265"/>
            <a:ext cx="1051034" cy="685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49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585345" y="3012952"/>
            <a:ext cx="1046159" cy="682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49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732091" y="3012952"/>
            <a:ext cx="1046159" cy="682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49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7884674" y="3012952"/>
            <a:ext cx="1046159" cy="682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49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9031420" y="3012952"/>
            <a:ext cx="1046159" cy="682721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49"/>
          <p:cNvSpPr txBox="1"/>
          <p:nvPr/>
        </p:nvSpPr>
        <p:spPr>
          <a:xfrm>
            <a:off x="3845372" y="3946825"/>
            <a:ext cx="160712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Adaptation 이후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49"/>
          <p:cNvSpPr txBox="1"/>
          <p:nvPr/>
        </p:nvSpPr>
        <p:spPr>
          <a:xfrm>
            <a:off x="3845372" y="3155238"/>
            <a:ext cx="160712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Adaptation 이전</a:t>
            </a:r>
            <a:b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(domain shift)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49"/>
          <p:cNvSpPr txBox="1"/>
          <p:nvPr/>
        </p:nvSpPr>
        <p:spPr>
          <a:xfrm>
            <a:off x="5961503" y="1129716"/>
            <a:ext cx="32813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49"/>
          <p:cNvSpPr txBox="1"/>
          <p:nvPr/>
        </p:nvSpPr>
        <p:spPr>
          <a:xfrm>
            <a:off x="7091104" y="1129716"/>
            <a:ext cx="32813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49"/>
          <p:cNvSpPr txBox="1"/>
          <p:nvPr/>
        </p:nvSpPr>
        <p:spPr>
          <a:xfrm>
            <a:off x="8243687" y="1129716"/>
            <a:ext cx="32813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49"/>
          <p:cNvSpPr txBox="1"/>
          <p:nvPr/>
        </p:nvSpPr>
        <p:spPr>
          <a:xfrm>
            <a:off x="9373288" y="1129716"/>
            <a:ext cx="32813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49"/>
          <p:cNvSpPr txBox="1"/>
          <p:nvPr/>
        </p:nvSpPr>
        <p:spPr>
          <a:xfrm>
            <a:off x="9882899" y="1914413"/>
            <a:ext cx="182688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Focus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49"/>
          <p:cNvSpPr txBox="1"/>
          <p:nvPr/>
        </p:nvSpPr>
        <p:spPr>
          <a:xfrm>
            <a:off x="10087693" y="3691035"/>
            <a:ext cx="15478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Color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5" name="Google Shape;485;p49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5582907" y="5494208"/>
            <a:ext cx="1031565" cy="682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49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6729652" y="5494208"/>
            <a:ext cx="1031565" cy="682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49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7882235" y="5494208"/>
            <a:ext cx="1031565" cy="682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49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9028981" y="5494208"/>
            <a:ext cx="1031565" cy="682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p49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5582907" y="4732895"/>
            <a:ext cx="1031565" cy="682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49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6729653" y="4732895"/>
            <a:ext cx="1031565" cy="682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p49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7882236" y="4732895"/>
            <a:ext cx="1031565" cy="682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49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9028982" y="4732895"/>
            <a:ext cx="1031565" cy="682721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49"/>
          <p:cNvSpPr txBox="1"/>
          <p:nvPr/>
        </p:nvSpPr>
        <p:spPr>
          <a:xfrm>
            <a:off x="3845372" y="5714063"/>
            <a:ext cx="160712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Adaptation 이후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49"/>
          <p:cNvSpPr txBox="1"/>
          <p:nvPr/>
        </p:nvSpPr>
        <p:spPr>
          <a:xfrm>
            <a:off x="3845372" y="4925657"/>
            <a:ext cx="160712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Adaptation 이전</a:t>
            </a:r>
            <a:b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(domain shift)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49"/>
          <p:cNvSpPr txBox="1"/>
          <p:nvPr/>
        </p:nvSpPr>
        <p:spPr>
          <a:xfrm>
            <a:off x="10060546" y="5306748"/>
            <a:ext cx="15478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Brightness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6" name="Google Shape;496;p49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592900" y="2730653"/>
            <a:ext cx="3043030" cy="1711705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49"/>
          <p:cNvSpPr txBox="1"/>
          <p:nvPr/>
        </p:nvSpPr>
        <p:spPr>
          <a:xfrm>
            <a:off x="1059255" y="4569788"/>
            <a:ext cx="229780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Original (중앙 결함)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49"/>
          <p:cNvSpPr/>
          <p:nvPr/>
        </p:nvSpPr>
        <p:spPr>
          <a:xfrm>
            <a:off x="1896894" y="3459706"/>
            <a:ext cx="236983" cy="223552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49"/>
          <p:cNvSpPr txBox="1"/>
          <p:nvPr/>
        </p:nvSpPr>
        <p:spPr>
          <a:xfrm>
            <a:off x="513614" y="6317805"/>
            <a:ext cx="11420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✔"/>
            </a:pP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TTA 적용 시, 모델이 실제 결함 부위에 더 정확히 집중하며 도메인 변화에도 안정적으로 적응함을 확인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50"/>
          <p:cNvSpPr txBox="1"/>
          <p:nvPr>
            <p:ph idx="12" type="sldNum"/>
          </p:nvPr>
        </p:nvSpPr>
        <p:spPr>
          <a:xfrm>
            <a:off x="9248775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5" name="Google Shape;505;p50"/>
          <p:cNvSpPr/>
          <p:nvPr/>
        </p:nvSpPr>
        <p:spPr>
          <a:xfrm flipH="1" rot="10800000">
            <a:off x="0" y="6710793"/>
            <a:ext cx="9566815" cy="147207"/>
          </a:xfrm>
          <a:custGeom>
            <a:rect b="b" l="l" r="r" t="t"/>
            <a:pathLst>
              <a:path extrusionOk="0" h="162560" w="15770225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6" name="Google Shape;506;p50"/>
          <p:cNvSpPr/>
          <p:nvPr/>
        </p:nvSpPr>
        <p:spPr>
          <a:xfrm flipH="1" rot="10800000">
            <a:off x="9566760" y="6710218"/>
            <a:ext cx="2625240" cy="147782"/>
          </a:xfrm>
          <a:custGeom>
            <a:rect b="b" l="l" r="r" t="t"/>
            <a:pathLst>
              <a:path extrusionOk="0" h="163195" w="4327525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7" name="Google Shape;507;p50"/>
          <p:cNvSpPr/>
          <p:nvPr/>
        </p:nvSpPr>
        <p:spPr>
          <a:xfrm>
            <a:off x="152400" y="879556"/>
            <a:ext cx="11912056" cy="60090"/>
          </a:xfrm>
          <a:custGeom>
            <a:rect b="b" l="l" r="r" t="t"/>
            <a:pathLst>
              <a:path extrusionOk="0" h="162560" w="15770225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8" name="Google Shape;508;p50"/>
          <p:cNvSpPr txBox="1"/>
          <p:nvPr/>
        </p:nvSpPr>
        <p:spPr>
          <a:xfrm>
            <a:off x="217001" y="27846"/>
            <a:ext cx="842254" cy="816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75B29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1" i="0" sz="3600" u="none" cap="none" strike="noStrike">
              <a:solidFill>
                <a:srgbClr val="275B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50"/>
          <p:cNvSpPr txBox="1"/>
          <p:nvPr/>
        </p:nvSpPr>
        <p:spPr>
          <a:xfrm>
            <a:off x="834367" y="19569"/>
            <a:ext cx="4045449" cy="816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결론</a:t>
            </a:r>
            <a:endParaRPr b="1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50"/>
          <p:cNvSpPr txBox="1"/>
          <p:nvPr/>
        </p:nvSpPr>
        <p:spPr>
          <a:xfrm>
            <a:off x="217001" y="1071078"/>
            <a:ext cx="2915498" cy="414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75B29"/>
                </a:solidFill>
                <a:latin typeface="Calibri"/>
                <a:ea typeface="Calibri"/>
                <a:cs typeface="Calibri"/>
                <a:sym typeface="Calibri"/>
              </a:rPr>
              <a:t>결론</a:t>
            </a:r>
            <a:endParaRPr b="1" i="0" sz="1600" u="none" cap="none" strike="noStrike">
              <a:solidFill>
                <a:srgbClr val="275B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50"/>
          <p:cNvSpPr txBox="1"/>
          <p:nvPr/>
        </p:nvSpPr>
        <p:spPr>
          <a:xfrm>
            <a:off x="377983" y="1502868"/>
            <a:ext cx="11355308" cy="235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 연구는 미세하고 희미한 결함 탐지를 보다 정밀하게 수행하면서 다양한 Fully-TTA 기법들과 호환 가능한 프레임워크를 제안함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보조 branch나 추가 module 없이, 단일 네트워크 구조만으로 attention 영역을 정확하게 결함 부위에 정렬하도록 설계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CAM 기반의 attention map과 결함 마스크 간의 logit 정렬을 통해 모델이 실제 결함 영역에 집중하도록 유도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이러한 구조는 ResNet 기반의 BatchNorm을 활용한 다양한 Fully-TTA 기법과 효과적으로 결합 가능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96850" lvl="1" marL="8318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실험 결과에서도 높은 도메인 적응 성능을 보였으며, 결과적으로 본 연구가 제안한 프레임워크는 </a:t>
            </a:r>
            <a:r>
              <a:rPr b="1" i="0" lang="en-US" sz="1400" u="none" cap="none" strike="noStrike">
                <a:solidFill>
                  <a:srgbClr val="A6342F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정확한 결함 탐지와 안정적인 도메인 적응을 동시에 달성할 수 있음을 입증함</a:t>
            </a:r>
            <a:endParaRPr b="1" i="0" sz="1400" u="none" cap="none" strike="noStrike">
              <a:solidFill>
                <a:srgbClr val="A6342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51"/>
          <p:cNvSpPr txBox="1"/>
          <p:nvPr>
            <p:ph idx="12" type="sldNum"/>
          </p:nvPr>
        </p:nvSpPr>
        <p:spPr>
          <a:xfrm>
            <a:off x="9248775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7" name="Google Shape;517;p51"/>
          <p:cNvSpPr/>
          <p:nvPr/>
        </p:nvSpPr>
        <p:spPr>
          <a:xfrm flipH="1" rot="10800000">
            <a:off x="0" y="6710793"/>
            <a:ext cx="9566815" cy="147207"/>
          </a:xfrm>
          <a:custGeom>
            <a:rect b="b" l="l" r="r" t="t"/>
            <a:pathLst>
              <a:path extrusionOk="0" h="162560" w="15770225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8" name="Google Shape;518;p51"/>
          <p:cNvSpPr/>
          <p:nvPr/>
        </p:nvSpPr>
        <p:spPr>
          <a:xfrm flipH="1" rot="10800000">
            <a:off x="9566760" y="6710218"/>
            <a:ext cx="2625240" cy="147782"/>
          </a:xfrm>
          <a:custGeom>
            <a:rect b="b" l="l" r="r" t="t"/>
            <a:pathLst>
              <a:path extrusionOk="0" h="163195" w="4327525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9" name="Google Shape;519;p51"/>
          <p:cNvSpPr/>
          <p:nvPr/>
        </p:nvSpPr>
        <p:spPr>
          <a:xfrm>
            <a:off x="152400" y="879556"/>
            <a:ext cx="11912056" cy="60090"/>
          </a:xfrm>
          <a:custGeom>
            <a:rect b="b" l="l" r="r" t="t"/>
            <a:pathLst>
              <a:path extrusionOk="0" h="162560" w="15770225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0" name="Google Shape;520;p51"/>
          <p:cNvSpPr txBox="1"/>
          <p:nvPr/>
        </p:nvSpPr>
        <p:spPr>
          <a:xfrm>
            <a:off x="217001" y="27846"/>
            <a:ext cx="842254" cy="816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75B29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1" i="0" sz="3600" u="none" cap="none" strike="noStrike">
              <a:solidFill>
                <a:srgbClr val="275B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51"/>
          <p:cNvSpPr txBox="1"/>
          <p:nvPr/>
        </p:nvSpPr>
        <p:spPr>
          <a:xfrm>
            <a:off x="834367" y="19569"/>
            <a:ext cx="4045449" cy="816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참고 문헌</a:t>
            </a:r>
            <a:endParaRPr b="1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51"/>
          <p:cNvSpPr txBox="1"/>
          <p:nvPr/>
        </p:nvSpPr>
        <p:spPr>
          <a:xfrm>
            <a:off x="377982" y="1301677"/>
            <a:ext cx="11686500" cy="53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[1] Woo, S., Park, J., Lee, J. Y., &amp; Kweon, I. S. (2018). Cbam: Convolutional block attention module. In Proceedings of the European conference on computer vision (ECCV) (pp. 3-19).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[2] Xu, S., Chang, D., Xie, J., &amp; Ma, Z. (2021, October). Grad-cam guided channel-spatial attention module for fine-grained visual classification. In 2021 IEEE 31st international workshop on machine learning for signal Processing (MLSP) (pp. 1-6). IEEE.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[3] Mo, K., Zhu, S., Chang, A. X., Yi, L., Tripathi, S., Guibas, L. J., &amp; Su, H. (2019). Partnet: A large-scale benchmark for fine-grained and hierarchical part-level 3d object understanding. In Proceedings of the IEEE/CVF conference on computer vision and pattern recognition (pp. 909-918).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[4] Dequan Wang, Evan Shelhamer, Shaoteng Liu, B. Olshausen, and Trevor Darrell. Tent: Fully test-time adaptation by entropy minimization. In ICLR, 2021.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[5] Niu, Shuaicheng, et al. "Efficient test-time model adaptation without forgetting." International conference on machine learning. PMLR, 2022.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[6] Lee, J., Jung, D., Lee, S., Park, J., Shin, J., Hwang, U., &amp; Yoon, S. (2024). ENTROPY IS NOT ENOUGH FOR TEST-TIME ADAPTATION: FROM THE PERSPECTIVE OF DISENTANGLED FACTORS. Paper presented at 12th International Conference on Learning Representations, ICLR 2024, Hybrid, Vienna, Austria.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[7] Wei, Xiu-Shen, et al. "Mask-CNN: Localizing parts and selecting descriptors for fine-grained bird species categorization." Pattern Recognition 76 (2018): 704-714.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[8] Zhang, Qiang, et al. "Deep learning with attention supervision for automated motion artefact detection in quality control of cardiac T1-mapping." Artificial intelligence in medicine 110 (2020): 101955.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[9] Zhang, Ziheng, et al. "Finer-CAM: Spotting the Difference Reveals Finer Details for Visual Explanation." CVPR 2025.</a:t>
            </a:r>
            <a:endParaRPr b="0" i="0" sz="12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[10] Tabernik, Domen, et al. "Segmentation-based deep-learning approach for surface-defect detection." Journal of Intelligent Manufacturing 31.3 (2020): 759-776.</a:t>
            </a:r>
            <a:endParaRPr b="0" i="0" sz="12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[11] Wang, Jun, Xiaohan Yu, and Yongsheng Gao. "Mask guided attention for fine-grained patchy image classification." 2021 IEEE International Conference on Image Processing (ICIP). IEEE, 2021.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5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75B2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52"/>
          <p:cNvSpPr/>
          <p:nvPr/>
        </p:nvSpPr>
        <p:spPr>
          <a:xfrm>
            <a:off x="152400" y="152400"/>
            <a:ext cx="11887200" cy="6553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52"/>
          <p:cNvSpPr txBox="1"/>
          <p:nvPr/>
        </p:nvSpPr>
        <p:spPr>
          <a:xfrm>
            <a:off x="1380301" y="3028931"/>
            <a:ext cx="9431397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5B29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감사합니다</a:t>
            </a:r>
            <a:endParaRPr b="1" i="0" sz="1800" u="none" cap="none" strike="noStrike">
              <a:solidFill>
                <a:srgbClr val="275B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531" name="Google Shape;531;p52"/>
          <p:cNvCxnSpPr/>
          <p:nvPr/>
        </p:nvCxnSpPr>
        <p:spPr>
          <a:xfrm>
            <a:off x="5233366" y="3429000"/>
            <a:ext cx="1725267" cy="0"/>
          </a:xfrm>
          <a:prstGeom prst="straightConnector1">
            <a:avLst/>
          </a:prstGeom>
          <a:noFill/>
          <a:ln cap="flat" cmpd="sng" w="57150">
            <a:solidFill>
              <a:srgbClr val="275B2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2" name="Google Shape;532;p52"/>
          <p:cNvCxnSpPr/>
          <p:nvPr/>
        </p:nvCxnSpPr>
        <p:spPr>
          <a:xfrm>
            <a:off x="5233366" y="3512127"/>
            <a:ext cx="1725267" cy="0"/>
          </a:xfrm>
          <a:prstGeom prst="straightConnector1">
            <a:avLst/>
          </a:prstGeom>
          <a:noFill/>
          <a:ln cap="flat" cmpd="sng" w="19050">
            <a:solidFill>
              <a:srgbClr val="275B29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2013 - 2022 테마">
  <a:themeElements>
    <a:clrScheme name="Office 2013 - 2022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2024-03-04T06:06:06Z</dcterms:created>
  <dc:creator>김나연</dc:creator>
</cp:coreProperties>
</file>