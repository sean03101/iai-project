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0" r:id="rId1"/>
  </p:sldMasterIdLst>
  <p:notesMasterIdLst>
    <p:notesMasterId r:id="rId17"/>
  </p:notesMasterIdLst>
  <p:sldIdLst>
    <p:sldId id="390" r:id="rId2"/>
    <p:sldId id="503" r:id="rId3"/>
    <p:sldId id="512" r:id="rId4"/>
    <p:sldId id="522" r:id="rId5"/>
    <p:sldId id="513" r:id="rId6"/>
    <p:sldId id="520" r:id="rId7"/>
    <p:sldId id="515" r:id="rId8"/>
    <p:sldId id="519" r:id="rId9"/>
    <p:sldId id="521" r:id="rId10"/>
    <p:sldId id="518" r:id="rId11"/>
    <p:sldId id="514" r:id="rId12"/>
    <p:sldId id="523" r:id="rId13"/>
    <p:sldId id="516" r:id="rId14"/>
    <p:sldId id="517" r:id="rId15"/>
    <p:sldId id="398" r:id="rId16"/>
  </p:sldIdLst>
  <p:sldSz cx="12192000" cy="6858000"/>
  <p:notesSz cx="6858000" cy="9144000"/>
  <p:embeddedFontLst>
    <p:embeddedFont>
      <p:font typeface="KoPubWorld돋움체 Bold" panose="00000800000000000000" pitchFamily="2" charset="-127"/>
      <p:bold r:id="rId18"/>
    </p:embeddedFont>
    <p:embeddedFont>
      <p:font typeface="KoPubWorld돋움체 Medium" panose="00000600000000000000" pitchFamily="2" charset="-127"/>
      <p:regular r:id="rId19"/>
    </p:embeddedFont>
    <p:embeddedFont>
      <p:font typeface="Noto Sans KR" panose="020B0200000000000000" pitchFamily="50" charset="-127"/>
      <p:regular r:id="rId20"/>
      <p:bold r:id="rId21"/>
    </p:embeddedFont>
    <p:embeddedFont>
      <p:font typeface="나눔고딕" panose="020D0604000000000000" pitchFamily="50" charset="-127"/>
      <p:regular r:id="rId22"/>
      <p:bold r:id="rId2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5" roundtripDataSignature="AMtx7mjt9dHdAs7x16RPaglxVTdG1fV3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5B29"/>
    <a:srgbClr val="FFC000"/>
    <a:srgbClr val="ED7D31"/>
    <a:srgbClr val="000000"/>
    <a:srgbClr val="FFFFFF"/>
    <a:srgbClr val="FBE5D6"/>
    <a:srgbClr val="4472C4"/>
    <a:srgbClr val="A48CFE"/>
    <a:srgbClr val="9463EB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AD2AD60-F4DC-4504-80C7-2C9E4552CE91}">
  <a:tblStyle styleId="{8AD2AD60-F4DC-4504-80C7-2C9E4552CE91}" styleName="Table_0">
    <a:wholeTbl>
      <a:tcTxStyle b="off" i="off">
        <a:font>
          <a:latin typeface="Noto Sans KR"/>
          <a:ea typeface="Noto Sans KR"/>
          <a:cs typeface="Noto Sans KR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Noto Sans KR"/>
          <a:ea typeface="Noto Sans KR"/>
          <a:cs typeface="Noto Sans KR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Noto Sans KR"/>
          <a:ea typeface="Noto Sans KR"/>
          <a:cs typeface="Noto Sans KR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Noto Sans KR"/>
          <a:ea typeface="Noto Sans KR"/>
          <a:cs typeface="Noto Sans KR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Noto Sans KR"/>
          <a:ea typeface="Noto Sans KR"/>
          <a:cs typeface="Noto Sans KR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FABB544-4CD5-4A61-BFB1-EE3A75EF073E}" styleName="Table_1">
    <a:wholeTbl>
      <a:tcTxStyle b="off" i="off">
        <a:font>
          <a:latin typeface="Noto Sans KR"/>
          <a:ea typeface="Noto Sans KR"/>
          <a:cs typeface="Noto Sans KR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6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34" autoAdjust="0"/>
    <p:restoredTop sz="96000" autoAdjust="0"/>
  </p:normalViewPr>
  <p:slideViewPr>
    <p:cSldViewPr snapToGrid="0">
      <p:cViewPr varScale="1">
        <p:scale>
          <a:sx n="106" d="100"/>
          <a:sy n="106" d="100"/>
        </p:scale>
        <p:origin x="1140" y="10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6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65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6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5796E7EC-8A3C-97C3-D63A-E1A589AD8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:notes">
            <a:extLst>
              <a:ext uri="{FF2B5EF4-FFF2-40B4-BE49-F238E27FC236}">
                <a16:creationId xmlns:a16="http://schemas.microsoft.com/office/drawing/2014/main" id="{39EB997E-B0A2-71CB-A61E-8A592E59F4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1:notes">
            <a:extLst>
              <a:ext uri="{FF2B5EF4-FFF2-40B4-BE49-F238E27FC236}">
                <a16:creationId xmlns:a16="http://schemas.microsoft.com/office/drawing/2014/main" id="{58A17A90-150A-7BE1-2DE6-64D22E36EA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:notes">
            <a:extLst>
              <a:ext uri="{FF2B5EF4-FFF2-40B4-BE49-F238E27FC236}">
                <a16:creationId xmlns:a16="http://schemas.microsoft.com/office/drawing/2014/main" id="{739A9B46-6A46-4D4E-11BC-00AB0368BBD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00754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7806D92C-F7D4-10EA-DBCD-7EC10948E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>
            <a:extLst>
              <a:ext uri="{FF2B5EF4-FFF2-40B4-BE49-F238E27FC236}">
                <a16:creationId xmlns:a16="http://schemas.microsoft.com/office/drawing/2014/main" id="{177BFC4B-E4D5-9215-11CC-5F6FF55C31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2:notes">
            <a:extLst>
              <a:ext uri="{FF2B5EF4-FFF2-40B4-BE49-F238E27FC236}">
                <a16:creationId xmlns:a16="http://schemas.microsoft.com/office/drawing/2014/main" id="{B45E2E5B-CF2C-1BD9-BEC5-21DBA1BB89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1" name="Google Shape;111;p2:notes">
            <a:extLst>
              <a:ext uri="{FF2B5EF4-FFF2-40B4-BE49-F238E27FC236}">
                <a16:creationId xmlns:a16="http://schemas.microsoft.com/office/drawing/2014/main" id="{7061F367-DB3C-841C-43C2-4D4BB9BA627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48706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64078358-A180-22ED-7CBF-1365EB575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>
            <a:extLst>
              <a:ext uri="{FF2B5EF4-FFF2-40B4-BE49-F238E27FC236}">
                <a16:creationId xmlns:a16="http://schemas.microsoft.com/office/drawing/2014/main" id="{0EDAAA33-F582-F7BD-BF58-49CA9BE619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2:notes">
            <a:extLst>
              <a:ext uri="{FF2B5EF4-FFF2-40B4-BE49-F238E27FC236}">
                <a16:creationId xmlns:a16="http://schemas.microsoft.com/office/drawing/2014/main" id="{ABC5E7E1-E8B4-288D-D13D-75F56A81F9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1" name="Google Shape;111;p2:notes">
            <a:extLst>
              <a:ext uri="{FF2B5EF4-FFF2-40B4-BE49-F238E27FC236}">
                <a16:creationId xmlns:a16="http://schemas.microsoft.com/office/drawing/2014/main" id="{C332A28D-07C9-6A34-6D6B-12833BAE971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089604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04B7C660-C06F-C912-56CB-C9C8B264F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>
            <a:extLst>
              <a:ext uri="{FF2B5EF4-FFF2-40B4-BE49-F238E27FC236}">
                <a16:creationId xmlns:a16="http://schemas.microsoft.com/office/drawing/2014/main" id="{0C3DC659-0C8E-F50D-B22D-99B001D799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2:notes">
            <a:extLst>
              <a:ext uri="{FF2B5EF4-FFF2-40B4-BE49-F238E27FC236}">
                <a16:creationId xmlns:a16="http://schemas.microsoft.com/office/drawing/2014/main" id="{C3A860AD-8637-3FFB-F9F8-6ED51C9CD3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1" name="Google Shape;111;p2:notes">
            <a:extLst>
              <a:ext uri="{FF2B5EF4-FFF2-40B4-BE49-F238E27FC236}">
                <a16:creationId xmlns:a16="http://schemas.microsoft.com/office/drawing/2014/main" id="{CF028983-4CEF-FC23-8CB3-C40D9C0D7A9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495421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3556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133998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549533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59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517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344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118571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248775" y="6176962"/>
            <a:ext cx="27432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526858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033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988438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659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202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568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mailto:yhoon.lee@seoultech.ac.kr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1D178636-34F2-DA13-D18E-76679D9F4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F21AA826-AC7B-9229-D6DE-50A45F986F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75B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9373DEC-689C-D8B7-2E34-64DB2C2BC0DC}"/>
              </a:ext>
            </a:extLst>
          </p:cNvPr>
          <p:cNvSpPr/>
          <p:nvPr/>
        </p:nvSpPr>
        <p:spPr>
          <a:xfrm>
            <a:off x="152400" y="152400"/>
            <a:ext cx="11887200" cy="65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Google Shape;105;p1">
            <a:extLst>
              <a:ext uri="{FF2B5EF4-FFF2-40B4-BE49-F238E27FC236}">
                <a16:creationId xmlns:a16="http://schemas.microsoft.com/office/drawing/2014/main" id="{13D528AB-81B5-F20D-779B-30E5E57B1F35}"/>
              </a:ext>
            </a:extLst>
          </p:cNvPr>
          <p:cNvSpPr txBox="1"/>
          <p:nvPr/>
        </p:nvSpPr>
        <p:spPr>
          <a:xfrm>
            <a:off x="1110726" y="1679451"/>
            <a:ext cx="1004658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1" dirty="0">
                <a:solidFill>
                  <a:srgbClr val="275B2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변화하는 제조 환경에서의 미세 결함 분류를 위한 테스트 시점 도메인 적응</a:t>
            </a:r>
            <a:endParaRPr lang="en-US" sz="2400" b="1" dirty="0">
              <a:solidFill>
                <a:srgbClr val="275B29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  <a:sym typeface="Noto Sans KR"/>
            </a:endParaRPr>
          </a:p>
        </p:txBody>
      </p:sp>
      <p:pic>
        <p:nvPicPr>
          <p:cNvPr id="3" name="Picture 2" descr="서울과학기술대학교">
            <a:extLst>
              <a:ext uri="{FF2B5EF4-FFF2-40B4-BE49-F238E27FC236}">
                <a16:creationId xmlns:a16="http://schemas.microsoft.com/office/drawing/2014/main" id="{7DEA348F-C0E1-B734-D011-C8726316FF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830"/>
          <a:stretch/>
        </p:blipFill>
        <p:spPr bwMode="auto">
          <a:xfrm>
            <a:off x="9783060" y="5967608"/>
            <a:ext cx="1374254" cy="644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C035AC93-02AD-A340-9313-02A6B4E102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496" b="13987"/>
          <a:stretch/>
        </p:blipFill>
        <p:spPr bwMode="auto">
          <a:xfrm>
            <a:off x="10955833" y="6025998"/>
            <a:ext cx="966119" cy="484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7FCF289-80C5-A98E-2570-C3E158ECE765}"/>
              </a:ext>
            </a:extLst>
          </p:cNvPr>
          <p:cNvSpPr txBox="1"/>
          <p:nvPr/>
        </p:nvSpPr>
        <p:spPr>
          <a:xfrm>
            <a:off x="3094022" y="6095521"/>
            <a:ext cx="6188042" cy="388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400" dirty="0">
                <a:solidFill>
                  <a:srgbClr val="275B29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2025</a:t>
            </a:r>
            <a:r>
              <a:rPr lang="ko-KR" altLang="en-US" sz="1400" dirty="0">
                <a:solidFill>
                  <a:srgbClr val="275B29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년 대한산업공학회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F9EFBD-E75C-386E-FE16-20B455336888}"/>
              </a:ext>
            </a:extLst>
          </p:cNvPr>
          <p:cNvSpPr txBox="1"/>
          <p:nvPr/>
        </p:nvSpPr>
        <p:spPr>
          <a:xfrm>
            <a:off x="2746697" y="2709427"/>
            <a:ext cx="6882692" cy="2135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김나연</a:t>
            </a:r>
            <a:r>
              <a:rPr lang="en-US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¹, </a:t>
            </a:r>
            <a:r>
              <a: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이성호</a:t>
            </a:r>
            <a:r>
              <a:rPr lang="en-US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¹, </a:t>
            </a:r>
            <a:r>
              <a: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심재웅</a:t>
            </a:r>
            <a:r>
              <a:rPr lang="en-US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²</a:t>
            </a:r>
            <a:r>
              <a: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*</a:t>
            </a:r>
            <a:endParaRPr lang="en-US" altLang="ko-KR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algn="ctr">
              <a:lnSpc>
                <a:spcPct val="150000"/>
              </a:lnSpc>
            </a:pPr>
            <a:endParaRPr lang="en-US" altLang="ko-KR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algn="ctr">
              <a:lnSpc>
                <a:spcPct val="150000"/>
              </a:lnSpc>
            </a:pPr>
            <a:endParaRPr lang="en-US" altLang="ko-KR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서울과학기술대학교 </a:t>
            </a:r>
            <a:r>
              <a:rPr lang="ko-KR" altLang="en-US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데이터사이언스학과</a:t>
            </a:r>
            <a:r>
              <a:rPr lang="en-US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¹</a:t>
            </a:r>
          </a:p>
          <a:p>
            <a:pPr algn="ctr">
              <a:lnSpc>
                <a:spcPct val="150000"/>
              </a:lnSpc>
            </a:pPr>
            <a:r>
              <a: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서울과학기술대학교 산업공학과</a:t>
            </a:r>
            <a:r>
              <a:rPr lang="en-US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²</a:t>
            </a:r>
            <a:r>
              <a:rPr lang="en-US" altLang="ko-KR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hlinkClick r:id="rId5"/>
              </a:rPr>
              <a:t> </a:t>
            </a:r>
            <a:endParaRPr lang="ko-KR" alt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14097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0B4A8060-F2A6-8D66-7B00-7247CCE6F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">
            <a:extLst>
              <a:ext uri="{FF2B5EF4-FFF2-40B4-BE49-F238E27FC236}">
                <a16:creationId xmlns:a16="http://schemas.microsoft.com/office/drawing/2014/main" id="{8E8D9AB6-7E22-13F0-AE3A-DF2F71394E08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xfrm>
            <a:off x="11581397" y="6240318"/>
            <a:ext cx="4160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3B7956-5B15-2226-0894-7B49BCDC8BD6}"/>
              </a:ext>
            </a:extLst>
          </p:cNvPr>
          <p:cNvSpPr txBox="1"/>
          <p:nvPr/>
        </p:nvSpPr>
        <p:spPr>
          <a:xfrm>
            <a:off x="216780" y="266031"/>
            <a:ext cx="22095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rgbClr val="275B2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Contents</a:t>
            </a:r>
            <a:endParaRPr lang="ko-KR" altLang="en-US" sz="2800" dirty="0">
              <a:solidFill>
                <a:srgbClr val="275B29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1EB08F-51F4-59D5-F185-3B94F51BFC63}"/>
              </a:ext>
            </a:extLst>
          </p:cNvPr>
          <p:cNvSpPr txBox="1"/>
          <p:nvPr/>
        </p:nvSpPr>
        <p:spPr>
          <a:xfrm>
            <a:off x="2326710" y="1758813"/>
            <a:ext cx="67020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275B2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01</a:t>
            </a:r>
            <a:endParaRPr lang="ko-KR" altLang="en-US" sz="2400" b="1" dirty="0">
              <a:solidFill>
                <a:srgbClr val="275B29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4CB6EB-BAE7-7B2F-D0E7-01A7D08C035B}"/>
              </a:ext>
            </a:extLst>
          </p:cNvPr>
          <p:cNvSpPr txBox="1"/>
          <p:nvPr/>
        </p:nvSpPr>
        <p:spPr>
          <a:xfrm>
            <a:off x="2326710" y="3265727"/>
            <a:ext cx="67020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275B2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02</a:t>
            </a:r>
            <a:endParaRPr lang="ko-KR" altLang="en-US" sz="2400" b="1" dirty="0">
              <a:solidFill>
                <a:srgbClr val="275B29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C3AACD-8FE2-FB09-0472-D1C7C66DF444}"/>
              </a:ext>
            </a:extLst>
          </p:cNvPr>
          <p:cNvSpPr txBox="1"/>
          <p:nvPr/>
        </p:nvSpPr>
        <p:spPr>
          <a:xfrm>
            <a:off x="2326710" y="4772641"/>
            <a:ext cx="67020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275B2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03</a:t>
            </a:r>
            <a:endParaRPr lang="ko-KR" altLang="en-US" sz="2400" b="1" dirty="0">
              <a:solidFill>
                <a:srgbClr val="275B29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87A1D6-1D3D-64BC-D59D-3E6BDEBD239E}"/>
              </a:ext>
            </a:extLst>
          </p:cNvPr>
          <p:cNvSpPr txBox="1"/>
          <p:nvPr/>
        </p:nvSpPr>
        <p:spPr>
          <a:xfrm>
            <a:off x="7456551" y="1758813"/>
            <a:ext cx="67020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275B2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04</a:t>
            </a:r>
            <a:endParaRPr lang="ko-KR" altLang="en-US" sz="2400" b="1" dirty="0">
              <a:solidFill>
                <a:srgbClr val="275B29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2FC5C88-C839-A2E7-F8DE-5EDBB5F3D5EA}"/>
              </a:ext>
            </a:extLst>
          </p:cNvPr>
          <p:cNvSpPr txBox="1"/>
          <p:nvPr/>
        </p:nvSpPr>
        <p:spPr>
          <a:xfrm>
            <a:off x="7456551" y="3265727"/>
            <a:ext cx="67020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275B2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05</a:t>
            </a:r>
            <a:endParaRPr lang="ko-KR" altLang="en-US" sz="2400" b="1" dirty="0">
              <a:solidFill>
                <a:srgbClr val="275B29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6829EB-8F9D-3781-344B-D56EB78D4656}"/>
              </a:ext>
            </a:extLst>
          </p:cNvPr>
          <p:cNvSpPr txBox="1"/>
          <p:nvPr/>
        </p:nvSpPr>
        <p:spPr>
          <a:xfrm>
            <a:off x="7456551" y="4772641"/>
            <a:ext cx="67020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275B2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06</a:t>
            </a:r>
            <a:endParaRPr lang="ko-KR" altLang="en-US" sz="2400" b="1" dirty="0">
              <a:solidFill>
                <a:srgbClr val="275B29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9FA7B7-9632-74A7-E773-2C442D31766D}"/>
              </a:ext>
            </a:extLst>
          </p:cNvPr>
          <p:cNvSpPr txBox="1"/>
          <p:nvPr/>
        </p:nvSpPr>
        <p:spPr>
          <a:xfrm>
            <a:off x="2978311" y="1822292"/>
            <a:ext cx="1458108" cy="473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defTabSz="91435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연구배경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D146F8-212D-D6E1-EFC4-D99ADC05EBEE}"/>
              </a:ext>
            </a:extLst>
          </p:cNvPr>
          <p:cNvSpPr txBox="1"/>
          <p:nvPr/>
        </p:nvSpPr>
        <p:spPr>
          <a:xfrm>
            <a:off x="2978311" y="3323185"/>
            <a:ext cx="1458108" cy="473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defTabSz="91435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선행연구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9F3FD6-21EB-64B0-2E0B-A77FA6929076}"/>
              </a:ext>
            </a:extLst>
          </p:cNvPr>
          <p:cNvSpPr txBox="1"/>
          <p:nvPr/>
        </p:nvSpPr>
        <p:spPr>
          <a:xfrm>
            <a:off x="2978311" y="4824654"/>
            <a:ext cx="1458108" cy="473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defTabSz="91435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제안 방법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02E561-C0FF-977A-49F8-D04522543717}"/>
              </a:ext>
            </a:extLst>
          </p:cNvPr>
          <p:cNvSpPr txBox="1"/>
          <p:nvPr/>
        </p:nvSpPr>
        <p:spPr>
          <a:xfrm>
            <a:off x="8126759" y="1822292"/>
            <a:ext cx="1458108" cy="473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defTabSz="91435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실험결과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0FF016E-0E68-069A-D653-1894C4A261CA}"/>
              </a:ext>
            </a:extLst>
          </p:cNvPr>
          <p:cNvSpPr txBox="1"/>
          <p:nvPr/>
        </p:nvSpPr>
        <p:spPr>
          <a:xfrm>
            <a:off x="8126758" y="3323185"/>
            <a:ext cx="2263367" cy="473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defTabSz="91435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결론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C1308D-E7C1-1AFB-3CBF-7DEADB427E08}"/>
              </a:ext>
            </a:extLst>
          </p:cNvPr>
          <p:cNvSpPr txBox="1"/>
          <p:nvPr/>
        </p:nvSpPr>
        <p:spPr>
          <a:xfrm>
            <a:off x="8126759" y="4824654"/>
            <a:ext cx="1458108" cy="473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defTabSz="91435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참고문헌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4" name="Google Shape;160;p7">
            <a:extLst>
              <a:ext uri="{FF2B5EF4-FFF2-40B4-BE49-F238E27FC236}">
                <a16:creationId xmlns:a16="http://schemas.microsoft.com/office/drawing/2014/main" id="{F7A2A75F-3832-2383-6D2B-D8B554A75B4F}"/>
              </a:ext>
            </a:extLst>
          </p:cNvPr>
          <p:cNvSpPr/>
          <p:nvPr/>
        </p:nvSpPr>
        <p:spPr>
          <a:xfrm flipV="1">
            <a:off x="0" y="6710793"/>
            <a:ext cx="9566815" cy="147207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KoPubWorld돋움체 Medium" panose="00000600000000000000" pitchFamily="2" charset="-127"/>
              <a:ea typeface="KoPubWorld돋움체 Medium" panose="00000600000000000000" pitchFamily="2" charset="-127"/>
            </a:endParaRPr>
          </a:p>
        </p:txBody>
      </p:sp>
      <p:sp>
        <p:nvSpPr>
          <p:cNvPr id="25" name="Google Shape;161;p7">
            <a:extLst>
              <a:ext uri="{FF2B5EF4-FFF2-40B4-BE49-F238E27FC236}">
                <a16:creationId xmlns:a16="http://schemas.microsoft.com/office/drawing/2014/main" id="{394DAE94-874B-D8A5-E559-18D890A5A09E}"/>
              </a:ext>
            </a:extLst>
          </p:cNvPr>
          <p:cNvSpPr/>
          <p:nvPr/>
        </p:nvSpPr>
        <p:spPr>
          <a:xfrm flipV="1">
            <a:off x="9566760" y="6710218"/>
            <a:ext cx="2625240" cy="147782"/>
          </a:xfrm>
          <a:custGeom>
            <a:avLst/>
            <a:gdLst/>
            <a:ahLst/>
            <a:cxnLst/>
            <a:rect l="l" t="t" r="r" b="b"/>
            <a:pathLst>
              <a:path w="4327525" h="163195" extrusionOk="0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KoPubWorld돋움체 Medium" panose="00000600000000000000" pitchFamily="2" charset="-127"/>
              <a:ea typeface="KoPubWorld돋움체 Medium" panose="00000600000000000000" pitchFamily="2" charset="-127"/>
            </a:endParaRPr>
          </a:p>
        </p:txBody>
      </p:sp>
      <p:pic>
        <p:nvPicPr>
          <p:cNvPr id="28" name="Picture 2" descr="서울과학기술대학교">
            <a:extLst>
              <a:ext uri="{FF2B5EF4-FFF2-40B4-BE49-F238E27FC236}">
                <a16:creationId xmlns:a16="http://schemas.microsoft.com/office/drawing/2014/main" id="{CFEC6FD4-C003-3B99-219B-2EF42229B6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830"/>
          <a:stretch/>
        </p:blipFill>
        <p:spPr bwMode="auto">
          <a:xfrm>
            <a:off x="9900709" y="219849"/>
            <a:ext cx="1374254" cy="644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">
            <a:extLst>
              <a:ext uri="{FF2B5EF4-FFF2-40B4-BE49-F238E27FC236}">
                <a16:creationId xmlns:a16="http://schemas.microsoft.com/office/drawing/2014/main" id="{04431F35-7D8A-A7A7-4A9D-620FD3D63C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496" b="13987"/>
          <a:stretch/>
        </p:blipFill>
        <p:spPr bwMode="auto">
          <a:xfrm>
            <a:off x="11098337" y="278239"/>
            <a:ext cx="966119" cy="484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7925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43667C21-76BB-9CAF-14B2-B5A4F2874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">
            <a:extLst>
              <a:ext uri="{FF2B5EF4-FFF2-40B4-BE49-F238E27FC236}">
                <a16:creationId xmlns:a16="http://schemas.microsoft.com/office/drawing/2014/main" id="{F72136BB-8D75-2334-2369-CB1BF27599A0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xfrm>
            <a:off x="11581397" y="6240318"/>
            <a:ext cx="4160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0D43FB-7E4D-2A24-DA7E-9A94BF1745A1}"/>
              </a:ext>
            </a:extLst>
          </p:cNvPr>
          <p:cNvSpPr txBox="1"/>
          <p:nvPr/>
        </p:nvSpPr>
        <p:spPr>
          <a:xfrm>
            <a:off x="217001" y="145029"/>
            <a:ext cx="670208" cy="684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b="1" dirty="0">
                <a:solidFill>
                  <a:srgbClr val="275B2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01</a:t>
            </a:r>
            <a:endParaRPr lang="ko-KR" altLang="en-US" sz="2800" b="1" dirty="0">
              <a:solidFill>
                <a:srgbClr val="275B29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1E6ABC-C888-1354-9B95-0FBCCD550094}"/>
              </a:ext>
            </a:extLst>
          </p:cNvPr>
          <p:cNvSpPr txBox="1"/>
          <p:nvPr/>
        </p:nvSpPr>
        <p:spPr>
          <a:xfrm>
            <a:off x="725727" y="233504"/>
            <a:ext cx="1458108" cy="51552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R="0" lvl="0" defTabSz="91435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연구배경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4" name="Google Shape;160;p7">
            <a:extLst>
              <a:ext uri="{FF2B5EF4-FFF2-40B4-BE49-F238E27FC236}">
                <a16:creationId xmlns:a16="http://schemas.microsoft.com/office/drawing/2014/main" id="{76C0C7FC-6A48-CDBB-285D-9841B7407667}"/>
              </a:ext>
            </a:extLst>
          </p:cNvPr>
          <p:cNvSpPr/>
          <p:nvPr/>
        </p:nvSpPr>
        <p:spPr>
          <a:xfrm flipV="1">
            <a:off x="0" y="6710793"/>
            <a:ext cx="9566815" cy="147207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KoPubWorld돋움체 Medium" panose="00000600000000000000" pitchFamily="2" charset="-127"/>
              <a:ea typeface="KoPubWorld돋움체 Medium" panose="00000600000000000000" pitchFamily="2" charset="-127"/>
            </a:endParaRPr>
          </a:p>
        </p:txBody>
      </p:sp>
      <p:sp>
        <p:nvSpPr>
          <p:cNvPr id="25" name="Google Shape;161;p7">
            <a:extLst>
              <a:ext uri="{FF2B5EF4-FFF2-40B4-BE49-F238E27FC236}">
                <a16:creationId xmlns:a16="http://schemas.microsoft.com/office/drawing/2014/main" id="{B4710F1E-7FFB-6F47-291C-5DB9F0C86228}"/>
              </a:ext>
            </a:extLst>
          </p:cNvPr>
          <p:cNvSpPr/>
          <p:nvPr/>
        </p:nvSpPr>
        <p:spPr>
          <a:xfrm flipV="1">
            <a:off x="9566760" y="6710218"/>
            <a:ext cx="2625240" cy="147782"/>
          </a:xfrm>
          <a:custGeom>
            <a:avLst/>
            <a:gdLst/>
            <a:ahLst/>
            <a:cxnLst/>
            <a:rect l="l" t="t" r="r" b="b"/>
            <a:pathLst>
              <a:path w="4327525" h="163195" extrusionOk="0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KoPubWorld돋움체 Medium" panose="00000600000000000000" pitchFamily="2" charset="-127"/>
              <a:ea typeface="KoPubWorld돋움체 Medium" panose="00000600000000000000" pitchFamily="2" charset="-127"/>
            </a:endParaRPr>
          </a:p>
        </p:txBody>
      </p:sp>
      <p:pic>
        <p:nvPicPr>
          <p:cNvPr id="28" name="Picture 2" descr="서울과학기술대학교">
            <a:extLst>
              <a:ext uri="{FF2B5EF4-FFF2-40B4-BE49-F238E27FC236}">
                <a16:creationId xmlns:a16="http://schemas.microsoft.com/office/drawing/2014/main" id="{397C8101-FB80-AC2F-DFA0-D50B10A3337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830"/>
          <a:stretch/>
        </p:blipFill>
        <p:spPr bwMode="auto">
          <a:xfrm>
            <a:off x="9900709" y="187565"/>
            <a:ext cx="1279007" cy="599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">
            <a:extLst>
              <a:ext uri="{FF2B5EF4-FFF2-40B4-BE49-F238E27FC236}">
                <a16:creationId xmlns:a16="http://schemas.microsoft.com/office/drawing/2014/main" id="{366396CC-0217-3410-C335-8B0A11012E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496" b="13987"/>
          <a:stretch/>
        </p:blipFill>
        <p:spPr bwMode="auto">
          <a:xfrm>
            <a:off x="11098337" y="240577"/>
            <a:ext cx="899159" cy="450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160;p7">
            <a:extLst>
              <a:ext uri="{FF2B5EF4-FFF2-40B4-BE49-F238E27FC236}">
                <a16:creationId xmlns:a16="http://schemas.microsoft.com/office/drawing/2014/main" id="{74B5F88C-A2EF-58A6-4BC0-3DA725B1A9B6}"/>
              </a:ext>
            </a:extLst>
          </p:cNvPr>
          <p:cNvSpPr/>
          <p:nvPr/>
        </p:nvSpPr>
        <p:spPr>
          <a:xfrm>
            <a:off x="152400" y="879556"/>
            <a:ext cx="11912056" cy="60090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KoPubWorld돋움체 Medium" panose="00000600000000000000" pitchFamily="2" charset="-127"/>
              <a:ea typeface="KoPubWorld돋움체 Medium" panose="00000600000000000000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168F57-35A9-58F4-8005-0889C2BEDAA6}"/>
              </a:ext>
            </a:extLst>
          </p:cNvPr>
          <p:cNvSpPr txBox="1"/>
          <p:nvPr/>
        </p:nvSpPr>
        <p:spPr>
          <a:xfrm>
            <a:off x="217001" y="1170241"/>
            <a:ext cx="3395332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R="0" lvl="0" defTabSz="91435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75B29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머신 비전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275B29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(Machine Vision)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94C2AC-004B-F870-F184-791E0F189450}"/>
              </a:ext>
            </a:extLst>
          </p:cNvPr>
          <p:cNvSpPr txBox="1"/>
          <p:nvPr/>
        </p:nvSpPr>
        <p:spPr>
          <a:xfrm>
            <a:off x="217001" y="3357139"/>
            <a:ext cx="8003546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R="0" lvl="0" defTabSz="91435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75B29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머신 비전을 활용한 결함 탐지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275B29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(Defect classification)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6B6A7D-32B2-6EAF-C23C-D986C4E2A4C9}"/>
              </a:ext>
            </a:extLst>
          </p:cNvPr>
          <p:cNvSpPr txBox="1"/>
          <p:nvPr/>
        </p:nvSpPr>
        <p:spPr>
          <a:xfrm>
            <a:off x="377983" y="1700406"/>
            <a:ext cx="11597016" cy="1034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기계에 인간이 가지고 있는 시각과 판단 기능을 부여하는 기술</a:t>
            </a:r>
          </a:p>
          <a:p>
            <a:pPr marL="285750" marR="0" lvl="0" indent="-28575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사람의 시각 및 지각 기능을 하드웨어와 소프트웨어가 탑재된 시스템이 대신 처리</a:t>
            </a:r>
          </a:p>
          <a:p>
            <a:pPr marL="285750" marR="0" lvl="0" indent="-28575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시스템의 구성 요소로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검사물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조명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렌즈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카메라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프로세서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소프트웨어가 존재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AD76ED-1ABC-6CDC-2AA3-DFBA15EE029C}"/>
              </a:ext>
            </a:extLst>
          </p:cNvPr>
          <p:cNvSpPr txBox="1"/>
          <p:nvPr/>
        </p:nvSpPr>
        <p:spPr>
          <a:xfrm>
            <a:off x="377983" y="3860300"/>
            <a:ext cx="9399760" cy="1681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전통적인 기계 학습을 통해 불량 이미지에 대한 특징을 추출하여 결함 탐지 수행 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285750" marR="0" lvl="0" indent="-28575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제품 품질과 전반적인 시스템 효율성을 개선하며 제조 라인의 처리량 향상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285750" marR="0" lvl="0" indent="-28575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인건비를 절감하고 근로자가 더 높은 가치의 작업에 집중할 수 있도록 함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285750" marR="0" lvl="0" indent="-28575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최근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딥러닝을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도입함으로써 비전 검사 능률이 크게 향상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285750" marR="0" lvl="0" indent="-28575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687118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0F971801-A038-73DF-5E4E-E0AE9606C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">
            <a:extLst>
              <a:ext uri="{FF2B5EF4-FFF2-40B4-BE49-F238E27FC236}">
                <a16:creationId xmlns:a16="http://schemas.microsoft.com/office/drawing/2014/main" id="{D69AA5C7-737D-DCAC-21E5-D5104300ED3F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xfrm>
            <a:off x="11581397" y="6240318"/>
            <a:ext cx="4160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C3C2D5-6B87-B6F4-726E-8C46EC1FFDB0}"/>
              </a:ext>
            </a:extLst>
          </p:cNvPr>
          <p:cNvSpPr txBox="1"/>
          <p:nvPr/>
        </p:nvSpPr>
        <p:spPr>
          <a:xfrm>
            <a:off x="217001" y="145029"/>
            <a:ext cx="670208" cy="684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b="1" dirty="0">
                <a:solidFill>
                  <a:srgbClr val="275B2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01</a:t>
            </a:r>
            <a:endParaRPr lang="ko-KR" altLang="en-US" sz="2800" b="1" dirty="0">
              <a:solidFill>
                <a:srgbClr val="275B29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1923DC-3AF4-4E6E-A3B1-2DEC909D0BBD}"/>
              </a:ext>
            </a:extLst>
          </p:cNvPr>
          <p:cNvSpPr txBox="1"/>
          <p:nvPr/>
        </p:nvSpPr>
        <p:spPr>
          <a:xfrm>
            <a:off x="725727" y="233504"/>
            <a:ext cx="1458108" cy="51552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R="0" lvl="0" defTabSz="91435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연구배경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4" name="Google Shape;160;p7">
            <a:extLst>
              <a:ext uri="{FF2B5EF4-FFF2-40B4-BE49-F238E27FC236}">
                <a16:creationId xmlns:a16="http://schemas.microsoft.com/office/drawing/2014/main" id="{2F8A5323-6B75-4536-DD79-B651F111E6A2}"/>
              </a:ext>
            </a:extLst>
          </p:cNvPr>
          <p:cNvSpPr/>
          <p:nvPr/>
        </p:nvSpPr>
        <p:spPr>
          <a:xfrm flipV="1">
            <a:off x="0" y="6710793"/>
            <a:ext cx="9566815" cy="147207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KoPubWorld돋움체 Medium" panose="00000600000000000000" pitchFamily="2" charset="-127"/>
              <a:ea typeface="KoPubWorld돋움체 Medium" panose="00000600000000000000" pitchFamily="2" charset="-127"/>
            </a:endParaRPr>
          </a:p>
        </p:txBody>
      </p:sp>
      <p:sp>
        <p:nvSpPr>
          <p:cNvPr id="25" name="Google Shape;161;p7">
            <a:extLst>
              <a:ext uri="{FF2B5EF4-FFF2-40B4-BE49-F238E27FC236}">
                <a16:creationId xmlns:a16="http://schemas.microsoft.com/office/drawing/2014/main" id="{17353C97-12CB-7405-5D30-45EFBFFEDBA7}"/>
              </a:ext>
            </a:extLst>
          </p:cNvPr>
          <p:cNvSpPr/>
          <p:nvPr/>
        </p:nvSpPr>
        <p:spPr>
          <a:xfrm flipV="1">
            <a:off x="9566760" y="6710218"/>
            <a:ext cx="2625240" cy="147782"/>
          </a:xfrm>
          <a:custGeom>
            <a:avLst/>
            <a:gdLst/>
            <a:ahLst/>
            <a:cxnLst/>
            <a:rect l="l" t="t" r="r" b="b"/>
            <a:pathLst>
              <a:path w="4327525" h="163195" extrusionOk="0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KoPubWorld돋움체 Medium" panose="00000600000000000000" pitchFamily="2" charset="-127"/>
              <a:ea typeface="KoPubWorld돋움체 Medium" panose="00000600000000000000" pitchFamily="2" charset="-127"/>
            </a:endParaRPr>
          </a:p>
        </p:txBody>
      </p:sp>
      <p:pic>
        <p:nvPicPr>
          <p:cNvPr id="28" name="Picture 2" descr="서울과학기술대학교">
            <a:extLst>
              <a:ext uri="{FF2B5EF4-FFF2-40B4-BE49-F238E27FC236}">
                <a16:creationId xmlns:a16="http://schemas.microsoft.com/office/drawing/2014/main" id="{FB5175C4-C840-49B6-74EC-8044602603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830"/>
          <a:stretch/>
        </p:blipFill>
        <p:spPr bwMode="auto">
          <a:xfrm>
            <a:off x="9900709" y="187565"/>
            <a:ext cx="1279007" cy="599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">
            <a:extLst>
              <a:ext uri="{FF2B5EF4-FFF2-40B4-BE49-F238E27FC236}">
                <a16:creationId xmlns:a16="http://schemas.microsoft.com/office/drawing/2014/main" id="{E291540E-DCD7-FCA1-83A2-00A0A29ECD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496" b="13987"/>
          <a:stretch/>
        </p:blipFill>
        <p:spPr bwMode="auto">
          <a:xfrm>
            <a:off x="11098337" y="240577"/>
            <a:ext cx="899159" cy="450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160;p7">
            <a:extLst>
              <a:ext uri="{FF2B5EF4-FFF2-40B4-BE49-F238E27FC236}">
                <a16:creationId xmlns:a16="http://schemas.microsoft.com/office/drawing/2014/main" id="{FF854468-CEA0-D0F6-CDD8-C460A49E9A3B}"/>
              </a:ext>
            </a:extLst>
          </p:cNvPr>
          <p:cNvSpPr/>
          <p:nvPr/>
        </p:nvSpPr>
        <p:spPr>
          <a:xfrm>
            <a:off x="152400" y="879556"/>
            <a:ext cx="11912056" cy="60090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KoPubWorld돋움체 Medium" panose="00000600000000000000" pitchFamily="2" charset="-127"/>
              <a:ea typeface="KoPubWorld돋움체 Medium" panose="00000600000000000000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24002E-A30F-CB6F-C550-ACD92F597969}"/>
              </a:ext>
            </a:extLst>
          </p:cNvPr>
          <p:cNvSpPr txBox="1"/>
          <p:nvPr/>
        </p:nvSpPr>
        <p:spPr>
          <a:xfrm>
            <a:off x="217001" y="1170241"/>
            <a:ext cx="1458108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R="0" lvl="0" defTabSz="91435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75B29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연구 동기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rgbClr val="275B29"/>
              </a:solidFill>
              <a:effectLst/>
              <a:uLnTx/>
              <a:uFillTx/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CA4B4E-1821-1B5E-73CD-B9B139E42207}"/>
              </a:ext>
            </a:extLst>
          </p:cNvPr>
          <p:cNvSpPr txBox="1"/>
          <p:nvPr/>
        </p:nvSpPr>
        <p:spPr>
          <a:xfrm>
            <a:off x="217001" y="5547557"/>
            <a:ext cx="1458108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R="0" lvl="0" defTabSz="91435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75B29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연구 목적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rgbClr val="275B29"/>
              </a:solidFill>
              <a:effectLst/>
              <a:uLnTx/>
              <a:uFillTx/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AD7E09-E05A-2473-9F72-4BE60F70359A}"/>
              </a:ext>
            </a:extLst>
          </p:cNvPr>
          <p:cNvSpPr txBox="1"/>
          <p:nvPr/>
        </p:nvSpPr>
        <p:spPr>
          <a:xfrm>
            <a:off x="377983" y="1700406"/>
            <a:ext cx="11597016" cy="232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딥러닝 기반의 결함 탐지 모델은 다른 생산 라인에 적용할 때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예측 성능이 떨어지는 문제점을 가짐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285750" marR="0" lvl="0" indent="-28575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제조 현장의 각 생산 라인에서 불량 검출을 위해 촬영하는 환경은 조명의 세기와 종류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카메라의 위치와 각도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장애물의 존재 등으로 인해 미세하게 다르므로</a:t>
            </a:r>
            <a:br>
              <a:rPr lang="en-US" altLang="ko-KR" sz="1400" noProof="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</a:b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각 생산 라인에서 촬영된 이미지들이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생산 라인마다 각자 다른 촬영 환경에 영향을 받음</a:t>
            </a:r>
            <a:endParaRPr lang="en-US" altLang="ko-KR" sz="1400" b="1" noProof="0" dirty="0">
              <a:solidFill>
                <a:prstClr val="black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R="0" lvl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1400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→ 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딥러닝 기반 머신 비전 모델은 훈련 단계에서 학습한 이미지와 다른 촬영 환경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(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도메인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)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에서 수집한 인스턴스가 들어올 경우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도메인 변화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(domain shift)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로 인해</a:t>
            </a:r>
            <a:b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</a:b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  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성능 저하가 발생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285750" marR="0" lvl="0" indent="-28575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촬영 환경 변화에 따른 성능 저하를 막기 위해선 각 생산 라인에 대해 별도의 결함 분류 모델을 구축하고 자주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재훈련하는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것이 이상적</a:t>
            </a:r>
            <a:r>
              <a:rPr lang="ko-KR" altLang="en-US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이지만</a:t>
            </a:r>
            <a:br>
              <a:rPr lang="en-US" altLang="ko-KR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</a:b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학습에 사용될 충분한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라벨링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데이터를 수집하는데 필요한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비용적 부담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및 새로운 생산 라인마다 </a:t>
            </a:r>
            <a:r>
              <a:rPr kumimoji="0" lang="ko-KR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라벨링된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데이터를 수집할 인프라 구축의 어려움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9C489E-C2F0-D791-6F33-AD152226051A}"/>
              </a:ext>
            </a:extLst>
          </p:cNvPr>
          <p:cNvSpPr txBox="1"/>
          <p:nvPr/>
        </p:nvSpPr>
        <p:spPr>
          <a:xfrm>
            <a:off x="377983" y="6050718"/>
            <a:ext cx="6097508" cy="388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도메인 변화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40AF30D9-6058-7AAB-2D5E-40A6F39037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7914" y="4127244"/>
            <a:ext cx="4381028" cy="2336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480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37F0590-EFDF-8637-6C49-9282E8D00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F367D0-FA48-FDB5-1583-973E260D2121}"/>
              </a:ext>
            </a:extLst>
          </p:cNvPr>
          <p:cNvSpPr txBox="1"/>
          <p:nvPr/>
        </p:nvSpPr>
        <p:spPr>
          <a:xfrm>
            <a:off x="217001" y="145029"/>
            <a:ext cx="670208" cy="684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b="1" dirty="0">
                <a:solidFill>
                  <a:srgbClr val="275B2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02</a:t>
            </a:r>
            <a:endParaRPr lang="ko-KR" altLang="en-US" sz="2800" b="1" dirty="0">
              <a:solidFill>
                <a:srgbClr val="275B29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EFFEFD-C964-8EF5-1171-F2FC47B3D6C3}"/>
              </a:ext>
            </a:extLst>
          </p:cNvPr>
          <p:cNvSpPr txBox="1"/>
          <p:nvPr/>
        </p:nvSpPr>
        <p:spPr>
          <a:xfrm>
            <a:off x="725727" y="233504"/>
            <a:ext cx="7992760" cy="51552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R="0" lvl="0" defTabSz="91435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선행연구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– Fully Test Time Adaptation</a:t>
            </a:r>
          </a:p>
        </p:txBody>
      </p:sp>
      <p:sp>
        <p:nvSpPr>
          <p:cNvPr id="5" name="Google Shape;160;p7">
            <a:extLst>
              <a:ext uri="{FF2B5EF4-FFF2-40B4-BE49-F238E27FC236}">
                <a16:creationId xmlns:a16="http://schemas.microsoft.com/office/drawing/2014/main" id="{35AAE198-1F86-CF9C-BA36-5EE115467CBB}"/>
              </a:ext>
            </a:extLst>
          </p:cNvPr>
          <p:cNvSpPr/>
          <p:nvPr/>
        </p:nvSpPr>
        <p:spPr>
          <a:xfrm flipV="1">
            <a:off x="0" y="6710793"/>
            <a:ext cx="9566815" cy="147207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KoPubWorld돋움체 Medium" panose="00000600000000000000" pitchFamily="2" charset="-127"/>
              <a:ea typeface="KoPubWorld돋움체 Medium" panose="00000600000000000000" pitchFamily="2" charset="-127"/>
            </a:endParaRPr>
          </a:p>
        </p:txBody>
      </p:sp>
      <p:sp>
        <p:nvSpPr>
          <p:cNvPr id="6" name="Google Shape;161;p7">
            <a:extLst>
              <a:ext uri="{FF2B5EF4-FFF2-40B4-BE49-F238E27FC236}">
                <a16:creationId xmlns:a16="http://schemas.microsoft.com/office/drawing/2014/main" id="{F48ABE89-7473-4692-5224-31BABD52FFCA}"/>
              </a:ext>
            </a:extLst>
          </p:cNvPr>
          <p:cNvSpPr/>
          <p:nvPr/>
        </p:nvSpPr>
        <p:spPr>
          <a:xfrm flipV="1">
            <a:off x="9566760" y="6710218"/>
            <a:ext cx="2625240" cy="147782"/>
          </a:xfrm>
          <a:custGeom>
            <a:avLst/>
            <a:gdLst/>
            <a:ahLst/>
            <a:cxnLst/>
            <a:rect l="l" t="t" r="r" b="b"/>
            <a:pathLst>
              <a:path w="4327525" h="163195" extrusionOk="0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KoPubWorld돋움체 Medium" panose="00000600000000000000" pitchFamily="2" charset="-127"/>
              <a:ea typeface="KoPubWorld돋움체 Medium" panose="00000600000000000000" pitchFamily="2" charset="-127"/>
            </a:endParaRPr>
          </a:p>
        </p:txBody>
      </p:sp>
      <p:pic>
        <p:nvPicPr>
          <p:cNvPr id="7" name="Picture 2" descr="서울과학기술대학교">
            <a:extLst>
              <a:ext uri="{FF2B5EF4-FFF2-40B4-BE49-F238E27FC236}">
                <a16:creationId xmlns:a16="http://schemas.microsoft.com/office/drawing/2014/main" id="{72E27D8A-EF5A-E20C-FF29-A000E94B3E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830"/>
          <a:stretch/>
        </p:blipFill>
        <p:spPr bwMode="auto">
          <a:xfrm>
            <a:off x="9900709" y="187565"/>
            <a:ext cx="1279007" cy="599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63D4A251-9E3C-EC2D-84E3-E3CA8E04CC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496" b="13987"/>
          <a:stretch/>
        </p:blipFill>
        <p:spPr bwMode="auto">
          <a:xfrm>
            <a:off x="11098337" y="240577"/>
            <a:ext cx="899159" cy="450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160;p7">
            <a:extLst>
              <a:ext uri="{FF2B5EF4-FFF2-40B4-BE49-F238E27FC236}">
                <a16:creationId xmlns:a16="http://schemas.microsoft.com/office/drawing/2014/main" id="{61105609-901A-01DC-3697-B43D69651E53}"/>
              </a:ext>
            </a:extLst>
          </p:cNvPr>
          <p:cNvSpPr/>
          <p:nvPr/>
        </p:nvSpPr>
        <p:spPr>
          <a:xfrm>
            <a:off x="152400" y="879556"/>
            <a:ext cx="11912056" cy="60090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KoPubWorld돋움체 Medium" panose="00000600000000000000" pitchFamily="2" charset="-127"/>
              <a:ea typeface="KoPubWorld돋움체 Medium" panose="00000600000000000000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A8D6D5-F355-C965-CB59-DE6BEBEEEE01}"/>
              </a:ext>
            </a:extLst>
          </p:cNvPr>
          <p:cNvSpPr txBox="1"/>
          <p:nvPr/>
        </p:nvSpPr>
        <p:spPr>
          <a:xfrm>
            <a:off x="217001" y="1170241"/>
            <a:ext cx="4264464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R="0" lvl="0" defTabSz="91435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275B29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Domain Shift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75B29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를 해결하기 위한 다양한 방법들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rgbClr val="275B29"/>
              </a:solidFill>
              <a:effectLst/>
              <a:uLnTx/>
              <a:uFillTx/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771024-A031-16FB-4DFB-3C6D3C42C6CB}"/>
              </a:ext>
            </a:extLst>
          </p:cNvPr>
          <p:cNvSpPr txBox="1"/>
          <p:nvPr/>
        </p:nvSpPr>
        <p:spPr>
          <a:xfrm>
            <a:off x="377983" y="1700406"/>
            <a:ext cx="11255720" cy="4266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altLang="ko-KR" sz="1400" b="1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Fine Tuning</a:t>
            </a:r>
            <a:br>
              <a:rPr lang="en-US" altLang="ko-KR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</a:br>
            <a:r>
              <a:rPr lang="en-US" altLang="ko-KR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: </a:t>
            </a:r>
            <a:r>
              <a:rPr lang="ko-KR" altLang="en-US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사전 학습된 모델을 새로운 레이블이 있는 타겟 데이터에 대해 </a:t>
            </a:r>
            <a:r>
              <a:rPr lang="ko-KR" altLang="en-US" sz="1400" dirty="0" err="1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재학습</a:t>
            </a:r>
            <a:br>
              <a:rPr lang="en-US" altLang="ko-KR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</a:br>
            <a:r>
              <a:rPr lang="en-US" altLang="ko-KR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: </a:t>
            </a:r>
            <a:r>
              <a:rPr lang="ko-KR" altLang="en-US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타겟 데이터에 대한 레이블 필요</a:t>
            </a:r>
            <a:endParaRPr lang="en-US" altLang="ko-KR" sz="1400" dirty="0">
              <a:solidFill>
                <a:prstClr val="black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285750" marR="0" lvl="0" indent="-28575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Domain Adaptation</a:t>
            </a:r>
            <a:b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</a:b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: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라벨이 있는 소스 데이터와 라벨이 없는 타겟 데이터를 함께 사용하여 분포 차이를 줄이는 방식</a:t>
            </a:r>
            <a:b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</a:b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: </a:t>
            </a:r>
            <a:r>
              <a:rPr lang="ko-KR" altLang="en-US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훈련 시점부터 타겟 데이터에 대한 사전 정보를 필요로 함</a:t>
            </a:r>
            <a:endParaRPr lang="en-US" altLang="ko-KR" sz="1400" dirty="0">
              <a:solidFill>
                <a:prstClr val="black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285750" marR="0" lvl="0" indent="-28575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altLang="ko-KR" sz="1400" b="1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Test Time training</a:t>
            </a:r>
            <a:br>
              <a:rPr lang="en-US" altLang="ko-KR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</a:br>
            <a:r>
              <a:rPr lang="en-US" altLang="ko-KR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: </a:t>
            </a:r>
            <a:r>
              <a:rPr lang="ko-KR" altLang="en-US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변화된 타겟에서도 적응할 수 있도록 사전 학습 진행</a:t>
            </a:r>
            <a:br>
              <a:rPr lang="en-US" altLang="ko-KR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</a:br>
            <a:r>
              <a:rPr lang="en-US" altLang="ko-KR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: </a:t>
            </a:r>
            <a:r>
              <a:rPr lang="ko-KR" altLang="en-US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훈련 시점 부터 타겟 분포에 맞게 미리 학습 설계 필요</a:t>
            </a:r>
            <a:endParaRPr lang="en-US" altLang="ko-KR" sz="1400" dirty="0">
              <a:solidFill>
                <a:prstClr val="black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285750" marR="0" lvl="0" indent="-28575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Fully Test Time Adaptation</a:t>
            </a:r>
            <a:b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</a:b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: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훈련 시에는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source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만을 이용하여 모델 학습 후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추후 </a:t>
            </a:r>
            <a:r>
              <a:rPr lang="ko-KR" altLang="en-US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타겟에 맞추어 즉각적으로 파라미터 업데이트</a:t>
            </a:r>
            <a:br>
              <a:rPr lang="en-US" altLang="ko-KR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</a:br>
            <a:r>
              <a:rPr lang="en-US" altLang="ko-KR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:</a:t>
            </a:r>
            <a:r>
              <a:rPr lang="ko-KR" altLang="en-US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타겟에 대한 정보를 미리 필요로 하지 않으며 테스트 데이터에 유연하게 적응</a:t>
            </a:r>
            <a:br>
              <a:rPr lang="en-US" altLang="ko-KR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</a:br>
            <a:r>
              <a:rPr lang="en-US" altLang="ko-KR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: </a:t>
            </a:r>
            <a:r>
              <a:rPr lang="ko-KR" altLang="en-US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소스 데이터를 다시 활용할 수 없는 제한적인 현실 상황에서 가장 유용하며</a:t>
            </a:r>
            <a:r>
              <a:rPr lang="en-US" altLang="ko-KR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계산적으로도 효율적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09C1AFB-1E86-9331-A832-CBDA5468DD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/>
        </p:blipFill>
        <p:spPr bwMode="auto">
          <a:xfrm>
            <a:off x="5294486" y="3585658"/>
            <a:ext cx="6185309" cy="1010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7172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13394-FE3E-37E0-12DE-DC0A104A8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0261AB7-DD51-33FE-6FCB-C172FEDC6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28FDFC-D314-5C7F-828E-C3F79A03C5BF}"/>
              </a:ext>
            </a:extLst>
          </p:cNvPr>
          <p:cNvSpPr txBox="1"/>
          <p:nvPr/>
        </p:nvSpPr>
        <p:spPr>
          <a:xfrm>
            <a:off x="217001" y="145029"/>
            <a:ext cx="670208" cy="684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b="1" dirty="0">
                <a:solidFill>
                  <a:srgbClr val="275B2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02</a:t>
            </a:r>
            <a:endParaRPr lang="ko-KR" altLang="en-US" sz="2800" b="1" dirty="0">
              <a:solidFill>
                <a:srgbClr val="275B29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A8FF49-C9B7-0CBD-B168-FD5C35436C9F}"/>
              </a:ext>
            </a:extLst>
          </p:cNvPr>
          <p:cNvSpPr txBox="1"/>
          <p:nvPr/>
        </p:nvSpPr>
        <p:spPr>
          <a:xfrm>
            <a:off x="725727" y="233504"/>
            <a:ext cx="6299762" cy="51552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R="0" lvl="0" defTabSz="91435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선행연구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5" name="Google Shape;160;p7">
            <a:extLst>
              <a:ext uri="{FF2B5EF4-FFF2-40B4-BE49-F238E27FC236}">
                <a16:creationId xmlns:a16="http://schemas.microsoft.com/office/drawing/2014/main" id="{08D2BB71-8EA5-D28B-AED4-BF98927A7899}"/>
              </a:ext>
            </a:extLst>
          </p:cNvPr>
          <p:cNvSpPr/>
          <p:nvPr/>
        </p:nvSpPr>
        <p:spPr>
          <a:xfrm flipV="1">
            <a:off x="0" y="6710793"/>
            <a:ext cx="9566815" cy="147207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KoPubWorld돋움체 Medium" panose="00000600000000000000" pitchFamily="2" charset="-127"/>
              <a:ea typeface="KoPubWorld돋움체 Medium" panose="00000600000000000000" pitchFamily="2" charset="-127"/>
            </a:endParaRPr>
          </a:p>
        </p:txBody>
      </p:sp>
      <p:sp>
        <p:nvSpPr>
          <p:cNvPr id="6" name="Google Shape;161;p7">
            <a:extLst>
              <a:ext uri="{FF2B5EF4-FFF2-40B4-BE49-F238E27FC236}">
                <a16:creationId xmlns:a16="http://schemas.microsoft.com/office/drawing/2014/main" id="{90050B7E-DEF5-570C-81B6-CB41EE435DEE}"/>
              </a:ext>
            </a:extLst>
          </p:cNvPr>
          <p:cNvSpPr/>
          <p:nvPr/>
        </p:nvSpPr>
        <p:spPr>
          <a:xfrm flipV="1">
            <a:off x="9566760" y="6710218"/>
            <a:ext cx="2625240" cy="147782"/>
          </a:xfrm>
          <a:custGeom>
            <a:avLst/>
            <a:gdLst/>
            <a:ahLst/>
            <a:cxnLst/>
            <a:rect l="l" t="t" r="r" b="b"/>
            <a:pathLst>
              <a:path w="4327525" h="163195" extrusionOk="0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KoPubWorld돋움체 Medium" panose="00000600000000000000" pitchFamily="2" charset="-127"/>
              <a:ea typeface="KoPubWorld돋움체 Medium" panose="00000600000000000000" pitchFamily="2" charset="-127"/>
            </a:endParaRPr>
          </a:p>
        </p:txBody>
      </p:sp>
      <p:pic>
        <p:nvPicPr>
          <p:cNvPr id="7" name="Picture 2" descr="서울과학기술대학교">
            <a:extLst>
              <a:ext uri="{FF2B5EF4-FFF2-40B4-BE49-F238E27FC236}">
                <a16:creationId xmlns:a16="http://schemas.microsoft.com/office/drawing/2014/main" id="{63FE79AA-6734-2CF7-2EFB-269C4A627F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830"/>
          <a:stretch/>
        </p:blipFill>
        <p:spPr bwMode="auto">
          <a:xfrm>
            <a:off x="9900709" y="187565"/>
            <a:ext cx="1279007" cy="599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F743BB30-8D65-BE3A-3150-2634CF26EC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496" b="13987"/>
          <a:stretch/>
        </p:blipFill>
        <p:spPr bwMode="auto">
          <a:xfrm>
            <a:off x="11098337" y="240577"/>
            <a:ext cx="899159" cy="450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160;p7">
            <a:extLst>
              <a:ext uri="{FF2B5EF4-FFF2-40B4-BE49-F238E27FC236}">
                <a16:creationId xmlns:a16="http://schemas.microsoft.com/office/drawing/2014/main" id="{8719ED8C-39E5-00AA-C93E-652F0FF9DCFB}"/>
              </a:ext>
            </a:extLst>
          </p:cNvPr>
          <p:cNvSpPr/>
          <p:nvPr/>
        </p:nvSpPr>
        <p:spPr>
          <a:xfrm>
            <a:off x="152400" y="879556"/>
            <a:ext cx="11912056" cy="60090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KoPubWorld돋움체 Medium" panose="00000600000000000000" pitchFamily="2" charset="-127"/>
              <a:ea typeface="KoPubWorld돋움체 Medium" panose="00000600000000000000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F916D1-E0FF-610A-DC3A-6A1B273171C1}"/>
              </a:ext>
            </a:extLst>
          </p:cNvPr>
          <p:cNvSpPr txBox="1"/>
          <p:nvPr/>
        </p:nvSpPr>
        <p:spPr>
          <a:xfrm>
            <a:off x="217001" y="1170241"/>
            <a:ext cx="1458108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R="0" lvl="0" defTabSz="91435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275B29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TENT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151C4F-7D76-45F5-6E4D-CF3FCEE34585}"/>
              </a:ext>
            </a:extLst>
          </p:cNvPr>
          <p:cNvSpPr txBox="1"/>
          <p:nvPr/>
        </p:nvSpPr>
        <p:spPr>
          <a:xfrm>
            <a:off x="377983" y="1700406"/>
            <a:ext cx="11355308" cy="2004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altLang="ko-KR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Fully Test Time Adaptation </a:t>
            </a:r>
            <a:r>
              <a:rPr lang="ko-KR" altLang="en-US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에서 가장 기본이 되며 실용적인 접근법</a:t>
            </a:r>
            <a:endParaRPr lang="en-US" altLang="ko-KR" sz="1400" dirty="0">
              <a:solidFill>
                <a:prstClr val="black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285750" marR="0" lvl="0" indent="-28575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ko-KR" altLang="en-US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모델이 테스트 배치 </a:t>
            </a:r>
            <a:r>
              <a:rPr lang="ko-KR" altLang="en-US" sz="1400" dirty="0" err="1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예측값의</a:t>
            </a:r>
            <a:r>
              <a:rPr lang="ko-KR" altLang="en-US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Shannon Entropy </a:t>
            </a:r>
            <a:r>
              <a:rPr lang="ko-KR" altLang="en-US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를 최소화함으로써</a:t>
            </a:r>
            <a:r>
              <a:rPr lang="en-US" altLang="ko-KR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모델이 새로운 데이터 분포에 즉시 적응할 수 있도록 유도</a:t>
            </a:r>
            <a:endParaRPr lang="en-US" altLang="ko-KR" sz="1400" dirty="0">
              <a:solidFill>
                <a:prstClr val="black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285750" marR="0" lvl="0" indent="-28575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ko-KR" altLang="en-US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테스트 시점에서 </a:t>
            </a:r>
            <a:r>
              <a:rPr lang="en-US" altLang="ko-KR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BatchNorm </a:t>
            </a:r>
            <a:r>
              <a:rPr lang="ko-KR" altLang="en-US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통계량을 동적으로 수집</a:t>
            </a:r>
            <a:endParaRPr lang="en-US" altLang="ko-KR" sz="1400" dirty="0">
              <a:solidFill>
                <a:prstClr val="black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285750" marR="0" lvl="0" indent="-28575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altLang="ko-KR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Entropy </a:t>
            </a:r>
            <a:r>
              <a:rPr lang="ko-KR" altLang="en-US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를 최소화하도록 </a:t>
            </a:r>
            <a:r>
              <a:rPr lang="en-US" altLang="ko-KR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BatchNorm layer </a:t>
            </a:r>
            <a:r>
              <a:rPr lang="ko-KR" altLang="en-US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의 </a:t>
            </a:r>
            <a:r>
              <a:rPr lang="en-US" altLang="ko-KR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affine parameter </a:t>
            </a:r>
            <a:r>
              <a:rPr lang="ko-KR" altLang="en-US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만을 업데이트</a:t>
            </a:r>
            <a:endParaRPr lang="en-US" altLang="ko-KR" sz="1400" dirty="0">
              <a:solidFill>
                <a:prstClr val="black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285750" marR="0" lvl="0" indent="-28575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ko-KR" altLang="en-US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사전 학습 단계 중 별도의 도메인 적응이나 보조 학습 없이</a:t>
            </a:r>
            <a:r>
              <a:rPr lang="en-US" altLang="ko-KR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순수 테스트 데이터만으로도 높은 성능을 달성</a:t>
            </a:r>
            <a:endParaRPr lang="en-US" altLang="ko-KR" sz="1400" dirty="0">
              <a:solidFill>
                <a:prstClr val="black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285750" marR="0" lvl="0" indent="-28575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다양한 </a:t>
            </a:r>
            <a:r>
              <a:rPr lang="ko-KR" altLang="en-US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도메인 변화 환경에서도 높은 수준의 적응 성능을 보여주며</a:t>
            </a:r>
            <a:r>
              <a:rPr lang="en-US" altLang="ko-KR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실시간 환경에도 적합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B90F921-1773-5E80-8C60-8515EE5582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5003" y="1170241"/>
            <a:ext cx="3379014" cy="2165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033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D9A01-BF0C-E39C-213B-D7A1DCF55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0FA907D-202B-22A1-FD6F-C894E7690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092E8C-AF45-E498-54E4-EB7E9C6DC4DA}"/>
              </a:ext>
            </a:extLst>
          </p:cNvPr>
          <p:cNvSpPr txBox="1"/>
          <p:nvPr/>
        </p:nvSpPr>
        <p:spPr>
          <a:xfrm>
            <a:off x="217001" y="145029"/>
            <a:ext cx="670208" cy="684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b="1" dirty="0">
                <a:solidFill>
                  <a:srgbClr val="275B2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03</a:t>
            </a:r>
            <a:endParaRPr lang="ko-KR" altLang="en-US" sz="2800" b="1" dirty="0">
              <a:solidFill>
                <a:srgbClr val="275B29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230F18-1C0F-55A5-C784-3A7BC2404DF4}"/>
              </a:ext>
            </a:extLst>
          </p:cNvPr>
          <p:cNvSpPr txBox="1"/>
          <p:nvPr/>
        </p:nvSpPr>
        <p:spPr>
          <a:xfrm>
            <a:off x="725727" y="233504"/>
            <a:ext cx="1458108" cy="51552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R="0" lvl="0" defTabSz="91435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제안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방법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5" name="Google Shape;160;p7">
            <a:extLst>
              <a:ext uri="{FF2B5EF4-FFF2-40B4-BE49-F238E27FC236}">
                <a16:creationId xmlns:a16="http://schemas.microsoft.com/office/drawing/2014/main" id="{5CF0A657-0E80-4D82-2D5B-EB1BF161CFEB}"/>
              </a:ext>
            </a:extLst>
          </p:cNvPr>
          <p:cNvSpPr/>
          <p:nvPr/>
        </p:nvSpPr>
        <p:spPr>
          <a:xfrm flipV="1">
            <a:off x="0" y="6710793"/>
            <a:ext cx="9566815" cy="147207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KoPubWorld돋움체 Medium" panose="00000600000000000000" pitchFamily="2" charset="-127"/>
              <a:ea typeface="KoPubWorld돋움체 Medium" panose="00000600000000000000" pitchFamily="2" charset="-127"/>
            </a:endParaRPr>
          </a:p>
        </p:txBody>
      </p:sp>
      <p:sp>
        <p:nvSpPr>
          <p:cNvPr id="6" name="Google Shape;161;p7">
            <a:extLst>
              <a:ext uri="{FF2B5EF4-FFF2-40B4-BE49-F238E27FC236}">
                <a16:creationId xmlns:a16="http://schemas.microsoft.com/office/drawing/2014/main" id="{D09C27EA-8593-148C-B6FD-F7E671B63424}"/>
              </a:ext>
            </a:extLst>
          </p:cNvPr>
          <p:cNvSpPr/>
          <p:nvPr/>
        </p:nvSpPr>
        <p:spPr>
          <a:xfrm flipV="1">
            <a:off x="9566760" y="6710218"/>
            <a:ext cx="2625240" cy="147782"/>
          </a:xfrm>
          <a:custGeom>
            <a:avLst/>
            <a:gdLst/>
            <a:ahLst/>
            <a:cxnLst/>
            <a:rect l="l" t="t" r="r" b="b"/>
            <a:pathLst>
              <a:path w="4327525" h="163195" extrusionOk="0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KoPubWorld돋움체 Medium" panose="00000600000000000000" pitchFamily="2" charset="-127"/>
              <a:ea typeface="KoPubWorld돋움체 Medium" panose="00000600000000000000" pitchFamily="2" charset="-127"/>
            </a:endParaRPr>
          </a:p>
        </p:txBody>
      </p:sp>
      <p:pic>
        <p:nvPicPr>
          <p:cNvPr id="7" name="Picture 2" descr="서울과학기술대학교">
            <a:extLst>
              <a:ext uri="{FF2B5EF4-FFF2-40B4-BE49-F238E27FC236}">
                <a16:creationId xmlns:a16="http://schemas.microsoft.com/office/drawing/2014/main" id="{A9A8EE9C-F75F-6B91-B744-4215AEFFBC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830"/>
          <a:stretch/>
        </p:blipFill>
        <p:spPr bwMode="auto">
          <a:xfrm>
            <a:off x="9900709" y="187565"/>
            <a:ext cx="1279007" cy="599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892BA4FF-934C-8A12-BCE9-3824045D4F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496" b="13987"/>
          <a:stretch/>
        </p:blipFill>
        <p:spPr bwMode="auto">
          <a:xfrm>
            <a:off x="11098337" y="240577"/>
            <a:ext cx="899159" cy="450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160;p7">
            <a:extLst>
              <a:ext uri="{FF2B5EF4-FFF2-40B4-BE49-F238E27FC236}">
                <a16:creationId xmlns:a16="http://schemas.microsoft.com/office/drawing/2014/main" id="{308FD739-CCAF-0590-E94B-B7DC790F6A50}"/>
              </a:ext>
            </a:extLst>
          </p:cNvPr>
          <p:cNvSpPr/>
          <p:nvPr/>
        </p:nvSpPr>
        <p:spPr>
          <a:xfrm>
            <a:off x="152400" y="879556"/>
            <a:ext cx="11912056" cy="60090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KoPubWorld돋움체 Medium" panose="00000600000000000000" pitchFamily="2" charset="-127"/>
              <a:ea typeface="KoPubWorld돋움체 Medium" panose="00000600000000000000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EFE968-C27F-B731-2FA6-EA5E1DC5BB42}"/>
              </a:ext>
            </a:extLst>
          </p:cNvPr>
          <p:cNvSpPr txBox="1"/>
          <p:nvPr/>
        </p:nvSpPr>
        <p:spPr>
          <a:xfrm>
            <a:off x="217001" y="1170241"/>
            <a:ext cx="6345724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R="0" lvl="0" defTabSz="91435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75B29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다른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275B29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TTA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75B29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방법 적용 시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rgbClr val="275B29"/>
              </a:solidFill>
              <a:effectLst/>
              <a:uLnTx/>
              <a:uFillTx/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3D4459-6C02-C265-1C68-A0239EF8F1F1}"/>
              </a:ext>
            </a:extLst>
          </p:cNvPr>
          <p:cNvSpPr txBox="1"/>
          <p:nvPr/>
        </p:nvSpPr>
        <p:spPr>
          <a:xfrm>
            <a:off x="377983" y="1700406"/>
            <a:ext cx="6097508" cy="232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BN</a:t>
            </a:r>
            <a:r>
              <a:rPr lang="ko-KR" altLang="en-US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조정 </a:t>
            </a:r>
            <a:r>
              <a:rPr lang="en-US" altLang="ko-KR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/ TENT / </a:t>
            </a:r>
            <a:r>
              <a:rPr lang="en-US" altLang="ko-KR" sz="1400" dirty="0" err="1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CoTTA</a:t>
            </a:r>
            <a:r>
              <a:rPr lang="en-US" altLang="ko-KR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/</a:t>
            </a:r>
            <a:r>
              <a:rPr lang="en-US" altLang="ko-KR" sz="1400" strike="sngStrike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SAR / EATA </a:t>
            </a:r>
            <a:r>
              <a:rPr lang="en-US" altLang="ko-KR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/ </a:t>
            </a:r>
            <a:r>
              <a:rPr lang="en-US" altLang="ko-KR" sz="1400" dirty="0" err="1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DeYO</a:t>
            </a:r>
            <a:endParaRPr lang="en-US" altLang="ko-KR" sz="1400" dirty="0">
              <a:solidFill>
                <a:prstClr val="black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400" dirty="0">
              <a:solidFill>
                <a:prstClr val="black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400" dirty="0">
              <a:solidFill>
                <a:prstClr val="black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400" dirty="0">
              <a:solidFill>
                <a:prstClr val="black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400" dirty="0">
              <a:solidFill>
                <a:prstClr val="black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근데 </a:t>
            </a:r>
            <a:r>
              <a:rPr lang="en-US" altLang="ko-KR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BN </a:t>
            </a:r>
            <a:r>
              <a:rPr lang="ko-KR" altLang="en-US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조정만으로도 이미 충분한 효과가 있어서 크게</a:t>
            </a:r>
            <a:r>
              <a:rPr lang="en-US" altLang="ko-KR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다르지 않을 거 같음</a:t>
            </a:r>
            <a:endParaRPr lang="en-US" altLang="ko-KR" sz="1400" dirty="0">
              <a:solidFill>
                <a:prstClr val="black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그런데 왜 </a:t>
            </a:r>
            <a:r>
              <a:rPr lang="en-US" altLang="ko-KR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TENT </a:t>
            </a:r>
            <a:r>
              <a:rPr lang="ko-KR" altLang="en-US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를 채택했는가</a:t>
            </a:r>
            <a:r>
              <a:rPr lang="en-US" altLang="ko-KR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071209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57FE2-9113-4C89-0721-0BB4F301C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410E08C-C707-859C-67C1-F301F840F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ED69C9-EAFB-7285-CFA7-579C38A9A702}"/>
              </a:ext>
            </a:extLst>
          </p:cNvPr>
          <p:cNvSpPr txBox="1"/>
          <p:nvPr/>
        </p:nvSpPr>
        <p:spPr>
          <a:xfrm>
            <a:off x="217001" y="145029"/>
            <a:ext cx="670208" cy="684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b="1" dirty="0">
                <a:solidFill>
                  <a:srgbClr val="275B2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03</a:t>
            </a:r>
            <a:endParaRPr lang="ko-KR" altLang="en-US" sz="2800" b="1" dirty="0">
              <a:solidFill>
                <a:srgbClr val="275B29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D42F9F-8D7F-91E9-02F3-C3DB791BB394}"/>
              </a:ext>
            </a:extLst>
          </p:cNvPr>
          <p:cNvSpPr txBox="1"/>
          <p:nvPr/>
        </p:nvSpPr>
        <p:spPr>
          <a:xfrm>
            <a:off x="725727" y="233504"/>
            <a:ext cx="1458108" cy="51552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R="0" lvl="0" defTabSz="91435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제안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방법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5" name="Google Shape;160;p7">
            <a:extLst>
              <a:ext uri="{FF2B5EF4-FFF2-40B4-BE49-F238E27FC236}">
                <a16:creationId xmlns:a16="http://schemas.microsoft.com/office/drawing/2014/main" id="{F574563F-9A5B-488F-A33A-A8644AB31F8C}"/>
              </a:ext>
            </a:extLst>
          </p:cNvPr>
          <p:cNvSpPr/>
          <p:nvPr/>
        </p:nvSpPr>
        <p:spPr>
          <a:xfrm flipV="1">
            <a:off x="0" y="6710793"/>
            <a:ext cx="9566815" cy="147207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KoPubWorld돋움체 Medium" panose="00000600000000000000" pitchFamily="2" charset="-127"/>
              <a:ea typeface="KoPubWorld돋움체 Medium" panose="00000600000000000000" pitchFamily="2" charset="-127"/>
            </a:endParaRPr>
          </a:p>
        </p:txBody>
      </p:sp>
      <p:sp>
        <p:nvSpPr>
          <p:cNvPr id="6" name="Google Shape;161;p7">
            <a:extLst>
              <a:ext uri="{FF2B5EF4-FFF2-40B4-BE49-F238E27FC236}">
                <a16:creationId xmlns:a16="http://schemas.microsoft.com/office/drawing/2014/main" id="{6BA37496-ED97-0415-0A2A-07A89343B0ED}"/>
              </a:ext>
            </a:extLst>
          </p:cNvPr>
          <p:cNvSpPr/>
          <p:nvPr/>
        </p:nvSpPr>
        <p:spPr>
          <a:xfrm flipV="1">
            <a:off x="9566760" y="6710218"/>
            <a:ext cx="2625240" cy="147782"/>
          </a:xfrm>
          <a:custGeom>
            <a:avLst/>
            <a:gdLst/>
            <a:ahLst/>
            <a:cxnLst/>
            <a:rect l="l" t="t" r="r" b="b"/>
            <a:pathLst>
              <a:path w="4327525" h="163195" extrusionOk="0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KoPubWorld돋움체 Medium" panose="00000600000000000000" pitchFamily="2" charset="-127"/>
              <a:ea typeface="KoPubWorld돋움체 Medium" panose="00000600000000000000" pitchFamily="2" charset="-127"/>
            </a:endParaRPr>
          </a:p>
        </p:txBody>
      </p:sp>
      <p:pic>
        <p:nvPicPr>
          <p:cNvPr id="7" name="Picture 2" descr="서울과학기술대학교">
            <a:extLst>
              <a:ext uri="{FF2B5EF4-FFF2-40B4-BE49-F238E27FC236}">
                <a16:creationId xmlns:a16="http://schemas.microsoft.com/office/drawing/2014/main" id="{F86FD974-6B97-88BB-525B-4180FB9122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830"/>
          <a:stretch/>
        </p:blipFill>
        <p:spPr bwMode="auto">
          <a:xfrm>
            <a:off x="9900709" y="187565"/>
            <a:ext cx="1279007" cy="599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8C5765F4-4CE1-89B4-993C-E62EFE4CBC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496" b="13987"/>
          <a:stretch/>
        </p:blipFill>
        <p:spPr bwMode="auto">
          <a:xfrm>
            <a:off x="11098337" y="240577"/>
            <a:ext cx="899159" cy="450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160;p7">
            <a:extLst>
              <a:ext uri="{FF2B5EF4-FFF2-40B4-BE49-F238E27FC236}">
                <a16:creationId xmlns:a16="http://schemas.microsoft.com/office/drawing/2014/main" id="{3313F4CE-14E8-1769-5235-152FA93E78D6}"/>
              </a:ext>
            </a:extLst>
          </p:cNvPr>
          <p:cNvSpPr/>
          <p:nvPr/>
        </p:nvSpPr>
        <p:spPr>
          <a:xfrm>
            <a:off x="152400" y="879556"/>
            <a:ext cx="11912056" cy="60090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KoPubWorld돋움체 Medium" panose="00000600000000000000" pitchFamily="2" charset="-127"/>
              <a:ea typeface="KoPubWorld돋움체 Medium" panose="00000600000000000000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787824-3068-4B87-DC5D-5C6F53013B4D}"/>
              </a:ext>
            </a:extLst>
          </p:cNvPr>
          <p:cNvSpPr txBox="1"/>
          <p:nvPr/>
        </p:nvSpPr>
        <p:spPr>
          <a:xfrm>
            <a:off x="217001" y="1170241"/>
            <a:ext cx="6345724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R="0" lvl="0" defTabSz="91435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75B29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전체 프레임워크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rgbClr val="275B29"/>
              </a:solidFill>
              <a:effectLst/>
              <a:uLnTx/>
              <a:uFillTx/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618092-0436-9E34-10F9-C0A34D8A0ADC}"/>
              </a:ext>
            </a:extLst>
          </p:cNvPr>
          <p:cNvSpPr txBox="1"/>
          <p:nvPr/>
        </p:nvSpPr>
        <p:spPr>
          <a:xfrm>
            <a:off x="217000" y="1769834"/>
            <a:ext cx="11299007" cy="29738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GradCAM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뽑아서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dirty="0" err="1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Softmax</a:t>
            </a:r>
            <a:r>
              <a:rPr lang="en-US" altLang="ko-KR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로 전반적으로 정규화</a:t>
            </a:r>
            <a:r>
              <a:rPr lang="en-US" altLang="ko-KR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Temperature 0.5 </a:t>
            </a:r>
            <a:r>
              <a:rPr lang="ko-KR" altLang="en-US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로 해서 사용 사실 상관 없음</a:t>
            </a:r>
            <a:endParaRPr lang="en-US" altLang="ko-KR" sz="1400" dirty="0">
              <a:solidFill>
                <a:prstClr val="black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threshold </a:t>
            </a:r>
            <a:r>
              <a:rPr lang="ko-KR" altLang="en-US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로 </a:t>
            </a:r>
            <a:r>
              <a:rPr lang="en-US" altLang="ko-KR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20% </a:t>
            </a:r>
            <a:r>
              <a:rPr lang="ko-KR" altLang="en-US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만 사용해도 상관 없음 </a:t>
            </a:r>
            <a:r>
              <a:rPr lang="en-US" altLang="ko-KR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…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400" dirty="0">
              <a:solidFill>
                <a:prstClr val="black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그리고 마지막 </a:t>
            </a:r>
            <a:r>
              <a:rPr lang="en-US" altLang="ko-KR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layer 4 </a:t>
            </a:r>
            <a:r>
              <a:rPr lang="ko-KR" altLang="en-US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의 </a:t>
            </a:r>
            <a:r>
              <a:rPr lang="en-US" altLang="ko-KR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feature map </a:t>
            </a:r>
            <a:r>
              <a:rPr lang="ko-KR" altLang="en-US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에 </a:t>
            </a:r>
            <a:r>
              <a:rPr lang="ko-KR" altLang="en-US" sz="1400" dirty="0" err="1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곱해줌</a:t>
            </a:r>
            <a:endParaRPr lang="en-US" altLang="ko-KR" sz="1400" dirty="0">
              <a:solidFill>
                <a:prstClr val="black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같은 </a:t>
            </a:r>
            <a:r>
              <a:rPr lang="en-US" altLang="ko-KR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pseudo label </a:t>
            </a:r>
            <a:r>
              <a:rPr lang="ko-KR" altLang="en-US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끼리 채널별 평균 값이 </a:t>
            </a:r>
            <a:r>
              <a:rPr lang="ko-KR" altLang="en-US" sz="1400" dirty="0" err="1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비슷해지도록</a:t>
            </a:r>
            <a:r>
              <a:rPr lang="ko-KR" altLang="en-US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MSE Loss </a:t>
            </a:r>
            <a:r>
              <a:rPr lang="ko-KR" altLang="en-US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측정</a:t>
            </a:r>
            <a:endParaRPr lang="en-US" altLang="ko-KR" sz="1400" dirty="0">
              <a:solidFill>
                <a:prstClr val="black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Entropy + MSE </a:t>
            </a:r>
            <a:r>
              <a:rPr lang="ko-KR" altLang="en-US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로 </a:t>
            </a:r>
            <a:r>
              <a:rPr lang="en-US" altLang="ko-KR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optimize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400" dirty="0">
              <a:solidFill>
                <a:prstClr val="black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85609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6F6F3-F408-8F67-9717-0BF8784BD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2E18CD84-850F-EB85-209A-0E54850CFB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926" y="2685249"/>
            <a:ext cx="5751874" cy="2553051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F30A7A9-C9BA-9F07-238C-556A996B0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6D1361-C4F8-1D5E-D121-B6F7902AB9DB}"/>
              </a:ext>
            </a:extLst>
          </p:cNvPr>
          <p:cNvSpPr txBox="1"/>
          <p:nvPr/>
        </p:nvSpPr>
        <p:spPr>
          <a:xfrm>
            <a:off x="217001" y="145029"/>
            <a:ext cx="670208" cy="684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b="1" dirty="0">
                <a:solidFill>
                  <a:srgbClr val="275B2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03</a:t>
            </a:r>
            <a:endParaRPr lang="ko-KR" altLang="en-US" sz="2800" b="1" dirty="0">
              <a:solidFill>
                <a:srgbClr val="275B29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D17753-9C9A-B6D1-45B9-A514610E6044}"/>
              </a:ext>
            </a:extLst>
          </p:cNvPr>
          <p:cNvSpPr txBox="1"/>
          <p:nvPr/>
        </p:nvSpPr>
        <p:spPr>
          <a:xfrm>
            <a:off x="725727" y="233504"/>
            <a:ext cx="1458108" cy="51552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R="0" lvl="0" defTabSz="91435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제안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방법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5" name="Google Shape;160;p7">
            <a:extLst>
              <a:ext uri="{FF2B5EF4-FFF2-40B4-BE49-F238E27FC236}">
                <a16:creationId xmlns:a16="http://schemas.microsoft.com/office/drawing/2014/main" id="{2B0DDCF3-E07B-0D3D-A7CF-C5D1DEE173F7}"/>
              </a:ext>
            </a:extLst>
          </p:cNvPr>
          <p:cNvSpPr/>
          <p:nvPr/>
        </p:nvSpPr>
        <p:spPr>
          <a:xfrm flipV="1">
            <a:off x="0" y="6710793"/>
            <a:ext cx="9566815" cy="147207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KoPubWorld돋움체 Medium" panose="00000600000000000000" pitchFamily="2" charset="-127"/>
              <a:ea typeface="KoPubWorld돋움체 Medium" panose="00000600000000000000" pitchFamily="2" charset="-127"/>
            </a:endParaRPr>
          </a:p>
        </p:txBody>
      </p:sp>
      <p:sp>
        <p:nvSpPr>
          <p:cNvPr id="6" name="Google Shape;161;p7">
            <a:extLst>
              <a:ext uri="{FF2B5EF4-FFF2-40B4-BE49-F238E27FC236}">
                <a16:creationId xmlns:a16="http://schemas.microsoft.com/office/drawing/2014/main" id="{B3DD7F3A-4623-CC82-8BBC-4B6974C8A018}"/>
              </a:ext>
            </a:extLst>
          </p:cNvPr>
          <p:cNvSpPr/>
          <p:nvPr/>
        </p:nvSpPr>
        <p:spPr>
          <a:xfrm flipV="1">
            <a:off x="9566760" y="6710218"/>
            <a:ext cx="2625240" cy="147782"/>
          </a:xfrm>
          <a:custGeom>
            <a:avLst/>
            <a:gdLst/>
            <a:ahLst/>
            <a:cxnLst/>
            <a:rect l="l" t="t" r="r" b="b"/>
            <a:pathLst>
              <a:path w="4327525" h="163195" extrusionOk="0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KoPubWorld돋움체 Medium" panose="00000600000000000000" pitchFamily="2" charset="-127"/>
              <a:ea typeface="KoPubWorld돋움체 Medium" panose="00000600000000000000" pitchFamily="2" charset="-127"/>
            </a:endParaRPr>
          </a:p>
        </p:txBody>
      </p:sp>
      <p:pic>
        <p:nvPicPr>
          <p:cNvPr id="7" name="Picture 2" descr="서울과학기술대학교">
            <a:extLst>
              <a:ext uri="{FF2B5EF4-FFF2-40B4-BE49-F238E27FC236}">
                <a16:creationId xmlns:a16="http://schemas.microsoft.com/office/drawing/2014/main" id="{0F31A11E-E574-1209-E465-41362B9850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830"/>
          <a:stretch/>
        </p:blipFill>
        <p:spPr bwMode="auto">
          <a:xfrm>
            <a:off x="9900709" y="187565"/>
            <a:ext cx="1279007" cy="599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178176DC-930F-CBEE-B866-42131CB34A2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496" b="13987"/>
          <a:stretch/>
        </p:blipFill>
        <p:spPr bwMode="auto">
          <a:xfrm>
            <a:off x="11098337" y="240577"/>
            <a:ext cx="899159" cy="450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160;p7">
            <a:extLst>
              <a:ext uri="{FF2B5EF4-FFF2-40B4-BE49-F238E27FC236}">
                <a16:creationId xmlns:a16="http://schemas.microsoft.com/office/drawing/2014/main" id="{13111972-0FA0-17B7-1593-33D85472CCE7}"/>
              </a:ext>
            </a:extLst>
          </p:cNvPr>
          <p:cNvSpPr/>
          <p:nvPr/>
        </p:nvSpPr>
        <p:spPr>
          <a:xfrm>
            <a:off x="152400" y="879556"/>
            <a:ext cx="11912056" cy="60090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KoPubWorld돋움체 Medium" panose="00000600000000000000" pitchFamily="2" charset="-127"/>
              <a:ea typeface="KoPubWorld돋움체 Medium" panose="00000600000000000000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806BEF-9E20-1B98-29F9-7F6CABD70D4A}"/>
              </a:ext>
            </a:extLst>
          </p:cNvPr>
          <p:cNvSpPr txBox="1"/>
          <p:nvPr/>
        </p:nvSpPr>
        <p:spPr>
          <a:xfrm>
            <a:off x="217001" y="1170241"/>
            <a:ext cx="6345724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R="0" lvl="0" defTabSz="91435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275B29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Forward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75B29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이후 </a:t>
            </a:r>
            <a:r>
              <a:rPr kumimoji="0" lang="en-US" altLang="ko-K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75B29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gradCAM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rgbClr val="275B29"/>
              </a:solidFill>
              <a:effectLst/>
              <a:uLnTx/>
              <a:uFillTx/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D718C2-3DD4-76E0-2357-C84C8C587A3A}"/>
              </a:ext>
            </a:extLst>
          </p:cNvPr>
          <p:cNvSpPr txBox="1"/>
          <p:nvPr/>
        </p:nvSpPr>
        <p:spPr>
          <a:xfrm>
            <a:off x="377983" y="1700406"/>
            <a:ext cx="6097508" cy="711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Forward </a:t>
            </a:r>
            <a:r>
              <a:rPr lang="ko-KR" altLang="en-US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만 해도 이전보다 크게 향상</a:t>
            </a:r>
            <a:endParaRPr lang="en-US" altLang="ko-KR" sz="1400" dirty="0">
              <a:solidFill>
                <a:prstClr val="black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이걸 </a:t>
            </a:r>
            <a:r>
              <a:rPr lang="en-US" altLang="ko-KR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feature map </a:t>
            </a:r>
            <a:r>
              <a:rPr lang="ko-KR" altLang="en-US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에 곱해주어 중요한 부분을 강조하는 효과</a:t>
            </a:r>
            <a:endParaRPr lang="en-US" altLang="ko-KR" sz="1400" dirty="0">
              <a:solidFill>
                <a:prstClr val="black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7DE14AAE-C2FD-4646-FC43-2DF3010216D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6649"/>
          <a:stretch/>
        </p:blipFill>
        <p:spPr>
          <a:xfrm>
            <a:off x="6562725" y="2694374"/>
            <a:ext cx="4815029" cy="2602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8876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C6D0D-501B-D87E-28EE-5B9DFCC0D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0AD16A3-AAD5-33AF-9E09-215ABD19C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8C5AE1-AF51-3EA8-DA4A-70C180267C49}"/>
              </a:ext>
            </a:extLst>
          </p:cNvPr>
          <p:cNvSpPr txBox="1"/>
          <p:nvPr/>
        </p:nvSpPr>
        <p:spPr>
          <a:xfrm>
            <a:off x="217001" y="145029"/>
            <a:ext cx="670208" cy="684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b="1" dirty="0">
                <a:solidFill>
                  <a:srgbClr val="275B2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03</a:t>
            </a:r>
            <a:endParaRPr lang="ko-KR" altLang="en-US" sz="2800" b="1" dirty="0">
              <a:solidFill>
                <a:srgbClr val="275B29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8964D7-C987-A508-C392-131DF78D0EC0}"/>
              </a:ext>
            </a:extLst>
          </p:cNvPr>
          <p:cNvSpPr txBox="1"/>
          <p:nvPr/>
        </p:nvSpPr>
        <p:spPr>
          <a:xfrm>
            <a:off x="725727" y="233504"/>
            <a:ext cx="1458108" cy="51552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R="0" lvl="0" defTabSz="91435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제안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방법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5" name="Google Shape;160;p7">
            <a:extLst>
              <a:ext uri="{FF2B5EF4-FFF2-40B4-BE49-F238E27FC236}">
                <a16:creationId xmlns:a16="http://schemas.microsoft.com/office/drawing/2014/main" id="{C1F039E1-8DD3-80E0-9CE7-BC6EB3589AB9}"/>
              </a:ext>
            </a:extLst>
          </p:cNvPr>
          <p:cNvSpPr/>
          <p:nvPr/>
        </p:nvSpPr>
        <p:spPr>
          <a:xfrm flipV="1">
            <a:off x="0" y="6710793"/>
            <a:ext cx="9566815" cy="147207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KoPubWorld돋움체 Medium" panose="00000600000000000000" pitchFamily="2" charset="-127"/>
              <a:ea typeface="KoPubWorld돋움체 Medium" panose="00000600000000000000" pitchFamily="2" charset="-127"/>
            </a:endParaRPr>
          </a:p>
        </p:txBody>
      </p:sp>
      <p:sp>
        <p:nvSpPr>
          <p:cNvPr id="6" name="Google Shape;161;p7">
            <a:extLst>
              <a:ext uri="{FF2B5EF4-FFF2-40B4-BE49-F238E27FC236}">
                <a16:creationId xmlns:a16="http://schemas.microsoft.com/office/drawing/2014/main" id="{49B4D86B-C4E3-7763-1924-3C64E3518B2E}"/>
              </a:ext>
            </a:extLst>
          </p:cNvPr>
          <p:cNvSpPr/>
          <p:nvPr/>
        </p:nvSpPr>
        <p:spPr>
          <a:xfrm flipV="1">
            <a:off x="9566760" y="6710218"/>
            <a:ext cx="2625240" cy="147782"/>
          </a:xfrm>
          <a:custGeom>
            <a:avLst/>
            <a:gdLst/>
            <a:ahLst/>
            <a:cxnLst/>
            <a:rect l="l" t="t" r="r" b="b"/>
            <a:pathLst>
              <a:path w="4327525" h="163195" extrusionOk="0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KoPubWorld돋움체 Medium" panose="00000600000000000000" pitchFamily="2" charset="-127"/>
              <a:ea typeface="KoPubWorld돋움체 Medium" panose="00000600000000000000" pitchFamily="2" charset="-127"/>
            </a:endParaRPr>
          </a:p>
        </p:txBody>
      </p:sp>
      <p:pic>
        <p:nvPicPr>
          <p:cNvPr id="7" name="Picture 2" descr="서울과학기술대학교">
            <a:extLst>
              <a:ext uri="{FF2B5EF4-FFF2-40B4-BE49-F238E27FC236}">
                <a16:creationId xmlns:a16="http://schemas.microsoft.com/office/drawing/2014/main" id="{E0AAB14B-D138-3606-0760-C8AE53FCF6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830"/>
          <a:stretch/>
        </p:blipFill>
        <p:spPr bwMode="auto">
          <a:xfrm>
            <a:off x="9900709" y="187565"/>
            <a:ext cx="1279007" cy="599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858DA272-8027-8C50-296E-EB1461AF07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496" b="13987"/>
          <a:stretch/>
        </p:blipFill>
        <p:spPr bwMode="auto">
          <a:xfrm>
            <a:off x="11098337" y="240577"/>
            <a:ext cx="899159" cy="450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160;p7">
            <a:extLst>
              <a:ext uri="{FF2B5EF4-FFF2-40B4-BE49-F238E27FC236}">
                <a16:creationId xmlns:a16="http://schemas.microsoft.com/office/drawing/2014/main" id="{39A5FA55-A80F-0A37-6C60-9B79E2F943D1}"/>
              </a:ext>
            </a:extLst>
          </p:cNvPr>
          <p:cNvSpPr/>
          <p:nvPr/>
        </p:nvSpPr>
        <p:spPr>
          <a:xfrm>
            <a:off x="152400" y="879556"/>
            <a:ext cx="11912056" cy="60090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KoPubWorld돋움체 Medium" panose="00000600000000000000" pitchFamily="2" charset="-127"/>
              <a:ea typeface="KoPubWorld돋움체 Medium" panose="00000600000000000000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142ECD-BCB7-D9C2-C8F4-D3B92E54BD23}"/>
              </a:ext>
            </a:extLst>
          </p:cNvPr>
          <p:cNvSpPr txBox="1"/>
          <p:nvPr/>
        </p:nvSpPr>
        <p:spPr>
          <a:xfrm>
            <a:off x="217001" y="1170241"/>
            <a:ext cx="6345724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R="0" lvl="0" defTabSz="91435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275B29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Feature channel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75B29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별 평균을 맞추는 방법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rgbClr val="275B29"/>
              </a:solidFill>
              <a:effectLst/>
              <a:uLnTx/>
              <a:uFillTx/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EDF46A-655A-552F-82C5-7774D4269A86}"/>
              </a:ext>
            </a:extLst>
          </p:cNvPr>
          <p:cNvSpPr txBox="1"/>
          <p:nvPr/>
        </p:nvSpPr>
        <p:spPr>
          <a:xfrm>
            <a:off x="377982" y="1700406"/>
            <a:ext cx="11346255" cy="388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- </a:t>
            </a:r>
            <a:r>
              <a:rPr lang="ko-KR" altLang="en-US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선행연구</a:t>
            </a:r>
            <a:r>
              <a:rPr lang="en-US" altLang="ko-KR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[n] </a:t>
            </a:r>
            <a:r>
              <a:rPr lang="ko-KR" altLang="en-US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에서는 </a:t>
            </a:r>
            <a:r>
              <a:rPr lang="en-US" altLang="ko-KR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source data </a:t>
            </a:r>
            <a:r>
              <a:rPr lang="ko-KR" altLang="en-US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에서 얻은 클래스별 통계량과 </a:t>
            </a:r>
            <a:r>
              <a:rPr lang="en-US" altLang="ko-KR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target data </a:t>
            </a:r>
            <a:r>
              <a:rPr lang="ko-KR" altLang="en-US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의 클래스별 통계량을 조정하여 </a:t>
            </a:r>
            <a:r>
              <a:rPr lang="en-US" altLang="ko-KR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Test Time Adaptation </a:t>
            </a:r>
            <a:r>
              <a:rPr lang="ko-KR" altLang="en-US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수행</a:t>
            </a:r>
            <a:endParaRPr lang="en-US" altLang="ko-KR" sz="1400" dirty="0">
              <a:solidFill>
                <a:prstClr val="black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BD704A1A-E7BC-04A0-0850-88EFFFC2B2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1010" y="3651588"/>
            <a:ext cx="2200062" cy="547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>
            <a:extLst>
              <a:ext uri="{FF2B5EF4-FFF2-40B4-BE49-F238E27FC236}">
                <a16:creationId xmlns:a16="http://schemas.microsoft.com/office/drawing/2014/main" id="{1BFFD757-1C84-92CD-1752-421D9261CA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1010" y="2849734"/>
            <a:ext cx="1587110" cy="552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97070FA6-6C89-EEF0-201D-2CC635C47E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3835" y="4464165"/>
            <a:ext cx="1630891" cy="388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7" name="Picture 5">
            <a:extLst>
              <a:ext uri="{FF2B5EF4-FFF2-40B4-BE49-F238E27FC236}">
                <a16:creationId xmlns:a16="http://schemas.microsoft.com/office/drawing/2014/main" id="{339CEA89-F5F6-93D6-6153-607B75ACDC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2440" y="2892667"/>
            <a:ext cx="2003040" cy="536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84A21F-02F1-9E66-DF40-84E4B636DA90}"/>
              </a:ext>
            </a:extLst>
          </p:cNvPr>
          <p:cNvSpPr txBox="1"/>
          <p:nvPr/>
        </p:nvSpPr>
        <p:spPr>
          <a:xfrm>
            <a:off x="377982" y="5118031"/>
            <a:ext cx="11346255" cy="388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dirty="0">
                <a:solidFill>
                  <a:prstClr val="black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- </a:t>
            </a:r>
          </a:p>
        </p:txBody>
      </p:sp>
    </p:spTree>
    <p:extLst>
      <p:ext uri="{BB962C8B-B14F-4D97-AF65-F5344CB8AC3E}">
        <p14:creationId xmlns:p14="http://schemas.microsoft.com/office/powerpoint/2010/main" val="3379044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D8F5B-E3F1-2F62-C9E2-3F99359AF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77F1846-89A4-5942-AAC1-ED8AA25BB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3F251D-D860-474A-602F-AC6CF0AD5DCB}"/>
              </a:ext>
            </a:extLst>
          </p:cNvPr>
          <p:cNvSpPr txBox="1"/>
          <p:nvPr/>
        </p:nvSpPr>
        <p:spPr>
          <a:xfrm>
            <a:off x="217001" y="145029"/>
            <a:ext cx="670208" cy="684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b="1" dirty="0">
                <a:solidFill>
                  <a:srgbClr val="275B2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04</a:t>
            </a:r>
            <a:endParaRPr lang="ko-KR" altLang="en-US" sz="2800" b="1" dirty="0">
              <a:solidFill>
                <a:srgbClr val="275B29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425527-ADED-3D06-3D8E-B1C7C4E676A9}"/>
              </a:ext>
            </a:extLst>
          </p:cNvPr>
          <p:cNvSpPr txBox="1"/>
          <p:nvPr/>
        </p:nvSpPr>
        <p:spPr>
          <a:xfrm>
            <a:off x="725727" y="233504"/>
            <a:ext cx="1458108" cy="51552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R="0" lvl="0" defTabSz="91435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실험결과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5" name="Google Shape;160;p7">
            <a:extLst>
              <a:ext uri="{FF2B5EF4-FFF2-40B4-BE49-F238E27FC236}">
                <a16:creationId xmlns:a16="http://schemas.microsoft.com/office/drawing/2014/main" id="{44DF4C78-3418-F1A5-2D99-5680FEA63FB0}"/>
              </a:ext>
            </a:extLst>
          </p:cNvPr>
          <p:cNvSpPr/>
          <p:nvPr/>
        </p:nvSpPr>
        <p:spPr>
          <a:xfrm flipV="1">
            <a:off x="0" y="6710793"/>
            <a:ext cx="9566815" cy="147207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KoPubWorld돋움체 Medium" panose="00000600000000000000" pitchFamily="2" charset="-127"/>
              <a:ea typeface="KoPubWorld돋움체 Medium" panose="00000600000000000000" pitchFamily="2" charset="-127"/>
            </a:endParaRPr>
          </a:p>
        </p:txBody>
      </p:sp>
      <p:sp>
        <p:nvSpPr>
          <p:cNvPr id="6" name="Google Shape;161;p7">
            <a:extLst>
              <a:ext uri="{FF2B5EF4-FFF2-40B4-BE49-F238E27FC236}">
                <a16:creationId xmlns:a16="http://schemas.microsoft.com/office/drawing/2014/main" id="{ECBCF806-65CB-BB45-79E3-3F7260AA4BB5}"/>
              </a:ext>
            </a:extLst>
          </p:cNvPr>
          <p:cNvSpPr/>
          <p:nvPr/>
        </p:nvSpPr>
        <p:spPr>
          <a:xfrm flipV="1">
            <a:off x="9566760" y="6710218"/>
            <a:ext cx="2625240" cy="147782"/>
          </a:xfrm>
          <a:custGeom>
            <a:avLst/>
            <a:gdLst/>
            <a:ahLst/>
            <a:cxnLst/>
            <a:rect l="l" t="t" r="r" b="b"/>
            <a:pathLst>
              <a:path w="4327525" h="163195" extrusionOk="0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KoPubWorld돋움체 Medium" panose="00000600000000000000" pitchFamily="2" charset="-127"/>
              <a:ea typeface="KoPubWorld돋움체 Medium" panose="00000600000000000000" pitchFamily="2" charset="-127"/>
            </a:endParaRPr>
          </a:p>
        </p:txBody>
      </p:sp>
      <p:pic>
        <p:nvPicPr>
          <p:cNvPr id="7" name="Picture 2" descr="서울과학기술대학교">
            <a:extLst>
              <a:ext uri="{FF2B5EF4-FFF2-40B4-BE49-F238E27FC236}">
                <a16:creationId xmlns:a16="http://schemas.microsoft.com/office/drawing/2014/main" id="{8D98262A-376A-4D1A-AFDA-9C00381AE6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830"/>
          <a:stretch/>
        </p:blipFill>
        <p:spPr bwMode="auto">
          <a:xfrm>
            <a:off x="9900709" y="187565"/>
            <a:ext cx="1279007" cy="599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AF3394B6-B2AD-A69C-8B8A-5EAED6DD98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496" b="13987"/>
          <a:stretch/>
        </p:blipFill>
        <p:spPr bwMode="auto">
          <a:xfrm>
            <a:off x="11098337" y="240577"/>
            <a:ext cx="899159" cy="450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160;p7">
            <a:extLst>
              <a:ext uri="{FF2B5EF4-FFF2-40B4-BE49-F238E27FC236}">
                <a16:creationId xmlns:a16="http://schemas.microsoft.com/office/drawing/2014/main" id="{B26C3BBE-1171-0A88-89F0-601651DB8CB9}"/>
              </a:ext>
            </a:extLst>
          </p:cNvPr>
          <p:cNvSpPr/>
          <p:nvPr/>
        </p:nvSpPr>
        <p:spPr>
          <a:xfrm>
            <a:off x="152400" y="879556"/>
            <a:ext cx="11912056" cy="60090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KoPubWorld돋움체 Medium" panose="00000600000000000000" pitchFamily="2" charset="-127"/>
              <a:ea typeface="KoPubWorld돋움체 Medium" panose="00000600000000000000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B1B2DD-4546-7EDD-0364-F1F0B3F12A56}"/>
              </a:ext>
            </a:extLst>
          </p:cNvPr>
          <p:cNvSpPr txBox="1"/>
          <p:nvPr/>
        </p:nvSpPr>
        <p:spPr>
          <a:xfrm>
            <a:off x="217001" y="1170241"/>
            <a:ext cx="6345724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R="0" lvl="0" defTabSz="91435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75B29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실험결과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rgbClr val="275B29"/>
              </a:solidFill>
              <a:effectLst/>
              <a:uLnTx/>
              <a:uFillTx/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226055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B0468-D69D-AFF7-2CDF-A63302415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98CE17D-2415-A352-B97D-08DAD154E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99A39D-09EA-0C4F-89A8-00C7BA46126C}"/>
              </a:ext>
            </a:extLst>
          </p:cNvPr>
          <p:cNvSpPr txBox="1"/>
          <p:nvPr/>
        </p:nvSpPr>
        <p:spPr>
          <a:xfrm>
            <a:off x="217001" y="145029"/>
            <a:ext cx="670208" cy="684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b="1" dirty="0">
                <a:solidFill>
                  <a:srgbClr val="275B2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04</a:t>
            </a:r>
            <a:endParaRPr lang="ko-KR" altLang="en-US" sz="2800" b="1" dirty="0">
              <a:solidFill>
                <a:srgbClr val="275B29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490D57-941E-7AB5-7B51-D6461EC41BC7}"/>
              </a:ext>
            </a:extLst>
          </p:cNvPr>
          <p:cNvSpPr txBox="1"/>
          <p:nvPr/>
        </p:nvSpPr>
        <p:spPr>
          <a:xfrm>
            <a:off x="725727" y="233504"/>
            <a:ext cx="1458108" cy="51552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R="0" lvl="0" defTabSz="91435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실험결과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5" name="Google Shape;160;p7">
            <a:extLst>
              <a:ext uri="{FF2B5EF4-FFF2-40B4-BE49-F238E27FC236}">
                <a16:creationId xmlns:a16="http://schemas.microsoft.com/office/drawing/2014/main" id="{68B0DD7B-0DAD-7270-2140-553FB6944E7A}"/>
              </a:ext>
            </a:extLst>
          </p:cNvPr>
          <p:cNvSpPr/>
          <p:nvPr/>
        </p:nvSpPr>
        <p:spPr>
          <a:xfrm flipV="1">
            <a:off x="0" y="6710793"/>
            <a:ext cx="9566815" cy="147207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KoPubWorld돋움체 Medium" panose="00000600000000000000" pitchFamily="2" charset="-127"/>
              <a:ea typeface="KoPubWorld돋움체 Medium" panose="00000600000000000000" pitchFamily="2" charset="-127"/>
            </a:endParaRPr>
          </a:p>
        </p:txBody>
      </p:sp>
      <p:sp>
        <p:nvSpPr>
          <p:cNvPr id="6" name="Google Shape;161;p7">
            <a:extLst>
              <a:ext uri="{FF2B5EF4-FFF2-40B4-BE49-F238E27FC236}">
                <a16:creationId xmlns:a16="http://schemas.microsoft.com/office/drawing/2014/main" id="{CB8ACB2D-4920-3E9D-F72F-5F0DDD430E0B}"/>
              </a:ext>
            </a:extLst>
          </p:cNvPr>
          <p:cNvSpPr/>
          <p:nvPr/>
        </p:nvSpPr>
        <p:spPr>
          <a:xfrm flipV="1">
            <a:off x="9566760" y="6710218"/>
            <a:ext cx="2625240" cy="147782"/>
          </a:xfrm>
          <a:custGeom>
            <a:avLst/>
            <a:gdLst/>
            <a:ahLst/>
            <a:cxnLst/>
            <a:rect l="l" t="t" r="r" b="b"/>
            <a:pathLst>
              <a:path w="4327525" h="163195" extrusionOk="0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KoPubWorld돋움체 Medium" panose="00000600000000000000" pitchFamily="2" charset="-127"/>
              <a:ea typeface="KoPubWorld돋움체 Medium" panose="00000600000000000000" pitchFamily="2" charset="-127"/>
            </a:endParaRPr>
          </a:p>
        </p:txBody>
      </p:sp>
      <p:pic>
        <p:nvPicPr>
          <p:cNvPr id="7" name="Picture 2" descr="서울과학기술대학교">
            <a:extLst>
              <a:ext uri="{FF2B5EF4-FFF2-40B4-BE49-F238E27FC236}">
                <a16:creationId xmlns:a16="http://schemas.microsoft.com/office/drawing/2014/main" id="{4D496A1A-4E51-CE58-19CC-FB25B87ADF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830"/>
          <a:stretch/>
        </p:blipFill>
        <p:spPr bwMode="auto">
          <a:xfrm>
            <a:off x="9900709" y="187565"/>
            <a:ext cx="1279007" cy="599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F50CB2DE-4F25-D01E-C966-6E8448260F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496" b="13987"/>
          <a:stretch/>
        </p:blipFill>
        <p:spPr bwMode="auto">
          <a:xfrm>
            <a:off x="11098337" y="240577"/>
            <a:ext cx="899159" cy="450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160;p7">
            <a:extLst>
              <a:ext uri="{FF2B5EF4-FFF2-40B4-BE49-F238E27FC236}">
                <a16:creationId xmlns:a16="http://schemas.microsoft.com/office/drawing/2014/main" id="{0BCB79C5-94A2-C474-1E99-97F04BE298FD}"/>
              </a:ext>
            </a:extLst>
          </p:cNvPr>
          <p:cNvSpPr/>
          <p:nvPr/>
        </p:nvSpPr>
        <p:spPr>
          <a:xfrm>
            <a:off x="152400" y="879556"/>
            <a:ext cx="11912056" cy="60090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KoPubWorld돋움체 Medium" panose="00000600000000000000" pitchFamily="2" charset="-127"/>
              <a:ea typeface="KoPubWorld돋움체 Medium" panose="00000600000000000000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99EF14-A6B6-1F7D-B750-B2BAA439E6DE}"/>
              </a:ext>
            </a:extLst>
          </p:cNvPr>
          <p:cNvSpPr txBox="1"/>
          <p:nvPr/>
        </p:nvSpPr>
        <p:spPr>
          <a:xfrm>
            <a:off x="217001" y="1170241"/>
            <a:ext cx="6345724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R="0" lvl="0" defTabSz="91435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600" dirty="0" err="1">
                <a:solidFill>
                  <a:srgbClr val="275B2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GradCAM</a:t>
            </a:r>
            <a:r>
              <a:rPr lang="ko-KR" altLang="en-US" sz="1600" dirty="0">
                <a:solidFill>
                  <a:srgbClr val="275B2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ko-KR" altLang="en-US" sz="1600" dirty="0" err="1">
                <a:solidFill>
                  <a:srgbClr val="275B2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안쓰고</a:t>
            </a:r>
            <a:r>
              <a:rPr lang="ko-KR" altLang="en-US" sz="1600" dirty="0">
                <a:solidFill>
                  <a:srgbClr val="275B2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en-US" altLang="ko-KR" sz="1600" dirty="0">
                <a:solidFill>
                  <a:srgbClr val="275B2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MSE Loss </a:t>
            </a:r>
            <a:r>
              <a:rPr lang="ko-KR" altLang="en-US" sz="1600" dirty="0">
                <a:solidFill>
                  <a:srgbClr val="275B2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도 </a:t>
            </a:r>
            <a:r>
              <a:rPr lang="ko-KR" altLang="en-US" sz="1600" dirty="0" err="1">
                <a:solidFill>
                  <a:srgbClr val="275B2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해야하나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rgbClr val="275B29"/>
              </a:solidFill>
              <a:effectLst/>
              <a:uLnTx/>
              <a:uFillTx/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854542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C3F61-775C-1BC9-AF84-5BFEA63BA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43FA2B2-3717-669E-B3B0-E0ACC587D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5C3026-380B-0298-8AB4-F107695D4DEF}"/>
              </a:ext>
            </a:extLst>
          </p:cNvPr>
          <p:cNvSpPr txBox="1"/>
          <p:nvPr/>
        </p:nvSpPr>
        <p:spPr>
          <a:xfrm>
            <a:off x="217001" y="145029"/>
            <a:ext cx="670208" cy="684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b="1" dirty="0">
                <a:solidFill>
                  <a:srgbClr val="275B2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05</a:t>
            </a:r>
            <a:endParaRPr lang="ko-KR" altLang="en-US" sz="2800" b="1" dirty="0">
              <a:solidFill>
                <a:srgbClr val="275B29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F9E6B4-B89A-C9EB-F2B7-967AA51BBFF4}"/>
              </a:ext>
            </a:extLst>
          </p:cNvPr>
          <p:cNvSpPr txBox="1"/>
          <p:nvPr/>
        </p:nvSpPr>
        <p:spPr>
          <a:xfrm>
            <a:off x="725727" y="233504"/>
            <a:ext cx="1458108" cy="51552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R="0" lvl="0" defTabSz="91435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결론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5" name="Google Shape;160;p7">
            <a:extLst>
              <a:ext uri="{FF2B5EF4-FFF2-40B4-BE49-F238E27FC236}">
                <a16:creationId xmlns:a16="http://schemas.microsoft.com/office/drawing/2014/main" id="{581DD216-2D87-1D86-8317-D3E2AF9CA825}"/>
              </a:ext>
            </a:extLst>
          </p:cNvPr>
          <p:cNvSpPr/>
          <p:nvPr/>
        </p:nvSpPr>
        <p:spPr>
          <a:xfrm flipV="1">
            <a:off x="0" y="6710793"/>
            <a:ext cx="9566815" cy="147207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KoPubWorld돋움체 Medium" panose="00000600000000000000" pitchFamily="2" charset="-127"/>
              <a:ea typeface="KoPubWorld돋움체 Medium" panose="00000600000000000000" pitchFamily="2" charset="-127"/>
            </a:endParaRPr>
          </a:p>
        </p:txBody>
      </p:sp>
      <p:sp>
        <p:nvSpPr>
          <p:cNvPr id="6" name="Google Shape;161;p7">
            <a:extLst>
              <a:ext uri="{FF2B5EF4-FFF2-40B4-BE49-F238E27FC236}">
                <a16:creationId xmlns:a16="http://schemas.microsoft.com/office/drawing/2014/main" id="{B9232F53-75D3-E04C-28F5-DC375B748674}"/>
              </a:ext>
            </a:extLst>
          </p:cNvPr>
          <p:cNvSpPr/>
          <p:nvPr/>
        </p:nvSpPr>
        <p:spPr>
          <a:xfrm flipV="1">
            <a:off x="9566760" y="6710218"/>
            <a:ext cx="2625240" cy="147782"/>
          </a:xfrm>
          <a:custGeom>
            <a:avLst/>
            <a:gdLst/>
            <a:ahLst/>
            <a:cxnLst/>
            <a:rect l="l" t="t" r="r" b="b"/>
            <a:pathLst>
              <a:path w="4327525" h="163195" extrusionOk="0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KoPubWorld돋움체 Medium" panose="00000600000000000000" pitchFamily="2" charset="-127"/>
              <a:ea typeface="KoPubWorld돋움체 Medium" panose="00000600000000000000" pitchFamily="2" charset="-127"/>
            </a:endParaRPr>
          </a:p>
        </p:txBody>
      </p:sp>
      <p:pic>
        <p:nvPicPr>
          <p:cNvPr id="7" name="Picture 2" descr="서울과학기술대학교">
            <a:extLst>
              <a:ext uri="{FF2B5EF4-FFF2-40B4-BE49-F238E27FC236}">
                <a16:creationId xmlns:a16="http://schemas.microsoft.com/office/drawing/2014/main" id="{36A29693-4D4C-01FC-E8AA-C6F0801AF3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830"/>
          <a:stretch/>
        </p:blipFill>
        <p:spPr bwMode="auto">
          <a:xfrm>
            <a:off x="9900709" y="187565"/>
            <a:ext cx="1279007" cy="599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B5AA1700-E43A-BA23-D775-2E1D18DDB3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496" b="13987"/>
          <a:stretch/>
        </p:blipFill>
        <p:spPr bwMode="auto">
          <a:xfrm>
            <a:off x="11098337" y="240577"/>
            <a:ext cx="899159" cy="450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160;p7">
            <a:extLst>
              <a:ext uri="{FF2B5EF4-FFF2-40B4-BE49-F238E27FC236}">
                <a16:creationId xmlns:a16="http://schemas.microsoft.com/office/drawing/2014/main" id="{352FAFC9-6D93-B809-63DE-186D674A4934}"/>
              </a:ext>
            </a:extLst>
          </p:cNvPr>
          <p:cNvSpPr/>
          <p:nvPr/>
        </p:nvSpPr>
        <p:spPr>
          <a:xfrm>
            <a:off x="152400" y="879556"/>
            <a:ext cx="11912056" cy="60090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KoPubWorld돋움체 Medium" panose="00000600000000000000" pitchFamily="2" charset="-127"/>
              <a:ea typeface="KoPubWorld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962599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E6538-229E-E0B1-7304-C7BD357D1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6151A42-895C-A2BE-1D70-187E93998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8ABFB1-6121-EE65-DA53-4E6CA1A3E01E}"/>
              </a:ext>
            </a:extLst>
          </p:cNvPr>
          <p:cNvSpPr txBox="1"/>
          <p:nvPr/>
        </p:nvSpPr>
        <p:spPr>
          <a:xfrm>
            <a:off x="217001" y="145029"/>
            <a:ext cx="670208" cy="684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b="1" dirty="0">
                <a:solidFill>
                  <a:srgbClr val="275B29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06</a:t>
            </a:r>
            <a:endParaRPr lang="ko-KR" altLang="en-US" sz="2800" b="1" dirty="0">
              <a:solidFill>
                <a:srgbClr val="275B29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537599-3FEB-939A-BFEB-C9B8A6C43BC3}"/>
              </a:ext>
            </a:extLst>
          </p:cNvPr>
          <p:cNvSpPr txBox="1"/>
          <p:nvPr/>
        </p:nvSpPr>
        <p:spPr>
          <a:xfrm>
            <a:off x="725727" y="233504"/>
            <a:ext cx="1458108" cy="51552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R="0" lvl="0" defTabSz="91435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참고문헌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5" name="Google Shape;160;p7">
            <a:extLst>
              <a:ext uri="{FF2B5EF4-FFF2-40B4-BE49-F238E27FC236}">
                <a16:creationId xmlns:a16="http://schemas.microsoft.com/office/drawing/2014/main" id="{3E4D4ED9-12DA-6D6E-B6FB-1C2EEDE6CBD2}"/>
              </a:ext>
            </a:extLst>
          </p:cNvPr>
          <p:cNvSpPr/>
          <p:nvPr/>
        </p:nvSpPr>
        <p:spPr>
          <a:xfrm flipV="1">
            <a:off x="0" y="6710793"/>
            <a:ext cx="9566815" cy="147207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KoPubWorld돋움체 Medium" panose="00000600000000000000" pitchFamily="2" charset="-127"/>
              <a:ea typeface="KoPubWorld돋움체 Medium" panose="00000600000000000000" pitchFamily="2" charset="-127"/>
            </a:endParaRPr>
          </a:p>
        </p:txBody>
      </p:sp>
      <p:sp>
        <p:nvSpPr>
          <p:cNvPr id="6" name="Google Shape;161;p7">
            <a:extLst>
              <a:ext uri="{FF2B5EF4-FFF2-40B4-BE49-F238E27FC236}">
                <a16:creationId xmlns:a16="http://schemas.microsoft.com/office/drawing/2014/main" id="{3112B5FA-04CA-C9F2-516B-3CD1AF0E32E5}"/>
              </a:ext>
            </a:extLst>
          </p:cNvPr>
          <p:cNvSpPr/>
          <p:nvPr/>
        </p:nvSpPr>
        <p:spPr>
          <a:xfrm flipV="1">
            <a:off x="9566760" y="6710218"/>
            <a:ext cx="2625240" cy="147782"/>
          </a:xfrm>
          <a:custGeom>
            <a:avLst/>
            <a:gdLst/>
            <a:ahLst/>
            <a:cxnLst/>
            <a:rect l="l" t="t" r="r" b="b"/>
            <a:pathLst>
              <a:path w="4327525" h="163195" extrusionOk="0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KoPubWorld돋움체 Medium" panose="00000600000000000000" pitchFamily="2" charset="-127"/>
              <a:ea typeface="KoPubWorld돋움체 Medium" panose="00000600000000000000" pitchFamily="2" charset="-127"/>
            </a:endParaRPr>
          </a:p>
        </p:txBody>
      </p:sp>
      <p:pic>
        <p:nvPicPr>
          <p:cNvPr id="7" name="Picture 2" descr="서울과학기술대학교">
            <a:extLst>
              <a:ext uri="{FF2B5EF4-FFF2-40B4-BE49-F238E27FC236}">
                <a16:creationId xmlns:a16="http://schemas.microsoft.com/office/drawing/2014/main" id="{0563C79D-04B5-E242-E2A2-106DBB05D8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830"/>
          <a:stretch/>
        </p:blipFill>
        <p:spPr bwMode="auto">
          <a:xfrm>
            <a:off x="9900709" y="187565"/>
            <a:ext cx="1279007" cy="599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23C93148-0735-D72E-E523-70D6D59682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496" b="13987"/>
          <a:stretch/>
        </p:blipFill>
        <p:spPr bwMode="auto">
          <a:xfrm>
            <a:off x="11098337" y="240577"/>
            <a:ext cx="899159" cy="450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160;p7">
            <a:extLst>
              <a:ext uri="{FF2B5EF4-FFF2-40B4-BE49-F238E27FC236}">
                <a16:creationId xmlns:a16="http://schemas.microsoft.com/office/drawing/2014/main" id="{1DFAF9F0-13BD-5220-D828-6D9C47800779}"/>
              </a:ext>
            </a:extLst>
          </p:cNvPr>
          <p:cNvSpPr/>
          <p:nvPr/>
        </p:nvSpPr>
        <p:spPr>
          <a:xfrm>
            <a:off x="152400" y="879556"/>
            <a:ext cx="11912056" cy="60090"/>
          </a:xfrm>
          <a:custGeom>
            <a:avLst/>
            <a:gdLst/>
            <a:ahLst/>
            <a:cxnLst/>
            <a:rect l="l" t="t" r="r" b="b"/>
            <a:pathLst>
              <a:path w="15770225" h="162560" extrusionOk="0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>
              <a:latin typeface="KoPubWorld돋움체 Medium" panose="00000600000000000000" pitchFamily="2" charset="-127"/>
              <a:ea typeface="KoPubWorld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04607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5EFA882-2D8D-BD94-621C-E9B8A99F2A9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75B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2D12367-0448-A0C9-422B-83E3E386E958}"/>
              </a:ext>
            </a:extLst>
          </p:cNvPr>
          <p:cNvSpPr/>
          <p:nvPr/>
        </p:nvSpPr>
        <p:spPr>
          <a:xfrm>
            <a:off x="152400" y="152400"/>
            <a:ext cx="11887200" cy="65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Google Shape;105;p1"/>
          <p:cNvSpPr txBox="1"/>
          <p:nvPr/>
        </p:nvSpPr>
        <p:spPr>
          <a:xfrm>
            <a:off x="1380301" y="3028931"/>
            <a:ext cx="9431397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i="0" u="none" strike="noStrike" cap="none" dirty="0">
                <a:solidFill>
                  <a:srgbClr val="275B29"/>
                </a:solidFill>
                <a:latin typeface="Noto Sans KR"/>
                <a:ea typeface="Noto Sans KR"/>
                <a:cs typeface="Noto Sans KR"/>
                <a:sym typeface="Noto Sans KR"/>
              </a:rPr>
              <a:t>감사합니다</a:t>
            </a:r>
            <a:endParaRPr lang="en-US" sz="1800" b="1" i="0" u="none" strike="noStrike" cap="none" dirty="0">
              <a:solidFill>
                <a:srgbClr val="275B2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06" name="Google Shape;106;p1"/>
          <p:cNvCxnSpPr>
            <a:cxnSpLocks/>
          </p:cNvCxnSpPr>
          <p:nvPr/>
        </p:nvCxnSpPr>
        <p:spPr>
          <a:xfrm>
            <a:off x="5233366" y="3429000"/>
            <a:ext cx="1725267" cy="0"/>
          </a:xfrm>
          <a:prstGeom prst="straightConnector1">
            <a:avLst/>
          </a:prstGeom>
          <a:noFill/>
          <a:ln w="57150" cap="flat" cmpd="sng">
            <a:solidFill>
              <a:srgbClr val="275B2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" name="Google Shape;106;p1">
            <a:extLst>
              <a:ext uri="{FF2B5EF4-FFF2-40B4-BE49-F238E27FC236}">
                <a16:creationId xmlns:a16="http://schemas.microsoft.com/office/drawing/2014/main" id="{13C5FEF6-D669-48CC-62F5-9FBD055EC8F8}"/>
              </a:ext>
            </a:extLst>
          </p:cNvPr>
          <p:cNvCxnSpPr>
            <a:cxnSpLocks/>
          </p:cNvCxnSpPr>
          <p:nvPr/>
        </p:nvCxnSpPr>
        <p:spPr>
          <a:xfrm>
            <a:off x="5233366" y="3512127"/>
            <a:ext cx="1725267" cy="0"/>
          </a:xfrm>
          <a:prstGeom prst="straightConnector1">
            <a:avLst/>
          </a:prstGeom>
          <a:noFill/>
          <a:ln w="19050" cap="flat" cmpd="sng">
            <a:solidFill>
              <a:srgbClr val="275B29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5177110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20126</TotalTime>
  <Words>669</Words>
  <Application>Microsoft Office PowerPoint</Application>
  <PresentationFormat>와이드스크린</PresentationFormat>
  <Paragraphs>116</Paragraphs>
  <Slides>15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3" baseType="lpstr">
      <vt:lpstr>Calibri Light</vt:lpstr>
      <vt:lpstr>Arial</vt:lpstr>
      <vt:lpstr>KoPubWorld돋움체 Medium</vt:lpstr>
      <vt:lpstr>Noto Sans KR</vt:lpstr>
      <vt:lpstr>Calibri</vt:lpstr>
      <vt:lpstr>KoPubWorld돋움체 Bold</vt:lpstr>
      <vt:lpstr>나눔고딕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김나연</dc:creator>
  <cp:lastModifiedBy>김나연</cp:lastModifiedBy>
  <cp:revision>623</cp:revision>
  <dcterms:created xsi:type="dcterms:W3CDTF">2024-03-04T06:06:06Z</dcterms:created>
  <dcterms:modified xsi:type="dcterms:W3CDTF">2025-05-10T19:28:17Z</dcterms:modified>
</cp:coreProperties>
</file>