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Noto Sans KR"/>
      <p:regular r:id="rId14"/>
      <p:bold r:id="rId15"/>
    </p:embeddedFont>
    <p:embeddedFont>
      <p:font typeface="Noto Sans ExtraBold"/>
      <p:bold r:id="rId16"/>
      <p:boldItalic r:id="rId17"/>
    </p:embeddedFont>
    <p:embeddedFont>
      <p:font typeface="Noto Sans Medium"/>
      <p:regular r:id="rId18"/>
      <p:bold r:id="rId19"/>
      <p:italic r:id="rId20"/>
      <p:boldItalic r:id="rId21"/>
    </p:embeddedFont>
    <p:embeddedFont>
      <p:font typeface="Noto Sans SemiBold"/>
      <p:regular r:id="rId22"/>
      <p:bold r:id="rId23"/>
      <p:italic r:id="rId24"/>
      <p:boldItalic r:id="rId25"/>
    </p:embeddedFont>
    <p:embeddedFont>
      <p:font typeface="Noto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c7GAfka/nG7OTHJ4mFiX8QE5o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Medium-italic.fntdata"/><Relationship Id="rId22" Type="http://schemas.openxmlformats.org/officeDocument/2006/relationships/font" Target="fonts/NotoSansSemiBold-regular.fntdata"/><Relationship Id="rId21" Type="http://schemas.openxmlformats.org/officeDocument/2006/relationships/font" Target="fonts/NotoSansMedium-boldItalic.fntdata"/><Relationship Id="rId24" Type="http://schemas.openxmlformats.org/officeDocument/2006/relationships/font" Target="fonts/NotoSansSemiBold-italic.fntdata"/><Relationship Id="rId23" Type="http://schemas.openxmlformats.org/officeDocument/2006/relationships/font" Target="fonts/NotoSans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-regular.fntdata"/><Relationship Id="rId25" Type="http://schemas.openxmlformats.org/officeDocument/2006/relationships/font" Target="fonts/NotoSansSemiBold-boldItalic.fntdata"/><Relationship Id="rId28" Type="http://schemas.openxmlformats.org/officeDocument/2006/relationships/font" Target="fonts/NotoSans-italic.fntdata"/><Relationship Id="rId27" Type="http://schemas.openxmlformats.org/officeDocument/2006/relationships/font" Target="fonts/Noto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Noto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NotoSansKR-bold.fntdata"/><Relationship Id="rId14" Type="http://schemas.openxmlformats.org/officeDocument/2006/relationships/font" Target="fonts/NotoSansKR-regular.fntdata"/><Relationship Id="rId17" Type="http://schemas.openxmlformats.org/officeDocument/2006/relationships/font" Target="fonts/NotoSansExtraBold-boldItalic.fntdata"/><Relationship Id="rId16" Type="http://schemas.openxmlformats.org/officeDocument/2006/relationships/font" Target="fonts/NotoSansExtraBold-bold.fntdata"/><Relationship Id="rId19" Type="http://schemas.openxmlformats.org/officeDocument/2006/relationships/font" Target="fonts/NotoSansMedium-bold.fntdata"/><Relationship Id="rId18" Type="http://schemas.openxmlformats.org/officeDocument/2006/relationships/font" Target="fonts/Noto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9.png"/><Relationship Id="rId6" Type="http://schemas.openxmlformats.org/officeDocument/2006/relationships/image" Target="../media/image8.png"/><Relationship Id="rId7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10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41.png"/><Relationship Id="rId10" Type="http://schemas.openxmlformats.org/officeDocument/2006/relationships/image" Target="../media/image32.png"/><Relationship Id="rId9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38.png"/><Relationship Id="rId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10" Type="http://schemas.openxmlformats.org/officeDocument/2006/relationships/image" Target="../media/image40.png"/><Relationship Id="rId9" Type="http://schemas.openxmlformats.org/officeDocument/2006/relationships/image" Target="../media/image44.png"/><Relationship Id="rId5" Type="http://schemas.openxmlformats.org/officeDocument/2006/relationships/image" Target="../media/image36.png"/><Relationship Id="rId6" Type="http://schemas.openxmlformats.org/officeDocument/2006/relationships/image" Target="../media/image31.png"/><Relationship Id="rId7" Type="http://schemas.openxmlformats.org/officeDocument/2006/relationships/image" Target="../media/image37.png"/><Relationship Id="rId8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40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1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ko-KR" sz="1600" u="none" cap="none" strike="noStrike">
                <a:solidFill>
                  <a:srgbClr val="3F3F3F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실험 결과</a:t>
            </a:r>
            <a:endParaRPr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233705" y="1074273"/>
            <a:ext cx="7402417" cy="16388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01285" y="1083301"/>
            <a:ext cx="7334837" cy="158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KR"/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활용 데이터셋 :  Cognex dataset</a:t>
            </a:r>
            <a:b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labeled dataset : 50   /   1회당 클래스별 1개씩 총 6개 쿼리 선택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KR"/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사용 모델 : ResNet50</a:t>
            </a:r>
            <a:r>
              <a:rPr lang="ko-KR" sz="1100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KR"/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Optimizer : Adam        Epoch : 50           Learning Rate : 0.001          Iteration : 20    </a:t>
            </a:r>
            <a:endParaRPr sz="1100">
              <a:solidFill>
                <a:schemeClr val="accent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KR"/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MC dropout 15회 적용 </a:t>
            </a:r>
            <a:r>
              <a:rPr lang="ko-KR" sz="1100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(predictive entropy, variation ratio, meanSTD, BALD)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KR"/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아직 반복 실험 진행 못함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전체 auroc 평균</a:t>
            </a:r>
            <a:endParaRPr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0272" y="1101786"/>
            <a:ext cx="1686160" cy="1657581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285" y="3339437"/>
            <a:ext cx="2849198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0483" y="3339437"/>
            <a:ext cx="2779894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30377" y="3339437"/>
            <a:ext cx="2849198" cy="28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8779575" y="4271605"/>
            <a:ext cx="267779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Repeat 에서도 f1 score와 정확도가 많이 낮은 편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초기 50 개의 샘플이 적어서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과적합이 발생하는 것으로 추정</a:t>
            </a:r>
            <a:endParaRPr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2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2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도메인별 auroc</a:t>
            </a:r>
            <a:endParaRPr sz="1200">
              <a:solidFill>
                <a:srgbClr val="757070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972" y="4924708"/>
            <a:ext cx="1490863" cy="141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97" y="1249274"/>
            <a:ext cx="2493048" cy="25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3945" y="1249274"/>
            <a:ext cx="2493048" cy="25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897" y="3765975"/>
            <a:ext cx="2493048" cy="25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03945" y="3765975"/>
            <a:ext cx="2493048" cy="251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5551541" y="2509273"/>
            <a:ext cx="54296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반복 실험을 진행하여야 원활한 그래프를 얻을 수 있을 것 같음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3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3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도메인별 f1</a:t>
            </a:r>
            <a:endParaRPr sz="1200">
              <a:solidFill>
                <a:srgbClr val="757070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972" y="4924708"/>
            <a:ext cx="1490863" cy="141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18" y="1249274"/>
            <a:ext cx="2432405" cy="25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3623" y="1249274"/>
            <a:ext cx="2493047" cy="25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218" y="3765975"/>
            <a:ext cx="2493047" cy="25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4265" y="3765975"/>
            <a:ext cx="2432405" cy="251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 txBox="1"/>
          <p:nvPr/>
        </p:nvSpPr>
        <p:spPr>
          <a:xfrm>
            <a:off x="5551541" y="2509273"/>
            <a:ext cx="5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반복 실험을 진행하여야 원활한 그래프를 얻을 수 있을 것 같음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F1 score 가 전반적으로 낮은 편 -&gt; 아직 원인을 모르겠음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4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도메인별 정확도</a:t>
            </a:r>
            <a:endParaRPr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pic>
        <p:nvPicPr>
          <p:cNvPr id="143" name="Google Shape;1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972" y="4924708"/>
            <a:ext cx="1490863" cy="141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18" y="1279923"/>
            <a:ext cx="2432405" cy="245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3623" y="1249274"/>
            <a:ext cx="2493047" cy="251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39" y="3765975"/>
            <a:ext cx="2432405" cy="25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4265" y="3765975"/>
            <a:ext cx="2432405" cy="2519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"/>
          <p:cNvSpPr txBox="1"/>
          <p:nvPr/>
        </p:nvSpPr>
        <p:spPr>
          <a:xfrm>
            <a:off x="5551541" y="2509273"/>
            <a:ext cx="5429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반복 실험을 진행하여야 원활한 그래프를 얻을 수 있을 것 같음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Accuracy의 경우 repeat (source domain ) 은 iteration 을 진행할수록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성능이 증가하는 모습을 보이나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다른 도메인의 경우 iteration 을 진행하여도 Accuracy의 향상이 없음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5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7" name="Google Shape;157;p5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방법별 도메인 내 성능 비교</a:t>
            </a:r>
            <a:endParaRPr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1624854" y="5494716"/>
            <a:ext cx="804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Sampling 전략에 따른 도메인별 auroc 값 비교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Source 도메인인 repeat 의 값이 가장 좋음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어떤 전략이 가장 효율적인지는 반복 실험을 조금 더 진행하여야 알 수 있을 것으로 추정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pic>
        <p:nvPicPr>
          <p:cNvPr id="160" name="Google Shape;1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41" y="1249959"/>
            <a:ext cx="1948051" cy="196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5861" y="1244515"/>
            <a:ext cx="2032942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115" y="1244515"/>
            <a:ext cx="1911178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46372" y="1244515"/>
            <a:ext cx="1948175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45902" y="3283258"/>
            <a:ext cx="2032942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4854" y="3283258"/>
            <a:ext cx="1958824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41068" y="3283258"/>
            <a:ext cx="1958824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62115" y="3283258"/>
            <a:ext cx="1911177" cy="19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6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p6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방법별 도메인 내 성능 비교</a:t>
            </a:r>
            <a:endParaRPr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1624854" y="5494716"/>
            <a:ext cx="804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Sampling 전략에 따른 도메인별 f1 score 값 비교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Source 도메인인 repeat 의 값이 가장 좋음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어떤 전략이 가장 효율적인지는 반복 실험을 조금 더 진행하여야 알 수 있을 것으로 추정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pic>
        <p:nvPicPr>
          <p:cNvPr id="179" name="Google Shape;1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41" y="1249959"/>
            <a:ext cx="1948050" cy="196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6744" y="1244515"/>
            <a:ext cx="1911176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116" y="1244515"/>
            <a:ext cx="1911176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4871" y="1244515"/>
            <a:ext cx="1911176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85608" y="3283258"/>
            <a:ext cx="1953529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4854" y="3283258"/>
            <a:ext cx="1958823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41068" y="3283258"/>
            <a:ext cx="1958823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62115" y="3283258"/>
            <a:ext cx="1911176" cy="19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7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7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방법별 도메인 내 성능 비교</a:t>
            </a:r>
            <a:endParaRPr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1624854" y="5494716"/>
            <a:ext cx="804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Sampling 전략에 따른 도메인별 accuracy 값 비교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Source 도메인인 repeat 의 값이 가장 좋으며 그 다음으로는 cameraz 가 가장 우수함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어떤 전략이 가장 효율적인지는 반복 실험을 조금 더 진행하여야 알 수 있을 것으로 추정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pic>
        <p:nvPicPr>
          <p:cNvPr id="198" name="Google Shape;1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854" y="1249959"/>
            <a:ext cx="1958823" cy="196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5608" y="1244515"/>
            <a:ext cx="1932312" cy="19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116" y="1244515"/>
            <a:ext cx="1911176" cy="19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4871" y="1244515"/>
            <a:ext cx="1911176" cy="19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85608" y="3288595"/>
            <a:ext cx="1953529" cy="196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4854" y="3283258"/>
            <a:ext cx="1958823" cy="19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64891" y="3283258"/>
            <a:ext cx="1911176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62115" y="3283258"/>
            <a:ext cx="1911176" cy="197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8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4" name="Google Shape;214;p8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CLIP Zero-shot Domain Classification</a:t>
            </a:r>
            <a:endParaRPr sz="1200">
              <a:solidFill>
                <a:srgbClr val="757070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1624854" y="5494716"/>
            <a:ext cx="804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CLIP이 도메인 변화에 대해서 잘 파악할 수 있는지 체크하는 실험 진행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분류는 normal, lcondition, brightness, cameraz 이렇게 4가지 도메인에 대해 분류 진행 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사용한 프롬프트는 다음과 같음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pic>
        <p:nvPicPr>
          <p:cNvPr id="217" name="Google Shape;2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62" y="1322208"/>
            <a:ext cx="10571211" cy="3372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9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6" name="Google Shape;226;p9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CLIP Zero-shot Domain Classification</a:t>
            </a:r>
            <a:endParaRPr sz="1200">
              <a:solidFill>
                <a:srgbClr val="757070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961055" y="4914145"/>
            <a:ext cx="9661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모든 Test dataset에 대해 실험 결과, AUROC:0.5812 / Acc:0.4059 / F1:0.2673</a:t>
            </a:r>
            <a:endParaRPr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Cameraz와 brightness라는 도메인은 분류를 잘하지만, normal과 lcondition이라는 도메인에 대해 약한 모습을 보임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Normal 이라는 환경 자체가 상당히 모호하고 주관적인 표현이기에 성능이 잘 나오지 않는 것으로 판단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pic>
        <p:nvPicPr>
          <p:cNvPr id="229" name="Google Shape;2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552" y="1332242"/>
            <a:ext cx="11318648" cy="3241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2024-01-06T11:16:28Z</dcterms:created>
  <dc:creator>나연</dc:creator>
</cp:coreProperties>
</file>