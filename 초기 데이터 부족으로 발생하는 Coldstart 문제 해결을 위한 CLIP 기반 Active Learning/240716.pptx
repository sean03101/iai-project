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Noto Sans KR"/>
      <p:regular r:id="rId18"/>
      <p:bold r:id="rId19"/>
    </p:embeddedFont>
    <p:embeddedFont>
      <p:font typeface="No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axLucGk+4NDJAkD18y5X9GFV/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714B9E-67EE-4A8B-8F5A-C7ECFA20CE18}">
  <a:tblStyle styleId="{28714B9E-67EE-4A8B-8F5A-C7ECFA20CE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regular.fntdata"/><Relationship Id="rId11" Type="http://schemas.openxmlformats.org/officeDocument/2006/relationships/slide" Target="slides/slide6.xml"/><Relationship Id="rId22" Type="http://schemas.openxmlformats.org/officeDocument/2006/relationships/font" Target="fonts/NotoSans-italic.fntdata"/><Relationship Id="rId10" Type="http://schemas.openxmlformats.org/officeDocument/2006/relationships/slide" Target="slides/slide5.xml"/><Relationship Id="rId21" Type="http://schemas.openxmlformats.org/officeDocument/2006/relationships/font" Target="fonts/No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Noto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KR-bold.fntdata"/><Relationship Id="rId6" Type="http://schemas.openxmlformats.org/officeDocument/2006/relationships/slide" Target="slides/slide1.xml"/><Relationship Id="rId18" Type="http://schemas.openxmlformats.org/officeDocument/2006/relationships/font" Target="fonts/NotoSansK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38454e2c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738454e2c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c1f9a8ef2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2ec1f9a8ef2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c1f9a8ef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2ec1f9a8ef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c1f9a8ef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2ec1f9a8ef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c1f9a8ef2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2ec1f9a8ef2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c1f9a8ef2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2ec1f9a8ef2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c1f9a8ef2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2ec1f9a8ef2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c1f9a8ef2_2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2ec1f9a8ef2_2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c1f9a8ef2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2ec1f9a8ef2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c1f9a8ef2_2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2ec1f9a8ef2_2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c1f9a8ef2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2ec1f9a8ef2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38454e2c7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738454e2c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2738454e2c7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38454e2c7_0_5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g2738454e2c7_0_54"/>
          <p:cNvSpPr txBox="1"/>
          <p:nvPr/>
        </p:nvSpPr>
        <p:spPr>
          <a:xfrm>
            <a:off x="242600" y="739050"/>
            <a:ext cx="11868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Cameraz / Flip 4개의 방법을 기반으로 강도 0~4 단계로 변형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 : 원본 인스턴스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: offline augmentation(20개)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margin_aug_strong : 강도를 높여 offline aug 후, 인스턴스별 마진값의 평균이 가장 높은 인스턴스 샘플링</a:t>
            </a:r>
            <a:endParaRPr sz="15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margin_aug_online : 강도를 높여 online aug 후, 인스턴스별 마진값의 평균이 가장 높은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(max: aug 정도를 높였기 때문에 max 로 샘플링 하는 것은 너무 많이 변형된 샘플 선택의 위험성이 있다고 판단)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g2738454e2c7_0_54"/>
          <p:cNvSpPr txBox="1"/>
          <p:nvPr/>
        </p:nvSpPr>
        <p:spPr>
          <a:xfrm>
            <a:off x="4596000" y="63393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accuracy</a:t>
            </a:r>
            <a:endParaRPr/>
          </a:p>
        </p:txBody>
      </p:sp>
      <p:pic>
        <p:nvPicPr>
          <p:cNvPr id="91" name="Google Shape;91;g2738454e2c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5788" y="8"/>
            <a:ext cx="2589350" cy="2660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738454e2c7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33" y="3228305"/>
            <a:ext cx="2992323" cy="3106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2738454e2c7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6000" y="3228320"/>
            <a:ext cx="2992325" cy="310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2738454e2c7_0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6656" y="3204325"/>
            <a:ext cx="3038533" cy="315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2738454e2c7_0_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5205" y="3213522"/>
            <a:ext cx="3020803" cy="313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c1f9a8ef2_0_15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g2ec1f9a8ef2_0_15"/>
          <p:cNvSpPr txBox="1"/>
          <p:nvPr/>
        </p:nvSpPr>
        <p:spPr>
          <a:xfrm>
            <a:off x="4596000" y="63393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score</a:t>
            </a:r>
            <a:endParaRPr/>
          </a:p>
        </p:txBody>
      </p:sp>
      <p:sp>
        <p:nvSpPr>
          <p:cNvPr id="102" name="Google Shape;102;g2ec1f9a8ef2_0_15"/>
          <p:cNvSpPr txBox="1"/>
          <p:nvPr/>
        </p:nvSpPr>
        <p:spPr>
          <a:xfrm>
            <a:off x="242600" y="739050"/>
            <a:ext cx="11868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Cameraz / Flip 4개의 방법을 기반으로 강도 0~4 단계로 변형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 : 원본 인스턴스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: offline augmentation(20개)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margin_aug_strong : 강도를 높여 offline aug 후, 인스턴스별 마진값의 평균이 가장 높은 인스턴스 샘플링</a:t>
            </a:r>
            <a:endParaRPr sz="15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margin_aug_online : 강도를 높여 online aug 후, 인스턴스별 마진값의 평균이 가장 높은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(max: aug 정도를 높였기 때문에 max 로 샘플링 하는 것은 너무 많이 변형된 샘플 선택의 위험성이 있다고 판단)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3" name="Google Shape;103;g2ec1f9a8ef2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337" y="3074100"/>
            <a:ext cx="3036866" cy="3272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ec1f9a8ef2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3250" y="0"/>
            <a:ext cx="2848750" cy="30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2ec1f9a8ef2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" y="3069029"/>
            <a:ext cx="3036866" cy="328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ec1f9a8ef2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3224" y="3067138"/>
            <a:ext cx="3036866" cy="32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2ec1f9a8ef2_0_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6873" y="3069039"/>
            <a:ext cx="3036866" cy="328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c1f9a8ef2_0_2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g2ec1f9a8ef2_0_24"/>
          <p:cNvSpPr txBox="1"/>
          <p:nvPr/>
        </p:nvSpPr>
        <p:spPr>
          <a:xfrm>
            <a:off x="4596000" y="63393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auc mean</a:t>
            </a:r>
            <a:endParaRPr/>
          </a:p>
        </p:txBody>
      </p:sp>
      <p:sp>
        <p:nvSpPr>
          <p:cNvPr id="114" name="Google Shape;114;g2ec1f9a8ef2_0_24"/>
          <p:cNvSpPr txBox="1"/>
          <p:nvPr/>
        </p:nvSpPr>
        <p:spPr>
          <a:xfrm>
            <a:off x="242600" y="739050"/>
            <a:ext cx="11868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Cameraz / Flip 4개의 방법을 기반으로 강도 0~4 단계로 변형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 : 원본 인스턴스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: offline augmentation(20개)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margin_aug_strong : 강도를 높여 offline aug 후, 인스턴스별 마진값의 평균이 가장 높은 인스턴스 샘플링</a:t>
            </a:r>
            <a:endParaRPr sz="15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margin_aug_online : 강도를 높여 online aug 후, 인스턴스별 마진값의 평균이 가장 높은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(max: aug 정도를 높였기 때문에 max 로 샘플링 하는 것은 너무 많이 변형된 샘플 선택의 위험성이 있다고 판단)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5" name="Google Shape;115;g2ec1f9a8ef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527" y="3150862"/>
            <a:ext cx="3017520" cy="3047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ec1f9a8ef2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86063"/>
            <a:ext cx="3017520" cy="297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ec1f9a8ef2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4860" y="3184625"/>
            <a:ext cx="3008376" cy="298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ec1f9a8ef2_0_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3224" y="3158075"/>
            <a:ext cx="3006376" cy="3033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ec1f9a8ef2_0_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2100" y="-1"/>
            <a:ext cx="2859900" cy="28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1f9a8ef2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25" name="Google Shape;125;g2ec1f9a8ef2_0_0"/>
          <p:cNvGraphicFramePr/>
          <p:nvPr/>
        </p:nvGraphicFramePr>
        <p:xfrm>
          <a:off x="487975" y="302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{28714B9E-67EE-4A8B-8F5A-C7ECFA20CE18}</a:tableStyleId>
              </a:tblPr>
              <a:tblGrid>
                <a:gridCol w="915425"/>
                <a:gridCol w="1080700"/>
                <a:gridCol w="1106125"/>
                <a:gridCol w="915425"/>
                <a:gridCol w="9154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　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brightness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lightness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cameraz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flip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sum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g2ec1f9a8ef2_0_0"/>
          <p:cNvSpPr txBox="1"/>
          <p:nvPr/>
        </p:nvSpPr>
        <p:spPr>
          <a:xfrm>
            <a:off x="5569600" y="3946163"/>
            <a:ext cx="670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의 강도를 높였을 때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이 더 세게 적용될수록 불확실성이 높을지 비교해보았으나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중간 정도의 세기 (2) 에서도 높은 마진값을 갖는 것을 확인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g2ec1f9a8ef2_0_0"/>
          <p:cNvSpPr txBox="1"/>
          <p:nvPr/>
        </p:nvSpPr>
        <p:spPr>
          <a:xfrm>
            <a:off x="487975" y="5743875"/>
            <a:ext cx="4933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 aug strong 에서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iteration 별 마진값이 가장 높았던 augmented 방법과 세기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g2ec1f9a8ef2_0_0"/>
          <p:cNvSpPr txBox="1"/>
          <p:nvPr/>
        </p:nvSpPr>
        <p:spPr>
          <a:xfrm>
            <a:off x="242600" y="739050"/>
            <a:ext cx="11868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Cameraz / Flip 4개의 방법을 기반으로 강도 0~4 단계로 변형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※ 학습은 모두 온라인 증강으로 진행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 : 원본 인스턴스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: offline augmentation(20개) 중 마진 값이 가장 큰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margin_aug_strong : 강도를 높여 offline augmentation 후, 인스턴스별 마진값의 평균이 가장 높은 인스턴스 샘플링</a:t>
            </a:r>
            <a:endParaRPr sz="15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margin_aug_online : 강도를 높여 online augmentation 후, 인스턴스별 마진값의 평균이 가장 높은 인스턴스 샘플링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(max: augmentation 정도를 높였기 때문에 max 로 샘플링 하는 것은 너무 많이 변형된 샘플 선택의 위험성이 있다고 판단)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c1f9a8ef2_0_41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 - 선택되는 augmentation 확인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4" name="Google Shape;134;g2ec1f9a8ef2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84977"/>
            <a:ext cx="11887199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ec1f9a8ef2_0_41"/>
          <p:cNvSpPr txBox="1"/>
          <p:nvPr/>
        </p:nvSpPr>
        <p:spPr>
          <a:xfrm>
            <a:off x="242600" y="5970975"/>
            <a:ext cx="11868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이 진행될수록 augmentation 별로 uncertainty 가 낮아짐 확인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대체적으로 flip, lightness &gt; cameraz, brightness 순으로 학습된 모델이 도메인 변화에 강건한 경향을 보임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6" name="Google Shape;136;g2ec1f9a8ef2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86927"/>
            <a:ext cx="11887199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ec1f9a8ef2_0_41"/>
          <p:cNvSpPr txBox="1"/>
          <p:nvPr/>
        </p:nvSpPr>
        <p:spPr>
          <a:xfrm>
            <a:off x="242600" y="7278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에서의 augmentation 별 uncertainty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g2ec1f9a8ef2_0_41"/>
          <p:cNvSpPr txBox="1"/>
          <p:nvPr/>
        </p:nvSpPr>
        <p:spPr>
          <a:xfrm>
            <a:off x="242600" y="33944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(strong) 에서의 augmentation 별 uncertainty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c1f9a8ef2_0_30"/>
          <p:cNvSpPr txBox="1"/>
          <p:nvPr/>
        </p:nvSpPr>
        <p:spPr>
          <a:xfrm>
            <a:off x="8161875" y="2424600"/>
            <a:ext cx="42747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별로 마진값이 가장 높았던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 를 확인했을 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flip 은 초반을 제외하고 거의 선택되지 않음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이 진행될수록 선택되는 </a:t>
            </a:r>
            <a:b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이 달라지거나 하는 경향을</a:t>
            </a:r>
            <a:b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보이지 않음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g2ec1f9a8ef2_0_3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 - 선택되는 augmentation 확인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g2ec1f9a8ef2_0_30"/>
          <p:cNvSpPr txBox="1"/>
          <p:nvPr/>
        </p:nvSpPr>
        <p:spPr>
          <a:xfrm>
            <a:off x="242600" y="7204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에서 iteration 별 margin 이 가장 높았던 샘플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6" name="Google Shape;146;g2ec1f9a8ef2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105350"/>
            <a:ext cx="7857075" cy="493113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ec1f9a8ef2_0_30"/>
          <p:cNvSpPr txBox="1"/>
          <p:nvPr/>
        </p:nvSpPr>
        <p:spPr>
          <a:xfrm>
            <a:off x="2801905" y="6036475"/>
            <a:ext cx="580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총:              33        15         37        15                           21         17        19         25         18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c1f9a8ef2_2_6"/>
          <p:cNvSpPr txBox="1"/>
          <p:nvPr/>
        </p:nvSpPr>
        <p:spPr>
          <a:xfrm>
            <a:off x="8161875" y="2424600"/>
            <a:ext cx="42747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별로 마진값이 가장 높았던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 를 확인했을 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flip 은 거의 선택되지 않았음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이 진행될수록 선택되는 </a:t>
            </a:r>
            <a:b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이 달라지거나 하는 경향을</a:t>
            </a:r>
            <a:b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보이지 않음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g2ec1f9a8ef2_2_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 - 선택되는 augmentation 확인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g2ec1f9a8ef2_2_6"/>
          <p:cNvSpPr txBox="1"/>
          <p:nvPr/>
        </p:nvSpPr>
        <p:spPr>
          <a:xfrm>
            <a:off x="242600" y="7204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(strong) 에서 iteration 별 margin 이 가장 높았던 샘플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5" name="Google Shape;155;g2ec1f9a8ef2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00" y="1163375"/>
            <a:ext cx="7857073" cy="496020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2ec1f9a8ef2_2_6"/>
          <p:cNvSpPr txBox="1"/>
          <p:nvPr/>
        </p:nvSpPr>
        <p:spPr>
          <a:xfrm>
            <a:off x="2707530" y="6067925"/>
            <a:ext cx="580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총:              29        29         39            3                          19         13        28         19         21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c1f9a8ef2_2_14"/>
          <p:cNvSpPr txBox="1"/>
          <p:nvPr/>
        </p:nvSpPr>
        <p:spPr>
          <a:xfrm>
            <a:off x="6641375" y="1105350"/>
            <a:ext cx="5965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별로 마진값이 가장 높았던 class 를 확인했을 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소수 결함 클래스 보다는 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 ok 클래스가 선택됨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오답률이 높은 클래스(scratch, dent)를 자주 뽑지 않는 경향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존재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g2ec1f9a8ef2_2_1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 - 선택되는 class확인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3" name="Google Shape;163;g2ec1f9a8ef2_2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00" y="1034775"/>
            <a:ext cx="6249351" cy="52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2ec1f9a8ef2_2_14"/>
          <p:cNvSpPr txBox="1"/>
          <p:nvPr/>
        </p:nvSpPr>
        <p:spPr>
          <a:xfrm>
            <a:off x="242600" y="7204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에서 iteration 별 margin 이 가장 높았던 샘플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g2ec1f9a8ef2_2_14"/>
          <p:cNvSpPr txBox="1"/>
          <p:nvPr/>
        </p:nvSpPr>
        <p:spPr>
          <a:xfrm>
            <a:off x="3051300" y="6240250"/>
            <a:ext cx="35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총:           65           7           3          11          12          2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c1f9a8ef2_0_50"/>
          <p:cNvSpPr txBox="1"/>
          <p:nvPr/>
        </p:nvSpPr>
        <p:spPr>
          <a:xfrm>
            <a:off x="6190475" y="1278075"/>
            <a:ext cx="5965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별로 마진값이 가장 높았던 class 를 확인했을 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소수 결함 클래스 보다는 대부분 ok 클래스가 선택됨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오답률이 높은 클래스(scratch, dent)를 자주 뽑지 않는 경향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존재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g2ec1f9a8ef2_0_5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 - 선택되는 class확인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2" name="Google Shape;172;g2ec1f9a8ef2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5352"/>
            <a:ext cx="5885675" cy="494232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ec1f9a8ef2_0_50"/>
          <p:cNvSpPr txBox="1"/>
          <p:nvPr/>
        </p:nvSpPr>
        <p:spPr>
          <a:xfrm>
            <a:off x="242600" y="7204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margin_aug (strong) 에서 iteration 별 margin 이 가장 높았던 샘플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g2ec1f9a8ef2_0_50"/>
          <p:cNvSpPr txBox="1"/>
          <p:nvPr/>
        </p:nvSpPr>
        <p:spPr>
          <a:xfrm>
            <a:off x="2635475" y="6047675"/>
            <a:ext cx="35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총:             72           9           2          7          7           3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c1f9a8ef2_2_23"/>
          <p:cNvSpPr txBox="1"/>
          <p:nvPr/>
        </p:nvSpPr>
        <p:spPr>
          <a:xfrm>
            <a:off x="5715000" y="2242700"/>
            <a:ext cx="61644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없이 기본적인 margin 에서도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ok 클래스가 많이 선택됨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다른 방법과 비교했을 때 결함 클래스가 조금 더 많이 선택되는 경향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오답률이 높은 클래스(scratch, dent)를 자주 뽑지 않는 경향 존재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g2ec1f9a8ef2_2_23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실험 결과 - 선택되는 class확인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g2ec1f9a8ef2_2_23"/>
          <p:cNvSpPr txBox="1"/>
          <p:nvPr/>
        </p:nvSpPr>
        <p:spPr>
          <a:xfrm>
            <a:off x="242600" y="720450"/>
            <a:ext cx="118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margin </a:t>
            </a:r>
            <a:r>
              <a:rPr lang="en-US" sz="13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에서 iteration 별 margin 이 가장 높았던 샘플</a:t>
            </a:r>
            <a:endParaRPr sz="13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g2ec1f9a8ef2_2_23"/>
          <p:cNvSpPr txBox="1"/>
          <p:nvPr/>
        </p:nvSpPr>
        <p:spPr>
          <a:xfrm>
            <a:off x="2160000" y="6418525"/>
            <a:ext cx="35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총:           55           9           6          12          14          4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3" name="Google Shape;183;g2ec1f9a8ef2_2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00" y="1105350"/>
            <a:ext cx="5289949" cy="535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ec1f9a8ef2_2_23"/>
          <p:cNvSpPr txBox="1"/>
          <p:nvPr/>
        </p:nvSpPr>
        <p:spPr>
          <a:xfrm>
            <a:off x="9192000" y="64616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*우연에 의한 것인지는 반복 실험 필요</a:t>
            </a:r>
            <a:endParaRPr sz="11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c1f9a8ef2_3_0"/>
          <p:cNvSpPr txBox="1"/>
          <p:nvPr/>
        </p:nvSpPr>
        <p:spPr>
          <a:xfrm>
            <a:off x="512375" y="1296775"/>
            <a:ext cx="107010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본 논문은 Test time augmentation 과 test-time dropout(MCMC)를 활용해 Aleatoric uncertainty와 Epistemic uncertainty 측정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Aleatoric uncertainty 측정 시, 간단한 augmentation(회전,확대,축소) 적용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제안하는 방법은 어떤 원본 이미지 X에 대해 X1​부터 Xn까지 증강 이미지를 생성한 다음, m번의 드랍아웃을 통해 1개의 인스턴스에 대해 총 m*n개의 아웃풋 생성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m*n개의 아웃풋이 예측한 class(argmax 값)에 대해 entropy를 계산하여 불확실성 측정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●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이러한 방법을 통해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AutoNum type="alphaLcPeriod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test-time augmentation 방법을 활용한 불확실성 방법에 대해 수학적으로 증명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AutoNum type="alphaLcPeriod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의료 데이터에 내재된 우연성에 의해 발생하는 불확실성 측정 가능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AutoNum type="alphaLcPeriod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분류 및 segmentation 딥러닝 모델에서 사용할 수 있는 방법 제안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g2ec1f9a8ef2_3_0"/>
          <p:cNvSpPr txBox="1"/>
          <p:nvPr/>
        </p:nvSpPr>
        <p:spPr>
          <a:xfrm>
            <a:off x="242601" y="227175"/>
            <a:ext cx="1186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Aleatoric uncertainty estimation with test-time augmentation for medical image segmentation with convolutional neural networks / Neurocomputing(559회)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91" name="Google Shape;191;g2ec1f9a8ef2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8250" y="3276275"/>
            <a:ext cx="290512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38454e2c7_0_8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8" name="Google Shape;198;g2738454e2c7_0_86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2738454e2c7_0_86"/>
          <p:cNvSpPr txBox="1"/>
          <p:nvPr/>
        </p:nvSpPr>
        <p:spPr>
          <a:xfrm>
            <a:off x="336971" y="1443758"/>
            <a:ext cx="9862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augmentation 을 이용하여 uncertainty 를 측정하는 다른 선행 연구들에 기반하여 샘플링 방법 연구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augmentation / MC dropout / augmentation 의 세기 등 다양한 기준 조합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도메인 증강을 통해 domain 변화에 대한 불확실성을 측정할 수 있는 방법 모색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