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40">
          <p15:clr>
            <a:srgbClr val="A4A3A4"/>
          </p15:clr>
        </p15:guide>
        <p15:guide id="2" pos="216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6" roundtripDataSignature="AMtx7mggBkOvEzWGhUYjg/ZaCy6mLHun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40" orient="horz"/>
        <p:guide pos="21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8d215f4349_0_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28d215f4349_0_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491a439c9_0_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4" name="Google Shape;64;g29491a439c9_0_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c2ec4a854_0_1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>
                <a:latin typeface="Malgun Gothic"/>
                <a:ea typeface="Malgun Gothic"/>
                <a:cs typeface="Malgun Gothic"/>
                <a:sym typeface="Malgun Gothic"/>
              </a:rPr>
              <a:t>학습 단계에서 주어진 카테고리의 예제 없이도 모델이 새로운 카테고리에 대한 작업을 수행할 수 있도록 학습하는 기술</a:t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g24c2ec4a854_0_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3be802deb_0_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g293be802deb_0_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c40f62088_2_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3" name="Google Shape;93;g24c40f62088_2_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d0b3512ce_1_3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103" name="Google Shape;103;g25d0b3512ce_1_3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4c2ec4a854_0_2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" name="Google Shape;114;g24c2ec4a854_0_2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d0b3512ce_1_5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GB"/>
              <a:t>Classification의 output과 label정보에 대해 ce loss를 사용, unlabeled data와 classification model의 output과 clip의 output에 대한 kd loss를 구한다. </a:t>
            </a:r>
            <a:endParaRPr/>
          </a:p>
        </p:txBody>
      </p:sp>
      <p:sp>
        <p:nvSpPr>
          <p:cNvPr id="128" name="Google Shape;128;g25d0b3512ce_1_5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d0b3512ce_1_6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25d0b3512ce_1_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d0b3512ce_1_6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g25d0b3512ce_1_6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491a439c9_0_3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3" name="Google Shape;163;g29491a439c9_0_3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d0b3512ce_1_1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1" name="Google Shape;171;g25d0b3512ce_1_1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d0b3512ce_1_1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1" name="Google Shape;181;g25d0b3512ce_1_1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c2ec4a854_0_3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g24c2ec4a854_0_3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d0b3512ce_1_16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rPr lang="en-GB"/>
              <a:t>random sampling을 통한 initial label set 구축 과정을 없앨 수 있어, 0iteration부터 시작하여 informative한 데이터를 골라나갈 수 있음</a:t>
            </a:r>
            <a:endParaRPr/>
          </a:p>
        </p:txBody>
      </p:sp>
      <p:sp>
        <p:nvSpPr>
          <p:cNvPr id="211" name="Google Shape;211;g25d0b3512ce_1_16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d0b3512ce_1_22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g25d0b3512ce_1_22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94c7e3bd9c_0_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5" name="Google Shape;235;g294c7e3bd9c_0_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2ec4a854_0_5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g24c2ec4a854_0_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0" name="Google Shape;260;p3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415239" y="281178"/>
            <a:ext cx="11361521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1A52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295757" y="3164782"/>
            <a:ext cx="11600484" cy="193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1425682" y="362457"/>
            <a:ext cx="2565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/>
          <p:nvPr/>
        </p:nvSpPr>
        <p:spPr>
          <a:xfrm>
            <a:off x="0" y="4878323"/>
            <a:ext cx="12192000" cy="62865"/>
          </a:xfrm>
          <a:custGeom>
            <a:rect b="b" l="l" r="r" t="t"/>
            <a:pathLst>
              <a:path extrusionOk="0" h="62864" w="12192000">
                <a:moveTo>
                  <a:pt x="12192000" y="0"/>
                </a:moveTo>
                <a:lnTo>
                  <a:pt x="0" y="0"/>
                </a:lnTo>
                <a:lnTo>
                  <a:pt x="0" y="62483"/>
                </a:lnTo>
                <a:lnTo>
                  <a:pt x="12192000" y="62483"/>
                </a:lnTo>
                <a:lnTo>
                  <a:pt x="12192000" y="0"/>
                </a:lnTo>
                <a:close/>
              </a:path>
            </a:pathLst>
          </a:custGeom>
          <a:solidFill>
            <a:srgbClr val="1A523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9"/>
          <p:cNvSpPr txBox="1"/>
          <p:nvPr>
            <p:ph type="title"/>
          </p:nvPr>
        </p:nvSpPr>
        <p:spPr>
          <a:xfrm>
            <a:off x="415239" y="281178"/>
            <a:ext cx="11361521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1A52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/>
        </p:nvSpPr>
        <p:spPr>
          <a:xfrm>
            <a:off x="11425682" y="362457"/>
            <a:ext cx="2565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76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/>
        </p:nvSpPr>
        <p:spPr>
          <a:xfrm>
            <a:off x="11425682" y="362457"/>
            <a:ext cx="2565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76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15239" y="281178"/>
            <a:ext cx="11361521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1A52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0" y="734568"/>
            <a:ext cx="12192000" cy="62865"/>
          </a:xfrm>
          <a:custGeom>
            <a:rect b="b" l="l" r="r" t="t"/>
            <a:pathLst>
              <a:path extrusionOk="0" h="62865" w="12192000">
                <a:moveTo>
                  <a:pt x="12192000" y="0"/>
                </a:moveTo>
                <a:lnTo>
                  <a:pt x="0" y="0"/>
                </a:lnTo>
                <a:lnTo>
                  <a:pt x="0" y="62484"/>
                </a:lnTo>
                <a:lnTo>
                  <a:pt x="12192000" y="62484"/>
                </a:lnTo>
                <a:lnTo>
                  <a:pt x="12192000" y="0"/>
                </a:lnTo>
                <a:close/>
              </a:path>
            </a:pathLst>
          </a:custGeom>
          <a:solidFill>
            <a:srgbClr val="1A523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type="title"/>
          </p:nvPr>
        </p:nvSpPr>
        <p:spPr>
          <a:xfrm>
            <a:off x="415239" y="281178"/>
            <a:ext cx="11361521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rgbClr val="1A52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" type="body"/>
          </p:nvPr>
        </p:nvSpPr>
        <p:spPr>
          <a:xfrm>
            <a:off x="295757" y="3164782"/>
            <a:ext cx="11600484" cy="193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/>
        </p:nvSpPr>
        <p:spPr>
          <a:xfrm>
            <a:off x="11425682" y="362457"/>
            <a:ext cx="2565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76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76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8d215f4349_0_0"/>
          <p:cNvSpPr/>
          <p:nvPr/>
        </p:nvSpPr>
        <p:spPr>
          <a:xfrm>
            <a:off x="0" y="3206496"/>
            <a:ext cx="12192000" cy="386079"/>
          </a:xfrm>
          <a:custGeom>
            <a:rect b="b" l="l" r="r" t="t"/>
            <a:pathLst>
              <a:path extrusionOk="0" h="386079" w="12192000">
                <a:moveTo>
                  <a:pt x="12192000" y="0"/>
                </a:moveTo>
                <a:lnTo>
                  <a:pt x="0" y="0"/>
                </a:lnTo>
                <a:lnTo>
                  <a:pt x="0" y="385571"/>
                </a:lnTo>
                <a:lnTo>
                  <a:pt x="12192000" y="385571"/>
                </a:lnTo>
                <a:lnTo>
                  <a:pt x="12192000" y="0"/>
                </a:lnTo>
                <a:close/>
              </a:path>
            </a:pathLst>
          </a:custGeom>
          <a:solidFill>
            <a:srgbClr val="1A523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28d215f4349_0_0"/>
          <p:cNvSpPr txBox="1"/>
          <p:nvPr>
            <p:ph type="title"/>
          </p:nvPr>
        </p:nvSpPr>
        <p:spPr>
          <a:xfrm>
            <a:off x="1621200" y="2380250"/>
            <a:ext cx="89496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2500"/>
              <a:t>초기 데이터 부족으로 발생하는 Coldstart 문제 해결을 위한 CLIP 기반 Active Learning</a:t>
            </a:r>
            <a:endParaRPr sz="2500"/>
          </a:p>
        </p:txBody>
      </p:sp>
      <p:pic>
        <p:nvPicPr>
          <p:cNvPr descr="Icon&#10;&#10;Description automatically generated" id="49" name="Google Shape;49;g28d215f434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6518" y="237488"/>
            <a:ext cx="1436207" cy="8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28d215f4349_0_0"/>
          <p:cNvSpPr txBox="1"/>
          <p:nvPr/>
        </p:nvSpPr>
        <p:spPr>
          <a:xfrm>
            <a:off x="1433550" y="3586350"/>
            <a:ext cx="9727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 Initialization Using CLIP for Visual Defect Detection</a:t>
            </a:r>
            <a:endParaRPr b="0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g28d215f4349_0_0"/>
          <p:cNvSpPr txBox="1"/>
          <p:nvPr/>
        </p:nvSpPr>
        <p:spPr>
          <a:xfrm>
            <a:off x="4243650" y="5961913"/>
            <a:ext cx="3704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9050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2023 한국데이터마이닝학회 추계학술대회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g28d215f4349_0_0"/>
          <p:cNvSpPr txBox="1"/>
          <p:nvPr/>
        </p:nvSpPr>
        <p:spPr>
          <a:xfrm>
            <a:off x="2316902" y="4102125"/>
            <a:ext cx="7558200" cy="1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배소희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</a:t>
            </a:r>
            <a:r>
              <a:rPr b="1" baseline="30000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이성호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</a:t>
            </a:r>
            <a:r>
              <a:rPr b="1" baseline="30000" i="0" lang="en-GB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0" i="0" lang="en-GB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en-GB" sz="1100" u="sng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심재웅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[*]</a:t>
            </a:r>
            <a:endParaRPr b="0" i="0" sz="1100" u="sng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1,2,*</a:t>
            </a:r>
            <a:r>
              <a:rPr b="0" i="1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서울과학기술대학교 데이터사이언스학과</a:t>
            </a:r>
            <a:endParaRPr b="0" i="1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0" i="1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shbae2819</a:t>
            </a:r>
            <a:r>
              <a:rPr b="0" i="1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@g.seoultech.ac.kr,</a:t>
            </a:r>
            <a:r>
              <a:rPr b="0" i="1" lang="en-GB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0" i="1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sean0310@seoultech.ac.kr,</a:t>
            </a:r>
            <a:r>
              <a:rPr b="0" i="1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</a:t>
            </a:r>
            <a:r>
              <a:rPr b="0" i="1" lang="en-GB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jaewoong@seoultech.ac.kr</a:t>
            </a:r>
            <a:endParaRPr b="0" i="0" sz="1100" u="sng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" name="Google Shape;53;g28d215f434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5186374" cy="10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28d215f4349_0_0"/>
          <p:cNvSpPr txBox="1"/>
          <p:nvPr/>
        </p:nvSpPr>
        <p:spPr>
          <a:xfrm>
            <a:off x="2670600" y="6438425"/>
            <a:ext cx="725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본 연구는 2023년도 정부(산업통상자원부)의 재원으로 한국산업기술진흥회의 지원을 받아 수행되었음 (P0017123, 2023년 산업혁신인재성장지원사업).</a:t>
            </a:r>
            <a:endParaRPr b="0" i="0" sz="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이 성과는 정부(과학기술정보통신부)의 재원으로 한국연구재단의 지원을 받아 수행된 연구임 (No. RS-2022-00165783).</a:t>
            </a:r>
            <a:endParaRPr b="0" i="0" sz="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type="title"/>
          </p:nvPr>
        </p:nvSpPr>
        <p:spPr>
          <a:xfrm>
            <a:off x="415259" y="281175"/>
            <a:ext cx="5300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목차</a:t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304800" y="990600"/>
            <a:ext cx="11651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 및 문제 상황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및 추후 연구</a:t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6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Char char="-"/>
            </a:pPr>
            <a:r>
              <a:rPr b="0" i="0" lang="en-GB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참고 문헌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9491a439c9_0_0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연구 배경 및 문제 상황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67" name="Google Shape;67;g29491a439c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29491a439c9_0_0"/>
          <p:cNvSpPr txBox="1"/>
          <p:nvPr/>
        </p:nvSpPr>
        <p:spPr>
          <a:xfrm>
            <a:off x="603000" y="1065200"/>
            <a:ext cx="10986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딥러닝을 이용한 불량 검출 모델은 많은 양의 라벨링 데이터를 필요로 하지만, 라벨링에는 비용이 많이 들기 때문에, 비용 효율적인 방식으로의 모델 구축을 위해 Active Learning 도입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</a:t>
            </a:r>
            <a:endParaRPr b="0" baseline="3000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Supervised 기반 Active Learning은 초기 학습 데이터 부족으로 인해 성능이 제한되며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불량 데이터가 부족한 경우 샘플 선택의 효율성이 더욱 떨어짐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[3,4]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 불량 검출 모델의 경우 One-Class 기반 Active Learning에 초점이 맞춰져 있으며 One-Class 기반의 불량 검출 모델은 정상 샘플들로만 구성된 학습 데이터를 가정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</a:t>
            </a:r>
            <a:endParaRPr b="0" baseline="3000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가정은 사실상 ‘정상’데이터만 존재하는 정제 데이터를 구축하기 위해 별도의 검토작업이 필요하기 때문에 라벨링 비용이 발생하지 않는다고 볼 수 없으며, 이 또한 많은 초기 학습 데이터가 필요</a:t>
            </a:r>
            <a:endParaRPr b="0" baseline="3000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적은 학습데이터만으로도 불량 클래스에서 정보력이 높은 샘플을 선택할 수 있는 Supervised 기반의 Active Learning이 필요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c2ec4a854_0_18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선행 연구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74" name="Google Shape;74;g24c2ec4a85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24c2ec4a854_0_18"/>
          <p:cNvSpPr txBox="1"/>
          <p:nvPr/>
        </p:nvSpPr>
        <p:spPr>
          <a:xfrm>
            <a:off x="535325" y="1308875"/>
            <a:ext cx="11517900" cy="4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g24c2ec4a854_0_18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24c2ec4a854_0_18"/>
          <p:cNvSpPr txBox="1"/>
          <p:nvPr/>
        </p:nvSpPr>
        <p:spPr>
          <a:xfrm>
            <a:off x="608925" y="3589475"/>
            <a:ext cx="11228700" cy="30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CLIP(Contrastive Language–Image Pre-training)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이미지와 텍스트 임베딩 간의 코사인 유사도를 최적화하여, Contrastive Learning을 통해 다양한 Vision Language Task에서 효과적인 표현을 학습하는 모델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Zero-shot Learning : 학습하지 않은 새로운 카테고리에 대한 분류를 할 때 추가 학습 없이도 분류가 가능한 방법론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뛰어난 Zero-shot 성능을 활용한 기존 연구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ZegCLIP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[7]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CLIP의 Zero-shot 예측 능력을 픽셀 수준으로 확장하여 이미지 패치와 텍스트 임베딩 간의 유사성을 비교하여 Unseen Class 에 대한 Semantic Mask를 생성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여러가지 불량 정보의 Prompt들을 Ensemble한 결과와 서로 다른 윈도우 사이즈로 슬라이싱 한 이미지 정보들을 Ensemble한 결과를 CLIP에 활용한 Zero-shot Anomaly Detection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g24c2ec4a854_0_18"/>
          <p:cNvSpPr txBox="1"/>
          <p:nvPr/>
        </p:nvSpPr>
        <p:spPr>
          <a:xfrm>
            <a:off x="3398700" y="3161688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1 The generic CLIP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g24c2ec4a854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2675" y="1137473"/>
            <a:ext cx="6146652" cy="202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93be802deb_0_0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선행 연구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85" name="Google Shape;85;g293be802de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93be802deb_0_0"/>
          <p:cNvSpPr txBox="1"/>
          <p:nvPr/>
        </p:nvSpPr>
        <p:spPr>
          <a:xfrm>
            <a:off x="608925" y="3729425"/>
            <a:ext cx="110643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 : 지식 증류(Knowledge Distillation)는 일반적으로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Teacher Model이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Student Model을 지도하는 기술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[9-12]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이며 핵심 아이디어는 Student Model이 Teacher Model을 모방하여 우수한 성능을 얻는 것이 목표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[13]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분야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경량화 및 성능 향상 : Student Model이 더 가벼우면서도 Teacher Model보다 비슷한 성능 혹은 더 좋은 성능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[14,15]</a:t>
            </a:r>
            <a:endParaRPr b="0" baseline="3000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Zero-shot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Labeled Data가 존재하지 않는 상황에서도 Teacher Model를 통해 Student Model에게 효율적으로 지식 증류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[16,17]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g293be802deb_0_0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293be802de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388" y="1422475"/>
            <a:ext cx="4489226" cy="18854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93be802deb_0_0"/>
          <p:cNvSpPr txBox="1"/>
          <p:nvPr/>
        </p:nvSpPr>
        <p:spPr>
          <a:xfrm>
            <a:off x="1710850" y="2512175"/>
            <a:ext cx="53400" cy="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293be802deb_0_0"/>
          <p:cNvSpPr txBox="1"/>
          <p:nvPr/>
        </p:nvSpPr>
        <p:spPr>
          <a:xfrm>
            <a:off x="3398700" y="3215738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2 The generic teacher-student framework for knowledge distillation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c40f62088_2_6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선행 연구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96" name="Google Shape;96;g24c40f62088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4c40f62088_2_6"/>
          <p:cNvSpPr txBox="1"/>
          <p:nvPr/>
        </p:nvSpPr>
        <p:spPr>
          <a:xfrm>
            <a:off x="535325" y="1308875"/>
            <a:ext cx="11212500" cy="4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 : 라벨링 데이터를 확보하는데 많은 인력과 전문 지식을 필요로 하는 문제를 해결하기 위해, 최소한의 라벨링을 통해 모델 성능을 최대화하려는 방법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[18]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샘플링 예시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분포 기반 방법 : 전체 Feature 분포를 잘 나타내는 고밀도 영역의 데이터 포인트를 샘플링 (Representative Point)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불확실성 기반 방법 : 의사 결정 경계의 데이터 포인트를 샘플링 (Difficult Point)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대부분의 Active Learning 접근 방식은 훈련된 모델이 필요하여 모델 훈련의 첫 시작은 임의로 선택된 레이블 데이터로 시작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[19]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Cold-</a:t>
            </a:r>
            <a:r>
              <a:rPr lang="en-GB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tart : 초기 모델은 정보력 있는 적절한 데이터를 선택하기 어렵고, 이로 인해 모델의 성능 향상이 제한됨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방법론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PT4AL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[19]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Pretext tasks를 활용하여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Unlabeled Data를 이용하여 모델을 사전 훈련한 뒤, 초기 레이블이 임의로 샘플링되어 발생할 수 있는 높은 분산과 성능 저하 문제를 피함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ALCS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[20]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다중 센터 클러스터링을 구성하여 데이터를 여러 클러스터로 그룹화한 뒤, 각 클러스터에서 초기 훈련 인스턴스가 선택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" name="Google Shape;98;g24c40f62088_2_6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24c40f62088_2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2200" y="5164101"/>
            <a:ext cx="2447600" cy="132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4c40f62088_2_6"/>
          <p:cNvSpPr txBox="1"/>
          <p:nvPr/>
        </p:nvSpPr>
        <p:spPr>
          <a:xfrm>
            <a:off x="3398700" y="6416138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3 The generic Active Learning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d0b3512ce_1_34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제안 방법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06" name="Google Shape;106;g25d0b3512ce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5d0b3512ce_1_34"/>
          <p:cNvSpPr txBox="1"/>
          <p:nvPr/>
        </p:nvSpPr>
        <p:spPr>
          <a:xfrm>
            <a:off x="535325" y="1385075"/>
            <a:ext cx="112089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인공지능 모델에 불량 관련 언어 정보를 제공하여, 학습하지 않은 카테고리에 대해서도 범용적으로 사용 가능한 불량 탐지 모델을 구축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Learning의 “Cold-</a:t>
            </a:r>
            <a:r>
              <a:rPr lang="en-GB"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tart” 를 극복하기 위해 CLIP의 Output을 활용하여 Active Learning의 초기 데이터셋을 정보력 있는 샘플로 구성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통해 초기 학습 단계에서 모델이 데이터의 다양한 패턴을 파악하고, 초반의 높은 성능으로 라벨링 비용 절감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g25d0b3512ce_1_34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5d0b3512ce_1_34"/>
          <p:cNvSpPr txBox="1"/>
          <p:nvPr/>
        </p:nvSpPr>
        <p:spPr>
          <a:xfrm>
            <a:off x="415250" y="32004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프레임워크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5d0b3512ce_1_34"/>
          <p:cNvSpPr txBox="1"/>
          <p:nvPr/>
        </p:nvSpPr>
        <p:spPr>
          <a:xfrm>
            <a:off x="3398700" y="6416138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4 Proposed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25d0b3512ce_1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7575" y="3557975"/>
            <a:ext cx="4496843" cy="2858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c2ec4a854_0_24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제안 방법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17" name="Google Shape;117;g24c2ec4a854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4c2ec4a854_0_24"/>
          <p:cNvSpPr txBox="1"/>
          <p:nvPr/>
        </p:nvSpPr>
        <p:spPr>
          <a:xfrm>
            <a:off x="535325" y="3442475"/>
            <a:ext cx="11140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 using Prompt Ensemble</a:t>
            </a:r>
            <a:r>
              <a:rPr b="0" baseline="3000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사전학습 된 CLIP 모델로 Text Embedding과 Image Embedding 간의 유사도를 계산해 Zero-shot Anomaly Detection 수행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Ensemble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정상(Normal)과 비정상(Anomaly)의 정보를 담은 사전에 정의된 프롬프트들을 사용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정의된 프롬프트들을 각각 임베딩한 뒤, 정상 및 비정상에 따라 평균 내어 각 클래스를 대표하는 Embedding 생성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Anomaly Score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Text Embedding과 Image Embedding의 유사도를 구하여 Softmax로 변환한 Anomaly Prompt에 대한 확률값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g24c2ec4a854_0_24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24c2ec4a854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2750" y="1112400"/>
            <a:ext cx="3646501" cy="220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4c2ec4a854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3125" y="5686550"/>
            <a:ext cx="2772025" cy="431900"/>
          </a:xfrm>
          <a:prstGeom prst="rect">
            <a:avLst/>
          </a:prstGeom>
          <a:noFill/>
          <a:ln cap="flat" cmpd="sng" w="9525">
            <a:solidFill>
              <a:srgbClr val="1A523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g24c2ec4a854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4050" y="5832775"/>
            <a:ext cx="1373350" cy="243650"/>
          </a:xfrm>
          <a:prstGeom prst="rect">
            <a:avLst/>
          </a:prstGeom>
          <a:noFill/>
          <a:ln cap="flat" cmpd="sng" w="9525">
            <a:solidFill>
              <a:srgbClr val="1A523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g24c2ec4a854_0_24"/>
          <p:cNvSpPr txBox="1"/>
          <p:nvPr/>
        </p:nvSpPr>
        <p:spPr>
          <a:xfrm>
            <a:off x="6706300" y="5403525"/>
            <a:ext cx="2479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f(x) : Frozen CLIP image encoder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g(s) : </a:t>
            </a:r>
            <a:r>
              <a:rPr b="0" i="0" lang="en-GB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Frozen CLIP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encoder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τ : the temperature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g24c2ec4a854_0_24"/>
          <p:cNvSpPr txBox="1"/>
          <p:nvPr/>
        </p:nvSpPr>
        <p:spPr>
          <a:xfrm>
            <a:off x="4635150" y="5793938"/>
            <a:ext cx="348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g24c2ec4a854_0_24"/>
          <p:cNvSpPr txBox="1"/>
          <p:nvPr/>
        </p:nvSpPr>
        <p:spPr>
          <a:xfrm>
            <a:off x="4282475" y="3237900"/>
            <a:ext cx="3646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5 CLIP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d0b3512ce_1_52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제안 방법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31" name="Google Shape;131;g25d0b3512ce_1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5d0b3512ce_1_52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5d0b3512ce_1_52"/>
          <p:cNvSpPr txBox="1"/>
          <p:nvPr/>
        </p:nvSpPr>
        <p:spPr>
          <a:xfrm>
            <a:off x="535325" y="3899675"/>
            <a:ext cx="11361600" cy="2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 of CLIP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데이터셋에 대한 Loss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Labeled Dataset Loss :  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Unlabeled Dataset Loss :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Learning에서의 Classification Model Loss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4" name="Google Shape;134;g25d0b3512ce_1_52"/>
          <p:cNvPicPr preferRelativeResize="0"/>
          <p:nvPr/>
        </p:nvPicPr>
        <p:blipFill rotWithShape="1">
          <a:blip r:embed="rId4">
            <a:alphaModFix/>
          </a:blip>
          <a:srcRect b="17322" l="0" r="0" t="11739"/>
          <a:stretch/>
        </p:blipFill>
        <p:spPr>
          <a:xfrm>
            <a:off x="3782213" y="5948525"/>
            <a:ext cx="3502018" cy="3822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" name="Google Shape;135;g25d0b3512ce_1_52"/>
          <p:cNvSpPr txBox="1"/>
          <p:nvPr/>
        </p:nvSpPr>
        <p:spPr>
          <a:xfrm>
            <a:off x="8515375" y="5618175"/>
            <a:ext cx="24792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 : Temperature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α : KD Loss Weight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1-α : CE Loss Weight</a:t>
            </a:r>
            <a:endParaRPr b="0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6" name="Google Shape;136;g25d0b3512ce_1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2721" y="1440875"/>
            <a:ext cx="3846566" cy="244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5d0b3512ce_1_52"/>
          <p:cNvSpPr/>
          <p:nvPr/>
        </p:nvSpPr>
        <p:spPr>
          <a:xfrm>
            <a:off x="5220550" y="1516700"/>
            <a:ext cx="1604700" cy="2293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g25d0b3512ce_1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2224" y="4595800"/>
            <a:ext cx="3654788" cy="3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5d0b3512ce_1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5400" y="4910575"/>
            <a:ext cx="5111925" cy="3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d0b3512ce_1_60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제안 방법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45" name="Google Shape;145;g25d0b3512ce_1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5d0b3512ce_1_60"/>
          <p:cNvSpPr txBox="1"/>
          <p:nvPr/>
        </p:nvSpPr>
        <p:spPr>
          <a:xfrm>
            <a:off x="535325" y="4052075"/>
            <a:ext cx="10892700" cy="25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25d0b3512ce_1_60"/>
          <p:cNvSpPr txBox="1"/>
          <p:nvPr/>
        </p:nvSpPr>
        <p:spPr>
          <a:xfrm>
            <a:off x="415250" y="9298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5d0b3512ce_1_60"/>
          <p:cNvSpPr txBox="1"/>
          <p:nvPr/>
        </p:nvSpPr>
        <p:spPr>
          <a:xfrm>
            <a:off x="687725" y="4204475"/>
            <a:ext cx="10892700" cy="25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Distillation된 Student Model을 Active Learning의 Classification Model로 사용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AutoNum type="arabi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Unlabeled Pool에서 Active Learning Cycle 시작</a:t>
            </a:r>
            <a:r>
              <a:rPr b="1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(Labeled data의 개수는 0)</a:t>
            </a:r>
            <a:endParaRPr b="1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Uncertainty Sampling의 기법 중 하나인 Least Confidence 방법으로 K개의 샘플을 선택하여 라벨링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AutoNum type="arabicPeriod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 종료 조건을 만족할 때까지 Cycle 반복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Cycle마다 Labeled data가 추가되고 Unlabeled data는 줄어들기 때문에 </a:t>
            </a:r>
            <a:r>
              <a:rPr b="1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Labeled Data Loss의 중요도가 증가하며 모델 고도화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9" name="Google Shape;149;g25d0b3512ce_1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2721" y="1440875"/>
            <a:ext cx="3846566" cy="244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5d0b3512ce_1_60"/>
          <p:cNvSpPr/>
          <p:nvPr/>
        </p:nvSpPr>
        <p:spPr>
          <a:xfrm>
            <a:off x="4151375" y="2793275"/>
            <a:ext cx="3889200" cy="11346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5d0b3512ce_1_68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56" name="Google Shape;156;g25d0b3512ce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5d0b3512ce_1_68"/>
          <p:cNvSpPr txBox="1"/>
          <p:nvPr/>
        </p:nvSpPr>
        <p:spPr>
          <a:xfrm>
            <a:off x="535425" y="1422475"/>
            <a:ext cx="7818000" cy="4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AD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[21]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Anomaly Detection을 위해 사용되는 산업 이미지 Dataset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15개의 Categories (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Texture,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Object)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Categories 마다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종류 및 개수 상이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개수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 Data : 3,629 (정상 데이터)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Data : 1,725 (정상, 이상 데이터)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Dataset Setting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실험에서는 Train 및 Test Data로 정상과 이상 데이터 모두 활용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데이터의 Train과 Test를 병합 후 Train, Test를 0.8 : 0.2 비율로 분할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25d0b3512ce_1_68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Dataset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25d0b3512ce_1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1150" y="1308875"/>
            <a:ext cx="3366050" cy="4361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5d0b3512ce_1_68"/>
          <p:cNvSpPr txBox="1"/>
          <p:nvPr/>
        </p:nvSpPr>
        <p:spPr>
          <a:xfrm>
            <a:off x="8353425" y="5738650"/>
            <a:ext cx="348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6 MVTec Dataset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491a439c9_0_31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66" name="Google Shape;166;g29491a439c9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9491a439c9_0_31"/>
          <p:cNvSpPr txBox="1"/>
          <p:nvPr/>
        </p:nvSpPr>
        <p:spPr>
          <a:xfrm>
            <a:off x="535325" y="1308875"/>
            <a:ext cx="114591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0.2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Alpha : 0.01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Epoch : 25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Network : CLIP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(Image Backbone Network : ViT-B/32)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Student Network : Pretrained ResNet18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Active learning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Query strategy : Least Confidence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K(Query 개수) = 1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Cycle = 30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평가지표 : AUROC, F1 score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3회 반복 실험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g29491a439c9_0_31"/>
          <p:cNvSpPr txBox="1"/>
          <p:nvPr/>
        </p:nvSpPr>
        <p:spPr>
          <a:xfrm>
            <a:off x="415250" y="929875"/>
            <a:ext cx="404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Experiment </a:t>
            </a: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d0b3512ce_1_11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74" name="Google Shape;174;g25d0b3512ce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25d0b3512ce_1_11"/>
          <p:cNvSpPr txBox="1"/>
          <p:nvPr/>
        </p:nvSpPr>
        <p:spPr>
          <a:xfrm>
            <a:off x="535325" y="1308875"/>
            <a:ext cx="11522700" cy="3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mpt Ensemble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 -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 Prompt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baseline="3000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 (Normal) : "flawless", "perfect", "unblemished", "without flaw", "without defect", "without damage", “good”,  “normal”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 (Anomaly) : "damaged", "with flaw", "with defect", "with damage" + {defect}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Prompt 구조 :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“a” + {state level} + “photo of“ + {categories}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Prompt와 Prompt Ensemble의 Zero-shot 결과 비교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CLIP은 단일 Prompt(“a {normal/abnormal} photo of {categories}”)로 단순한 정보만을 표현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방법은 Prompt Ensemble 활용하여 Anomaly에 대한 명확한 정보 전달 가능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보다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Ensemble로 학습시 AUROC의 Zero-shot결과가 전체 Categories에서 상승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25d0b3512ce_1_11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 using Prompt Ensemble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25d0b3512ce_1_11"/>
          <p:cNvSpPr txBox="1"/>
          <p:nvPr/>
        </p:nvSpPr>
        <p:spPr>
          <a:xfrm>
            <a:off x="3398700" y="5823838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7 AUROC of 단일 Prompt and Prompt Ensemble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25d0b3512ce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4765650"/>
            <a:ext cx="11887200" cy="110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d0b3512ce_1_19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84" name="Google Shape;184;g25d0b3512ce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25d0b3512ce_1_19"/>
          <p:cNvSpPr txBox="1"/>
          <p:nvPr/>
        </p:nvSpPr>
        <p:spPr>
          <a:xfrm>
            <a:off x="535325" y="1308875"/>
            <a:ext cx="11459100" cy="11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Ensemble 기반 Knowledge Distillation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Model과 Student Model의 Zero-shot성능을 비교했을 때 Teacher Model의 지식이 Student Model에 잘 증류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일부 Categories(Bottle, Metal nut, Zipper)에서 Teacher Model의 성능보다 Student Model에서 더 높은 Zero-shot 성능을 보임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25d0b3512ce_1_19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25d0b3512ce_1_19"/>
          <p:cNvSpPr txBox="1"/>
          <p:nvPr/>
        </p:nvSpPr>
        <p:spPr>
          <a:xfrm>
            <a:off x="3521675" y="6418725"/>
            <a:ext cx="5486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8 AUROC, F1 score in Zero-shot in Teacher model and Student model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25d0b3512ce_1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1375" y="2437025"/>
            <a:ext cx="3046975" cy="398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4c2ec4a854_0_34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194" name="Google Shape;194;g24c2ec4a854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24c2ec4a854_0_34"/>
          <p:cNvSpPr txBox="1"/>
          <p:nvPr/>
        </p:nvSpPr>
        <p:spPr>
          <a:xfrm>
            <a:off x="535325" y="1308875"/>
            <a:ext cx="11365800" cy="23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Model(CLIP)과 Student Model(Classification Model)의 Output 분포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CLIP의 Output 분포는</a:t>
            </a:r>
            <a:r>
              <a:rPr b="0" i="0" lang="en-GB" sz="1400" u="none" cap="none" strike="noStrik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Calibration이 되어있지 않음</a:t>
            </a:r>
            <a:endParaRPr b="0" i="0" sz="1400" u="none" cap="none" strike="noStrik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인스턴스들을 비슷한 확률로 예측하는 경향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Least Confidence 사용시 학습 효율성이 저하되며 Overfitting 가능성 증가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Output을 Calibration하기 위해, Temperature Scaling (T&lt;1)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 값이 낮아질수록 예측 확률 분포는 더 넓게 퍼지게 되어, 각 데이터 포인트에 대한 예측 확률이 더 다양해짐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g24c2ec4a854_0_34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Knowledge Distillation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4c2ec4a854_0_34"/>
          <p:cNvSpPr txBox="1"/>
          <p:nvPr/>
        </p:nvSpPr>
        <p:spPr>
          <a:xfrm>
            <a:off x="6122425" y="3573450"/>
            <a:ext cx="4981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leather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24c2ec4a854_0_34"/>
          <p:cNvSpPr txBox="1"/>
          <p:nvPr/>
        </p:nvSpPr>
        <p:spPr>
          <a:xfrm>
            <a:off x="750075" y="3573450"/>
            <a:ext cx="5157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 bottle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24c2ec4a854_0_34"/>
          <p:cNvSpPr txBox="1"/>
          <p:nvPr/>
        </p:nvSpPr>
        <p:spPr>
          <a:xfrm>
            <a:off x="3398700" y="6105913"/>
            <a:ext cx="5394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9 Anomaly Score Distribution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g24c2ec4a854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3" y="3961625"/>
            <a:ext cx="5587097" cy="77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24c2ec4a854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25" y="3961622"/>
            <a:ext cx="5587097" cy="77676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24c2ec4a854_0_34"/>
          <p:cNvSpPr/>
          <p:nvPr/>
        </p:nvSpPr>
        <p:spPr>
          <a:xfrm>
            <a:off x="8743450" y="4878459"/>
            <a:ext cx="292200" cy="18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24c2ec4a854_0_34"/>
          <p:cNvSpPr/>
          <p:nvPr/>
        </p:nvSpPr>
        <p:spPr>
          <a:xfrm>
            <a:off x="3182775" y="4878459"/>
            <a:ext cx="292200" cy="18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24c2ec4a854_0_34"/>
          <p:cNvSpPr txBox="1"/>
          <p:nvPr/>
        </p:nvSpPr>
        <p:spPr>
          <a:xfrm>
            <a:off x="3474975" y="4755450"/>
            <a:ext cx="22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Temperature Scaling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24c2ec4a854_0_34"/>
          <p:cNvSpPr txBox="1"/>
          <p:nvPr/>
        </p:nvSpPr>
        <p:spPr>
          <a:xfrm>
            <a:off x="9035650" y="4755450"/>
            <a:ext cx="22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Temperature Scaling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24c2ec4a854_0_34"/>
          <p:cNvSpPr txBox="1"/>
          <p:nvPr/>
        </p:nvSpPr>
        <p:spPr>
          <a:xfrm>
            <a:off x="10726500" y="3440188"/>
            <a:ext cx="1465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・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Abnormal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・</a:t>
            </a: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Normal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g24c2ec4a854_0_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180" y="5166200"/>
            <a:ext cx="5492733" cy="7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4c2ec4a854_0_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325" y="5155650"/>
            <a:ext cx="5492750" cy="7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5d0b3512ce_1_165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214" name="Google Shape;214;g25d0b3512ce_1_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5d0b3512ce_1_165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25d0b3512ce_1_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0350" y="1006075"/>
            <a:ext cx="3300849" cy="243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25d0b3512ce_1_1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0413" y="3818475"/>
            <a:ext cx="3300786" cy="24302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5d0b3512ce_1_165"/>
          <p:cNvSpPr txBox="1"/>
          <p:nvPr/>
        </p:nvSpPr>
        <p:spPr>
          <a:xfrm>
            <a:off x="7419500" y="3436275"/>
            <a:ext cx="348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10  AUROC Average of Total Categories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25d0b3512ce_1_165"/>
          <p:cNvSpPr txBox="1"/>
          <p:nvPr/>
        </p:nvSpPr>
        <p:spPr>
          <a:xfrm>
            <a:off x="7419500" y="6248675"/>
            <a:ext cx="348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11 F1 score Average of Total Categories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25d0b3512ce_1_165"/>
          <p:cNvSpPr txBox="1"/>
          <p:nvPr/>
        </p:nvSpPr>
        <p:spPr>
          <a:xfrm>
            <a:off x="535325" y="1308875"/>
            <a:ext cx="6884100" cy="52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 : 지식 증류된 모델을 Active Learning의 초기 Model로 사용하여 학습하는 방법으로 초기 데이터 셋에 대한 구축 과정이 없이, Labeled Data가 0일때 부터 정보력 있는 데이터를 고르는 방법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 : 임의로 초기 데이터 셋 10개를 구축 후 학습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Average AUROC, F1 score Value (Fig. 10, Fig.11)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카테고리에 대한 각 실험들의 평균 AUROC, 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F1 score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표현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성능이 전체 Cycle에서 Random 비해 높음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10개의 초기 Labeled Data 구축 시에 Cold-start 해결  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g25d0b3512ce_1_165"/>
          <p:cNvSpPr/>
          <p:nvPr/>
        </p:nvSpPr>
        <p:spPr>
          <a:xfrm>
            <a:off x="8505350" y="1171625"/>
            <a:ext cx="399600" cy="1972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25d0b3512ce_1_165"/>
          <p:cNvSpPr/>
          <p:nvPr/>
        </p:nvSpPr>
        <p:spPr>
          <a:xfrm>
            <a:off x="8505350" y="3983250"/>
            <a:ext cx="399600" cy="1972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d0b3512ce_1_221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228" name="Google Shape;228;g25d0b3512ce_1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5d0b3512ce_1_221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25d0b3512ce_1_221"/>
          <p:cNvPicPr preferRelativeResize="0"/>
          <p:nvPr/>
        </p:nvPicPr>
        <p:blipFill rotWithShape="1">
          <a:blip r:embed="rId4">
            <a:alphaModFix/>
          </a:blip>
          <a:srcRect b="936" l="0" r="0" t="7090"/>
          <a:stretch/>
        </p:blipFill>
        <p:spPr>
          <a:xfrm>
            <a:off x="1179638" y="1346275"/>
            <a:ext cx="9832724" cy="43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5d0b3512ce_1_221"/>
          <p:cNvSpPr txBox="1"/>
          <p:nvPr/>
        </p:nvSpPr>
        <p:spPr>
          <a:xfrm>
            <a:off x="4355250" y="5648475"/>
            <a:ext cx="348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12 AUROC of All Categories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25d0b3512ce_1_221"/>
          <p:cNvSpPr txBox="1"/>
          <p:nvPr/>
        </p:nvSpPr>
        <p:spPr>
          <a:xfrm>
            <a:off x="0" y="6011400"/>
            <a:ext cx="10824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연구에서 제안하는 방법은 대부분의 카테고리에서 Random보다 높은 초반 성능을 보임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Labeled Data가 없거나 거의 존재하지 않는 상황에서도 정보력있는 Labeled Data를 추출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4c7e3bd9c_0_0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실험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238" name="Google Shape;238;g294c7e3bd9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94c7e3bd9c_0_0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g294c7e3bd9c_0_0"/>
          <p:cNvPicPr preferRelativeResize="0"/>
          <p:nvPr/>
        </p:nvPicPr>
        <p:blipFill rotWithShape="1">
          <a:blip r:embed="rId4">
            <a:alphaModFix/>
          </a:blip>
          <a:srcRect b="936" l="0" r="0" t="7090"/>
          <a:stretch/>
        </p:blipFill>
        <p:spPr>
          <a:xfrm>
            <a:off x="1179638" y="1346275"/>
            <a:ext cx="9832724" cy="43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94c7e3bd9c_0_0"/>
          <p:cNvSpPr txBox="1"/>
          <p:nvPr/>
        </p:nvSpPr>
        <p:spPr>
          <a:xfrm>
            <a:off x="4355250" y="5648475"/>
            <a:ext cx="348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Fig. 12 AUROC of All Categories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94c7e3bd9c_0_0"/>
          <p:cNvSpPr txBox="1"/>
          <p:nvPr/>
        </p:nvSpPr>
        <p:spPr>
          <a:xfrm>
            <a:off x="0" y="6011400"/>
            <a:ext cx="10824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■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Labeled Data가 1~2개일 때 성능이 하강하는 이유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Teacher Model인 CLIP의 Zero-shot 성능이 Few-shot보다 좋음</a:t>
            </a:r>
            <a:r>
              <a:rPr b="0" baseline="3000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g294c7e3bd9c_0_0"/>
          <p:cNvSpPr/>
          <p:nvPr/>
        </p:nvSpPr>
        <p:spPr>
          <a:xfrm>
            <a:off x="1480525" y="1498675"/>
            <a:ext cx="399600" cy="122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294c7e3bd9c_0_0"/>
          <p:cNvSpPr/>
          <p:nvPr/>
        </p:nvSpPr>
        <p:spPr>
          <a:xfrm>
            <a:off x="1480525" y="4420275"/>
            <a:ext cx="399600" cy="122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294c7e3bd9c_0_0"/>
          <p:cNvSpPr/>
          <p:nvPr/>
        </p:nvSpPr>
        <p:spPr>
          <a:xfrm>
            <a:off x="7368350" y="4420275"/>
            <a:ext cx="399600" cy="122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294c7e3bd9c_0_0"/>
          <p:cNvSpPr/>
          <p:nvPr/>
        </p:nvSpPr>
        <p:spPr>
          <a:xfrm>
            <a:off x="9333075" y="4420275"/>
            <a:ext cx="399600" cy="122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294c7e3bd9c_0_0"/>
          <p:cNvSpPr/>
          <p:nvPr/>
        </p:nvSpPr>
        <p:spPr>
          <a:xfrm>
            <a:off x="9333075" y="2962625"/>
            <a:ext cx="399600" cy="122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4c2ec4a854_0_59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결론 및 추후연구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253" name="Google Shape;253;g24c2ec4a854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4c2ec4a854_0_59"/>
          <p:cNvSpPr txBox="1"/>
          <p:nvPr/>
        </p:nvSpPr>
        <p:spPr>
          <a:xfrm>
            <a:off x="526800" y="1422475"/>
            <a:ext cx="10986000" cy="25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연구는 초기 학습 데이터가 부족해 정보력 있는 데이터를 선택할 수 없는 Cold-start를 해결하기 위해, CLIP의 지식을 증류한 Active Learning 방식 도입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제안하는 프레임워크는 CLIP의 Zero-shot 성능을 활용해, 불량 검출과 관련된 정보들을 자연어로 받아 Labeled data가 없는 상황에서도 적용할 수 있는 특징을 가지고 있음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대부분의 카테고리에서 Cold-</a:t>
            </a:r>
            <a:r>
              <a:rPr lang="en-GB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</a:t>
            </a:r>
            <a:r>
              <a:rPr b="0" i="0" lang="en-GB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tart를 해결했을 뿐만 아니라 이후 높은 성능에도 영향을 주는 것을 실험을 통해 확인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g24c2ec4a854_0_59"/>
          <p:cNvSpPr txBox="1"/>
          <p:nvPr/>
        </p:nvSpPr>
        <p:spPr>
          <a:xfrm>
            <a:off x="526800" y="4522675"/>
            <a:ext cx="10986000" cy="2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산업 제조 데이터 셋 적용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Few-shot Prompt Learning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Char char="○"/>
            </a:pPr>
            <a:r>
              <a:rPr b="0" i="0" lang="en-GB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 학습된 CLIP의 Prompt 엔지니어링을 자동화하여, Few-shot 상황에서의 문제점을 개선</a:t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g24c2ec4a854_0_59"/>
          <p:cNvSpPr txBox="1"/>
          <p:nvPr/>
        </p:nvSpPr>
        <p:spPr>
          <a:xfrm>
            <a:off x="415250" y="929875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4c2ec4a854_0_59"/>
          <p:cNvSpPr txBox="1"/>
          <p:nvPr/>
        </p:nvSpPr>
        <p:spPr>
          <a:xfrm>
            <a:off x="415250" y="4053800"/>
            <a:ext cx="40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추후연구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415238" y="281178"/>
            <a:ext cx="695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Reference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Icon&#10;&#10;Description automatically generated" id="263" name="Google Shape;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4571" y="6189199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/>
        </p:nvSpPr>
        <p:spPr>
          <a:xfrm>
            <a:off x="554550" y="1245050"/>
            <a:ext cx="1108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554550" y="1059625"/>
            <a:ext cx="11082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[1] Ren, P., Xiao, Y., Chang, X., Huang, P. Y., Li, Z., Gupta, B. B., ... &amp; Wang, X. (2021). A survey of deep active learning. ACM computing surveys (CSUR), 54(9), 1-40.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[2] Chandra, A. L., Desai, S. V., Devaguptapu, C., &amp; Balasubramanian, V. N. (2021, July). On initial pools for deep active learning. In NeurIPS 2020 Workshop on Pre-registration in Machine Learning (pp. 14-32). PMLR.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[3] Barata, R., Leite, M., Pacheco, R., Sampaio, M. O., Ascensão, J. T., &amp; Bizarro, P. (2021, November). Active learning for imbalanced data under cold start. In Proceedings of the Second ACM International Conference on AI in Finance (pp. 1-9).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[4] Li, W., Li, B., Niu, S., Wang, Z., Liu, B., &amp; Niu, T. (2023). Selecting informative data for defect segmentation from imbalanced datasets via active learning. Advanced Engineering Informatics, 56, 101933.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[5] Chalapathy, R., Menon, A. K., &amp; Chawla, S. (2018). Anomaly detection using one-class neural networks. arXiv preprint arXiv:1802.06360.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[6]</a:t>
            </a:r>
            <a:r>
              <a:rPr b="0" i="0" lang="en-GB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RADFORD, Alec, et al. Learning transferable visual models from natural language supervision. In: International conference on machine learning. PMLR, 2021. p. 8748-8763.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[7] Zhou, Z., Lei, Y., Zhang, B., Liu, L., &amp; Liu, Y. (2023). Zegclip: Towards adapting clip for zero-shot semantic segmentation. In Proceedings of the IEEE/CVF Conference on Computer Vision and Pattern Recognition (pp. 11175-11185).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[8] Jeong, J., Zou, Y., Kim, T., Zhang, D., Ravichandran, A., &amp; Dabeer, O. (2023). Winclip: Zero-/few-shot anomaly classification and segmentation. In Proceedings of the IEEE/CVF Conference on Computer Vision and Pattern Recognition (pp. 19606-19616).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[9] Bucilua, C., Caruana, R., &amp; Niculescu-Mizil, A. (2006). Model compression, in proceedings of the 12 th ACM SIGKDD International Conference on Knowledge Discovery and Data Mining. New York, NY, USA, 4.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[10] Ba, J., &amp; Caruana, R. (2014). Do deep nets really need to be deep?. Advances in neural information processing systems, 27.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[11] Hinton, G., Vinyals, O., &amp; Dean, J. (2015). Distilling the knowledge in a neural network. arXiv preprint arXiv:1503.02531.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[12] Urban, G., Geras, K. J., Kahou, S. E., Aslan, O., Wang, S., Caruana, R., ... &amp; Richardson, M. (2016). Do deep convolutional nets really need to be deep and convolutional?. arXiv preprint arXiv:1603.05691.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[13] Gou, J., Yu, B., Maybank, S. J., &amp; Tao, D. (2021). Knowledge distillation: A survey. International Journal of Computer Vision, 129, 1789-1819.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[14] Gu, X., Lin, T. Y., Kuo, W., &amp; Cui, Y. (2021). Open-vocabulary object detection via vision and language knowledge distillation. arXiv preprint arXiv:2104.13921.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[15] Sanh, V., Debut, L., Chaumond, J., &amp; Wolf, T. (2019). DistilBERT, a distilled version of BERT: smaller, faster, cheaper and lighter. arXiv preprint arXiv:1910.01108.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[16] Rashid, A., Lioutas, V., Ghaddar, A., &amp; Rezagholizadeh, M. (2020). Towards zero-shot knowledge distillation for natural language processing. arXiv preprint arXiv:2012.15495.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[17] Ye, J., Gao, J., Li, Q., Xu, H., Feng, J., Wu, Z., ... &amp; Kong, L. (2022). Zerogen: Efficient zero-shot learning via dataset generation. arXiv preprint arXiv:2202.07922.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[18] Settles, B. (2009). Active learning literature survey.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[19] Yi, J. S. K., Seo, M., Park, J., &amp; Choi, D. G. (2022, October). Pt4al: Using self-supervised pretext tasks for active learning. In European Conference on Computer Vision (pp. 596-612). Cham: Springer Nature Switzerland.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[20] He, D., Yu, H., Wang, G., &amp; Li, J. (2021). A two-stage clustering-based cold-start method for active learning. Intelligent Data Analysis, 25(5), 1169-1185.</a:t>
            </a:r>
            <a:endParaRPr b="0" i="0" sz="800" u="none" cap="none" strike="noStrike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[21] Bergmann, P., Fauser, M., Sattlegger, D., &amp; Steger, C. (2019). MVTec AD--A comprehensive real-world dataset for unsupervised anomaly detection. In Proceedings of the IEEE/CVF conference on computer vision and pattern recognition (pp. 9592-9600).</a:t>
            </a:r>
            <a:endParaRPr b="0" i="0" sz="800" u="none" cap="none" strike="noStrike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2023-01-02T13:26:21Z</dcterms:created>
  <dc:creator>Windows 사용자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2023-01-02T00:00:00Z</vt:filetime>
  </property>
</Properties>
</file>