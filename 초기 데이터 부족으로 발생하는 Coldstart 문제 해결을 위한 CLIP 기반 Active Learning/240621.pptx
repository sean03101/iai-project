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Noto Sans KR"/>
      <p:regular r:id="rId12"/>
      <p:bold r:id="rId13"/>
    </p:embeddedFont>
    <p:embeddedFont>
      <p:font typeface="No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3/QuP6fN8wOQDLv4fatXJMqbb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otoSansKR-bold.fntdata"/><Relationship Id="rId12" Type="http://schemas.openxmlformats.org/officeDocument/2006/relationships/font" Target="fonts/NotoSansKR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-bold.fntdata"/><Relationship Id="rId14" Type="http://schemas.openxmlformats.org/officeDocument/2006/relationships/font" Target="fonts/NotoSans-regular.fntdata"/><Relationship Id="rId17" Type="http://schemas.openxmlformats.org/officeDocument/2006/relationships/font" Target="fonts/NotoSans-boldItalic.fntdata"/><Relationship Id="rId16" Type="http://schemas.openxmlformats.org/officeDocument/2006/relationships/font" Target="fonts/No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38454e2c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2738454e2c7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70be07b8a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2e70be07b8a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70be07b8a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e70be07b8a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2e70be07b8a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70be07b8a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2e70be07b8a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70be07b8a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2e70be07b8a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7464de9f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2e7464de9f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38454e2c7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2738454e2c7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2738454e2c7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38454e2c7_0_54"/>
          <p:cNvSpPr txBox="1"/>
          <p:nvPr/>
        </p:nvSpPr>
        <p:spPr>
          <a:xfrm>
            <a:off x="306450" y="962725"/>
            <a:ext cx="10567800" cy="1246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1" lang="en-US" sz="1500">
                <a:latin typeface="Noto Sans KR"/>
                <a:ea typeface="Noto Sans KR"/>
                <a:cs typeface="Noto Sans KR"/>
                <a:sym typeface="Noto Sans KR"/>
              </a:rPr>
              <a:t>방법론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변형되지 않은 인스턴스에 대한 margin 값</a:t>
            </a:r>
            <a:br>
              <a:rPr lang="en-US" sz="15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+ 50번의 Online Augment 가 적용된 인스턴스에 대한 (BALD, meanSTD, predictive entropy, variation ratio) 값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이 가장 큰 샘플 선택  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g2738454e2c7_0_54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Augmentation 별 uncertainty </a:t>
            </a:r>
            <a:r>
              <a:rPr b="1" i="0" lang="en-US" sz="1800" u="none" cap="none" strike="noStrike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mean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값으로 샘플링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0" name="Google Shape;90;g2738454e2c7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23604"/>
            <a:ext cx="4020122" cy="406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738454e2c7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669" y="2323604"/>
            <a:ext cx="3948174" cy="406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2738454e2c7_0_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819" y="2323600"/>
            <a:ext cx="3948181" cy="398981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2738454e2c7_0_54"/>
          <p:cNvSpPr/>
          <p:nvPr/>
        </p:nvSpPr>
        <p:spPr>
          <a:xfrm>
            <a:off x="3869425" y="14995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g2738454e2c7_0_54"/>
          <p:cNvSpPr txBox="1"/>
          <p:nvPr/>
        </p:nvSpPr>
        <p:spPr>
          <a:xfrm>
            <a:off x="4240825" y="134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①</a:t>
            </a:r>
            <a:endParaRPr/>
          </a:p>
        </p:txBody>
      </p:sp>
      <p:sp>
        <p:nvSpPr>
          <p:cNvPr id="95" name="Google Shape;95;g2738454e2c7_0_54"/>
          <p:cNvSpPr/>
          <p:nvPr/>
        </p:nvSpPr>
        <p:spPr>
          <a:xfrm>
            <a:off x="9731225" y="17302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g2738454e2c7_0_54"/>
          <p:cNvSpPr txBox="1"/>
          <p:nvPr/>
        </p:nvSpPr>
        <p:spPr>
          <a:xfrm>
            <a:off x="10102625" y="158047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/>
          </a:p>
        </p:txBody>
      </p:sp>
      <p:sp>
        <p:nvSpPr>
          <p:cNvPr id="97" name="Google Shape;97;g2738454e2c7_0_54"/>
          <p:cNvSpPr txBox="1"/>
          <p:nvPr/>
        </p:nvSpPr>
        <p:spPr>
          <a:xfrm>
            <a:off x="8655525" y="501025"/>
            <a:ext cx="21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2CC"/>
                </a:highlight>
                <a:latin typeface="Noto Sans"/>
                <a:ea typeface="Noto Sans"/>
                <a:cs typeface="Noto Sans"/>
                <a:sym typeface="Noto Sans"/>
              </a:rPr>
              <a:t>0.5*</a:t>
            </a:r>
            <a:r>
              <a:rPr b="1" lang="en-US" sz="1800">
                <a:solidFill>
                  <a:schemeClr val="dk1"/>
                </a:solidFill>
                <a:highlight>
                  <a:srgbClr val="FFF2CC"/>
                </a:highlight>
                <a:latin typeface="Noto Sans"/>
                <a:ea typeface="Noto Sans"/>
                <a:cs typeface="Noto Sans"/>
                <a:sym typeface="Noto Sans"/>
              </a:rPr>
              <a:t>① + 0.5*②</a:t>
            </a:r>
            <a:endParaRPr>
              <a:highlight>
                <a:srgbClr val="FFF2CC"/>
              </a:highlight>
            </a:endParaRPr>
          </a:p>
        </p:txBody>
      </p:sp>
      <p:sp>
        <p:nvSpPr>
          <p:cNvPr id="98" name="Google Shape;98;g2738454e2c7_0_54"/>
          <p:cNvSpPr txBox="1"/>
          <p:nvPr/>
        </p:nvSpPr>
        <p:spPr>
          <a:xfrm>
            <a:off x="0" y="6427500"/>
            <a:ext cx="1194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 과 성능이 비슷하거나 소폭 높고 수렴 속도가 빨라 이전보다는 좋아졌으나 제안하는 방법이 margin 보다 성능이 좋다고 하기에는 한계가 있음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70be07b8a_0_20"/>
          <p:cNvSpPr txBox="1"/>
          <p:nvPr/>
        </p:nvSpPr>
        <p:spPr>
          <a:xfrm>
            <a:off x="306450" y="962725"/>
            <a:ext cx="10567800" cy="1246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1" lang="en-US" sz="1500">
                <a:latin typeface="Noto Sans KR"/>
                <a:ea typeface="Noto Sans KR"/>
                <a:cs typeface="Noto Sans KR"/>
                <a:sym typeface="Noto Sans KR"/>
              </a:rPr>
              <a:t>방법론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변형되지 않은 인스턴스에 대한 margin 값</a:t>
            </a:r>
            <a:br>
              <a:rPr lang="en-US" sz="15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+ 50번의 Online Augment 가 적용된 인스턴스에 대한 (BALD, meanSTD, predictive entropy, variation ratio) 값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이 가장 큰 샘플 선택  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g2e70be07b8a_0_2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Augmentation 별 uncertainty </a:t>
            </a:r>
            <a:r>
              <a:rPr b="1" i="0" lang="en-US" sz="1800" u="none" cap="none" strike="noStrike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mean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값으로 샘플링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" name="Google Shape;105;g2e70be07b8a_0_20"/>
          <p:cNvSpPr/>
          <p:nvPr/>
        </p:nvSpPr>
        <p:spPr>
          <a:xfrm>
            <a:off x="3869425" y="14995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g2e70be07b8a_0_20"/>
          <p:cNvSpPr txBox="1"/>
          <p:nvPr/>
        </p:nvSpPr>
        <p:spPr>
          <a:xfrm>
            <a:off x="4240825" y="134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①</a:t>
            </a:r>
            <a:endParaRPr/>
          </a:p>
        </p:txBody>
      </p:sp>
      <p:sp>
        <p:nvSpPr>
          <p:cNvPr id="107" name="Google Shape;107;g2e70be07b8a_0_20"/>
          <p:cNvSpPr/>
          <p:nvPr/>
        </p:nvSpPr>
        <p:spPr>
          <a:xfrm>
            <a:off x="9731225" y="17302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g2e70be07b8a_0_20"/>
          <p:cNvSpPr txBox="1"/>
          <p:nvPr/>
        </p:nvSpPr>
        <p:spPr>
          <a:xfrm>
            <a:off x="10102625" y="158047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/>
          </a:p>
        </p:txBody>
      </p:sp>
      <p:sp>
        <p:nvSpPr>
          <p:cNvPr id="109" name="Google Shape;109;g2e70be07b8a_0_20"/>
          <p:cNvSpPr txBox="1"/>
          <p:nvPr/>
        </p:nvSpPr>
        <p:spPr>
          <a:xfrm>
            <a:off x="8655525" y="501025"/>
            <a:ext cx="21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2CC"/>
                </a:highlight>
                <a:latin typeface="Noto Sans"/>
                <a:ea typeface="Noto Sans"/>
                <a:cs typeface="Noto Sans"/>
                <a:sym typeface="Noto Sans"/>
              </a:rPr>
              <a:t>0.1*① + 0.9*②</a:t>
            </a:r>
            <a:endParaRPr>
              <a:highlight>
                <a:srgbClr val="FFF2CC"/>
              </a:highlight>
            </a:endParaRPr>
          </a:p>
        </p:txBody>
      </p:sp>
      <p:pic>
        <p:nvPicPr>
          <p:cNvPr id="110" name="Google Shape;110;g2e70be07b8a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25" y="2575775"/>
            <a:ext cx="3935869" cy="3971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e70be07b8a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6244" y="2493900"/>
            <a:ext cx="3945126" cy="405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e70be07b8a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3725" y="2493900"/>
            <a:ext cx="3935875" cy="3971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e70be07b8a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45079"/>
            <a:ext cx="4025310" cy="4061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e70be07b8a_0_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359" y="2345079"/>
            <a:ext cx="3953269" cy="4061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e70be07b8a_0_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6690" y="2345075"/>
            <a:ext cx="4025310" cy="406131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2e70be07b8a_0_7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비율 </a:t>
            </a:r>
            <a:r>
              <a:rPr b="1" lang="en-US" sz="1800">
                <a:solidFill>
                  <a:srgbClr val="4EA72E"/>
                </a:solidFill>
                <a:latin typeface="Noto Sans"/>
                <a:ea typeface="Noto Sans"/>
                <a:cs typeface="Noto Sans"/>
                <a:sym typeface="Noto Sans"/>
              </a:rPr>
              <a:t>0.5</a:t>
            </a: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와 </a:t>
            </a:r>
            <a:r>
              <a:rPr b="1" lang="en-US" sz="1800">
                <a:solidFill>
                  <a:srgbClr val="4EA72E"/>
                </a:solidFill>
                <a:latin typeface="Noto Sans"/>
                <a:ea typeface="Noto Sans"/>
                <a:cs typeface="Noto Sans"/>
                <a:sym typeface="Noto Sans"/>
              </a:rPr>
              <a:t>0.9</a:t>
            </a: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의 비교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g2e70be07b8a_0_70"/>
          <p:cNvSpPr txBox="1"/>
          <p:nvPr/>
        </p:nvSpPr>
        <p:spPr>
          <a:xfrm>
            <a:off x="306450" y="962725"/>
            <a:ext cx="10567800" cy="1246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1" lang="en-US" sz="1500">
                <a:latin typeface="Noto Sans KR"/>
                <a:ea typeface="Noto Sans KR"/>
                <a:cs typeface="Noto Sans KR"/>
                <a:sym typeface="Noto Sans KR"/>
              </a:rPr>
              <a:t>방법론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변형되지 않은 인스턴스에 대한 margin 값</a:t>
            </a:r>
            <a:br>
              <a:rPr lang="en-US" sz="15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+ 50번의 Online Augment 가 적용된 인스턴스에 대한 (BALD, meanSTD, predictive entropy, variation ratio) 값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이 가장 큰 샘플 선택  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g2e70be07b8a_0_70"/>
          <p:cNvSpPr/>
          <p:nvPr/>
        </p:nvSpPr>
        <p:spPr>
          <a:xfrm>
            <a:off x="3869425" y="14995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g2e70be07b8a_0_70"/>
          <p:cNvSpPr txBox="1"/>
          <p:nvPr/>
        </p:nvSpPr>
        <p:spPr>
          <a:xfrm>
            <a:off x="4240825" y="134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①</a:t>
            </a:r>
            <a:endParaRPr/>
          </a:p>
        </p:txBody>
      </p:sp>
      <p:sp>
        <p:nvSpPr>
          <p:cNvPr id="125" name="Google Shape;125;g2e70be07b8a_0_70"/>
          <p:cNvSpPr/>
          <p:nvPr/>
        </p:nvSpPr>
        <p:spPr>
          <a:xfrm>
            <a:off x="9731225" y="17302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g2e70be07b8a_0_70"/>
          <p:cNvSpPr txBox="1"/>
          <p:nvPr/>
        </p:nvSpPr>
        <p:spPr>
          <a:xfrm>
            <a:off x="10102625" y="158047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/>
          </a:p>
        </p:txBody>
      </p:sp>
      <p:sp>
        <p:nvSpPr>
          <p:cNvPr id="127" name="Google Shape;127;g2e70be07b8a_0_70"/>
          <p:cNvSpPr txBox="1"/>
          <p:nvPr/>
        </p:nvSpPr>
        <p:spPr>
          <a:xfrm>
            <a:off x="8770950" y="501025"/>
            <a:ext cx="21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2CC"/>
                </a:highlight>
                <a:latin typeface="Noto Sans"/>
                <a:ea typeface="Noto Sans"/>
                <a:cs typeface="Noto Sans"/>
                <a:sym typeface="Noto Sans"/>
              </a:rPr>
              <a:t>0.1*① + 0.9*②</a:t>
            </a:r>
            <a:endParaRPr>
              <a:highlight>
                <a:srgbClr val="FFF2CC"/>
              </a:highlight>
            </a:endParaRPr>
          </a:p>
        </p:txBody>
      </p:sp>
      <p:sp>
        <p:nvSpPr>
          <p:cNvPr id="128" name="Google Shape;128;g2e70be07b8a_0_70"/>
          <p:cNvSpPr txBox="1"/>
          <p:nvPr/>
        </p:nvSpPr>
        <p:spPr>
          <a:xfrm>
            <a:off x="8770950" y="81575"/>
            <a:ext cx="21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2CC"/>
                </a:highlight>
                <a:latin typeface="Noto Sans"/>
                <a:ea typeface="Noto Sans"/>
                <a:cs typeface="Noto Sans"/>
                <a:sym typeface="Noto Sans"/>
              </a:rPr>
              <a:t>0.5*① + 0.5*②</a:t>
            </a:r>
            <a:endParaRPr>
              <a:highlight>
                <a:srgbClr val="FFF2CC"/>
              </a:highlight>
            </a:endParaRPr>
          </a:p>
        </p:txBody>
      </p:sp>
      <p:sp>
        <p:nvSpPr>
          <p:cNvPr id="129" name="Google Shape;129;g2e70be07b8a_0_70"/>
          <p:cNvSpPr txBox="1"/>
          <p:nvPr/>
        </p:nvSpPr>
        <p:spPr>
          <a:xfrm>
            <a:off x="0" y="6427500"/>
            <a:ext cx="1194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주로 비율이 0.5:0.5일 때 조금 더 좋은 성능을 나타내는 것으로 보이며 도메인에 적용될 수 있는 다른 방안 마련이 필요하다고 판단됨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70be07b8a_0_36"/>
          <p:cNvSpPr txBox="1"/>
          <p:nvPr/>
        </p:nvSpPr>
        <p:spPr>
          <a:xfrm>
            <a:off x="306450" y="962725"/>
            <a:ext cx="10567800" cy="1246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1" lang="en-US" sz="1500">
                <a:latin typeface="Noto Sans KR"/>
                <a:ea typeface="Noto Sans KR"/>
                <a:cs typeface="Noto Sans KR"/>
                <a:sym typeface="Noto Sans KR"/>
              </a:rPr>
              <a:t>방법론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변형되지 않은 인스턴스에 대한 margin 값</a:t>
            </a:r>
            <a:br>
              <a:rPr lang="en-US" sz="15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+ 50번의 Online Augment 가 적용된 인스턴스에 대한 (BALD, meanSTD, predictive entropy, variation ratio) 값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이 가장 큰 샘플 선택  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g2e70be07b8a_0_3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비율 </a:t>
            </a:r>
            <a:r>
              <a:rPr b="1" lang="en-US" sz="1800">
                <a:solidFill>
                  <a:srgbClr val="4EA72E"/>
                </a:solidFill>
                <a:latin typeface="Noto Sans"/>
                <a:ea typeface="Noto Sans"/>
                <a:cs typeface="Noto Sans"/>
                <a:sym typeface="Noto Sans"/>
              </a:rPr>
              <a:t>0.5</a:t>
            </a: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와 </a:t>
            </a:r>
            <a:r>
              <a:rPr b="1" lang="en-US" sz="1800">
                <a:solidFill>
                  <a:srgbClr val="4EA72E"/>
                </a:solidFill>
                <a:latin typeface="Noto Sans"/>
                <a:ea typeface="Noto Sans"/>
                <a:cs typeface="Noto Sans"/>
                <a:sym typeface="Noto Sans"/>
              </a:rPr>
              <a:t>0.9</a:t>
            </a: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의 비교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g2e70be07b8a_0_36"/>
          <p:cNvSpPr/>
          <p:nvPr/>
        </p:nvSpPr>
        <p:spPr>
          <a:xfrm>
            <a:off x="3869425" y="14995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g2e70be07b8a_0_36"/>
          <p:cNvSpPr txBox="1"/>
          <p:nvPr/>
        </p:nvSpPr>
        <p:spPr>
          <a:xfrm>
            <a:off x="4240825" y="134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①</a:t>
            </a:r>
            <a:endParaRPr/>
          </a:p>
        </p:txBody>
      </p:sp>
      <p:sp>
        <p:nvSpPr>
          <p:cNvPr id="138" name="Google Shape;138;g2e70be07b8a_0_36"/>
          <p:cNvSpPr/>
          <p:nvPr/>
        </p:nvSpPr>
        <p:spPr>
          <a:xfrm>
            <a:off x="9731225" y="17302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g2e70be07b8a_0_36"/>
          <p:cNvSpPr txBox="1"/>
          <p:nvPr/>
        </p:nvSpPr>
        <p:spPr>
          <a:xfrm>
            <a:off x="10102625" y="158047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/>
          </a:p>
        </p:txBody>
      </p:sp>
      <p:pic>
        <p:nvPicPr>
          <p:cNvPr id="140" name="Google Shape;140;g2e70be07b8a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61925"/>
            <a:ext cx="4135895" cy="409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e70be07b8a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1650" y="2361925"/>
            <a:ext cx="4061875" cy="409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e70be07b8a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3526" y="2409888"/>
            <a:ext cx="3958899" cy="39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70be07b8a_0_53"/>
          <p:cNvSpPr txBox="1"/>
          <p:nvPr/>
        </p:nvSpPr>
        <p:spPr>
          <a:xfrm>
            <a:off x="306450" y="962725"/>
            <a:ext cx="10567800" cy="1246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1" lang="en-US" sz="1500">
                <a:latin typeface="Noto Sans KR"/>
                <a:ea typeface="Noto Sans KR"/>
                <a:cs typeface="Noto Sans KR"/>
                <a:sym typeface="Noto Sans KR"/>
              </a:rPr>
              <a:t>방법론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변형되지 않은 인스턴스에 대한 margin 값</a:t>
            </a:r>
            <a:br>
              <a:rPr lang="en-US" sz="15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+ 50번의 Online Augment 가 적용된 인스턴스에 대한 (BALD, meanSTD, predictive entropy, variation ratio) 값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이 가장 큰 샘플 선택  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g2e70be07b8a_0_53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비율 </a:t>
            </a:r>
            <a:r>
              <a:rPr b="1" lang="en-US" sz="1800">
                <a:solidFill>
                  <a:srgbClr val="4EA72E"/>
                </a:solidFill>
                <a:latin typeface="Noto Sans"/>
                <a:ea typeface="Noto Sans"/>
                <a:cs typeface="Noto Sans"/>
                <a:sym typeface="Noto Sans"/>
              </a:rPr>
              <a:t>0.5</a:t>
            </a: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와 </a:t>
            </a:r>
            <a:r>
              <a:rPr b="1" lang="en-US" sz="1800">
                <a:solidFill>
                  <a:srgbClr val="4EA72E"/>
                </a:solidFill>
                <a:latin typeface="Noto Sans"/>
                <a:ea typeface="Noto Sans"/>
                <a:cs typeface="Noto Sans"/>
                <a:sym typeface="Noto Sans"/>
              </a:rPr>
              <a:t>0.9</a:t>
            </a: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의 비교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g2e70be07b8a_0_53"/>
          <p:cNvSpPr/>
          <p:nvPr/>
        </p:nvSpPr>
        <p:spPr>
          <a:xfrm>
            <a:off x="3869425" y="14995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g2e70be07b8a_0_53"/>
          <p:cNvSpPr txBox="1"/>
          <p:nvPr/>
        </p:nvSpPr>
        <p:spPr>
          <a:xfrm>
            <a:off x="4240825" y="134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①</a:t>
            </a:r>
            <a:endParaRPr/>
          </a:p>
        </p:txBody>
      </p:sp>
      <p:sp>
        <p:nvSpPr>
          <p:cNvPr id="151" name="Google Shape;151;g2e70be07b8a_0_53"/>
          <p:cNvSpPr/>
          <p:nvPr/>
        </p:nvSpPr>
        <p:spPr>
          <a:xfrm>
            <a:off x="9731225" y="17302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g2e70be07b8a_0_53"/>
          <p:cNvSpPr txBox="1"/>
          <p:nvPr/>
        </p:nvSpPr>
        <p:spPr>
          <a:xfrm>
            <a:off x="10102625" y="158047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/>
          </a:p>
        </p:txBody>
      </p:sp>
      <p:pic>
        <p:nvPicPr>
          <p:cNvPr id="153" name="Google Shape;153;g2e70be07b8a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125" y="2361925"/>
            <a:ext cx="4061874" cy="409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2e70be07b8a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3925" y="2361925"/>
            <a:ext cx="3989181" cy="40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e70be07b8a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25" y="2361925"/>
            <a:ext cx="4061874" cy="4098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7464de9f1_0_0"/>
          <p:cNvSpPr txBox="1"/>
          <p:nvPr/>
        </p:nvSpPr>
        <p:spPr>
          <a:xfrm>
            <a:off x="306450" y="962725"/>
            <a:ext cx="10567800" cy="1246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1" lang="en-US" sz="1500">
                <a:latin typeface="Noto Sans KR"/>
                <a:ea typeface="Noto Sans KR"/>
                <a:cs typeface="Noto Sans KR"/>
                <a:sym typeface="Noto Sans KR"/>
              </a:rPr>
              <a:t>방법론</a:t>
            </a:r>
            <a:endParaRPr b="1"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변형되지 않은 인스턴스에 대한 margin 값</a:t>
            </a:r>
            <a:br>
              <a:rPr lang="en-US" sz="15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+ 50번의 Online Augment 가 적용된 인스턴스에 대한 (변형되지 않는 인스턴스와 변형된 인스턴스 간 KLD 평균) 값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이 가장 큰 샘플 선택  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Google Shape;161;g2e7464de9f1_0_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비율 </a:t>
            </a:r>
            <a:r>
              <a:rPr b="1" lang="en-US" sz="1800">
                <a:solidFill>
                  <a:srgbClr val="4EA72E"/>
                </a:solidFill>
                <a:latin typeface="Noto Sans"/>
                <a:ea typeface="Noto Sans"/>
                <a:cs typeface="Noto Sans"/>
                <a:sym typeface="Noto Sans"/>
              </a:rPr>
              <a:t>0.5</a:t>
            </a: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와 </a:t>
            </a:r>
            <a:r>
              <a:rPr b="1" lang="en-US" sz="1800">
                <a:solidFill>
                  <a:srgbClr val="4EA72E"/>
                </a:solidFill>
                <a:latin typeface="Noto Sans"/>
                <a:ea typeface="Noto Sans"/>
                <a:cs typeface="Noto Sans"/>
                <a:sym typeface="Noto Sans"/>
              </a:rPr>
              <a:t>0.9</a:t>
            </a: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의 비교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g2e7464de9f1_0_0"/>
          <p:cNvSpPr/>
          <p:nvPr/>
        </p:nvSpPr>
        <p:spPr>
          <a:xfrm>
            <a:off x="3869425" y="14995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g2e7464de9f1_0_0"/>
          <p:cNvSpPr txBox="1"/>
          <p:nvPr/>
        </p:nvSpPr>
        <p:spPr>
          <a:xfrm>
            <a:off x="4240825" y="134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①</a:t>
            </a:r>
            <a:endParaRPr/>
          </a:p>
        </p:txBody>
      </p:sp>
      <p:sp>
        <p:nvSpPr>
          <p:cNvPr id="164" name="Google Shape;164;g2e7464de9f1_0_0"/>
          <p:cNvSpPr/>
          <p:nvPr/>
        </p:nvSpPr>
        <p:spPr>
          <a:xfrm>
            <a:off x="9731225" y="1730225"/>
            <a:ext cx="371400" cy="13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g2e7464de9f1_0_0"/>
          <p:cNvSpPr txBox="1"/>
          <p:nvPr/>
        </p:nvSpPr>
        <p:spPr>
          <a:xfrm>
            <a:off x="10102625" y="158047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/>
          </a:p>
        </p:txBody>
      </p:sp>
      <p:pic>
        <p:nvPicPr>
          <p:cNvPr id="166" name="Google Shape;166;g2e7464de9f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756" y="2494313"/>
            <a:ext cx="3704093" cy="373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2e7464de9f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599" y="2493100"/>
            <a:ext cx="3640181" cy="373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2e7464de9f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400" y="2460263"/>
            <a:ext cx="3704100" cy="38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38454e2c7_0_8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보완점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g2738454e2c7_0_86"/>
          <p:cNvSpPr txBox="1"/>
          <p:nvPr/>
        </p:nvSpPr>
        <p:spPr>
          <a:xfrm>
            <a:off x="242596" y="10744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76" name="Google Shape;176;g2738454e2c7_0_86"/>
          <p:cNvSpPr txBox="1"/>
          <p:nvPr/>
        </p:nvSpPr>
        <p:spPr>
          <a:xfrm>
            <a:off x="336971" y="1443758"/>
            <a:ext cx="98625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-"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Domain </a:t>
            </a: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Regularization 기반의 loss를 활용해 불확실성 계산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-"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공분산을 이용하는 CORAL 모델을 차용하여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-"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ERM / IRM 모델의 Loss 와 같이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7" name="Google Shape;177;g2738454e2c7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9775" y="460908"/>
            <a:ext cx="5618817" cy="3308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2738454e2c7_0_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350" y="3941550"/>
            <a:ext cx="57721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