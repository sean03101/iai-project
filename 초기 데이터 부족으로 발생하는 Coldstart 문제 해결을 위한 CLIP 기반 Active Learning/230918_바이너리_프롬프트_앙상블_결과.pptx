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QBYdvgdyj4GiH56JZsTe5BXDw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CC1074-C052-4387-A27D-3F90C0FBA81C}">
  <a:tblStyle styleId="{E9CC1074-C052-4387-A27D-3F90C0FBA81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FB71639-E5C7-474C-8198-3EEC0831D78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d60d6fe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27d60d6fef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4" name="Google Shape;10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dcbadc0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27dcbadc0c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d60d6fefa_0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단일 템플릿 기반(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binary)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7d60d6fefa_0_0"/>
          <p:cNvSpPr txBox="1"/>
          <p:nvPr/>
        </p:nvSpPr>
        <p:spPr>
          <a:xfrm>
            <a:off x="222275" y="1036475"/>
            <a:ext cx="4922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본 템플릿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 normal/abnormal photo of object_name)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클래스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비해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전반적인 성능 향상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auroc가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0.5보다 높은 object의 개수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증가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 class : 4개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(bottle, hazelnut, leather, tile)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binary class : 11개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0" name="Google Shape;80;g27d60d6fefa_0_0"/>
          <p:cNvGraphicFramePr/>
          <p:nvPr/>
        </p:nvGraphicFramePr>
        <p:xfrm>
          <a:off x="5543775" y="2767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{E9CC1074-C052-4387-A27D-3F90C0FBA81C}</a:tableStyleId>
              </a:tblPr>
              <a:tblGrid>
                <a:gridCol w="1108300"/>
                <a:gridCol w="2073500"/>
                <a:gridCol w="3201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accuracy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bottle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21.1207%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0.3686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25.6757%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0.6038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capsule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45.6835%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0.5560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carpet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87.3016%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0.8567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15.5556%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0.6412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hazelnut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13.5678%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leather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6.6212%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0.7534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metal_nut</a:t>
                      </a:r>
                      <a:endParaRPr b="0" i="0" sz="14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27.4436%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0.6078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pill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31.9767%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0.4267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24.6073%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23.6364%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0.9189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toothbrush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29.6296%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0.4408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transistor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13.6000%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0.4367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17.8295%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zipper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29.5455%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0.5807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기반 앙상블(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binary)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55450" y="731675"/>
            <a:ext cx="51765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WinCLIP에서 사용된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level(normal)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"[o]" 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flawless [o]"  "perfect [o]"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"unblemished [o]" "[o] without flaw"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without defect"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without damage"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“good [o]”  “normal [</a:t>
            </a:r>
            <a:r>
              <a:rPr lang="ko-KR" sz="18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o]”</a:t>
            </a:r>
            <a:endParaRPr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level(anomaly)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"damaged [o]"  "[o] with flaw"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 defect"  "[o] with damage"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+{불량 class} [o]”</a:t>
            </a:r>
            <a:endParaRPr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프롬프트 구조 : “a” + state level + “photo of a “ + object 이름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프롬프트들을 모델에 넣어 얻은 Text feature 들을 평균(앙상블) 한 뒤,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cosine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유사도를 구하여 분류 진행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앙상블을 통해 평균적으로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0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.2 성능 향상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object의 auroc가 0.5 이상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7" name="Google Shape;87;p1"/>
          <p:cNvGraphicFramePr/>
          <p:nvPr/>
        </p:nvGraphicFramePr>
        <p:xfrm>
          <a:off x="5550407" y="261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{E9CC1074-C052-4387-A27D-3F90C0FBA81C}</a:tableStyleId>
              </a:tblPr>
              <a:tblGrid>
                <a:gridCol w="1077525"/>
                <a:gridCol w="2013875"/>
                <a:gridCol w="1928650"/>
                <a:gridCol w="1527050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accuracy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auroc증가세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bottle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21.1207%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0.9534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0.5848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23.9865%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0.6922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0.0884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capsule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30.5755%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0.7035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0.1474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carpet</a:t>
                      </a:r>
                      <a:endParaRPr b="1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35.5556%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0.9624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0.1058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grid</a:t>
                      </a:r>
                      <a:endParaRPr b="1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90.7407%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0.8536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0.2123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hazelnut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14.8241%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0.8405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0.3405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leather</a:t>
                      </a:r>
                      <a:endParaRPr b="1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85.6655%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0.2466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metal_nut</a:t>
                      </a:r>
                      <a:endParaRPr b="0" i="0" sz="14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27.4436%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0.6146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0.0069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31.9767%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0.5924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0.1657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24.6073%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0.5846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0.0846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tile</a:t>
                      </a:r>
                      <a:endParaRPr b="1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23.6364%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0.9491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0.0303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toothbrush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29.6296%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0.7874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0.3466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transistor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12.8%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0.5822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0.1455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wood</a:t>
                      </a:r>
                      <a:endParaRPr b="1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90.6977%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0.7706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0.1706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zipper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29.5455%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0.7440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0.2440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0.7754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0.1947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프롬프트 앙상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제로샷(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binary)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상세 결과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744000" y="884075"/>
            <a:ext cx="11326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대부분의 object들은 normal을 abnormal로 예측하는 결</a:t>
            </a:r>
            <a:r>
              <a:rPr lang="ko-KR" sz="1800"/>
              <a:t>과를 보이며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abnormal로만 예측하는 </a:t>
            </a:r>
            <a:r>
              <a:rPr lang="ko-KR" sz="1800"/>
              <a:t>상황에서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 </a:t>
            </a:r>
            <a:r>
              <a:rPr lang="ko-KR" sz="1800"/>
              <a:t>높은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0.7 ~ 0.95 의 auroc</a:t>
            </a:r>
            <a:r>
              <a:rPr lang="ko-KR" sz="1800"/>
              <a:t>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결과값을 보이는 경우</a:t>
            </a:r>
            <a:r>
              <a:rPr lang="ko-KR" sz="1800"/>
              <a:t>가 많음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auroc </a:t>
            </a:r>
            <a:r>
              <a:rPr lang="ko-KR" sz="1800"/>
              <a:t>높을뿐만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아니라 </a:t>
            </a:r>
            <a:r>
              <a:rPr lang="ko-KR" sz="1800"/>
              <a:t>accuracy 와 F1 score 또한 높은 object</a:t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재질(texture) 관련 object(carpet, grid, leather, tile, wood) 에서 좋은 결과를 보이고 있음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→ </a:t>
            </a:r>
            <a:r>
              <a:rPr lang="ko-KR" sz="1800"/>
              <a:t>texture를 나타내는 다른 산업 데이터셋에서의 적용 가능성(DAGM 2007 : texture 불량)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대부분의 object들이 mul</a:t>
            </a:r>
            <a:r>
              <a:rPr lang="ko-KR" sz="1800"/>
              <a:t>ti class 대비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성능 향상 혹은 </a:t>
            </a:r>
            <a:r>
              <a:rPr lang="ko-KR" sz="1800"/>
              <a:t>높은 성능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→ 결과</a:t>
            </a:r>
            <a:r>
              <a:rPr lang="ko-KR" sz="1800"/>
              <a:t>가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‘WinCLIP’ 논문에서 </a:t>
            </a:r>
            <a:r>
              <a:rPr lang="ko-KR" sz="1800"/>
              <a:t>진행한 제로샷 결과와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유사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→ 진행하고 있는 실험은 잘 되고 있다는 사실을 알 수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즉, 언어 모델이 이해하기 좋은 </a:t>
            </a:r>
            <a:r>
              <a:rPr b="0" i="0" lang="ko-K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도메인 정보의 프롬프트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와 인간이 이해하기 쉬운 </a:t>
            </a:r>
            <a:r>
              <a:rPr b="0" i="0" lang="ko-K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상세한 설명의 도메인 정보의 프롬프트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와 다르기 때문에 앙상블로 인한 성능의 불안정성을 방지할 수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94" name="Google Shape;94;p5"/>
          <p:cNvGraphicFramePr/>
          <p:nvPr/>
        </p:nvGraphicFramePr>
        <p:xfrm>
          <a:off x="7468800" y="17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{1FB71639-E5C7-474C-8198-3EEC0831D78E}</a:tableStyleId>
              </a:tblPr>
              <a:tblGrid>
                <a:gridCol w="711300"/>
                <a:gridCol w="1286500"/>
                <a:gridCol w="1286500"/>
                <a:gridCol w="1286500"/>
              </a:tblGrid>
              <a:tr h="28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acc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f-1 score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auroc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8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grid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90.74%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1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 0.787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0.8536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leather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85.67%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1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0.751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/>
                        <a:t>wood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90.70%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1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0.</a:t>
                      </a: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797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300">
                          <a:solidFill>
                            <a:schemeClr val="dk1"/>
                          </a:solidFill>
                        </a:rPr>
                        <a:t>0.7706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VisA 단일 템플릿 기반(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binary)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08075" y="1036475"/>
            <a:ext cx="5832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본 템플릿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 normal/abnormal photo of object_name)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PCB 기판을 원래 이름(printed circuit board)으로 변경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실험 결과 </a:t>
            </a:r>
            <a:r>
              <a:rPr lang="ko-KR" sz="1800"/>
              <a:t>multi class의 결과보다 향상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그러나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여전히 auroc가 0.5 정도로 낮은 결과</a:t>
            </a:r>
            <a:r>
              <a:rPr lang="ko-KR" sz="1800"/>
              <a:t>값을 보임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" name="Google Shape;101;p17"/>
          <p:cNvGraphicFramePr/>
          <p:nvPr/>
        </p:nvGraphicFramePr>
        <p:xfrm>
          <a:off x="6095999" y="4621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{E9CC1074-C052-4387-A27D-3F90C0FBA81C}</a:tableStyleId>
              </a:tblPr>
              <a:tblGrid>
                <a:gridCol w="1182625"/>
                <a:gridCol w="2153000"/>
                <a:gridCol w="2153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accuracy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candle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27.1818%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0.5515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capsules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21.3675%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0.4729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16.6667%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chewinggum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16.5837%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0.4823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fryum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16.6667%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0.3622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macaroni1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9.0909%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0.4974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macaroni2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9.0909%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0.4732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9.0580%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PCB2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9.0827%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0.4770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9.0416%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9.0498%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pipe_fryum</a:t>
                      </a:r>
                      <a:endParaRPr b="0" i="0" sz="14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19.5000%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0.5620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0.4899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VisA 템플릿 기반 앙상블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343925" y="1036475"/>
            <a:ext cx="47565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앞선 mvtec과 템플릿 구조 동일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앙상블을 진행한 결과, 앞선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 class에 비해 성능 향상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MVTec에 비해 auroc 성능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확연히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낮음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앙상블의 효과가 평균 0.11로 상승한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경향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ko-KR" sz="1800"/>
              <a:t>auroc 증가세 값이 높은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(</a:t>
            </a:r>
            <a:r>
              <a:rPr lang="ko-KR" sz="1800"/>
              <a:t>chewinggum, candle, PCB1, pip_fryum)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 인</a:t>
            </a:r>
            <a:r>
              <a:rPr lang="ko-KR" sz="1800"/>
              <a:t>한 결과 (표준 편차 큼)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산업 데이터(PCB)에 비해 일상 데이터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(capsule, cashew,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fr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um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m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acaroni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성능이 낮음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8" name="Google Shape;108;p18"/>
          <p:cNvGraphicFramePr/>
          <p:nvPr/>
        </p:nvGraphicFramePr>
        <p:xfrm>
          <a:off x="5276089" y="261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{E9CC1074-C052-4387-A27D-3F90C0FBA81C}</a:tableStyleId>
              </a:tblPr>
              <a:tblGrid>
                <a:gridCol w="1279125"/>
                <a:gridCol w="1930425"/>
                <a:gridCol w="2368300"/>
                <a:gridCol w="1243575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accuracy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auroc증가세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candle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9.1818%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0.8058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0.2544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capsules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84.9003%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0.4839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0.0110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16.6667%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0.5093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0.0093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chewinggum</a:t>
                      </a:r>
                      <a:endParaRPr b="0" i="0" sz="14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0.1327%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0.7880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0.3058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fryum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78.3333%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0.4421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0.0799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macaroni1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9.0909%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-0.0253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macaroni2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9.0909%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0.4767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0.0035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9.0580%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0.7683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0.2683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9.3551%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0.5206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0.0436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9.0416%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0.5857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0.0857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9.0498%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0.5931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0.0931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pipe_fryum</a:t>
                      </a:r>
                      <a:endParaRPr b="0" i="0" sz="14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22.0000%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0.7623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0.2003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0.6007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0.1108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dcbadc0c7_0_0"/>
          <p:cNvSpPr txBox="1"/>
          <p:nvPr/>
        </p:nvSpPr>
        <p:spPr>
          <a:xfrm>
            <a:off x="490452" y="257695"/>
            <a:ext cx="1123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ko-KR" sz="3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 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27dcbadc0c7_0_0"/>
          <p:cNvSpPr txBox="1"/>
          <p:nvPr/>
        </p:nvSpPr>
        <p:spPr>
          <a:xfrm>
            <a:off x="744000" y="1036475"/>
            <a:ext cx="11233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데이터셋의 제로샷 결과를 이용해서 지식 전이 모델 생성 후 액티브 러닝을 진행해도 괜찮을까요?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VisA 데이터셋에 대한 실험 결과가 조금 애매해서 성능을 향상시키기 위해 few shot 방법론 보다 다른 템플릿의 프롬프트를 추가적으로 구성하여 성능을 향상 시킬까 생각하는 혹시 어떻게 생각 하시나요?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추가적으로 다른 데이터셋(DAGM, BTAD)에 대해서 똑같이 검증 실험 후, 결과를 확인하고 만약 좋은 결과가 나온다면 VisA 데이터셋을 대체하려고 하는데 혹시 어떻게 생각하시나요?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