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Noto Sans KR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hikvaLsjOep6N8I5msxdnLfYAN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AD5893-B2D9-41DF-A631-593DA4622F46}">
  <a:tblStyle styleId="{6EAD5893-B2D9-41DF-A631-593DA4622F4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855AA3F-F324-4AA9-AB98-3C0FB245876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otoSansKR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font" Target="fonts/NotoSansK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ac5cb26f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2ac5cb26f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2ac5cb26fd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ac5cb26fd_1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2ac5cb26fd_1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2ac5cb26fd_1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73d43535c_1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273d43535c_1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273d43535c_1_1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73d43535c_1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273d43535c_1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273d43535c_1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73d43535c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273d43535c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273d43535c_0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164746" y="2982609"/>
            <a:ext cx="986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2501</a:t>
            </a:r>
            <a:r>
              <a:rPr b="1" lang="en-US" sz="2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20</a:t>
            </a: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 실험 결과</a:t>
            </a:r>
            <a:endParaRPr b="1" i="0" sz="2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ac5cb26fd_1_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Tent: Fully test-time adaptation by entropy minimization 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2ac5cb26fd_1_0"/>
          <p:cNvSpPr txBox="1"/>
          <p:nvPr/>
        </p:nvSpPr>
        <p:spPr>
          <a:xfrm>
            <a:off x="324725" y="1253031"/>
            <a:ext cx="11944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Forward Pass)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Test Time 에 입력되는 테스트 배치 데이터로부터 각 레이어에서 새로운 정규화 통계 𝜇, 𝜎를 추정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(Backward Pass) 각 예측 엔트로피를 최소화하는 방향으로 최적화하며 </a:t>
            </a:r>
            <a:r>
              <a:rPr lang="en-US" sz="1200">
                <a:solidFill>
                  <a:schemeClr val="dk1"/>
                </a:solidFill>
              </a:rPr>
              <a:t>𝛾, 𝛽를 업데이트</a:t>
            </a:r>
            <a:endParaRPr sz="1200">
              <a:solidFill>
                <a:schemeClr val="dk1"/>
              </a:solidFill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US" sz="1200">
                <a:solidFill>
                  <a:schemeClr val="dk1"/>
                </a:solidFill>
              </a:rPr>
              <a:t>(Offline Test의 경우) 테스트 데이터 전체를 사용하여 파라미터를 업데이트 한 후, 업데이트 된 모델로 다시 테스트 데이터에 대하여 최종 추론 수행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7" name="Google Shape;97;g32ac5cb26fd_1_0"/>
          <p:cNvSpPr txBox="1"/>
          <p:nvPr/>
        </p:nvSpPr>
        <p:spPr>
          <a:xfrm>
            <a:off x="324725" y="945232"/>
            <a:ext cx="613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논문 요약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2ac5cb26fd_1_0"/>
          <p:cNvSpPr txBox="1"/>
          <p:nvPr/>
        </p:nvSpPr>
        <p:spPr>
          <a:xfrm>
            <a:off x="324725" y="2784025"/>
            <a:ext cx="565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Domain (repeat) 으로 학습  →  각 Test Domain 하나씩 Test 진행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ResNet101 모델 이용 /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Batch size 64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BN Layer 의 파라미터 업데이트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g32ac5cb26fd_1_0"/>
          <p:cNvSpPr txBox="1"/>
          <p:nvPr/>
        </p:nvSpPr>
        <p:spPr>
          <a:xfrm>
            <a:off x="324725" y="2476232"/>
            <a:ext cx="613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논문 구현 시 실험 세팅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2ac5cb26fd_1_0"/>
          <p:cNvSpPr txBox="1"/>
          <p:nvPr/>
        </p:nvSpPr>
        <p:spPr>
          <a:xfrm>
            <a:off x="9548075" y="959425"/>
            <a:ext cx="717900" cy="369300"/>
          </a:xfrm>
          <a:prstGeom prst="rect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</a:t>
            </a:r>
            <a:endParaRPr/>
          </a:p>
        </p:txBody>
      </p:sp>
      <p:sp>
        <p:nvSpPr>
          <p:cNvPr id="101" name="Google Shape;101;g32ac5cb26fd_1_0"/>
          <p:cNvSpPr txBox="1"/>
          <p:nvPr/>
        </p:nvSpPr>
        <p:spPr>
          <a:xfrm>
            <a:off x="10692925" y="508500"/>
            <a:ext cx="1137300" cy="369300"/>
          </a:xfrm>
          <a:prstGeom prst="rect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</a:t>
            </a:r>
            <a:endParaRPr/>
          </a:p>
        </p:txBody>
      </p:sp>
      <p:sp>
        <p:nvSpPr>
          <p:cNvPr id="102" name="Google Shape;102;g32ac5cb26fd_1_0"/>
          <p:cNvSpPr txBox="1"/>
          <p:nvPr/>
        </p:nvSpPr>
        <p:spPr>
          <a:xfrm>
            <a:off x="10692925" y="959425"/>
            <a:ext cx="1137300" cy="369300"/>
          </a:xfrm>
          <a:prstGeom prst="rect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</a:t>
            </a:r>
            <a:endParaRPr/>
          </a:p>
        </p:txBody>
      </p:sp>
      <p:sp>
        <p:nvSpPr>
          <p:cNvPr id="103" name="Google Shape;103;g32ac5cb26fd_1_0"/>
          <p:cNvSpPr txBox="1"/>
          <p:nvPr/>
        </p:nvSpPr>
        <p:spPr>
          <a:xfrm>
            <a:off x="10692925" y="1410350"/>
            <a:ext cx="1137300" cy="369300"/>
          </a:xfrm>
          <a:prstGeom prst="rect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lcondition</a:t>
            </a:r>
            <a:endParaRPr/>
          </a:p>
        </p:txBody>
      </p:sp>
      <p:sp>
        <p:nvSpPr>
          <p:cNvPr id="104" name="Google Shape;104;g32ac5cb26fd_1_0"/>
          <p:cNvSpPr txBox="1"/>
          <p:nvPr/>
        </p:nvSpPr>
        <p:spPr>
          <a:xfrm>
            <a:off x="10140175" y="508500"/>
            <a:ext cx="65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sp>
        <p:nvSpPr>
          <p:cNvPr id="105" name="Google Shape;105;g32ac5cb26fd_1_0"/>
          <p:cNvSpPr txBox="1"/>
          <p:nvPr/>
        </p:nvSpPr>
        <p:spPr>
          <a:xfrm>
            <a:off x="10140175" y="959425"/>
            <a:ext cx="65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sp>
        <p:nvSpPr>
          <p:cNvPr id="106" name="Google Shape;106;g32ac5cb26fd_1_0"/>
          <p:cNvSpPr txBox="1"/>
          <p:nvPr/>
        </p:nvSpPr>
        <p:spPr>
          <a:xfrm>
            <a:off x="10140175" y="1410350"/>
            <a:ext cx="65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sp>
        <p:nvSpPr>
          <p:cNvPr id="107" name="Google Shape;107;g32ac5cb26fd_1_0"/>
          <p:cNvSpPr txBox="1"/>
          <p:nvPr/>
        </p:nvSpPr>
        <p:spPr>
          <a:xfrm>
            <a:off x="10875625" y="131600"/>
            <a:ext cx="77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Test</a:t>
            </a:r>
            <a:endParaRPr/>
          </a:p>
        </p:txBody>
      </p:sp>
      <p:sp>
        <p:nvSpPr>
          <p:cNvPr id="108" name="Google Shape;108;g32ac5cb26fd_1_0"/>
          <p:cNvSpPr txBox="1"/>
          <p:nvPr/>
        </p:nvSpPr>
        <p:spPr>
          <a:xfrm>
            <a:off x="9471875" y="586325"/>
            <a:ext cx="77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Train</a:t>
            </a:r>
            <a:endParaRPr/>
          </a:p>
        </p:txBody>
      </p:sp>
      <p:graphicFrame>
        <p:nvGraphicFramePr>
          <p:cNvPr id="109" name="Google Shape;109;g32ac5cb26fd_1_0"/>
          <p:cNvGraphicFramePr/>
          <p:nvPr/>
        </p:nvGraphicFramePr>
        <p:xfrm>
          <a:off x="624275" y="409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{6EAD5893-B2D9-41DF-A631-593DA4622F46}</a:tableStyleId>
              </a:tblPr>
              <a:tblGrid>
                <a:gridCol w="1450100"/>
                <a:gridCol w="1591175"/>
                <a:gridCol w="1664600"/>
              </a:tblGrid>
              <a:tr h="75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Accuracy</a:t>
                      </a:r>
                      <a:endParaRPr b="1" sz="110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 으로 학습</a:t>
                      </a:r>
                      <a:b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단순 예측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 으로 학습 후</a:t>
                      </a:r>
                      <a:br>
                        <a:rPr b="1" lang="en-US" sz="1050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1" lang="en-US" sz="1050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TENT 를 이용하여</a:t>
                      </a:r>
                      <a:br>
                        <a:rPr b="1" lang="en-US" sz="1050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1" lang="en-US" sz="1050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Test</a:t>
                      </a:r>
                      <a:endParaRPr b="1" sz="105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0.7463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548135"/>
                          </a:solidFill>
                        </a:rPr>
                        <a:t>0.7950</a:t>
                      </a:r>
                      <a:endParaRPr b="1" sz="1100" u="none" cap="none" strike="noStrike">
                        <a:solidFill>
                          <a:srgbClr val="548135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0.8175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548135"/>
                          </a:solidFill>
                        </a:rPr>
                        <a:t>0.8350</a:t>
                      </a:r>
                      <a:endParaRPr b="1" sz="1400" u="none" cap="none" strike="noStrike">
                        <a:solidFill>
                          <a:srgbClr val="548135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0.7300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548135"/>
                          </a:solidFill>
                        </a:rPr>
                        <a:t>0.7550</a:t>
                      </a:r>
                      <a:endParaRPr b="1" sz="1400" u="none" cap="none" strike="noStrike">
                        <a:solidFill>
                          <a:srgbClr val="548135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0.7300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548135"/>
                          </a:solidFill>
                        </a:rPr>
                        <a:t>0.7850</a:t>
                      </a:r>
                      <a:endParaRPr b="1" sz="1400" u="none" cap="none" strike="noStrike">
                        <a:solidFill>
                          <a:srgbClr val="548135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0.7075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548135"/>
                          </a:solidFill>
                        </a:rPr>
                        <a:t>0.8050</a:t>
                      </a:r>
                      <a:endParaRPr b="1" sz="1400" u="none" cap="none" strike="noStrike">
                        <a:solidFill>
                          <a:srgbClr val="548135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" name="Google Shape;110;g32ac5cb26fd_1_0"/>
          <p:cNvGraphicFramePr/>
          <p:nvPr/>
        </p:nvGraphicFramePr>
        <p:xfrm>
          <a:off x="6569975" y="409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{6EAD5893-B2D9-41DF-A631-593DA4622F46}</a:tableStyleId>
              </a:tblPr>
              <a:tblGrid>
                <a:gridCol w="1450100"/>
                <a:gridCol w="1591175"/>
                <a:gridCol w="1664600"/>
              </a:tblGrid>
              <a:tr h="75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 score</a:t>
                      </a:r>
                      <a:endParaRPr b="1" sz="110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 으로 학습</a:t>
                      </a:r>
                      <a:b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단순 예측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 으로 학습 후</a:t>
                      </a:r>
                      <a:br>
                        <a:rPr b="1" lang="en-US" sz="1050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1" lang="en-US" sz="1050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TENT 를 이용하여</a:t>
                      </a:r>
                      <a:br>
                        <a:rPr b="1" lang="en-US" sz="1050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1" lang="en-US" sz="1050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Test</a:t>
                      </a:r>
                      <a:endParaRPr b="1" sz="105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0.6036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548135"/>
                          </a:solidFill>
                        </a:rPr>
                        <a:t>0.6788</a:t>
                      </a:r>
                      <a:endParaRPr b="1" sz="1100" u="none" cap="none" strike="noStrike">
                        <a:solidFill>
                          <a:srgbClr val="548135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0.7021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548135"/>
                          </a:solidFill>
                        </a:rPr>
                        <a:t>0.7485</a:t>
                      </a:r>
                      <a:endParaRPr b="1" sz="1400" u="none" cap="none" strike="noStrike">
                        <a:solidFill>
                          <a:srgbClr val="548135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0.5177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548135"/>
                          </a:solidFill>
                        </a:rPr>
                        <a:t>0.6084</a:t>
                      </a:r>
                      <a:endParaRPr b="1" sz="1400" u="none" cap="none" strike="noStrike">
                        <a:solidFill>
                          <a:srgbClr val="548135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0.5830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548135"/>
                          </a:solidFill>
                        </a:rPr>
                        <a:t>0.6520</a:t>
                      </a:r>
                      <a:endParaRPr b="1" sz="1400" u="none" cap="none" strike="noStrike">
                        <a:solidFill>
                          <a:srgbClr val="548135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0.5877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548135"/>
                          </a:solidFill>
                        </a:rPr>
                        <a:t>0.7063</a:t>
                      </a:r>
                      <a:endParaRPr b="1" sz="1400" u="none" cap="none" strike="noStrike">
                        <a:solidFill>
                          <a:srgbClr val="548135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ac5cb26fd_1_34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Tent: Fully test-time adaptation by entropy minimization </a:t>
            </a:r>
            <a:endParaRPr b="1" sz="1800">
              <a:solidFill>
                <a:srgbClr val="54813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g32ac5cb26fd_1_34"/>
          <p:cNvSpPr txBox="1"/>
          <p:nvPr/>
        </p:nvSpPr>
        <p:spPr>
          <a:xfrm>
            <a:off x="324725" y="997718"/>
            <a:ext cx="1194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도메인 변화에 가장 영향을 많이 받는 layer 가 있을지 알아보고자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5개의 BN 레이어 중 일부만을 업데이트하여 비교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g32ac5cb26fd_1_34"/>
          <p:cNvSpPr txBox="1"/>
          <p:nvPr/>
        </p:nvSpPr>
        <p:spPr>
          <a:xfrm>
            <a:off x="324725" y="720719"/>
            <a:ext cx="613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실험 내용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9" name="Google Shape;119;g32ac5cb26fd_1_34"/>
          <p:cNvGraphicFramePr/>
          <p:nvPr/>
        </p:nvGraphicFramePr>
        <p:xfrm>
          <a:off x="1376249" y="22961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{A855AA3F-F324-4AA9-AB98-3C0FB245876B}</a:tableStyleId>
              </a:tblPr>
              <a:tblGrid>
                <a:gridCol w="1348500"/>
                <a:gridCol w="1348500"/>
                <a:gridCol w="1348500"/>
                <a:gridCol w="1348500"/>
                <a:gridCol w="1348500"/>
                <a:gridCol w="1348500"/>
                <a:gridCol w="13485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 score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모든 레이어 업데이트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0번째 BN layer 업데이트</a:t>
                      </a:r>
                      <a:endParaRPr b="1"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1번째 BN Layer 업데이트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2번째 BN Layer 업데이트</a:t>
                      </a:r>
                      <a:endParaRPr b="1"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3번째 BN Layer 업데이트</a:t>
                      </a:r>
                      <a:endParaRPr b="1"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4번째 BN Layer 업데이트</a:t>
                      </a:r>
                      <a:endParaRPr b="1"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0.6476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0.6438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0.6430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0.6425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0.6433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0.6433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0.7202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0.7139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0.7178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0.7178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0.7178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0.7178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0.6086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0.6014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0.6014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0.6014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0.6014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0.6014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0.6161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0.6161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0.6110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0.6110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0.6161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0.6161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0.6454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0.6437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0.6419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0.6396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0.6377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0.6377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0" name="Google Shape;120;g32ac5cb26fd_1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0253" y="50221"/>
            <a:ext cx="5422275" cy="118939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2ac5cb26fd_1_34"/>
          <p:cNvSpPr txBox="1"/>
          <p:nvPr/>
        </p:nvSpPr>
        <p:spPr>
          <a:xfrm>
            <a:off x="8350912" y="952279"/>
            <a:ext cx="44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1️⃣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2ac5cb26fd_1_34"/>
          <p:cNvSpPr txBox="1"/>
          <p:nvPr/>
        </p:nvSpPr>
        <p:spPr>
          <a:xfrm>
            <a:off x="9336987" y="952279"/>
            <a:ext cx="44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2️⃣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2ac5cb26fd_1_34"/>
          <p:cNvSpPr txBox="1"/>
          <p:nvPr/>
        </p:nvSpPr>
        <p:spPr>
          <a:xfrm>
            <a:off x="10351180" y="973715"/>
            <a:ext cx="4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3️⃣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2ac5cb26fd_1_34"/>
          <p:cNvSpPr txBox="1"/>
          <p:nvPr/>
        </p:nvSpPr>
        <p:spPr>
          <a:xfrm>
            <a:off x="11365375" y="973715"/>
            <a:ext cx="4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4️⃣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2ac5cb26fd_1_34"/>
          <p:cNvSpPr txBox="1"/>
          <p:nvPr/>
        </p:nvSpPr>
        <p:spPr>
          <a:xfrm>
            <a:off x="7364819" y="973715"/>
            <a:ext cx="4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0️⃣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2ac5cb26fd_1_34"/>
          <p:cNvSpPr txBox="1"/>
          <p:nvPr/>
        </p:nvSpPr>
        <p:spPr>
          <a:xfrm>
            <a:off x="324725" y="5276093"/>
            <a:ext cx="1194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레이어를 하나씩만 업데이트 했을 때 보다 모든 BN 레이어를 업데이트 하는 것이 유용함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73d43535c_1_108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Tent: Fully test-time adaptation by entropy minimization </a:t>
            </a:r>
            <a:endParaRPr b="1" sz="1800">
              <a:solidFill>
                <a:srgbClr val="54813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g3273d43535c_1_108"/>
          <p:cNvSpPr txBox="1"/>
          <p:nvPr/>
        </p:nvSpPr>
        <p:spPr>
          <a:xfrm>
            <a:off x="324725" y="997725"/>
            <a:ext cx="1175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논문 내에서 “</a:t>
            </a:r>
            <a:r>
              <a:rPr lang="en-US" sz="1200">
                <a:solidFill>
                  <a:schemeClr val="dk1"/>
                </a:solidFill>
              </a:rPr>
              <a:t>단일 예측으로 엔트로피 최적화를 수행할 시, 단순히 가장 확신하는 클래스로 모든 확률을 몰아주는 문제가 발생할 수 있으므로 배치 단위로 최적화를 진행” 한다고 언급</a:t>
            </a:r>
            <a:endParaRPr sz="1200">
              <a:solidFill>
                <a:schemeClr val="dk1"/>
              </a:solidFill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US" sz="1200">
                <a:solidFill>
                  <a:schemeClr val="dk1"/>
                </a:solidFill>
              </a:rPr>
              <a:t>배치 사이즈를 바꿔 실험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4" name="Google Shape;134;g3273d43535c_1_108"/>
          <p:cNvSpPr txBox="1"/>
          <p:nvPr/>
        </p:nvSpPr>
        <p:spPr>
          <a:xfrm>
            <a:off x="324725" y="720719"/>
            <a:ext cx="613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실험 내용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5" name="Google Shape;135;g3273d43535c_1_108"/>
          <p:cNvGraphicFramePr/>
          <p:nvPr/>
        </p:nvGraphicFramePr>
        <p:xfrm>
          <a:off x="2724749" y="20399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{A855AA3F-F324-4AA9-AB98-3C0FB245876B}</a:tableStyleId>
              </a:tblPr>
              <a:tblGrid>
                <a:gridCol w="1123750"/>
                <a:gridCol w="1123750"/>
                <a:gridCol w="1123750"/>
                <a:gridCol w="1123750"/>
                <a:gridCol w="1123750"/>
                <a:gridCol w="11237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batch size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64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</a:t>
                      </a:r>
                      <a:endParaRPr b="1"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16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</a:t>
                      </a:r>
                      <a:endParaRPr b="1" sz="105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0.6476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0.6537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0.6405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0.5988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0.1282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0.7202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0.7217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0.7235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0.7283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0.1282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0.6086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0.5903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0.5583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0.5247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0.1282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0.6161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0.6377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0.6276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0.5948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0.1282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0.6454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0.6652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0.6525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0.5475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0.1282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g3273d43535c_1_108"/>
          <p:cNvSpPr txBox="1"/>
          <p:nvPr/>
        </p:nvSpPr>
        <p:spPr>
          <a:xfrm>
            <a:off x="324725" y="4563075"/>
            <a:ext cx="1175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배치 사이즈 32부터는 성능에 크게 관여하지 않으나 수가 더 적어지면 손실 발생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73d43535c_1_136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Tent: Fully test-time adaptation by entropy minimization </a:t>
            </a:r>
            <a:endParaRPr b="1" sz="1800">
              <a:solidFill>
                <a:srgbClr val="54813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143" name="Google Shape;143;g3273d43535c_1_136"/>
          <p:cNvGraphicFramePr/>
          <p:nvPr/>
        </p:nvGraphicFramePr>
        <p:xfrm>
          <a:off x="4410374" y="23755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{A855AA3F-F324-4AA9-AB98-3C0FB245876B}</a:tableStyleId>
              </a:tblPr>
              <a:tblGrid>
                <a:gridCol w="1123750"/>
                <a:gridCol w="1123750"/>
                <a:gridCol w="11237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batch size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병렬로 개별 측정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b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-&gt; </a:t>
                      </a: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b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1"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-&gt; lcondition</a:t>
                      </a:r>
                      <a:endParaRPr b="1"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0.6476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0.7202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-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0.6086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0.6007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0.6161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0.6610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0.6454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0.6267</a:t>
                      </a:r>
                      <a:endParaRPr sz="11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" name="Google Shape;144;g3273d43535c_1_136"/>
          <p:cNvSpPr txBox="1"/>
          <p:nvPr/>
        </p:nvSpPr>
        <p:spPr>
          <a:xfrm>
            <a:off x="324725" y="1060625"/>
            <a:ext cx="1175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현재는 source 로 학습한 모델을 가지고 각각의 target domain 하나씩 성능을 측정하고 있지만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-&gt; target1 -&gt; target2 -&gt; target3 처럼 연속적인 상황 변화에 대한 실험 진행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연속적인 변화에서는 취약할 것이라고 생각한 것과 달리 병렬적으로 성능을 하나씩 측정하는 것보다 좋은 성능을 보이기도 함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 경우 baseline 설정 방법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5" name="Google Shape;145;g3273d43535c_1_136"/>
          <p:cNvSpPr txBox="1"/>
          <p:nvPr/>
        </p:nvSpPr>
        <p:spPr>
          <a:xfrm>
            <a:off x="324725" y="783619"/>
            <a:ext cx="613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추가 실험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73d43535c_0_103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추후 발전 방향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273d43535c_0_103"/>
          <p:cNvSpPr txBox="1"/>
          <p:nvPr/>
        </p:nvSpPr>
        <p:spPr>
          <a:xfrm>
            <a:off x="324725" y="1222231"/>
            <a:ext cx="11944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domain 이 연속적/점진적으로 변할 때 취약함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batch size 에 성능 변화 민감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entropy 로만 최적화 하기에는 overconfidence 가 있을 가능성 존재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새로운 도메인에 적응하는 과정에서 기존 소스 도메인에서 학습한 지식을 잃어버리는 현상이 발생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Google Shape;153;g3273d43535c_0_103"/>
          <p:cNvSpPr txBox="1"/>
          <p:nvPr/>
        </p:nvSpPr>
        <p:spPr>
          <a:xfrm>
            <a:off x="324725" y="945232"/>
            <a:ext cx="613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현존하는 TENT 문제점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273d43535c_0_103"/>
          <p:cNvSpPr txBox="1"/>
          <p:nvPr/>
        </p:nvSpPr>
        <p:spPr>
          <a:xfrm>
            <a:off x="400925" y="3022968"/>
            <a:ext cx="1194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active learning의 BatchBALD 나 Active Adversarial Domain Adaptation 처럼 도메인 정보량 계산을 계산하여 정보량 많은 데이터를 우선적으로 선별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-&gt; 이를 통해 배치로 업데이트 되는 불안정성을 해결할 수 있지 않을까 생각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5" name="Google Shape;155;g3273d43535c_0_103"/>
          <p:cNvSpPr txBox="1"/>
          <p:nvPr/>
        </p:nvSpPr>
        <p:spPr>
          <a:xfrm>
            <a:off x="324725" y="2745969"/>
            <a:ext cx="613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개선 방안1 : 의미 있는 배치를 뽑아 우선적으로 업데이트 진행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273d43535c_0_103"/>
          <p:cNvSpPr txBox="1"/>
          <p:nvPr/>
        </p:nvSpPr>
        <p:spPr>
          <a:xfrm>
            <a:off x="324725" y="4394575"/>
            <a:ext cx="11226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TENT 방식은 entropy만 사용하여 최적화 진행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이를 발전시켜 다른 추가적인 목적함수 적용 or BN 파라미터 뿐 아니라 모델 전체를 업데이트 하는 방식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-&gt; Continual Test-Time Domain Adaptation(2022 CVPR / 가중치 및 증강 기반 pseudo-label과 확률적 복원을 활용해 지속적으로 변화하는 환경에서 소스 데이터 없이 사전 학습된 모델을 테스트 시점에서 적응시키는 방법)에서는 consistency loss를 사용해 모델 전체를 재조정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-&gt; 해당 논문은 EMA 방식으로 전체 파라미터를 업데이트 하는 방식이 TENT 방식 보다 성능이 좋다고 주장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-&gt; 하지만 해당 논문은 낮은 신뢰도 &amp; 도메인 변화가 큰 경우 에 좋다고 하기에 cognex 데이터셋엔 어울리지 않지만, 새로운 loss 함수를 도입해 batchnorm layer를 업데이트 하는 방식은 좋다 생각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7" name="Google Shape;157;g3273d43535c_0_103"/>
          <p:cNvSpPr txBox="1"/>
          <p:nvPr/>
        </p:nvSpPr>
        <p:spPr>
          <a:xfrm>
            <a:off x="248525" y="4117569"/>
            <a:ext cx="613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개선 방안2 : </a:t>
            </a: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목적함수 변경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