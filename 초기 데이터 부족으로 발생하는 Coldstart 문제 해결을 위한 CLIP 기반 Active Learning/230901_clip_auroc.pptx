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" roundtripDataSignature="AMtx7misxEqPlLrYxK9AbQDBIUNP2e2N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4612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610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2802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90452" y="257695"/>
            <a:ext cx="1123326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o-KR" altLang="en-US" sz="3000" b="1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템플릿</a:t>
            </a:r>
            <a:r>
              <a:rPr lang="en-US" altLang="ko-KR" sz="3000" b="1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3000" b="1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기반</a:t>
            </a:r>
            <a:endParaRPr dirty="0"/>
          </a:p>
        </p:txBody>
      </p:sp>
      <p:sp>
        <p:nvSpPr>
          <p:cNvPr id="85" name="Google Shape;85;p1"/>
          <p:cNvSpPr txBox="1"/>
          <p:nvPr/>
        </p:nvSpPr>
        <p:spPr>
          <a:xfrm>
            <a:off x="743989" y="1036475"/>
            <a:ext cx="3178787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o-KR" altLang="en-US" sz="18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템플릿 형식 </a:t>
            </a:r>
            <a:r>
              <a:rPr lang="en-US" altLang="ko-KR" sz="18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en-US" altLang="ko-KR" sz="1800" dirty="0"/>
              <a:t>prompt = ["a normal photo of a " + item + " " + </a:t>
            </a:r>
            <a:r>
              <a:rPr lang="en-US" altLang="ko-KR" sz="1800" dirty="0" err="1"/>
              <a:t>object_name</a:t>
            </a:r>
            <a:r>
              <a:rPr lang="en-US" altLang="ko-KR" sz="1800" dirty="0"/>
              <a:t> if item == "good" else "a abnormal photo of a " + item + " " + </a:t>
            </a:r>
            <a:r>
              <a:rPr lang="en-US" altLang="ko-KR" sz="1800" dirty="0" err="1"/>
              <a:t>object_name</a:t>
            </a:r>
            <a:r>
              <a:rPr lang="en-US" altLang="ko-KR" sz="1800" dirty="0"/>
              <a:t> for item in </a:t>
            </a:r>
            <a:r>
              <a:rPr lang="en-US" altLang="ko-KR" sz="1800" dirty="0" err="1"/>
              <a:t>object_class_list</a:t>
            </a:r>
            <a:r>
              <a:rPr lang="en-US" altLang="ko-KR" sz="1800" dirty="0" smtClean="0"/>
              <a:t>]</a:t>
            </a:r>
          </a:p>
          <a:p>
            <a:pPr lvl="0"/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/>
            <a:r>
              <a:rPr lang="en-US" altLang="ko-KR" sz="1800" dirty="0" smtClean="0"/>
              <a:t>Grand accuracy </a:t>
            </a:r>
            <a:r>
              <a:rPr lang="en-US" altLang="ko-KR" sz="1800" dirty="0"/>
              <a:t>of zero-shot: 5.527638190954774% </a:t>
            </a:r>
            <a:endParaRPr lang="en-US" altLang="ko-KR" sz="1800" dirty="0" smtClean="0"/>
          </a:p>
          <a:p>
            <a:pPr lvl="0"/>
            <a:r>
              <a:rPr lang="en-US" altLang="ko-KR" sz="1800" dirty="0" smtClean="0"/>
              <a:t>Grand average </a:t>
            </a:r>
            <a:r>
              <a:rPr lang="en-US" altLang="ko-KR" sz="1800" dirty="0"/>
              <a:t>AUROC of zero-shot: 0.5645053870919683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15952"/>
              </p:ext>
            </p:extLst>
          </p:nvPr>
        </p:nvGraphicFramePr>
        <p:xfrm>
          <a:off x="4089400" y="534694"/>
          <a:ext cx="8017256" cy="593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8364">
                  <a:extLst>
                    <a:ext uri="{9D8B030D-6E8A-4147-A177-3AD203B41FA5}">
                      <a16:colId xmlns:a16="http://schemas.microsoft.com/office/drawing/2014/main" val="2464363303"/>
                    </a:ext>
                  </a:extLst>
                </a:gridCol>
                <a:gridCol w="2092504">
                  <a:extLst>
                    <a:ext uri="{9D8B030D-6E8A-4147-A177-3AD203B41FA5}">
                      <a16:colId xmlns:a16="http://schemas.microsoft.com/office/drawing/2014/main" val="1897959332"/>
                    </a:ext>
                  </a:extLst>
                </a:gridCol>
                <a:gridCol w="4826388">
                  <a:extLst>
                    <a:ext uri="{9D8B030D-6E8A-4147-A177-3AD203B41FA5}">
                      <a16:colId xmlns:a16="http://schemas.microsoft.com/office/drawing/2014/main" val="4071649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accuracy of zero-shot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Average AUROC of zero-shot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311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bottle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9.051724137931034%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0.6169541027637262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804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4.391891891891892%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0.38780673797480936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695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capsule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20.503597122302157%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0.47900531675203567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8439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u="none" strike="noStrike" cap="none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hazelnut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/>
                        <a:t>5.527638190954774%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0.5196480223556996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412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metal nut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8.270676691729323%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0.42408391448086036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441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pill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2.0348837209302326%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0.41049267773909465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20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screw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32.98429319371728%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0.4708330021928876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452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toothbrush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29.62962962962963%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0.40358293075684387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191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transistor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/>
                        <a:t>11.6%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0.3772028515375984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2311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zipper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5.51948051948052%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/>
                        <a:t>0.4188249687349971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86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carpet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5.079365079365079%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0.4786323687899049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4501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grid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2.962962962962963%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0.35303390644394533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8230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u="none" strike="noStrike" cap="none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leather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/>
                        <a:t>5.802047781569966%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0.5862766439264784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124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u="none" strike="noStrike" cap="none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/>
                        <a:t>10.909090909090908%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0.6720437520817484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047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wood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/>
                        <a:t>5.038759689922481%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0.48576540022771425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273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90452" y="257695"/>
            <a:ext cx="1123326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o-KR" altLang="en-US" sz="3000" b="1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도메인 지식</a:t>
            </a:r>
            <a:r>
              <a:rPr lang="en-US" altLang="ko-KR" sz="3000" b="1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3000" b="1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기반</a:t>
            </a:r>
            <a:endParaRPr dirty="0"/>
          </a:p>
        </p:txBody>
      </p:sp>
      <p:sp>
        <p:nvSpPr>
          <p:cNvPr id="85" name="Google Shape;85;p1"/>
          <p:cNvSpPr txBox="1"/>
          <p:nvPr/>
        </p:nvSpPr>
        <p:spPr>
          <a:xfrm>
            <a:off x="743989" y="1036475"/>
            <a:ext cx="3178787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o-KR" altLang="en-US" sz="18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 형식 </a:t>
            </a:r>
            <a:r>
              <a:rPr lang="en-US" altLang="ko-KR" sz="18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en-US" altLang="ko-KR" sz="1800" dirty="0" smtClean="0"/>
              <a:t>class</a:t>
            </a:r>
            <a:r>
              <a:rPr lang="ko-KR" altLang="en-US" sz="1800" dirty="0" smtClean="0"/>
              <a:t>의 </a:t>
            </a:r>
            <a:r>
              <a:rPr lang="en-US" altLang="ko-KR" sz="1800" dirty="0" smtClean="0"/>
              <a:t>defect</a:t>
            </a:r>
            <a:r>
              <a:rPr lang="ko-KR" altLang="en-US" sz="1800" dirty="0" smtClean="0"/>
              <a:t>에 대해서 지식을 활용해 상세하게 불량 </a:t>
            </a:r>
            <a:r>
              <a:rPr lang="en-US" altLang="ko-KR" sz="1800" dirty="0" smtClean="0"/>
              <a:t>defect </a:t>
            </a:r>
            <a:r>
              <a:rPr lang="ko-KR" altLang="en-US" sz="1800" dirty="0" smtClean="0"/>
              <a:t>묘사 프롬프트 사용</a:t>
            </a:r>
            <a:endParaRPr lang="en-US" altLang="ko-KR" sz="1800" dirty="0" smtClean="0"/>
          </a:p>
          <a:p>
            <a:pPr lvl="0"/>
            <a:endParaRPr lang="en-US" altLang="ko-KR" sz="1800" dirty="0"/>
          </a:p>
          <a:p>
            <a:pPr lvl="0"/>
            <a:r>
              <a:rPr lang="ko-KR" altLang="en-US" sz="1800" dirty="0" smtClean="0"/>
              <a:t>단순 템플릿 기반보다 좋은 성능을 보이고 있음 </a:t>
            </a:r>
            <a:endParaRPr lang="en-US" altLang="ko-KR" sz="1800" dirty="0" smtClean="0"/>
          </a:p>
          <a:p>
            <a:pPr lvl="0"/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/>
            <a:r>
              <a:rPr lang="en-US" altLang="ko-KR" sz="1800" dirty="0" smtClean="0"/>
              <a:t>Grand accuracy </a:t>
            </a:r>
            <a:r>
              <a:rPr lang="en-US" altLang="ko-KR" sz="1800" dirty="0"/>
              <a:t>of zero-shot: 5.527638190954774% </a:t>
            </a:r>
            <a:endParaRPr lang="en-US" altLang="ko-KR" sz="1800" dirty="0" smtClean="0"/>
          </a:p>
          <a:p>
            <a:pPr lvl="0"/>
            <a:r>
              <a:rPr lang="en-US" altLang="ko-KR" sz="1800" dirty="0" smtClean="0"/>
              <a:t>Grand average </a:t>
            </a:r>
            <a:r>
              <a:rPr lang="en-US" altLang="ko-KR" sz="1800" dirty="0"/>
              <a:t>AUROC of zero-shot: 0.5645053870919683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797429"/>
              </p:ext>
            </p:extLst>
          </p:nvPr>
        </p:nvGraphicFramePr>
        <p:xfrm>
          <a:off x="4089400" y="534694"/>
          <a:ext cx="8017256" cy="593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8364">
                  <a:extLst>
                    <a:ext uri="{9D8B030D-6E8A-4147-A177-3AD203B41FA5}">
                      <a16:colId xmlns:a16="http://schemas.microsoft.com/office/drawing/2014/main" val="2464363303"/>
                    </a:ext>
                  </a:extLst>
                </a:gridCol>
                <a:gridCol w="2092504">
                  <a:extLst>
                    <a:ext uri="{9D8B030D-6E8A-4147-A177-3AD203B41FA5}">
                      <a16:colId xmlns:a16="http://schemas.microsoft.com/office/drawing/2014/main" val="1897959332"/>
                    </a:ext>
                  </a:extLst>
                </a:gridCol>
                <a:gridCol w="4826388">
                  <a:extLst>
                    <a:ext uri="{9D8B030D-6E8A-4147-A177-3AD203B41FA5}">
                      <a16:colId xmlns:a16="http://schemas.microsoft.com/office/drawing/2014/main" val="4071649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accuracy of zero-shot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Average AUROC of zero-shot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311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bottle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14.655172413793103%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0.6514951730031854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804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4.391891891891892%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0.341830522065629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695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capsule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5.755395683453237%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0.4463156896305119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8439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hazelnut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6.28140703517588%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0.6688694170494671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412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metal nut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26.69172932330827%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0.6146358426617624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441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4.069767441860465%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0.37731562032541605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20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screw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4.973821989528796%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0.41474166571967797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452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toothbrush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44.44444444444444%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0.42264957264957265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191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transistor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4.0%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0.3166156621928313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2311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zipper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3.896103896103896%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0.3693560741254018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86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carpet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51.111111111111114%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0.5116473793700986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4501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2.962962962962963%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0.4066241945349518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8230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leather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34.47098976109215%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0.6597658416465001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124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8.363636363636363%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0.5448426891578468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047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wood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6.589147286821706%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0.5180719134783837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273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8301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90452" y="257695"/>
            <a:ext cx="1123326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o-KR" altLang="en-US" sz="3000" b="1" dirty="0" err="1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지식전이</a:t>
            </a:r>
            <a:endParaRPr dirty="0"/>
          </a:p>
        </p:txBody>
      </p:sp>
      <p:sp>
        <p:nvSpPr>
          <p:cNvPr id="6" name="Google Shape;85;p1"/>
          <p:cNvSpPr txBox="1"/>
          <p:nvPr/>
        </p:nvSpPr>
        <p:spPr>
          <a:xfrm>
            <a:off x="743989" y="1036475"/>
            <a:ext cx="7028411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o-KR" altLang="en-US" sz="18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세팅 </a:t>
            </a:r>
            <a:r>
              <a:rPr lang="en-US" altLang="ko-KR" sz="18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ko-KR" altLang="en-US" sz="18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도메인 지식 기반의 프롬프트를 가지는 </a:t>
            </a:r>
            <a:r>
              <a:rPr lang="ko-KR" altLang="en-US" sz="1800" dirty="0" err="1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헤이즐넛</a:t>
            </a:r>
            <a:r>
              <a:rPr lang="ko-KR" altLang="en-US" sz="18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800" dirty="0" err="1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데이터셋</a:t>
            </a:r>
            <a:endParaRPr lang="en-US" altLang="ko-KR" sz="18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en-US" altLang="ko-KR" sz="18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Loss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T^2 * </a:t>
            </a:r>
            <a:r>
              <a:rPr lang="en-US" altLang="ko-KR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KLDivLoss</a:t>
            </a: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lvl="0"/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en-US" altLang="ko-KR" sz="18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soft_tem_student_outputs.log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(), </a:t>
            </a:r>
            <a:r>
              <a:rPr lang="en-US" altLang="ko-KR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soft_tem</a:t>
            </a:r>
            <a:r>
              <a:rPr lang="en-US" altLang="ko-KR" sz="1800" dirty="0" err="1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_teacher_outputs</a:t>
            </a:r>
            <a:r>
              <a:rPr lang="en-US" altLang="ko-KR" sz="18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</a:p>
          <a:p>
            <a:pPr lvl="0"/>
            <a:r>
              <a:rPr lang="en-US" altLang="ko-KR" sz="18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 T = 2</a:t>
            </a:r>
          </a:p>
          <a:p>
            <a:pPr lvl="0"/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/>
            <a:endParaRPr lang="en-US" sz="18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/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Accuracy of student model: 2.5%</a:t>
            </a:r>
          </a:p>
          <a:p>
            <a:pPr lvl="0"/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Average AUROC of student model: 0.5073767681436095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551" y="1006856"/>
            <a:ext cx="4430357" cy="356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943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90452" y="257695"/>
            <a:ext cx="1123326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o-KR" altLang="en-US" sz="3000" b="1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추후 계획</a:t>
            </a:r>
            <a:endParaRPr dirty="0"/>
          </a:p>
        </p:txBody>
      </p:sp>
      <p:sp>
        <p:nvSpPr>
          <p:cNvPr id="6" name="Google Shape;85;p1"/>
          <p:cNvSpPr txBox="1"/>
          <p:nvPr/>
        </p:nvSpPr>
        <p:spPr>
          <a:xfrm>
            <a:off x="743989" y="1036475"/>
            <a:ext cx="7028411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o-KR" altLang="en-US" sz="18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도메인 지식 기반 프롬프트들에 대해 앙상블 진행</a:t>
            </a:r>
            <a:endParaRPr lang="en-US" altLang="ko-KR" sz="18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8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ko-KR" altLang="en-US" sz="18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다른 데이터 셋도 이러한 경향을 보이는지 확인</a:t>
            </a:r>
            <a:endParaRPr lang="en-US" altLang="ko-KR" sz="18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8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ko-KR" altLang="en-US" sz="18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보다 효과적인 지식 전이 기반 방법 모색</a:t>
            </a:r>
            <a:endParaRPr lang="en-US" altLang="ko-KR" sz="18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8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ko-KR" altLang="en-US" sz="1800" dirty="0" err="1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제로샷이</a:t>
            </a:r>
            <a:r>
              <a:rPr lang="ko-KR" altLang="en-US" sz="18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실패할 경우</a:t>
            </a:r>
            <a:r>
              <a:rPr lang="en-US" altLang="ko-KR" sz="18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Few shot </a:t>
            </a:r>
            <a:r>
              <a:rPr lang="ko-KR" altLang="en-US" sz="18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기반의 방법들도 모색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120110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310</Words>
  <Application>Microsoft Office PowerPoint</Application>
  <PresentationFormat>와이드스크린</PresentationFormat>
  <Paragraphs>129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24</cp:revision>
  <dcterms:created xsi:type="dcterms:W3CDTF">2023-03-23T02:52:33Z</dcterms:created>
  <dcterms:modified xsi:type="dcterms:W3CDTF">2023-09-01T02:52:31Z</dcterms:modified>
</cp:coreProperties>
</file>