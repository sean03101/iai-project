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Noto Sans KR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tUuZH1Xy8ukHrzkR5ttOozRmx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5A4532-ED52-457A-82D0-BCC0BFBA8088}">
  <a:tblStyle styleId="{6C5A4532-ED52-457A-82D0-BCC0BFBA808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KR-regular.fntdata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200c735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2200c735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2200c7354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75c13a6e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175c13a6e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175c13a6e3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200c7354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2200c7354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2200c7354c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만약 이게 잘 나온다면 어떻게 발전시킬 수 있을쥐…</a:t>
            </a:r>
            <a:endParaRPr/>
          </a:p>
        </p:txBody>
      </p:sp>
      <p:sp>
        <p:nvSpPr>
          <p:cNvPr id="167" name="Google Shape;16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추후 repeat 에서 어떤 augmentation 이 뽑혔는지 확인</a:t>
            </a:r>
            <a:endParaRPr/>
          </a:p>
        </p:txBody>
      </p:sp>
      <p:sp>
        <p:nvSpPr>
          <p:cNvPr id="178" name="Google Shape;17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8b9aacfda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18b9aacfda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https://www.notion.so/Baseline-1227-165a1d59cb8180d8979fe981ca39a31b</a:t>
            </a:r>
            <a:endParaRPr/>
          </a:p>
        </p:txBody>
      </p:sp>
      <p:sp>
        <p:nvSpPr>
          <p:cNvPr id="188" name="Google Shape;188;g318b9aacfda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200c7354c_0_0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241127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75c13a6e3_0_2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175c13a6e3_0_25"/>
          <p:cNvSpPr txBox="1"/>
          <p:nvPr/>
        </p:nvSpPr>
        <p:spPr>
          <a:xfrm>
            <a:off x="242600" y="945281"/>
            <a:ext cx="107010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175c13a6e3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7984" y="1837916"/>
            <a:ext cx="8712681" cy="191116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175c13a6e3_0_25"/>
          <p:cNvSpPr txBox="1"/>
          <p:nvPr/>
        </p:nvSpPr>
        <p:spPr>
          <a:xfrm>
            <a:off x="2337686" y="3287385"/>
            <a:ext cx="7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175c13a6e3_0_25"/>
          <p:cNvSpPr txBox="1"/>
          <p:nvPr/>
        </p:nvSpPr>
        <p:spPr>
          <a:xfrm>
            <a:off x="3922141" y="3287385"/>
            <a:ext cx="7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2️⃣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175c13a6e3_0_25"/>
          <p:cNvSpPr txBox="1"/>
          <p:nvPr/>
        </p:nvSpPr>
        <p:spPr>
          <a:xfrm>
            <a:off x="5551779" y="3321829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3️⃣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175c13a6e3_0_25"/>
          <p:cNvSpPr txBox="1"/>
          <p:nvPr/>
        </p:nvSpPr>
        <p:spPr>
          <a:xfrm>
            <a:off x="7181418" y="3321829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4️⃣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175c13a6e3_0_25"/>
          <p:cNvSpPr txBox="1"/>
          <p:nvPr/>
        </p:nvSpPr>
        <p:spPr>
          <a:xfrm>
            <a:off x="8811057" y="3321829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5️⃣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175c13a6e3_0_25"/>
          <p:cNvSpPr txBox="1"/>
          <p:nvPr/>
        </p:nvSpPr>
        <p:spPr>
          <a:xfrm>
            <a:off x="292779" y="4741589"/>
            <a:ext cx="11944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layer 의 평균값 혹은 분산값을 따로 확인해보기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∵ 평균이 갖는 정보와 분산이 갖는 정보가 다를텐데 둘을 모두 합산해버리는 것은 정보를 망칠 수 있음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레이어별 값을 정규화 시킨 후 동일한 가중치로 divergence 점수 합산하기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∵ 각 layer 마다 값의 범위가 다르므로 최종 divergence 점수에 특정 레이어의 값이 과도하게 영향을 많이 미칠 수 있음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g3175c13a6e3_0_25"/>
          <p:cNvSpPr txBox="1"/>
          <p:nvPr/>
        </p:nvSpPr>
        <p:spPr>
          <a:xfrm>
            <a:off x="324725" y="4455586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회의 내용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42600" y="583884"/>
            <a:ext cx="107010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1"/>
          <p:cNvGraphicFramePr/>
          <p:nvPr/>
        </p:nvGraphicFramePr>
        <p:xfrm>
          <a:off x="592423" y="44633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{6C5A4532-ED52-457A-82D0-BCC0BFBA8088}</a:tableStyleId>
              </a:tblPr>
              <a:tblGrid>
                <a:gridCol w="960325"/>
                <a:gridCol w="1171900"/>
                <a:gridCol w="1171900"/>
                <a:gridCol w="1171900"/>
                <a:gridCol w="1171900"/>
                <a:gridCol w="1171900"/>
                <a:gridCol w="1171900"/>
                <a:gridCol w="1171900"/>
                <a:gridCol w="1171900"/>
              </a:tblGrid>
              <a:tr h="38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Baseline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Baseline_TTA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평균+분산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평균만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분산만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정규화(평균+분산)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정규화한 평균만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정규화한 분산만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0.60688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0.4665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0.4918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0.4777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0.5875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0.715</a:t>
                      </a: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0.71536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0.7214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0.6645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0.52908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0.4185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0.4225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0.4429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0.5336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0.4471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0.5438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0.562</a:t>
                      </a: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0.55288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0.4325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0.4169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0.4217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0.5172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0.4282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0.5250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0.592</a:t>
                      </a: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0.4625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0.5056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0.4906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0.5959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0.5275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"/>
          <p:cNvSpPr txBox="1"/>
          <p:nvPr/>
        </p:nvSpPr>
        <p:spPr>
          <a:xfrm>
            <a:off x="292779" y="1546933"/>
            <a:ext cx="119442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layer 의 평균값 혹은 분산값을 따로 확인해보기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∵ 평균이 갖는 정보와 분산이 갖는 정보가 다를텐데 둘을 모두 합산해버리는 것은 정보를 망칠 수 있음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레이어별 값을 정규화 시킨 후 동일한 가중치로 divergence 점수 합산하기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∵ 각 layer 마다 값의 범위가 다르므로 최종 divergence 점수에 특정 레이어의 값이 과도하게 영향을 많이 미칠 수 있음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324725" y="1260930"/>
            <a:ext cx="6132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회의 내용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1"/>
          <p:cNvCxnSpPr/>
          <p:nvPr/>
        </p:nvCxnSpPr>
        <p:spPr>
          <a:xfrm>
            <a:off x="324725" y="2937163"/>
            <a:ext cx="11045239" cy="0"/>
          </a:xfrm>
          <a:prstGeom prst="straightConnector1">
            <a:avLst/>
          </a:prstGeom>
          <a:noFill/>
          <a:ln cap="flat" cmpd="sng" w="9525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"/>
          <p:cNvSpPr txBox="1"/>
          <p:nvPr/>
        </p:nvSpPr>
        <p:spPr>
          <a:xfrm>
            <a:off x="292779" y="3447696"/>
            <a:ext cx="1194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Baseline : 아무것도 적용하지 않고 source domain 으로만 학습 -&gt; target domain 단순 예측 (domain shift)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Basline_TTA : source domain 으로만 학습 -&gt; 20개의 TTA 를 단순히 합산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정규화 : 각 레이어별로 갖는 통계량들을 각각 정규화 시킨 뒤 divergence 계산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324725" y="3161693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g32200c7354c_0_36"/>
          <p:cNvCxnSpPr/>
          <p:nvPr/>
        </p:nvCxnSpPr>
        <p:spPr>
          <a:xfrm>
            <a:off x="2691500" y="2393280"/>
            <a:ext cx="0" cy="23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32200c7354c_0_36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이용</a:t>
            </a:r>
            <a:b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4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개요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32200c7354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525" y="2907135"/>
            <a:ext cx="2214950" cy="124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g32200c7354c_0_36"/>
          <p:cNvCxnSpPr/>
          <p:nvPr/>
        </p:nvCxnSpPr>
        <p:spPr>
          <a:xfrm rot="10800000">
            <a:off x="2691500" y="2393280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g32200c7354c_0_36"/>
          <p:cNvCxnSpPr/>
          <p:nvPr/>
        </p:nvCxnSpPr>
        <p:spPr>
          <a:xfrm rot="10800000">
            <a:off x="2691500" y="477365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g32200c7354c_0_36"/>
          <p:cNvCxnSpPr/>
          <p:nvPr/>
        </p:nvCxnSpPr>
        <p:spPr>
          <a:xfrm rot="10800000">
            <a:off x="2691500" y="2770780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g32200c7354c_0_36"/>
          <p:cNvSpPr txBox="1"/>
          <p:nvPr/>
        </p:nvSpPr>
        <p:spPr>
          <a:xfrm>
            <a:off x="751575" y="4153030"/>
            <a:ext cx="22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shifted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2200c7354c_0_36"/>
          <p:cNvSpPr/>
          <p:nvPr/>
        </p:nvSpPr>
        <p:spPr>
          <a:xfrm>
            <a:off x="3478000" y="226745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2200c7354c_0_36"/>
          <p:cNvSpPr/>
          <p:nvPr/>
        </p:nvSpPr>
        <p:spPr>
          <a:xfrm>
            <a:off x="3478000" y="2634430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2200c7354c_0_36"/>
          <p:cNvSpPr/>
          <p:nvPr/>
        </p:nvSpPr>
        <p:spPr>
          <a:xfrm>
            <a:off x="3478000" y="422830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2200c7354c_0_36"/>
          <p:cNvSpPr/>
          <p:nvPr/>
        </p:nvSpPr>
        <p:spPr>
          <a:xfrm>
            <a:off x="3478000" y="463730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g32200c7354c_0_36"/>
          <p:cNvCxnSpPr/>
          <p:nvPr/>
        </p:nvCxnSpPr>
        <p:spPr>
          <a:xfrm rot="10800000">
            <a:off x="2691500" y="436465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g32200c7354c_0_36"/>
          <p:cNvSpPr txBox="1"/>
          <p:nvPr/>
        </p:nvSpPr>
        <p:spPr>
          <a:xfrm rot="5400000">
            <a:off x="3374800" y="3383059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2200c7354c_0_36"/>
          <p:cNvSpPr txBox="1"/>
          <p:nvPr/>
        </p:nvSpPr>
        <p:spPr>
          <a:xfrm>
            <a:off x="2911750" y="1843780"/>
            <a:ext cx="16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2200c7354c_0_36"/>
          <p:cNvSpPr txBox="1"/>
          <p:nvPr/>
        </p:nvSpPr>
        <p:spPr>
          <a:xfrm>
            <a:off x="4023300" y="2208630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[0.09,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0.91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2200c7354c_0_36"/>
          <p:cNvSpPr txBox="1"/>
          <p:nvPr/>
        </p:nvSpPr>
        <p:spPr>
          <a:xfrm>
            <a:off x="4023300" y="2586130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[0.49, 0.51]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2200c7354c_0_36"/>
          <p:cNvSpPr txBox="1"/>
          <p:nvPr/>
        </p:nvSpPr>
        <p:spPr>
          <a:xfrm>
            <a:off x="4023300" y="4180005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[0.72, 0.28]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2200c7354c_0_36"/>
          <p:cNvSpPr txBox="1"/>
          <p:nvPr/>
        </p:nvSpPr>
        <p:spPr>
          <a:xfrm>
            <a:off x="4023300" y="4589005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[0.55, 0.45]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2200c7354c_0_36"/>
          <p:cNvSpPr txBox="1"/>
          <p:nvPr/>
        </p:nvSpPr>
        <p:spPr>
          <a:xfrm>
            <a:off x="5134825" y="1618730"/>
            <a:ext cx="1604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[target일 확률, source일 확률]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2200c7354c_0_36"/>
          <p:cNvSpPr/>
          <p:nvPr/>
        </p:nvSpPr>
        <p:spPr>
          <a:xfrm>
            <a:off x="6686800" y="2312655"/>
            <a:ext cx="6396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2200c7354c_0_36"/>
          <p:cNvSpPr txBox="1"/>
          <p:nvPr/>
        </p:nvSpPr>
        <p:spPr>
          <a:xfrm>
            <a:off x="7483750" y="2080555"/>
            <a:ext cx="42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와 가장 가깝게 원복됐다고 판단하여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이미지에 대한 예측 확률을 최종 예측 확률로 선정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g32200c7354c_0_36"/>
          <p:cNvSpPr/>
          <p:nvPr/>
        </p:nvSpPr>
        <p:spPr>
          <a:xfrm rot="5400000">
            <a:off x="6579443" y="4625207"/>
            <a:ext cx="2126313" cy="79680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2200c7354c_0_36"/>
          <p:cNvSpPr txBox="1"/>
          <p:nvPr/>
        </p:nvSpPr>
        <p:spPr>
          <a:xfrm>
            <a:off x="7244199" y="4810321"/>
            <a:ext cx="8704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extractor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2200c7354c_0_36"/>
          <p:cNvSpPr/>
          <p:nvPr/>
        </p:nvSpPr>
        <p:spPr>
          <a:xfrm rot="5400000">
            <a:off x="7839724" y="5413479"/>
            <a:ext cx="979352" cy="3672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2200c7354c_0_36"/>
          <p:cNvSpPr/>
          <p:nvPr/>
        </p:nvSpPr>
        <p:spPr>
          <a:xfrm rot="5400000">
            <a:off x="7839724" y="4277301"/>
            <a:ext cx="979351" cy="3672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2200c7354c_0_36"/>
          <p:cNvSpPr txBox="1"/>
          <p:nvPr/>
        </p:nvSpPr>
        <p:spPr>
          <a:xfrm>
            <a:off x="7663499" y="4230080"/>
            <a:ext cx="1331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2200c7354c_0_36"/>
          <p:cNvSpPr txBox="1"/>
          <p:nvPr/>
        </p:nvSpPr>
        <p:spPr>
          <a:xfrm>
            <a:off x="7663499" y="5338795"/>
            <a:ext cx="1331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Domain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</a:t>
            </a:r>
            <a:endParaRPr/>
          </a:p>
        </p:txBody>
      </p:sp>
      <p:sp>
        <p:nvSpPr>
          <p:cNvPr id="150" name="Google Shape;150;g32200c7354c_0_36"/>
          <p:cNvSpPr txBox="1"/>
          <p:nvPr/>
        </p:nvSpPr>
        <p:spPr>
          <a:xfrm>
            <a:off x="8885934" y="4313855"/>
            <a:ext cx="2488400" cy="15696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구조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ResNet101 이용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 Extractor 만 공유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각각 Task 별 두개의 Multi head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g32200c7354c_0_36"/>
          <p:cNvSpPr/>
          <p:nvPr/>
        </p:nvSpPr>
        <p:spPr>
          <a:xfrm>
            <a:off x="6977825" y="3646762"/>
            <a:ext cx="4673599" cy="2802691"/>
          </a:xfrm>
          <a:prstGeom prst="rect">
            <a:avLst/>
          </a:prstGeom>
          <a:noFill/>
          <a:ln cap="flat" cmpd="sng" w="12700">
            <a:solidFill>
              <a:srgbClr val="D0CE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이용</a:t>
            </a:r>
            <a:b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4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324725" y="1222231"/>
            <a:ext cx="11944200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결함 유형을 분류하는 기존의 classifier (ResNet모델) 따로 / 도메인이 original 인지 augmentation 되었는지 분류하는 domain classifier (VIT) 를 별도로 학습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ResNet : 클래스 분류력 높음 / 도메인 분류력 낮음                               VIT : 클래스 분류력 낮음 / 도메인 분류력 높음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전반적으로 도메인을 분류하는 성능이 매우 낮음 (VIT32 에서 정확도 0.7~0.74)</a:t>
            </a:r>
            <a:endParaRPr/>
          </a:p>
        </p:txBody>
      </p:sp>
      <p:sp>
        <p:nvSpPr>
          <p:cNvPr id="159" name="Google Shape;159;p2"/>
          <p:cNvSpPr txBox="1"/>
          <p:nvPr/>
        </p:nvSpPr>
        <p:spPr>
          <a:xfrm>
            <a:off x="324725" y="945232"/>
            <a:ext cx="6132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실험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324725" y="2629997"/>
            <a:ext cx="11944200" cy="4062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ResNet101 모델을 기반으로 Feature Extractor는 공유하고, 각각 두 개의 classification head 를 갖는 Multi-task 모델 구성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분류의 경우 Source domain 의 원본 = 1 / augmentation 이 적용됐을 경우 = 0 으로 분류하도록 학습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Epoch 100 까지 학습한 결과 아래와 같음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 set 으로 실험 결과: Class accuracy: 0.7960  /  Domain accuracy: 0.8921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324725" y="2352998"/>
            <a:ext cx="6132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실험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55" y="3609959"/>
            <a:ext cx="5302828" cy="265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3819" y="3609959"/>
            <a:ext cx="5302830" cy="2651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이용</a:t>
            </a:r>
            <a:b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4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324725" y="1397690"/>
            <a:ext cx="11944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source domain 이라고 예측하는 확률이 높은 augmentation 선택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원본 이미지(맨앞) + augmentation 된 20개의 이미지 = 총 21개의 TTA 중 선택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 image 들 중 1~3개씩 선택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되는 경향이 있음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선택되는 것들의 source 라고 예측할 확률이 모두 같음 / 클래스 예측 확률이 모두 같음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똑같게 augmentation 되는 건 아님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-&gt; 추후 확인 필요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324725" y="1120691"/>
            <a:ext cx="6132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p3"/>
          <p:cNvGraphicFramePr/>
          <p:nvPr/>
        </p:nvGraphicFramePr>
        <p:xfrm>
          <a:off x="690418" y="3428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{6C5A4532-ED52-457A-82D0-BCC0BFBA8088}</a:tableStyleId>
              </a:tblPr>
              <a:tblGrid>
                <a:gridCol w="960325"/>
                <a:gridCol w="1171900"/>
                <a:gridCol w="1171900"/>
              </a:tblGrid>
              <a:tr h="38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0.7443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0.8572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0.845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0.8259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0.8175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0.8059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0.8325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3"/>
          <p:cNvSpPr txBox="1"/>
          <p:nvPr/>
        </p:nvSpPr>
        <p:spPr>
          <a:xfrm>
            <a:off x="324725" y="5787665"/>
            <a:ext cx="1194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굉장히 좋은 성능을 보임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반복실험이나 검증 필요…</a:t>
            </a:r>
            <a:endParaRPr/>
          </a:p>
        </p:txBody>
      </p:sp>
      <p:sp>
        <p:nvSpPr>
          <p:cNvPr id="174" name="Google Shape;174;p3"/>
          <p:cNvSpPr txBox="1"/>
          <p:nvPr/>
        </p:nvSpPr>
        <p:spPr>
          <a:xfrm>
            <a:off x="6457676" y="367175"/>
            <a:ext cx="5370900" cy="607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Selected idxs:  [ 0  6  7 15 17]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Source Probability: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0.00010683549771783873</a:t>
            </a: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, 6.331817847815557e-10, 3.0585807459871175e-14, 6.593612103793917e-14, 6.292116161432659e-09, 2.2635496861767024e-05, 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0.00010683549771783873</a:t>
            </a: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0.00010683549771783873</a:t>
            </a: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, 3.00061014968378e-06, 3.3141063227049017e-09, 4.68084251914469e-11, 5.028811074225814e-07, 1.5115087215049236e-16, 1.76910175397893e-09, 2.405117811576929e-05, 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0.00010683549771783873</a:t>
            </a: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, 3.641636590575409e-18, 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0.00010683549771783873</a:t>
            </a: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, 6.292116161432659e-09, 2.68761035648879e-09, 6.292116161432659e-09]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Class Prediction: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tensor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([[[0.2948, 0.1906, 0.1244, 0.2897, 0.0084, 0.0922]],  </a:t>
            </a:r>
            <a:r>
              <a:rPr b="0" i="0" lang="en-US" sz="105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#0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[[0.0807, 0.0060, 0.7645, 0.1412, 0.0017, 0.0058]],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[[0.6570, 0.0323, 0.1072, 0.0969, 0.0405, 0.0661]],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[[0.9102, 0.0099, 0.0023, 0.0147, 0.0036, 0.0594]],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[[0.5820, 0.0694, 0.0324, 0.2063, 0.0039, 0.1060]],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[[0.2441, 0.1838, 0.1507, 0.3283, 0.0072, 0.0859]],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[[0.2948, 0.1906, 0.1244, 0.2897, 0.0084, 0.0922]],  </a:t>
            </a:r>
            <a:r>
              <a:rPr b="0" i="0" lang="en-US" sz="105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#6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        [[0.2948, 0.1906, 0.1244, 0.2897, 0.0084, 0.0922]],  </a:t>
            </a:r>
            <a:r>
              <a:rPr b="0" i="0" lang="en-US" sz="105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#7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[[0.1102, 0.0010, 0.0127, 0.8682, 0.0064, 0.0014]],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[[0.4081, 0.0645, 0.0496, 0.2854, 0.0030, 0.1894]],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[[0.5341, 0.0467, 0.0787, 0.0832, 0.0157, 0.2415]],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[[0.1873, 0.1817, 0.1835, 0.3662, 0.0093, 0.0721]],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[[0.6633, 0.0281, 0.0084, 0.0622, 0.2178, 0.0202]],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이용</a:t>
            </a:r>
            <a:b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4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324725" y="1397690"/>
            <a:ext cx="11944200" cy="18466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Multi task 모델의 도메인별 분류 정확도 (source vs augmentation 으로 학습 ➡️ source vs target domain 인지 Test) 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의 분류 정확도 : 0.92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의 분류 정확도 : 0.71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의 분류 정확도 : 0.9875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의 분류 정확도 : 0.6725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와 Lcondition 의 경우 약 35% 정도를 target 인데 source domain 이라고 잘못 분류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324725" y="1120691"/>
            <a:ext cx="6132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4"/>
          <p:cNvGraphicFramePr/>
          <p:nvPr/>
        </p:nvGraphicFramePr>
        <p:xfrm>
          <a:off x="561109" y="35213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{6C5A4532-ED52-457A-82D0-BCC0BFBA8088}</a:tableStyleId>
              </a:tblPr>
              <a:tblGrid>
                <a:gridCol w="960325"/>
                <a:gridCol w="1171900"/>
                <a:gridCol w="1171900"/>
              </a:tblGrid>
              <a:tr h="38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original image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tta image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1127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473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358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4"/>
          <p:cNvSpPr txBox="1"/>
          <p:nvPr/>
        </p:nvSpPr>
        <p:spPr>
          <a:xfrm>
            <a:off x="4065452" y="3429000"/>
            <a:ext cx="6039644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도메인별 TTA 때 original 이미지로 예측한 수 / augmentation 된 이미지로 예측한 수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