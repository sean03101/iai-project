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Noto Sans KR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gQItlsWdGubUWVtVe90nGFnd/i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0D8898-DCD1-4082-805B-E7C25149D035}">
  <a:tblStyle styleId="{E30D8898-DCD1-4082-805B-E7C25149D03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otoSansKR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font" Target="fonts/NotoSansK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ac5cb26f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2ac5cb26f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2ac5cb26fd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faee3f9e2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2faee3f9e2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2faee3f9e2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73d43535c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273d43535c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273d43535c_0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164746" y="2982609"/>
            <a:ext cx="986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250210 실험 결과</a:t>
            </a:r>
            <a:endParaRPr b="1" i="0" sz="2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ac5cb26fd_1_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Tent: Fully test-time adaptation by entropy minimization 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2ac5cb26fd_1_0"/>
          <p:cNvSpPr txBox="1"/>
          <p:nvPr/>
        </p:nvSpPr>
        <p:spPr>
          <a:xfrm>
            <a:off x="324725" y="1895154"/>
            <a:ext cx="5521893" cy="10156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Source Domain (repeat) 으로 학습  →  각 Test Domain 하나씩 Test 진행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ResNet101 모델 이용 / Batch size 64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BN Layer 의 파라미터 업데이트</a:t>
            </a:r>
            <a:endParaRPr/>
          </a:p>
        </p:txBody>
      </p:sp>
      <p:sp>
        <p:nvSpPr>
          <p:cNvPr id="97" name="Google Shape;97;g32ac5cb26fd_1_0"/>
          <p:cNvSpPr txBox="1"/>
          <p:nvPr/>
        </p:nvSpPr>
        <p:spPr>
          <a:xfrm>
            <a:off x="324725" y="1587355"/>
            <a:ext cx="2835286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지난 회의 내용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2ac5cb26fd_1_0"/>
          <p:cNvSpPr txBox="1"/>
          <p:nvPr/>
        </p:nvSpPr>
        <p:spPr>
          <a:xfrm>
            <a:off x="8439891" y="2090561"/>
            <a:ext cx="717900" cy="369300"/>
          </a:xfrm>
          <a:prstGeom prst="rect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2ac5cb26fd_1_0"/>
          <p:cNvSpPr txBox="1"/>
          <p:nvPr/>
        </p:nvSpPr>
        <p:spPr>
          <a:xfrm>
            <a:off x="9584741" y="1639636"/>
            <a:ext cx="1137300" cy="369300"/>
          </a:xfrm>
          <a:prstGeom prst="rect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2ac5cb26fd_1_0"/>
          <p:cNvSpPr txBox="1"/>
          <p:nvPr/>
        </p:nvSpPr>
        <p:spPr>
          <a:xfrm>
            <a:off x="9584741" y="2090561"/>
            <a:ext cx="1137300" cy="369300"/>
          </a:xfrm>
          <a:prstGeom prst="rect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2ac5cb26fd_1_0"/>
          <p:cNvSpPr txBox="1"/>
          <p:nvPr/>
        </p:nvSpPr>
        <p:spPr>
          <a:xfrm>
            <a:off x="9584741" y="2541486"/>
            <a:ext cx="1137300" cy="369300"/>
          </a:xfrm>
          <a:prstGeom prst="rect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lcondition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2ac5cb26fd_1_0"/>
          <p:cNvSpPr txBox="1"/>
          <p:nvPr/>
        </p:nvSpPr>
        <p:spPr>
          <a:xfrm>
            <a:off x="9031991" y="1639636"/>
            <a:ext cx="65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2ac5cb26fd_1_0"/>
          <p:cNvSpPr txBox="1"/>
          <p:nvPr/>
        </p:nvSpPr>
        <p:spPr>
          <a:xfrm>
            <a:off x="9031991" y="2090561"/>
            <a:ext cx="65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2ac5cb26fd_1_0"/>
          <p:cNvSpPr txBox="1"/>
          <p:nvPr/>
        </p:nvSpPr>
        <p:spPr>
          <a:xfrm>
            <a:off x="9031991" y="2541486"/>
            <a:ext cx="65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2ac5cb26fd_1_0"/>
          <p:cNvSpPr txBox="1"/>
          <p:nvPr/>
        </p:nvSpPr>
        <p:spPr>
          <a:xfrm>
            <a:off x="9767441" y="1262736"/>
            <a:ext cx="77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2ac5cb26fd_1_0"/>
          <p:cNvSpPr txBox="1"/>
          <p:nvPr/>
        </p:nvSpPr>
        <p:spPr>
          <a:xfrm>
            <a:off x="8363691" y="1717461"/>
            <a:ext cx="77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Train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7" name="Google Shape;107;g32ac5cb26fd_1_0"/>
          <p:cNvGraphicFramePr/>
          <p:nvPr/>
        </p:nvGraphicFramePr>
        <p:xfrm>
          <a:off x="3759200" y="375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{E30D8898-DCD1-4082-805B-E7C25149D035}</a:tableStyleId>
              </a:tblPr>
              <a:tblGrid>
                <a:gridCol w="1034475"/>
                <a:gridCol w="1237675"/>
                <a:gridCol w="1485300"/>
              </a:tblGrid>
              <a:tr h="7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 score</a:t>
                      </a:r>
                      <a:endParaRPr b="1" sz="110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 으로 학습</a:t>
                      </a:r>
                      <a:br>
                        <a:rPr b="1"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1"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단순 예측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 으로 학습 후</a:t>
                      </a:r>
                      <a:b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TENT 로 예측</a:t>
                      </a:r>
                      <a:endParaRPr b="1" sz="105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0.5976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0.6476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0.7021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0.7202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0.5177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0.6086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0.5830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0.6161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0.5877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0.6454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faee3f9e2_0_6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Tent: Fully test-time adaptation by entropy minimization 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2faee3f9e2_0_67"/>
          <p:cNvSpPr txBox="1"/>
          <p:nvPr/>
        </p:nvSpPr>
        <p:spPr>
          <a:xfrm>
            <a:off x="324725" y="814230"/>
            <a:ext cx="283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추가 분석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g32faee3f9e2_0_67"/>
          <p:cNvPicPr preferRelativeResize="0"/>
          <p:nvPr/>
        </p:nvPicPr>
        <p:blipFill rotWithShape="1">
          <a:blip r:embed="rId3">
            <a:alphaModFix/>
          </a:blip>
          <a:srcRect b="0" l="0" r="0" t="4752"/>
          <a:stretch/>
        </p:blipFill>
        <p:spPr>
          <a:xfrm>
            <a:off x="1689375" y="3806500"/>
            <a:ext cx="4515354" cy="29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2faee3f9e2_0_67"/>
          <p:cNvSpPr txBox="1"/>
          <p:nvPr/>
        </p:nvSpPr>
        <p:spPr>
          <a:xfrm>
            <a:off x="369725" y="1122025"/>
            <a:ext cx="7180500" cy="26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random </a:t>
            </a:r>
            <a:r>
              <a:rPr lang="en-US" sz="1200">
                <a:solidFill>
                  <a:schemeClr val="dk1"/>
                </a:solidFill>
              </a:rPr>
              <a:t>seed</a:t>
            </a:r>
            <a:r>
              <a:rPr lang="en-US" sz="1200">
                <a:solidFill>
                  <a:schemeClr val="dk1"/>
                </a:solidFill>
              </a:rPr>
              <a:t> 0 기준 실험 1회 </a:t>
            </a:r>
            <a:r>
              <a:rPr lang="en-US" sz="1200">
                <a:solidFill>
                  <a:schemeClr val="dk1"/>
                </a:solidFill>
              </a:rPr>
              <a:t>(</a:t>
            </a:r>
            <a:r>
              <a:rPr lang="en-US" sz="1200">
                <a:solidFill>
                  <a:schemeClr val="dk1"/>
                </a:solidFill>
              </a:rPr>
              <a:t>괄호 안은 각각 </a:t>
            </a:r>
            <a:r>
              <a:rPr lang="en-US" sz="1200">
                <a:solidFill>
                  <a:schemeClr val="dk1"/>
                </a:solidFill>
              </a:rPr>
              <a:t>repeat, brightness, cameraz, lcondition)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원래도 맞고 → TENT 로도 맞은 것 : 1,145개 (317,277,281,270)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원래 맞았는데 → TENT 로 틀린 것 : 49개 (10,15,11,13)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원래 틀렸는데 → TENT 로 맞은 것 : 107개 (14,29,26,38)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원래 틀렸고 → TENT 로도 틀린 것 : 299개 (59,79,82,79)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US" sz="1200">
                <a:solidFill>
                  <a:schemeClr val="dk1"/>
                </a:solidFill>
              </a:rPr>
              <a:t>원래 틀렸는데 → TENT 로 달라졌지만 또 틀린 것 : 56개 (6,20,11,19)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US" sz="1200">
                <a:solidFill>
                  <a:schemeClr val="dk1"/>
                </a:solidFill>
              </a:rPr>
              <a:t>원래 틀렸고 → TENT 로도 틀린 게 교정이 안된 것 : 243개 (53,59,71,60)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이 경우, 결함을 찾지 못하고 모두 ok 로 예측해버리는 비율이 높음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17" name="Google Shape;117;g32faee3f9e2_0_67"/>
          <p:cNvPicPr preferRelativeResize="0"/>
          <p:nvPr/>
        </p:nvPicPr>
        <p:blipFill rotWithShape="1">
          <a:blip r:embed="rId4">
            <a:alphaModFix/>
          </a:blip>
          <a:srcRect b="0" l="0" r="0" t="4752"/>
          <a:stretch/>
        </p:blipFill>
        <p:spPr>
          <a:xfrm>
            <a:off x="6567797" y="3806500"/>
            <a:ext cx="4515328" cy="29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2faee3f9e2_0_67"/>
          <p:cNvSpPr txBox="1"/>
          <p:nvPr/>
        </p:nvSpPr>
        <p:spPr>
          <a:xfrm>
            <a:off x="4415478" y="3522550"/>
            <a:ext cx="335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confidence box plot</a:t>
            </a:r>
            <a:endParaRPr/>
          </a:p>
        </p:txBody>
      </p:sp>
      <p:sp>
        <p:nvSpPr>
          <p:cNvPr id="119" name="Google Shape;119;g32faee3f9e2_0_67"/>
          <p:cNvSpPr txBox="1"/>
          <p:nvPr/>
        </p:nvSpPr>
        <p:spPr>
          <a:xfrm>
            <a:off x="2390850" y="6572575"/>
            <a:ext cx="34041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pre trained model 로 test 했을 때 confidence</a:t>
            </a:r>
            <a:endParaRPr/>
          </a:p>
        </p:txBody>
      </p:sp>
      <p:sp>
        <p:nvSpPr>
          <p:cNvPr id="120" name="Google Shape;120;g32faee3f9e2_0_67"/>
          <p:cNvSpPr txBox="1"/>
          <p:nvPr/>
        </p:nvSpPr>
        <p:spPr>
          <a:xfrm>
            <a:off x="7245975" y="6572575"/>
            <a:ext cx="34041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adaptation 후</a:t>
            </a:r>
            <a:r>
              <a:rPr lang="en-US" sz="1200">
                <a:solidFill>
                  <a:schemeClr val="dk1"/>
                </a:solidFill>
              </a:rPr>
              <a:t> test 했을 때 confidence</a:t>
            </a:r>
            <a:endParaRPr/>
          </a:p>
        </p:txBody>
      </p:sp>
      <p:sp>
        <p:nvSpPr>
          <p:cNvPr id="121" name="Google Shape;121;g32faee3f9e2_0_67"/>
          <p:cNvSpPr txBox="1"/>
          <p:nvPr/>
        </p:nvSpPr>
        <p:spPr>
          <a:xfrm>
            <a:off x="6096000" y="2106575"/>
            <a:ext cx="6099000" cy="138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원래 맞게 예측했지만 adaptation 후 틀리게 되는 역효과가 생기는 인스턴스들 존재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이러한 인스턴스들이 모든 경우 중 비교적 confidence 가 낮음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따라서 confidence 가 낮은 인스턴스를 배제하면 이런 역효과를 방지할 수 있지 않을까 생각…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하지만 표본이 49개라서 정확하지 않음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2" name="Google Shape;122;g32faee3f9e2_0_67"/>
          <p:cNvSpPr txBox="1"/>
          <p:nvPr/>
        </p:nvSpPr>
        <p:spPr>
          <a:xfrm>
            <a:off x="6344175" y="667975"/>
            <a:ext cx="1929600" cy="1316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'repeat_0': 3,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'repeat_1': 2,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'repeat_3': 1,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'repeat_4': 2,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'brightness_1': 1,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'brightness_3': 2,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'brightness_4': 15,</a:t>
            </a:r>
            <a:endParaRPr/>
          </a:p>
        </p:txBody>
      </p:sp>
      <p:sp>
        <p:nvSpPr>
          <p:cNvPr id="123" name="Google Shape;123;g32faee3f9e2_0_67"/>
          <p:cNvSpPr txBox="1"/>
          <p:nvPr/>
        </p:nvSpPr>
        <p:spPr>
          <a:xfrm>
            <a:off x="8273775" y="344875"/>
            <a:ext cx="1929600" cy="163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'cameraz_1': 4,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'cameraz_2': 1,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'cameraz_3': 4,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'cameraz_4': 2,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'lcondition_0': 4,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'lcondition_1': 3,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'lcondition_2': 3,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'lcondition_3': 1,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'lcondition_4': 3</a:t>
            </a:r>
            <a:endParaRPr sz="105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Tent: Fully test-time adaptation by entropy minimization 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324725" y="1509825"/>
            <a:ext cx="10786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TENT 방식은 모든 batch test data 를 기반으로 모델 업데이트를 수행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이는 엔트로피가 높고, 해당 test domain 의 특징과는 거리가 먼 저품질의 데이터 또한 모델 업데이트에 사용됨으로써 모델 수렴에 방해가 될 수 있다는 단점 존재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따라서 entropy 가 일정 threshold 를 충족하는 데이터만을 선별하여 모델 업데이트에 사용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1) 배치 내에서 엔트로피가 상위 30%, 50% 인 데이터만을 사용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2) 배치 내에서 엔트로피가 0.3 이하인 데이터만을 사용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324725" y="1202026"/>
            <a:ext cx="4579784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Entropy Threshold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2" name="Google Shape;132;p2"/>
          <p:cNvGraphicFramePr/>
          <p:nvPr/>
        </p:nvGraphicFramePr>
        <p:xfrm>
          <a:off x="2067299" y="324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{E30D8898-DCD1-4082-805B-E7C25149D035}</a:tableStyleId>
              </a:tblPr>
              <a:tblGrid>
                <a:gridCol w="1145400"/>
                <a:gridCol w="1656800"/>
                <a:gridCol w="1526400"/>
                <a:gridCol w="1526400"/>
                <a:gridCol w="1526400"/>
                <a:gridCol w="1526400"/>
              </a:tblGrid>
              <a:tr h="7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 score</a:t>
                      </a:r>
                      <a:endParaRPr b="1" sz="110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모든 test data 를 이용하여 업데이트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Entropy 상위 30%</a:t>
                      </a:r>
                      <a:br>
                        <a:rPr lang="en-US" sz="105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05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데이터로만 업데이트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Entropy 상위 50%</a:t>
                      </a:r>
                      <a:b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데이터로만 업데이트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Entropy 0.3 이하인</a:t>
                      </a:r>
                      <a:b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데이터로만 업데이트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0.3 이하인 </a:t>
                      </a:r>
                      <a:b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개수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(업데이트에 사용된 수)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0.6476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0.6231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0.6452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0.6456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(1135/1600)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0.7202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0.7245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0.7073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0.7231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(309/400)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0.6086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0.6100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0.6114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0.6045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(267/400)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0.6161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0.6218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0.6230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0.6110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(286/400)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0.6454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0.6375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0.6392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0.6437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(273/400)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2"/>
          <p:cNvSpPr txBox="1"/>
          <p:nvPr/>
        </p:nvSpPr>
        <p:spPr>
          <a:xfrm>
            <a:off x="324725" y="5956950"/>
            <a:ext cx="1108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Entropy 상위 n% 데이터만 사용했을 때, brightness 만 소폭 증가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 의 경우 변형 강도가 강해질 경우 결함의 뚜렷함 정도에 영향이 크게 가기 때문에 entropy 가 높은 데이터를 배제하는 것이 조금 도움되지 않았을까 추측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기타 시도해본 것들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324725" y="1018775"/>
            <a:ext cx="9039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student model 의 output 과 teacher model 의 output 간 consistency loss 사용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단 student model 은 배치 데이터에 맞추어 업데이트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teacher model 은 업데이트 된 student model + 이전 단계 teacher model 간 EMA 방식으로 업데이트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test data 의 confidence 가 threshold 를 넘으면 teacher_model(input x) 를 그대로 사용,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넘지 않으면 Test Time augmentation 을 진행하여 평균값을 pseudo label 로 사용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●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실험에서는 기존 Test Time augmentation 때 사용했던 augmentation policy 사용 =&gt; 그럼에도 성능이 매우 좋지 않았음…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324725" y="710978"/>
            <a:ext cx="457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Consistency Loss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2" name="Google Shape;142;p3"/>
          <p:cNvGraphicFramePr/>
          <p:nvPr/>
        </p:nvGraphicFramePr>
        <p:xfrm>
          <a:off x="6844175" y="41155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{E30D8898-DCD1-4082-805B-E7C25149D035}</a:tableStyleId>
              </a:tblPr>
              <a:tblGrid>
                <a:gridCol w="1090700"/>
                <a:gridCol w="1577675"/>
                <a:gridCol w="1453500"/>
              </a:tblGrid>
              <a:tr h="7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 score</a:t>
                      </a:r>
                      <a:endParaRPr b="1" sz="110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모든 test data 를 이용하여 업데이트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2D entropy 를 </a:t>
                      </a:r>
                      <a:b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0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목적함수로 사용하여 업데이트</a:t>
                      </a:r>
                      <a:endParaRPr b="0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0.6476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0.7202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0.7178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0.6086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0.6014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0.6161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0.6161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0.6454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0.6377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" name="Google Shape;143;p3"/>
          <p:cNvSpPr txBox="1"/>
          <p:nvPr/>
        </p:nvSpPr>
        <p:spPr>
          <a:xfrm>
            <a:off x="324725" y="3232425"/>
            <a:ext cx="6367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 데이터에서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의 특성을 살려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불확실성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을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측정하는 방법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변화 시도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이미지를 픽셀 값들의 확률 분포로 간주하고 엔트로피 계산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1개의 인풋에 대해 (H,W) 형태의 아웃풋로 나오고, 각 픽셀값들을 평균하여 TENT에 사용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324725" y="2924616"/>
            <a:ext cx="457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2D Entropy(Shannon entropy)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6700" y="130725"/>
            <a:ext cx="2962700" cy="285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"/>
          <p:cNvSpPr txBox="1"/>
          <p:nvPr/>
        </p:nvSpPr>
        <p:spPr>
          <a:xfrm>
            <a:off x="324725" y="4748425"/>
            <a:ext cx="6092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파라미터 기울기 변화를 통해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민감도를 측정하는 행렬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즉 각 파라미터가 모델 예측에 얼마나 기여하는지, 얼마나 중요한지 측정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주로 continual learning 에서 fisher information 값이 큰 모델 파라미터를 보존하여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catastrophic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forgetting 방지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batchnorm 파라미터만 업데이트 하는 방식을 보완하기 위해 이를 사용해보려고 했으나… 값이 너무 낮고 파라미터별로 차이가 크게 없었음 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저하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324725" y="4440617"/>
            <a:ext cx="457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Fisher matrix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4187" y="2856825"/>
            <a:ext cx="2232938" cy="106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73d43535c_0_103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추후 발전 방향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273d43535c_0_103"/>
          <p:cNvSpPr txBox="1"/>
          <p:nvPr/>
        </p:nvSpPr>
        <p:spPr>
          <a:xfrm>
            <a:off x="324725" y="4549357"/>
            <a:ext cx="11944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후속 연구들에서 TENT 의 문제점으로, 단일 target domain 에서 유용하고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multiple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distribution shift 상황의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경우 학습이 어려울 수 있다고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언급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target domain 에 대해 한 번에 test adaptation 을 진행해보았을 때, 예상과 달리 성능이 더 좋았음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더 다양한 분포의 데이터를 보고 업데이트를 진행해서 이와 같은 결과가 나올 가능성이 있다고 추측…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6" name="Google Shape;156;g3273d43535c_0_103"/>
          <p:cNvSpPr txBox="1"/>
          <p:nvPr/>
        </p:nvSpPr>
        <p:spPr>
          <a:xfrm>
            <a:off x="324725" y="1186552"/>
            <a:ext cx="7858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test set 을 활용하는 대신 pseudo label 의 confidence 를 이용하여 threshold 기준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high-certainty / low-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certainty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나누어 학습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소수 클래스가 무시됨을 방지하기 위해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클래스별 confidence threshold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계산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high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certainty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: test time augmentation 된 것들이 student model 의 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pseudo label 과 일치하도록 학습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low certainty : 일정값 (논문에서는 0.05) 보다 confidence 가 낮은 클래스에 대해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 인스턴스는 해당 클래스에 속하지 않을 확률이 높다고 </a:t>
            </a:r>
            <a:r>
              <a:rPr b="1"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negative learning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진행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7" name="Google Shape;157;g3273d43535c_0_103"/>
          <p:cNvSpPr txBox="1"/>
          <p:nvPr/>
        </p:nvSpPr>
        <p:spPr>
          <a:xfrm>
            <a:off x="324725" y="878750"/>
            <a:ext cx="85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Continual Test time domain adaptation via dynamic sample selection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g3273d43535c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4876" y="135750"/>
            <a:ext cx="5333774" cy="357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273d43535c_0_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950" y="3229775"/>
            <a:ext cx="2595000" cy="5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273d43535c_0_103"/>
          <p:cNvSpPr txBox="1"/>
          <p:nvPr/>
        </p:nvSpPr>
        <p:spPr>
          <a:xfrm>
            <a:off x="659091" y="6191061"/>
            <a:ext cx="717900" cy="369300"/>
          </a:xfrm>
          <a:prstGeom prst="rect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273d43535c_0_103"/>
          <p:cNvSpPr txBox="1"/>
          <p:nvPr/>
        </p:nvSpPr>
        <p:spPr>
          <a:xfrm>
            <a:off x="1803969" y="6194850"/>
            <a:ext cx="3481200" cy="369300"/>
          </a:xfrm>
          <a:prstGeom prst="rect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+ brightness +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 + lcondition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273d43535c_0_103"/>
          <p:cNvSpPr txBox="1"/>
          <p:nvPr/>
        </p:nvSpPr>
        <p:spPr>
          <a:xfrm>
            <a:off x="1251191" y="6194861"/>
            <a:ext cx="65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273d43535c_0_103"/>
          <p:cNvSpPr txBox="1"/>
          <p:nvPr/>
        </p:nvSpPr>
        <p:spPr>
          <a:xfrm>
            <a:off x="3158616" y="5817961"/>
            <a:ext cx="77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273d43535c_0_103"/>
          <p:cNvSpPr txBox="1"/>
          <p:nvPr/>
        </p:nvSpPr>
        <p:spPr>
          <a:xfrm>
            <a:off x="582891" y="5817961"/>
            <a:ext cx="77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Train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273d43535c_0_103"/>
          <p:cNvSpPr txBox="1"/>
          <p:nvPr/>
        </p:nvSpPr>
        <p:spPr>
          <a:xfrm>
            <a:off x="324725" y="4241563"/>
            <a:ext cx="85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latin typeface="Noto Sans KR"/>
                <a:ea typeface="Noto Sans KR"/>
                <a:cs typeface="Noto Sans KR"/>
                <a:sym typeface="Noto Sans KR"/>
              </a:rPr>
              <a:t>+) Multiple distribution shift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6" name="Google Shape;166;g3273d43535c_0_103"/>
          <p:cNvGraphicFramePr/>
          <p:nvPr/>
        </p:nvGraphicFramePr>
        <p:xfrm>
          <a:off x="7569100" y="4041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{E30D8898-DCD1-4082-805B-E7C25149D035}</a:tableStyleId>
              </a:tblPr>
              <a:tblGrid>
                <a:gridCol w="1092300"/>
                <a:gridCol w="1568350"/>
                <a:gridCol w="1568350"/>
              </a:tblGrid>
              <a:tr h="7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 score</a:t>
                      </a:r>
                      <a:endParaRPr b="1" sz="110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TENT</a:t>
                      </a:r>
                      <a:endParaRPr b="1" sz="105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multi domain</a:t>
                      </a:r>
                      <a:endParaRPr b="1" sz="105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0.6476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0.6680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0.7202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0.7448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0.6086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0.6210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0.6161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0.6297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0.6454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0.6577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