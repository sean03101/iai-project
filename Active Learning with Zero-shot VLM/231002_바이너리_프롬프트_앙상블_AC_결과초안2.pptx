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gkih68nWVowinYZdOlvj7qfF9X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CEAF314-4197-46A6-89DB-D8AE4A2E7E52}">
  <a:tblStyle styleId="{1CEAF314-4197-46A6-89DB-D8AE4A2E7E52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fill>
          <a:solidFill>
            <a:srgbClr val="D0DEE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0DEEF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7dcbadc0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27dcbadc0c7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3" name="Google Shape;33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 txBox="1"/>
          <p:nvPr/>
        </p:nvSpPr>
        <p:spPr>
          <a:xfrm>
            <a:off x="490452" y="257695"/>
            <a:ext cx="11233269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MVTec 템플릿 기반 앙상블(binary)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"/>
          <p:cNvSpPr txBox="1"/>
          <p:nvPr/>
        </p:nvSpPr>
        <p:spPr>
          <a:xfrm>
            <a:off x="255450" y="731675"/>
            <a:ext cx="5176500" cy="59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WinCLIP에서 사용된 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-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state level(normal)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"[o]"  "flawless [o]"  "perfect [o]"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"unblemished [o]" "[o] without flaw" 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"[o] without defect" 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"[o] without damage"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434343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“good [o]”  “normal [o]”</a:t>
            </a:r>
            <a:endParaRPr b="0" i="0" sz="1800" u="none" cap="none" strike="noStrike">
              <a:solidFill>
                <a:srgbClr val="434343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-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state level(anomaly)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"damaged [o]"  "[o] with flaw"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"[o] with defect"  "[o] with damage"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434343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+{불량 class} [o]”</a:t>
            </a:r>
            <a:endParaRPr b="0" i="0" sz="1800" u="none" cap="none" strike="noStrike">
              <a:solidFill>
                <a:srgbClr val="434343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-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프롬프트 구조 : “a” + state level + “photo of a “ + object 이름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프롬프트들을 모델에 넣어 얻은 Text feature 들을 평균(앙상블) 한 뒤, cosine 유사도를 구하여 분류 진행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앙상블을 통해 평균적으로 </a:t>
            </a: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약 0.2 성능 향상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모든 object의 auroc가 0.5 이상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80" name="Google Shape;80;p2"/>
          <p:cNvGraphicFramePr/>
          <p:nvPr/>
        </p:nvGraphicFramePr>
        <p:xfrm>
          <a:off x="5550407" y="26120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{1CEAF314-4197-46A6-89DB-D8AE4A2E7E52}</a:tableStyleId>
              </a:tblPr>
              <a:tblGrid>
                <a:gridCol w="1077525"/>
                <a:gridCol w="2013875"/>
                <a:gridCol w="1928650"/>
                <a:gridCol w="1527050"/>
              </a:tblGrid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class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accuracy of zero-shot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Average AUROC of zero-shot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auroc증가세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bottle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21.1207%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0.9534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0.5848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cable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23.9865%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0.6922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0.0884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capsule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30.5755%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0.7035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0.1474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rgbClr val="FF0000"/>
                          </a:solidFill>
                        </a:rPr>
                        <a:t>carpet</a:t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35.5556%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0.9624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0.1058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rgbClr val="FF0000"/>
                          </a:solidFill>
                        </a:rPr>
                        <a:t>grid</a:t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90.7407%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0.8536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0.2123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hazelnut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14.8241%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0.8405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0.3405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rgbClr val="FF0000"/>
                          </a:solidFill>
                        </a:rPr>
                        <a:t>leather</a:t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85.6655%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0.2466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metal_nut</a:t>
                      </a:r>
                      <a:endParaRPr b="0" i="0" sz="1400" u="none" cap="none" strike="noStrik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27.4436%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0.6146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0.0069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pill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31.9767%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0.5924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0.1657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screw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24.6073%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0.5846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0.0846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rgbClr val="FF0000"/>
                          </a:solidFill>
                        </a:rPr>
                        <a:t>tile</a:t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23.6364%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0.9491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0.0303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toothbrush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29.6296%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0.7874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0.3466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transistor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12.8%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0.5822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0.1455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rgbClr val="FF0000"/>
                          </a:solidFill>
                        </a:rPr>
                        <a:t>wood</a:t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90.6977%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0.7706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0.1706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zipper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29.5455%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0.7440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0.2440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평균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0.7754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0.1947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/>
        </p:nvSpPr>
        <p:spPr>
          <a:xfrm>
            <a:off x="490452" y="257695"/>
            <a:ext cx="11233269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MVTec 템플릿 앙상블(binary) 기반 A</a:t>
            </a:r>
            <a:r>
              <a:rPr b="1"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0582" y="988540"/>
            <a:ext cx="6125425" cy="5231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/>
        </p:nvSpPr>
        <p:spPr>
          <a:xfrm>
            <a:off x="490452" y="257695"/>
            <a:ext cx="11233269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MVTec 템플릿 앙상블(binary) 기반 kno</a:t>
            </a:r>
            <a:r>
              <a:rPr b="1"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wledge </a:t>
            </a:r>
            <a:r>
              <a:rPr b="1"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distillation</a:t>
            </a:r>
            <a:r>
              <a:rPr b="1"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initial pool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255450" y="731675"/>
            <a:ext cx="49590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세팅 정보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Teacher model : CLIP / Student model : ResNet18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MVTec Object : Leather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Optimizer : Adam(1e-4), epoch :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불확실성 측정 방법 : temperature(t=5) scaling 후 least confidence수행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지식 전이 결과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학습에 따라 student가 더 좋은 성능을 보이는 경우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(일반 글씨)</a:t>
            </a: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혹은 teacher에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떨어지는 경우(진한 글씨 밑줄) 존재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Student 모델 학습 시 모든 object에서 통일된 하이퍼파라미터로 했기 때문에 student 모델 결과가 불안정 한 것으로 추측 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93" name="Google Shape;93;p16"/>
          <p:cNvGraphicFramePr/>
          <p:nvPr/>
        </p:nvGraphicFramePr>
        <p:xfrm>
          <a:off x="5288691" y="7316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{1CEAF314-4197-46A6-89DB-D8AE4A2E7E52}</a:tableStyleId>
              </a:tblPr>
              <a:tblGrid>
                <a:gridCol w="1087400"/>
                <a:gridCol w="1404550"/>
                <a:gridCol w="1404550"/>
                <a:gridCol w="1404550"/>
                <a:gridCol w="1404550"/>
              </a:tblGrid>
              <a:tr h="35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>
                          <a:solidFill>
                            <a:srgbClr val="FF0000"/>
                          </a:solidFill>
                        </a:rPr>
                        <a:t>teacher model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>
                          <a:solidFill>
                            <a:srgbClr val="FF0000"/>
                          </a:solidFill>
                        </a:rPr>
                        <a:t>student model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695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class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accuracy of zero-shot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Average AUROC of zero-shot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accuracy of zero-shot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Average AUROC of zero-shot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bottle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21.1207%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0.9534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23.3333%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0.9720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cable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23.9865%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0.6922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26.9231%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400" u="sng" cap="none" strike="noStrike"/>
                        <a:t>0.6232</a:t>
                      </a:r>
                      <a:endParaRPr sz="1400" u="sng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capsule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30.5755%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0.7035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32.8767%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0.7551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carpet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35.5556%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0.9624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24.3902%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0.9702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grid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90.7407%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0.8536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81.9444%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40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0.7462</a:t>
                      </a:r>
                      <a:endParaRPr b="1" i="0" sz="1400" u="sng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hazelnut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14.8241%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0.8405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15.5340%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40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0.7651</a:t>
                      </a:r>
                      <a:endParaRPr b="1" i="0" sz="1400" u="sng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leather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85.6655%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84.2105%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metal_nut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27.4436%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0.6146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28.9855%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0.6929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pill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31.9767%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0.5924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34.4444%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0.6801</a:t>
                      </a:r>
                      <a:endParaRPr i="0" sz="1400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screw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24.6073%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0.5846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23.4694%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0.6621</a:t>
                      </a:r>
                      <a:endParaRPr b="1" i="0" sz="1400" u="sng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tile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23.6364%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0.9491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26.3889%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40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0.7249</a:t>
                      </a:r>
                      <a:endParaRPr b="1" i="0" sz="1400" u="sng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toothbrush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29.6296%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0.7874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28.5714%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40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0.5333</a:t>
                      </a:r>
                      <a:endParaRPr b="1" i="0" sz="1400" u="sng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transistor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12.8%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0.5822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11.1111%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0.6477</a:t>
                      </a:r>
                      <a:endParaRPr i="0" sz="1400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wood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90.6977%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0.7706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91.1764%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0.9444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zipper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29.5455%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0.7440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33.7349%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40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0.7192</a:t>
                      </a:r>
                      <a:endParaRPr b="1" i="0" sz="1400" u="sng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평균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0.7754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710" y="1455397"/>
            <a:ext cx="4597366" cy="363082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490452" y="257695"/>
            <a:ext cx="11233269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MVTec 템플릿 앙상블(binary) 기반 </a:t>
            </a:r>
            <a:r>
              <a:rPr b="1"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AL</a:t>
            </a: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– Wood(No Augmentation)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255450" y="731675"/>
            <a:ext cx="7344600" cy="59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세팅 정보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Object : wood, 불확실성 측정 방법 : least confidence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Optimizer : Adam(1e-4), 배치사이즈 : 64, epoch : 25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 iteration마다 3개의 이미지 추가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Temperature : 5, alpha : 0.2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증강방법 : X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</a:t>
            </a: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결과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실험 결과 오른쪽 그림과 같이 7 iteration에서 auroc:0.9630으로 상당히 좋은 결과를 보인 뒤, 16 iteration에서 auroc:0.9960로 1에 가까운 성능을 보이며 수렴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성능이 급격하게 오른 7 iteration에서 학습한 데이터셋은 정상 6장, 불량 22장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수렴 단계인 16 iteration에서 학습한 데이터셋은 정상 15장, 불량 40장으로, 불량 인스턴스가 많은 어느 정도의 불균형 데이터셋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8554453" y="5175649"/>
            <a:ext cx="3060984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active learning을 수행할 때, 모델이 </a:t>
            </a:r>
            <a:r>
              <a:rPr b="0" i="0" lang="ko-KR" sz="18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클래스에 치우치지 않고 </a:t>
            </a: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골고루 인스턴스를 추출하는 것을 알 수 있음 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 txBox="1"/>
          <p:nvPr/>
        </p:nvSpPr>
        <p:spPr>
          <a:xfrm>
            <a:off x="490452" y="257695"/>
            <a:ext cx="11233269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MVTec 템플릿 앙상블(binary) 기반 AL – Wood(No Augmentation)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 txBox="1"/>
          <p:nvPr/>
        </p:nvSpPr>
        <p:spPr>
          <a:xfrm>
            <a:off x="255450" y="731675"/>
            <a:ext cx="67482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output 분석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MVTec Object : wood, Model : 10 iteration에서 학습된 모델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Acc:0.911765, f1:0.7272727272727273, auroc0.974868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반복 실험 결과, 앞선 실험과 다르게 초기 iteration에서도 매운 좋은 성능을 보이고 있음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output의 prob값을 temperature scaling 결과, threshold가 0.5 부근에서 형성되는 것을 알 수 있으며, 모델의 overconfidence한 경향이 줄어들었음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08" name="Google Shape;108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9650" y="731575"/>
            <a:ext cx="4785825" cy="378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48475" y="4699000"/>
            <a:ext cx="2715450" cy="215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83125" y="4724550"/>
            <a:ext cx="859525" cy="21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5"/>
          <p:cNvSpPr txBox="1"/>
          <p:nvPr/>
        </p:nvSpPr>
        <p:spPr>
          <a:xfrm>
            <a:off x="8334525" y="4403850"/>
            <a:ext cx="893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output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" name="Google Shape;112;p5"/>
          <p:cNvSpPr txBox="1"/>
          <p:nvPr/>
        </p:nvSpPr>
        <p:spPr>
          <a:xfrm>
            <a:off x="10559100" y="4403850"/>
            <a:ext cx="893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label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" name="Google Shape;113;p5"/>
          <p:cNvSpPr txBox="1"/>
          <p:nvPr/>
        </p:nvSpPr>
        <p:spPr>
          <a:xfrm>
            <a:off x="184575" y="4788975"/>
            <a:ext cx="7081500" cy="10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※Active learning 실험 결과는 </a:t>
            </a:r>
            <a:r>
              <a:rPr lang="ko-KR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매우 잘 나온다고 판단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되나, 성능에 영향을 끼칠 수 있는 변수들(초기 student 모델 학습 결과, 그로 인해 만들어진 initial pool, active learning 초기 모델의 학습 결과, 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초기 모델이 뽑은 instance 등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)이 너무 많아 </a:t>
            </a:r>
            <a:r>
              <a:rPr lang="ko-KR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실험 결과의 무작위성이 너무 심하다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 생각</a:t>
            </a: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710" y="1455397"/>
            <a:ext cx="4597366" cy="3630827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7"/>
          <p:cNvSpPr txBox="1"/>
          <p:nvPr/>
        </p:nvSpPr>
        <p:spPr>
          <a:xfrm>
            <a:off x="490452" y="257695"/>
            <a:ext cx="11233269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MVTec 템플릿 앙상블(binary) 기반 </a:t>
            </a:r>
            <a:r>
              <a:rPr b="1"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AL</a:t>
            </a: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– Wood(AutoAugmentation)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255450" y="731675"/>
            <a:ext cx="7158600" cy="53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세팅 정보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MVTec Object : wood, 불확실성 측정 방법 : least confidence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Optimizer : Adam(1e-4), 배치사이즈 : 64, epoch : 25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 iteration마다 3개의 이미지 추가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Temperature : 5, alpha : 0.2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증강방법 : AutoAugmentation(ImagNet policy) 사용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</a:t>
            </a: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결과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증강 방법 도입 결과 처음부터 거의 auroc가 1에 가까운 매우 좋은 결과를 보이고 있음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앞선 실험과 다르게 F1및 Acc 또한 좋은 성능을 보이고 있음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다만 추가 iteration을 돌수록 F1 및 Acc 관련 지표에서 상당히 불안정하게 active learning이 진행되는 사실을 알 수 있음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709" y="1455397"/>
            <a:ext cx="4597367" cy="3630827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8"/>
          <p:cNvSpPr txBox="1"/>
          <p:nvPr/>
        </p:nvSpPr>
        <p:spPr>
          <a:xfrm>
            <a:off x="490452" y="257695"/>
            <a:ext cx="11233269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MVTec 템플릿 앙상블(binary) 기반 </a:t>
            </a:r>
            <a:r>
              <a:rPr b="1"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AL</a:t>
            </a: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– Metalnut(No Augmentation)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8"/>
          <p:cNvSpPr txBox="1"/>
          <p:nvPr/>
        </p:nvSpPr>
        <p:spPr>
          <a:xfrm>
            <a:off x="255450" y="731675"/>
            <a:ext cx="7158604" cy="64632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세팅 정보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MVTec Object : Metalnut, 불확실성 측정 방법 : least confidence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Optimizer : Adam(1e-4), 배치사이즈 : 64, epoch : 25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 iteration마다 3개의 이미지 추가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Temperature : 5, alpha : 0.2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증강방법 : X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AC 결과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오른쪽 그림과 같이 15 iteration에서 auroc : 0.9265로 높은 성능을 보인 뒤, 58 iteration에서 auroc : 0.9949 로 1에 가까운 성능을 보이며 수렴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실험 결과 ‘wood’와 다르게 상당히 늦게 수렴하는 모습을 보이고 있음 / ‘wood’ 실험과 같이 올라가다가, 중간에 auroc 성능이 파동처럼 진폭을 보인 뒤, 수렴하는 모습을 보이고 있음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255450" y="6137194"/>
            <a:ext cx="1146827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동일한 환경 조건임에도 active learning </a:t>
            </a:r>
            <a:r>
              <a:rPr b="0" i="0" lang="ko-KR" sz="18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실험을 진행할 때마다 실험 결과가 많이 달라지는 </a:t>
            </a: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경우 존재(Ex : 10iteration에서 auroc0.9086, f1:0.7168 의 성능을 보이며 빠르게 우상향 하는 경우도 존재)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710" y="1455397"/>
            <a:ext cx="4597366" cy="3630827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0"/>
          <p:cNvSpPr txBox="1"/>
          <p:nvPr/>
        </p:nvSpPr>
        <p:spPr>
          <a:xfrm>
            <a:off x="490452" y="257695"/>
            <a:ext cx="11233269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MVTec 템플릿 앙상블(binary) 기반 </a:t>
            </a:r>
            <a:r>
              <a:rPr b="1"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AL</a:t>
            </a: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– Metalnut(AutoAugmentation)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255450" y="731675"/>
            <a:ext cx="71586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세팅 정보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MVTec Object : Metalnut, 불확실성 측정 방법 : least confidence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Optimizer : Adam(1e-4), 배치사이즈 : 64, epoch : 25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 iteration마다 3개의 이미지 추가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Temperature : 5, alpha : 0.2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증강방법 : AutoAugmentation(ImagNet policy) 사용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</a:t>
            </a: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결과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실험 결과 오른쪽 그림과 같이 5iteration에서 auroc:0.8696으로 상당히 좋은 결과를 보인 뒤, 19iteration에서 0.9566 25iteration에서 auroc:0.9855로 1에 가까운 성능을 보이며 수렴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앞선 실험과 다르게 F1및 Acc 또한 좋은 성능을 보이고 있지만 수렴하지 못하고 상당히 큰 진폭을 보이고 있음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255450" y="6096004"/>
            <a:ext cx="114682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</a:t>
            </a: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증강 방법이 active learning에서 수렴 속도를 크게 향상 시키는 것을 알 수 있음</a:t>
            </a:r>
            <a:endParaRPr b="0" i="1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7dcbadc0c7_0_0"/>
          <p:cNvSpPr txBox="1"/>
          <p:nvPr/>
        </p:nvSpPr>
        <p:spPr>
          <a:xfrm>
            <a:off x="490452" y="257695"/>
            <a:ext cx="1123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ko-KR" sz="3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질문 사항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27dcbadc0c7_0_0"/>
          <p:cNvSpPr txBox="1"/>
          <p:nvPr/>
        </p:nvSpPr>
        <p:spPr>
          <a:xfrm>
            <a:off x="744000" y="1036475"/>
            <a:ext cx="112332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-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MVTec 데이터셋의 object에 따라 initial pool 성능이 크게 다른데 이를 해결하려면 어떻게 하는 것이 좋을까요?(Object에 따라 하이퍼파라미터를 조정하려고 하는데 괜찮은 방법인가요?)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-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nitial student를 구성할 때, teacher 보다 좋은 경우가 상당히 많은데 그대로 진행해도 괜찮을까요?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-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Active learning 초반에 0.9 이상의 좋은 성능을 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보이다가 iteration이 진행되면서 성능이</a:t>
            </a: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떨어지는 경우가 많이 존재하는데, 이러한 불안정성을 해결할 수 있는 방법이 있을까요?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-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반복 실험 결과, 초기 initial 모델 학습에 따른 초기 pool 구성 및 매 iteration마다 학습된 모델의 랜덤성으로 인해 상당히 다른 모습을 보이고 있는데 이러한 민감성을 줄일 수 있는 방법은 주로 무엇이 있나요? 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2023-03-23T02:52:33Z</dcterms:created>
  <dc:creator>user</dc:creator>
</cp:coreProperties>
</file>