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No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xGKuMAQDYZg6EmIE2v85BWmBW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A16D01-EE64-475A-B8EC-03B6BE8BFEB9}">
  <a:tblStyle styleId="{B7A16D01-EE64-475A-B8EC-03B6BE8BFE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Noto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o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d60d6fe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27d60d6fef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d60d6fef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27d60d6fefa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dcbadc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27dcbadc0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otion.so/8682c5b5dcdd44a29f6de02b2c535bc9?pvs=4#4f91cba7087d485dbc6b9e8a71035f68" TargetMode="External"/><Relationship Id="rId4" Type="http://schemas.openxmlformats.org/officeDocument/2006/relationships/hyperlink" Target="https://www.notion.so/8682c5b5dcdd44a29f6de02b2c535bc9?pvs=4#4f91cba7087d485dbc6b9e8a71035f6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otion.so/8682c5b5dcdd44a29f6de02b2c535bc9?pvs=4#4f91cba7087d485dbc6b9e8a71035f6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ata.mendeley.com/datasets/5y9wdsg2zt/2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abs/2308.15366" TargetMode="External"/><Relationship Id="rId4" Type="http://schemas.openxmlformats.org/officeDocument/2006/relationships/hyperlink" Target="https://arxiv.org/abs/2308.15939" TargetMode="External"/><Relationship Id="rId5" Type="http://schemas.openxmlformats.org/officeDocument/2006/relationships/hyperlink" Target="https://arxiv.org/abs/2308.11119" TargetMode="External"/><Relationship Id="rId6" Type="http://schemas.openxmlformats.org/officeDocument/2006/relationships/hyperlink" Target="https://arxiv.org/abs/2305.17382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60d6fefa_0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 기반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7d60d6fefa_0_0"/>
          <p:cNvSpPr txBox="1"/>
          <p:nvPr/>
        </p:nvSpPr>
        <p:spPr>
          <a:xfrm>
            <a:off x="743989" y="1036475"/>
            <a:ext cx="31788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 형식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= ["a normal photo of a " + item + " " + object_name if item == "good" else "a abnormal photo of a " + item + " " + object_name for item in object_class_list]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 accuracy of zero-shot: 5.527638190954774%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 average AUROC of zero-shot: 0.5645053870919683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0" name="Google Shape;80;g27d60d6fefa_0_0"/>
          <p:cNvGraphicFramePr/>
          <p:nvPr/>
        </p:nvGraphicFramePr>
        <p:xfrm>
          <a:off x="5020225" y="4621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139800"/>
                <a:gridCol w="2132450"/>
                <a:gridCol w="3292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rgbClr val="FF0000"/>
                          </a:solidFill>
                        </a:rPr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9.051724137931034%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0.6169541027637262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4.391891891891892%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0.38780673797480936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20.503597122302157%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0.47900531675203567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5.527638190954774%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0.5196480223556996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metal 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8.270676691729323%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0.42408391448086036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2.0348837209302326%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0.41049267773909465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32.98429319371728%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0.4708330021928876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29.62962962962963%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0.40358293075684387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11.6%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0.3772028515375984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5.51948051948052%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0.4188249687349971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5.079365079365079%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0.4786323687899049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2.962962962962963%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0.35303390644394533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5.802047781569966%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0.5862766439264784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10.909090909090908%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0.6720437520817484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5.038759689922481%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0.48576540022771425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d60d6fefa_0_8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지식 기반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7d60d6fefa_0_81"/>
          <p:cNvSpPr txBox="1"/>
          <p:nvPr/>
        </p:nvSpPr>
        <p:spPr>
          <a:xfrm>
            <a:off x="743989" y="1036475"/>
            <a:ext cx="3178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형식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class의 defect에 대해서 지식을 활용해 상세하게 불량 defect 묘사 프롬프트 사용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단순 템플릿 기반보다 좋은 성능을 보이고 있음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 accuracy of zero-shot: 5.527638190954774%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Grand average AUROC of zero-shot: 0.5645053870919683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7" name="Google Shape;87;g27d60d6fefa_0_81"/>
          <p:cNvGraphicFramePr/>
          <p:nvPr/>
        </p:nvGraphicFramePr>
        <p:xfrm>
          <a:off x="5029950" y="458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135050"/>
                <a:gridCol w="2254500"/>
                <a:gridCol w="2743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accuracy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14.655172413793103%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0.6514951730031854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4.391891891891892%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0.341830522065629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5.755395683453237%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0.4463156896305119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6.28140703517588%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0.6688694170494671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 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26.69172932330827%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0.6146358426617624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4.069767441860465%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0.37731562032541605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4.973821989528796%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0.41474166571967797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44.44444444444444%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0.42264957264957265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0.3166156621928313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3.896103896103896%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0.3693560741254018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51.111111111111114%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0.5116473793700986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2.962962962962963%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0.4066241945349518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34.47098976109215%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0.6597658416465001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8.363636363636363%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0.5448426891578468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6.589147286821706%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0.5180719134783837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템플릿 기반 앙상블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4000" y="1036475"/>
            <a:ext cx="45000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</a:t>
            </a:r>
            <a:endParaRPr b="0" i="0" sz="1800" u="sng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https://www.notion.so/8682c5b5dcdd44a29f6de02b2c535bc9?pvs=4#4f91cba7087d485dbc6b9e8a71035f68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feature 들을 평균(앙상블) 한 뒤,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유사도 구함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Acc는 바뀌지 않지만 AUROC값은 테스트 할때마다 변함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통해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향상 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0.4 후반에서 0.5 초반의 auroc 값은 오차 범위 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즉, 랜덤 분류보다 제로샷 분류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성능이 높은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object는 9~12개 정도로 볼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4" name="Google Shape;94;p1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033275"/>
                <a:gridCol w="1737350"/>
                <a:gridCol w="2249425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of zero-shot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AUROC 향상 정도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FF0000"/>
                          </a:solidFill>
                        </a:rPr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6.8966%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0.7542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+0.1373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4.0541%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0.4233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+0.0355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66.5468%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0.5647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+0.0857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4.0201%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0.6452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+0.1255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 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9.3985%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0.5442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+0.1201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2.6163%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74.8691%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0.5277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+0.0569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0.5028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47.2000%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+0.0944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2.2727%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0.5643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+0.1454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4.7619%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0.5473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+0.0687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2.5926%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0.4184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+0.0654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6.4846%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0.7660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+0.1797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11.6364%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0.7248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+0.0528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6.9767%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0.6344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+0.1486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0.5727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+0.0978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Tec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도메인 지식 기반 앙상블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43989" y="1036475"/>
            <a:ext cx="4577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형식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class의 defect에 대해서 지식을 활용해 상세하게 불량 defect 묘사 프롬프트들 사용(2개)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이를 바탕으로 chat-gpt와 bard를 통해 비슷한 프롬프트들 형성(3개)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단순 템플릿 기반보다 평균  auroc 및 앙상블을 통한 향상도가 더 큼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Grid와 transistor는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어떠한 방법에서도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모두 0.5보다 낮은 결과를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1" name="Google Shape;101;p2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033275"/>
                <a:gridCol w="1737350"/>
                <a:gridCol w="2249425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of zero-shot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AUROC 향상 정도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>
                          <a:solidFill>
                            <a:srgbClr val="FF0000"/>
                          </a:solidFill>
                        </a:rPr>
                        <a:t>bottle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84.9138%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0.8042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+0.1528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3.7162%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0.5374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+0.1956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63.6691%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0.5147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+0.0684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7.7889%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0.6649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-0.0039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 nut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11.6541%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0.6071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-0.0075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2.0349%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0.4577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+0.0804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9.1623%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0.5605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+0.1457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67.9012%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0.7373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+0.4206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transistor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2.8000%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0.3507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+0.0341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5.8442%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0.5792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+0.2099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carpet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5.3968%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0.4923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-0.0145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grid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4.0741%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0.4273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+0.0206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leather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11.9454%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0.8081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+0.1483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6.1818%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0.6402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7.7519%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0.6177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+0.0997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0.5866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+0.1097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앙상블에 대한 개인적 견해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44000" y="884075"/>
            <a:ext cx="11326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앙상블 시 전반적으로 0.5가 넘는 object들이 많아졌음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또한, 단일 프롬프트를 사용했을때는 하나의 클래스만 예측하던 것이 앙상블을 통해 그나마 다른 클래스도 예측(output </a:t>
            </a:r>
            <a:r>
              <a:rPr lang="ko-KR" sz="1800"/>
              <a:t>probability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 smooth해짐)을 하는 모습을 보임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단일 도메인 프롬프트라도 </a:t>
            </a:r>
            <a:r>
              <a:rPr lang="ko-KR" sz="1800"/>
              <a:t>프롬프트 엔지니어링을 통해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0.8 이상의 좋은 결과값을 보이는 경우들이 존재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ko-KR" sz="1800"/>
              <a:t>모든 프롬프트에서 높은 성능들을 보이는 단일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프롬프트(</a:t>
            </a:r>
            <a:r>
              <a:rPr lang="ko-KR" sz="1800"/>
              <a:t>템플릿 기반, 도메인 지식 기반)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끼리 앙상블 했을때 </a:t>
            </a:r>
            <a:r>
              <a:rPr lang="ko-KR" sz="1800"/>
              <a:t>각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단일 프롬프트</a:t>
            </a:r>
            <a:r>
              <a:rPr lang="ko-KR" sz="1800"/>
              <a:t>의 결과보다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성능이 떨어지는 경우 존재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     (ex. prompt 1~5 각각 0.65 이상의 높은 성능, 앙상블 후 0.6)</a:t>
            </a:r>
            <a:endParaRPr sz="1800"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하지만 </a:t>
            </a:r>
            <a:r>
              <a:rPr lang="ko-KR" sz="1800"/>
              <a:t>모든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프롬프트</a:t>
            </a:r>
            <a:r>
              <a:rPr lang="ko-KR" sz="1800"/>
              <a:t>에서는 높은 성능을 보이진 않았던 단일 프롬프트(템플릿 기반, 도메인 지식 기반)끼리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앙상블을 진행할 경우, </a:t>
            </a:r>
            <a:r>
              <a:rPr lang="ko-KR" sz="1800"/>
              <a:t>각 단일 프롬프트의 결과의 평균 또는 그 이상의 결과를 보임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     (ex. prompt 1~3은 0.8, prompt 4,5는 0.4, 앙상블 후 0.6 or prompt 1~5는 약 0.45, 앙상블 후 0.55) 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     →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앙상블로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인해 프롬프트 </a:t>
            </a:r>
            <a:r>
              <a:rPr lang="ko-KR" sz="1800"/>
              <a:t>성능이 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보정이 </a:t>
            </a:r>
            <a:r>
              <a:rPr lang="ko-KR" sz="1800"/>
              <a:t>됨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즉, 언어 모델이 이해하기 좋은 </a:t>
            </a:r>
            <a:r>
              <a:rPr b="0" i="0" lang="ko-K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도메인 정보의 프롬프트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인간이 이해하기 </a:t>
            </a:r>
            <a:r>
              <a:rPr b="0" i="0" lang="ko-KR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쉬운 </a:t>
            </a:r>
            <a:r>
              <a:rPr lang="ko-KR" sz="1800" u="sng"/>
              <a:t>상세한 설명의</a:t>
            </a:r>
            <a:r>
              <a:rPr b="0" i="0" lang="ko-K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도메인 정보의 프롬프트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와 다르기 때문에 앙상블로 인</a:t>
            </a:r>
            <a:r>
              <a:rPr lang="ko-KR" sz="1800"/>
              <a:t>한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성</a:t>
            </a:r>
            <a:r>
              <a:rPr lang="ko-KR" sz="1800"/>
              <a:t>능의 불안정성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방지할 수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68680" y="5995416"/>
            <a:ext cx="1120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-"/>
            </a:pPr>
            <a:r>
              <a:rPr b="1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제조 데이터에 대한 프롬프트 튜닝의 수고</a:t>
            </a:r>
            <a:r>
              <a:rPr b="1" lang="ko-KR" sz="2200"/>
              <a:t>에 대한 부담을 줄임</a:t>
            </a:r>
            <a:endParaRPr b="1" sz="2200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-"/>
            </a:pPr>
            <a:r>
              <a:rPr b="1" i="0" lang="ko-K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성능 </a:t>
            </a:r>
            <a:r>
              <a:rPr b="1" lang="ko-KR" sz="2200"/>
              <a:t>향상의 효과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데이터셋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43989" y="1036475"/>
            <a:ext cx="45777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12class 개의 object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긁힘, 찌그러짐, 색반점, 균열 등의 표면 결함과 잘못된 위치, 부품 누락 등의 구조적 결함 등 다양한 결함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또한 </a:t>
            </a:r>
            <a:r>
              <a:rPr b="0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결함이 동시에 같이 있는 경우가 상당히 많이 존재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(예시 : PCB1에 긁힘, 찌그러짐, 부품 누락 3가지 결함이 한 이미지에 존재)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이러한 경우, 존재하는 결함들의 종류에 따라 전부 다른 클래스로 취급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(예시: PCB1은 긁힘, 찌그러짐, 부품 누락, 긁힘&amp;찌그러짐, 긁힘&amp;찌그러짐&amp;부품누락 와 같이 </a:t>
            </a:r>
            <a:r>
              <a:rPr b="0" i="0" lang="ko-K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5개의 결함 클래스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 존재)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9621, abnormal 1200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/>
              <a:t>총</a:t>
            </a:r>
            <a:r>
              <a:rPr b="0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10821개의 이미지</a:t>
            </a:r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1729" y="1133856"/>
            <a:ext cx="6095322" cy="4797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프롬프트 기반(단일)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744000" y="1036475"/>
            <a:ext cx="4345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형식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 normal photo of class 혹은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 abnormal 불량정보 photo of class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 전부 0.5를 넘지 않음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특히 평균 auroc가 0.2523으로         매우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낮은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성능을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5404104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056375"/>
                <a:gridCol w="1776175"/>
                <a:gridCol w="2299700"/>
                <a:gridCol w="1561175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of zero-shot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0.2727%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0.1338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85.7550%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0.4733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2.8333%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chewinggum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1.1609%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0.2919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fryum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1.0000%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0.2626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macaroni1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0.2727%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0.2274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macaroni2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0.2727%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0.2303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0.8152%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0.2389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2.6340%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0.0904%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0.1948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0.4525%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0.1270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pipe_fryum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0.3333%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0.3433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0.2523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</a:t>
            </a:r>
            <a:r>
              <a:rPr b="1"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템플릿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기반(앙상블)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44000" y="1036475"/>
            <a:ext cx="43563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 형식 : </a:t>
            </a:r>
            <a:r>
              <a:rPr b="0" i="0" lang="ko-KR" sz="18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https://www.notion.so/8682c5b5dcdd44a29f6de02b2c535bc9?pvs=4#4f91cba7087d485dbc6b9e8a71035f68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앞선 mvtec과 템플릿 동일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데이터셋은 앙상블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시, 성능이 떨어지거나 유사한 결과를 보임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앙상블의 효과가 거의 없음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9" name="Google Shape;129;p18"/>
          <p:cNvGraphicFramePr/>
          <p:nvPr/>
        </p:nvGraphicFramePr>
        <p:xfrm>
          <a:off x="5404104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{B7A16D01-EE64-475A-B8EC-03B6BE8BFEB9}</a:tableStyleId>
              </a:tblPr>
              <a:tblGrid>
                <a:gridCol w="1056375"/>
                <a:gridCol w="1776175"/>
                <a:gridCol w="2299700"/>
                <a:gridCol w="1561175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of zero-shot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 AUROC of zero-shot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ko-KR" sz="1200">
                          <a:solidFill>
                            <a:schemeClr val="dk1"/>
                          </a:solidFill>
                        </a:rPr>
                        <a:t>AUROC 증감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candle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1.0909%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0.1506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+0.0169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23.0769%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0.4002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-0.0731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cashew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0.2853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+0.0331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chewinggum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0.2567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-0.0352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fryum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0.1667%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0.2784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+0.0158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macaroni1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0.1818%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0.2321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+0.0047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macaroni2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4.6364%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0.1905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-0.0397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1.5399%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0.2343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-0.0046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1.3624%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0.2836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+0.0318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1.4467%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0.2076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+0.0128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0.9955%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0.1190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-0.0080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pipe_fryum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0.3620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+0.0188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0.2500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cap="none" strike="noStrike"/>
                        <a:t>-0.0022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추후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744001" y="1036475"/>
            <a:ext cx="111369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VisA 프롬프트 기반 앙상블,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auroc 계산 및 다른 데이터셋 탐색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논문들을 참고하여 새로운 형태의 few-shot 혹은 제로샷 기반의 cold start를 해결할 초기 모델 계획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돌려볼 가치가 있다면 mvtec 데이터셋에서 맨 처음에 지식 전이 모델을 활용해 초기 데이터셋풀 구성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active learning 진행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지식 전이 모델 및 활용 방법 탐구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및 CLIP 기반의 anomaly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segmentation 및 분류 모델 – WinCLIP 비교 )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제조 데이터셋 말고 건축과 같은 다른 산업 분야에서 연구된 결함 탐지 데이터셋 및 프롬프트 활용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r>
              <a:rPr lang="ko-KR" sz="18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https://data.mendeley.com/datasets/5y9wdsg2zt/2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https://onlinelibrary.wiley.com/doi/full/10.1111/mice.12954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075" y="4844225"/>
            <a:ext cx="2893723" cy="18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6148" y="4844225"/>
            <a:ext cx="5124100" cy="18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/>
        </p:nvSpPr>
        <p:spPr>
          <a:xfrm>
            <a:off x="490452" y="257695"/>
            <a:ext cx="1123326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읽어볼 논문 리스트들(산업체 데이터 VLM 관련)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743989" y="807875"/>
            <a:ext cx="10640400" cy="5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https://arxiv.org/abs/2308.15366</a:t>
            </a: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/  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https://github.com/CASIA-IVA-Lab/AnomalyGPT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AnomalyGPT: Detecting Industrial Anomalies using Large Vision-Language Models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GPT 같은 LLM 언어 모델 전체를 재학습 할 필요 없이 few shot learing을 통해 제조 데이터셋에 맞는 애드원을 구축하여 산업데이터에 특화된 GPT 모델 구축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코드 공개 및 실제로 시연할 수 있는 GUI 링크도 존재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https://arxiv.org/abs/2308.15939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AnoVL: Adapting Vision-Language Models for Unified Zero-shot Anomaly Localization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패치 단위에 더욱 포커스를 하여 이를 잘 해결할 수 있는 모델을 생성 =&gt; 윈클립보다 제로샷 (세그멘테이션)성능 향상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Test-Time Adaptation (TTA) 방법도 구현 =&gt; 특정 도메인에 구속되지 않고 다양한 분야에서 이상 징후 탐지에 적용할 수 있는 다재다능한 솔루션을 제안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ko-KR" sz="1500">
                <a:latin typeface="Noto Sans"/>
                <a:ea typeface="Noto Sans"/>
                <a:cs typeface="Noto Sans"/>
                <a:sym typeface="Noto Sans"/>
              </a:rPr>
              <a:t>CLIP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기반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</a:t>
            </a: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2308.11119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Word Data Augmentation with CLIP for Zero-Shot Anomaly Detection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anomaly detection을 위한 prompt learning을 진행해 성능 향상이 목표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LLM 모델에 들어가기 전에 거치는, 정상 / 비정상 과 관련된 단어들 &amp; 무작위 단어들을 학습한 애드원을 추가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모델 구조는 단순 / 클립 기반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https://arxiv.org/abs/2305.17382</a:t>
            </a: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/   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https://github.com/ByChelsea/VAND-APRIL-GAN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Zero-/Few-Shot Anomaly Classification and Segmentation Method for CVPR 2023 VAND Workshop Challenge Tracks 1&amp;2: 1st Place on Zero-shot AD and 4th Place on Few-shot 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제로샷은 백본 블록마다 이미지 feature를 생성한 뒤, 이를 전부 clip을 진행시키고 종합하여 이상치 결과 판단</a:t>
            </a:r>
            <a:endParaRPr b="0" i="0" sz="15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ko-KR" sz="1500">
                <a:latin typeface="Noto Sans"/>
                <a:ea typeface="Noto Sans"/>
                <a:cs typeface="Noto Sans"/>
                <a:sym typeface="Noto Sans"/>
              </a:rPr>
              <a:t>few-shot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은 self 지식 전이 처럼 reference 이미지에 대해 backbone 모델 블록마다 메모리를 생성한 뒤, 테스트 단계에서 백본 블록마다 feature를 추출하여 기존의 메모리와 유사도를 구해 anomaly score 계산 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dcbadc0c7_0_0"/>
          <p:cNvSpPr txBox="1"/>
          <p:nvPr/>
        </p:nvSpPr>
        <p:spPr>
          <a:xfrm>
            <a:off x="490452" y="257695"/>
            <a:ext cx="1123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7dcbadc0c7_0_0"/>
          <p:cNvSpPr txBox="1"/>
          <p:nvPr/>
        </p:nvSpPr>
        <p:spPr>
          <a:xfrm>
            <a:off x="744000" y="1036475"/>
            <a:ext cx="11233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2-way (정상/불량)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MVTec의 결과로 지식 전이 후 Active learning 진행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accuracy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auroc 중에 acc가 지속적으로 동일한 값이 나오나 auroc값이 달라질 때, auroc값도 신뢰할 수 있는가?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만약 VisA와 같은 전반적인 불량 데이터셋을 라벨링 진행할 때, 불량 정보가 추가될 때 마다 각자 다른 클래스로 구분하는 것이 맞을까요?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튜닝, 프롬프트 튜닝, 데이터 셋 변경?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(CLIP 모델 구조 개선, 제로샷→few-shot, CLIP 말고 다른 모델, language model 파인튜닝 및 prompt learning 등) 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