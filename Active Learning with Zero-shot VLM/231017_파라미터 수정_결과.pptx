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DfVG6J83RTJ6P65sDrRZtNoq3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0055855b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0055855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fc8470b9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fc8470b9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4fc8470b9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4fc8470b9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fc8470b9b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fc8470b9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4fc8470b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24fc8470b9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4ff932c898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4ff932c89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ff932c898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ff932c89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4ff932c898_2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4ff932c898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ff932c898_2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4ff932c898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ff932c898_2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ff932c898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4ff932c898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24ff932c898_2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92257193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92257193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9294427f35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9294427f3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9294427f35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9294427f3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9294427f35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9294427f3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294427f35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9294427f35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294427f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29294427f3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>
            <p:ph idx="1" type="subTitle"/>
          </p:nvPr>
        </p:nvSpPr>
        <p:spPr>
          <a:xfrm>
            <a:off x="490450" y="882796"/>
            <a:ext cx="9144000" cy="15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T= 0.2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epoch 25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alpha 0.2</a:t>
            </a:r>
            <a:endParaRPr sz="2300"/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CLIP Active learning 파라미터 설정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290055855b2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65" y="0"/>
            <a:ext cx="4386111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290055855b2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8792" y="0"/>
            <a:ext cx="4371008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290055855b2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1675" y="3501750"/>
            <a:ext cx="4077900" cy="31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290055855b2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2750" y="3428999"/>
            <a:ext cx="4009963" cy="312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24fc8470b9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300" y="132975"/>
            <a:ext cx="4158050" cy="32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24fc8470b9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6575" y="132975"/>
            <a:ext cx="4207076" cy="32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24fc8470b9b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9149" y="3523125"/>
            <a:ext cx="3901325" cy="302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24fc8470b9b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8875" y="3439037"/>
            <a:ext cx="4202479" cy="31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24fc8470b9b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675" y="55275"/>
            <a:ext cx="4019574" cy="32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4fc8470b9b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2576" y="55275"/>
            <a:ext cx="4104174" cy="32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24fc8470b9b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2249" y="3428999"/>
            <a:ext cx="4127923" cy="328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4fc8470b9b_0_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3123" y="3357975"/>
            <a:ext cx="4359260" cy="328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4fc8470b9b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875" y="145725"/>
            <a:ext cx="4435400" cy="33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4fc8470b9b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4985" y="145725"/>
            <a:ext cx="4176764" cy="327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4fc8470b9b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575" y="3487274"/>
            <a:ext cx="4011649" cy="31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fc8470b9b_0_0"/>
          <p:cNvSpPr txBox="1"/>
          <p:nvPr/>
        </p:nvSpPr>
        <p:spPr>
          <a:xfrm>
            <a:off x="255919" y="731675"/>
            <a:ext cx="1193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 수정 후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Object에 대한 평균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24fc8470b9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400" y="1797200"/>
            <a:ext cx="4155875" cy="30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4fc8470b9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150" y="1797200"/>
            <a:ext cx="4002125" cy="294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4fc8470b9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5475" y="1851750"/>
            <a:ext cx="3791500" cy="27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4fc8470b9b_0_0"/>
          <p:cNvSpPr txBox="1"/>
          <p:nvPr>
            <p:ph idx="1" type="subTitle"/>
          </p:nvPr>
        </p:nvSpPr>
        <p:spPr>
          <a:xfrm>
            <a:off x="255925" y="4856950"/>
            <a:ext cx="11591700" cy="15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900"/>
              <a:t>지식전이를 통한 학습보다 labeled dataset을 통한 supervised 학습이 모델의 높은 성능에 영향을 줌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ko-KR" sz="1900"/>
              <a:t>→ CE loss 비중이 높도록 alpha 값 조정</a:t>
            </a:r>
            <a:endParaRPr b="1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ff932c898_1_2"/>
          <p:cNvSpPr txBox="1"/>
          <p:nvPr>
            <p:ph idx="1" type="subTitle"/>
          </p:nvPr>
        </p:nvSpPr>
        <p:spPr>
          <a:xfrm>
            <a:off x="490450" y="882796"/>
            <a:ext cx="9144000" cy="15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T= 0.2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epoch 25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alpha 0.05</a:t>
            </a:r>
            <a:endParaRPr sz="2300"/>
          </a:p>
        </p:txBody>
      </p:sp>
      <p:sp>
        <p:nvSpPr>
          <p:cNvPr id="126" name="Google Shape;126;g24ff932c898_1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24ff932c898_1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CLIP Active learning 파라미터 설정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4ff932c89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775" y="64975"/>
            <a:ext cx="3747450" cy="2929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4ff932c898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3525" y="113550"/>
            <a:ext cx="3747450" cy="2939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4ff932c898_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765" y="3502550"/>
            <a:ext cx="3878350" cy="29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4ff932c898_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3525" y="3544746"/>
            <a:ext cx="3747451" cy="291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24ff932c898_2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775" y="0"/>
            <a:ext cx="3827175" cy="30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4ff932c898_2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8296" y="76200"/>
            <a:ext cx="3755254" cy="28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4ff932c898_2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7775" y="3247450"/>
            <a:ext cx="3653875" cy="283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4ff932c898_2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5750" y="3247450"/>
            <a:ext cx="3547801" cy="26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24ff932c898_2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900" y="113550"/>
            <a:ext cx="3934375" cy="31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24ff932c898_2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0175" y="144825"/>
            <a:ext cx="3934375" cy="3075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24ff932c898_2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1975" y="3429000"/>
            <a:ext cx="3800525" cy="3028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24ff932c898_2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3675" y="3458850"/>
            <a:ext cx="3934375" cy="296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24ff932c898_2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00" y="152400"/>
            <a:ext cx="4146225" cy="316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24ff932c898_2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0300" y="152400"/>
            <a:ext cx="4146226" cy="3252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24ff932c898_2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7075" y="3513400"/>
            <a:ext cx="4152466" cy="32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4ff932c898_2_7"/>
          <p:cNvSpPr txBox="1"/>
          <p:nvPr/>
        </p:nvSpPr>
        <p:spPr>
          <a:xfrm>
            <a:off x="255919" y="731675"/>
            <a:ext cx="1193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 수정 후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Object에 대한 평균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4ff932c898_2_7"/>
          <p:cNvSpPr txBox="1"/>
          <p:nvPr>
            <p:ph idx="1" type="subTitle"/>
          </p:nvPr>
        </p:nvSpPr>
        <p:spPr>
          <a:xfrm>
            <a:off x="255925" y="4856950"/>
            <a:ext cx="11591700" cy="15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900"/>
              <a:t>지식전이 loss에서의 alpha 값을 감소시킨 결과, iteration 후반 부분에서 CLIP 기반 active learning의 성능 저하가 감소하는 것을 알 수 있음</a:t>
            </a:r>
            <a:endParaRPr b="1" sz="1900"/>
          </a:p>
        </p:txBody>
      </p:sp>
      <p:pic>
        <p:nvPicPr>
          <p:cNvPr id="165" name="Google Shape;165;g24ff932c898_2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5925"/>
            <a:ext cx="3896275" cy="286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4ff932c898_2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075" y="1835926"/>
            <a:ext cx="3896275" cy="286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24ff932c898_2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750" y="1835926"/>
            <a:ext cx="3896275" cy="286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225719304_0_0"/>
          <p:cNvSpPr txBox="1"/>
          <p:nvPr>
            <p:ph idx="1" type="subTitle"/>
          </p:nvPr>
        </p:nvSpPr>
        <p:spPr>
          <a:xfrm>
            <a:off x="490450" y="882796"/>
            <a:ext cx="9144000" cy="15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T= 0.2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epoch 25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ko-KR" sz="2300"/>
              <a:t>alpha 0.01</a:t>
            </a:r>
            <a:endParaRPr sz="2300"/>
          </a:p>
        </p:txBody>
      </p:sp>
      <p:sp>
        <p:nvSpPr>
          <p:cNvPr id="173" name="Google Shape;173;g29225719304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29225719304_0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CLIP Active learning 파라미터 설정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29294427f35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725" y="152400"/>
            <a:ext cx="4146225" cy="3241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29294427f35_1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825" y="303238"/>
            <a:ext cx="3747450" cy="293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29294427f35_1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4275" y="3532125"/>
            <a:ext cx="4196124" cy="324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29294427f35_1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9025" y="3393863"/>
            <a:ext cx="4248648" cy="331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29294427f35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725" y="132975"/>
            <a:ext cx="4035493" cy="31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29294427f35_1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9450" y="152400"/>
            <a:ext cx="3839450" cy="294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29294427f35_1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5875" y="3603850"/>
            <a:ext cx="4126901" cy="31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29294427f35_1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9450" y="3603855"/>
            <a:ext cx="4126900" cy="3134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29294427f35_1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775" y="152400"/>
            <a:ext cx="3774875" cy="30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29294427f35_1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5875" y="183463"/>
            <a:ext cx="3774875" cy="2951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29294427f35_1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5900" y="3687875"/>
            <a:ext cx="3645749" cy="290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29294427f35_1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5465" y="3633787"/>
            <a:ext cx="3993410" cy="301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29294427f35_1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975" y="64975"/>
            <a:ext cx="3993300" cy="30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9294427f35_1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3923" y="108688"/>
            <a:ext cx="3768151" cy="29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9294427f35_1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9100" y="3304700"/>
            <a:ext cx="4345150" cy="33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294427f35_1_0"/>
          <p:cNvSpPr txBox="1"/>
          <p:nvPr/>
        </p:nvSpPr>
        <p:spPr>
          <a:xfrm>
            <a:off x="255919" y="731675"/>
            <a:ext cx="1193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 수정 후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Object에 대한 평균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29294427f35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5925"/>
            <a:ext cx="3896275" cy="2868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29294427f35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075" y="1835925"/>
            <a:ext cx="3896275" cy="2868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9294427f35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750" y="1835925"/>
            <a:ext cx="3789849" cy="2790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