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F1to9tS9GKR1yPX3st6XJks1C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3B6AB7-FD41-41EF-AC9E-6FC0683490B0}">
  <a:tblStyle styleId="{403B6AB7-FD41-41EF-AC9E-6FC0683490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2e9ed1a55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62e9ed1a5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2e9ed1a5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62e9ed1a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2e9ed1a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62e9ed1a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2e9ed1a55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62e9ed1a5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54486ea8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a54486ea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3670ed0d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63670ed0d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54460e63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a54460e6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(CLIP의 아웃풋 분포는 정규 분포를 따르기에 앙상블 해도 분포는 동일하다고 가정) → 여쭤보고 → 확인 필요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231211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>
            <p:ph idx="1" type="subTitle"/>
          </p:nvPr>
        </p:nvSpPr>
        <p:spPr>
          <a:xfrm>
            <a:off x="490450" y="882800"/>
            <a:ext cx="108924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MVTec 이외 데이터 셋 prompt ensemble zero shot 결과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연구 관련 논문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새로운 제안 프레임워크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2e9ed1a55_0_2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62e9ed1a55_0_2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VisA dataset prompt ensemble zero shot 결과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" name="Google Shape;87;g262e9ed1a55_0_21"/>
          <p:cNvGraphicFramePr/>
          <p:nvPr/>
        </p:nvGraphicFramePr>
        <p:xfrm>
          <a:off x="6486625" y="8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787025"/>
                <a:gridCol w="1483325"/>
                <a:gridCol w="1483325"/>
                <a:gridCol w="1483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/>
                        <a:t>anomaly 유형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class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acc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auroc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of zero shot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candle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9.1818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0.7877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capsules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72.0798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0.4974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cashew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35.1667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0.6839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chewinggum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26.2023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0.7910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fryum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71.1667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0.4463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macaroni1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9.0909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0.4785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macaroni2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9.0909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0.4985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pcb1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9.0580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0.7319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8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pcb2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9.3551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0.5238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pcb3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9.0416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0.6232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pcb4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9.0498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0.5398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pipe_fryum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17.1667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0.7060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평균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23.8042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0.6090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g262e9ed1a55_0_21"/>
          <p:cNvSpPr txBox="1"/>
          <p:nvPr>
            <p:ph idx="1" type="subTitle"/>
          </p:nvPr>
        </p:nvSpPr>
        <p:spPr>
          <a:xfrm>
            <a:off x="651375" y="882800"/>
            <a:ext cx="5609700" cy="2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MVTec과 동일한 구조로 실험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class 개수 : 12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anomaly 유형 : class별로 상이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89" name="Google Shape;89;g262e9ed1a55_0_21"/>
          <p:cNvGraphicFramePr/>
          <p:nvPr/>
        </p:nvGraphicFramePr>
        <p:xfrm>
          <a:off x="651375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2804875"/>
                <a:gridCol w="28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정상 prompt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비정상 prompt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'normal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'good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'flawless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'perfect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'unblemished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damage'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'abnormal object with </a:t>
                      </a:r>
                      <a:endParaRPr sz="105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{anomaly 유형}’</a:t>
                      </a: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'damaged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damage'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g262e9ed1a55_0_21"/>
          <p:cNvSpPr txBox="1"/>
          <p:nvPr>
            <p:ph idx="1" type="subTitle"/>
          </p:nvPr>
        </p:nvSpPr>
        <p:spPr>
          <a:xfrm>
            <a:off x="651375" y="5438000"/>
            <a:ext cx="6041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최종 prompt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ko-KR" sz="1800"/>
              <a:t>a {정상or 비정상 prompt} photo of a {class_name}</a:t>
            </a:r>
            <a:endParaRPr sz="1800"/>
          </a:p>
        </p:txBody>
      </p:sp>
      <p:pic>
        <p:nvPicPr>
          <p:cNvPr id="91" name="Google Shape;91;g262e9ed1a55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525" y="1751394"/>
            <a:ext cx="5143460" cy="15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2e9ed1a55_0_6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62e9ed1a55_0_6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MVTec Loco AD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 dataset prompt ensemble zero shot 결과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262e9ed1a55_0_6"/>
          <p:cNvSpPr txBox="1"/>
          <p:nvPr>
            <p:ph idx="1" type="subTitle"/>
          </p:nvPr>
        </p:nvSpPr>
        <p:spPr>
          <a:xfrm>
            <a:off x="651375" y="882800"/>
            <a:ext cx="5609700" cy="2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MVTec과 동일한 구조로 실험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class 개수 : 5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anomaly 유형 : 2 (모든 클래스에서 동일) 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ko-KR" sz="1800"/>
              <a:t>logical_anomalies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ko-KR" sz="1800"/>
              <a:t>structural_anomalies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99" name="Google Shape;99;g262e9ed1a55_0_6"/>
          <p:cNvGraphicFramePr/>
          <p:nvPr/>
        </p:nvGraphicFramePr>
        <p:xfrm>
          <a:off x="6977200" y="8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1747275"/>
                <a:gridCol w="1455875"/>
                <a:gridCol w="154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class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acc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auroc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of zero shot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juice_bottle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35.8832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0.5059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screw_bag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67.4113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0.5769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breakfast_box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69.4767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0.4394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splicing_connectors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73.6339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0.5216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pushpins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77.3635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0.5860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평균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64.7537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0.5259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g262e9ed1a55_0_6"/>
          <p:cNvSpPr txBox="1"/>
          <p:nvPr/>
        </p:nvSpPr>
        <p:spPr>
          <a:xfrm>
            <a:off x="6984275" y="4040975"/>
            <a:ext cx="47463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대부분 class의 auroc 0.5 넘었으나 아주 높은 성능은 아님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1" name="Google Shape;101;g262e9ed1a55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00" y="2284747"/>
            <a:ext cx="4746449" cy="7899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" name="Google Shape;102;g262e9ed1a55_0_6"/>
          <p:cNvGraphicFramePr/>
          <p:nvPr/>
        </p:nvGraphicFramePr>
        <p:xfrm>
          <a:off x="651375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2804875"/>
                <a:gridCol w="28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정상 prompt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비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정상 prompt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'normal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'good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'flawless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'perfect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'unblemished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damage'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'abnormal object with </a:t>
                      </a:r>
                      <a:r>
                        <a:rPr lang="ko-KR" sz="105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logical_anomalies</a:t>
                      </a: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'abnormal object with </a:t>
                      </a:r>
                      <a:r>
                        <a:rPr lang="ko-KR" sz="105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structural_anomalies</a:t>
                      </a: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'damaged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damage'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" name="Google Shape;103;g262e9ed1a55_0_6"/>
          <p:cNvSpPr txBox="1"/>
          <p:nvPr>
            <p:ph idx="1" type="subTitle"/>
          </p:nvPr>
        </p:nvSpPr>
        <p:spPr>
          <a:xfrm>
            <a:off x="651375" y="5438000"/>
            <a:ext cx="6041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최종 prompt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ko-KR" sz="1800"/>
              <a:t>a {정상or 비정상 prompt} photo of a {class_name}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2e9ed1a55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62e9ed1a55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BTAD dataset prompt ensemble zero shot 결과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g262e9ed1a55_0_0"/>
          <p:cNvGraphicFramePr/>
          <p:nvPr/>
        </p:nvGraphicFramePr>
        <p:xfrm>
          <a:off x="6977200" y="8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1601575"/>
                <a:gridCol w="1601575"/>
                <a:gridCol w="154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class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acc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auroc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of zero shot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90.0000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0.8842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31.7965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0.7086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03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97.5017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/>
                        <a:t>0.8663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73.0994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0.8197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g262e9ed1a55_0_0"/>
          <p:cNvSpPr txBox="1"/>
          <p:nvPr>
            <p:ph idx="1" type="subTitle"/>
          </p:nvPr>
        </p:nvSpPr>
        <p:spPr>
          <a:xfrm>
            <a:off x="651375" y="882800"/>
            <a:ext cx="5609700" cy="23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MVTec과 동일한 구조로 실험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class 개수 : 3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anomaly 유형 : 1 (normal과 anomal로만 구분)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12" name="Google Shape;112;g262e9ed1a55_0_0"/>
          <p:cNvGraphicFramePr/>
          <p:nvPr/>
        </p:nvGraphicFramePr>
        <p:xfrm>
          <a:off x="651375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{403B6AB7-FD41-41EF-AC9E-6FC0683490B0}</a:tableStyleId>
              </a:tblPr>
              <a:tblGrid>
                <a:gridCol w="2804875"/>
                <a:gridCol w="28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정상 prompt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비정상 prompt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'normal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'good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'flawless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'perfect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'unblemished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'object without damage'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'damaged object',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flaw',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defect',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'object with damage'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g262e9ed1a55_0_0"/>
          <p:cNvSpPr txBox="1"/>
          <p:nvPr>
            <p:ph idx="1" type="subTitle"/>
          </p:nvPr>
        </p:nvSpPr>
        <p:spPr>
          <a:xfrm>
            <a:off x="651375" y="5438000"/>
            <a:ext cx="60414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최종 prompt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ko-KR" sz="1800"/>
              <a:t>a {정상or 비정상 prompt} photo</a:t>
            </a:r>
            <a:endParaRPr sz="1800"/>
          </a:p>
        </p:txBody>
      </p:sp>
      <p:pic>
        <p:nvPicPr>
          <p:cNvPr id="114" name="Google Shape;114;g262e9ed1a5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950" y="1780525"/>
            <a:ext cx="4106599" cy="14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262e9ed1a55_0_0"/>
          <p:cNvSpPr txBox="1"/>
          <p:nvPr/>
        </p:nvSpPr>
        <p:spPr>
          <a:xfrm>
            <a:off x="6984275" y="3278975"/>
            <a:ext cx="47463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anomaly 유형을 </a:t>
            </a: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설명해주지</a:t>
            </a:r>
            <a:r>
              <a:rPr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않아도 높은 성능을 보이는 것으로 보아 이미지가 쉬운 편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2e9ed1a55_1_6"/>
          <p:cNvSpPr txBox="1"/>
          <p:nvPr>
            <p:ph idx="1" type="subTitle"/>
          </p:nvPr>
        </p:nvSpPr>
        <p:spPr>
          <a:xfrm>
            <a:off x="490450" y="882800"/>
            <a:ext cx="111024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모델을 fine-tunning 하기 위해 CLIP Adapter(</a:t>
            </a:r>
            <a:r>
              <a:rPr lang="ko-KR" sz="10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Gao, P., Geng, S., Zhang, R., Ma, T., Fang, R., Zhang, Y., ... &amp; Qiao, Y. (2023). Clip-adapter: Better vision-language models with feature adapters. </a:t>
            </a:r>
            <a:r>
              <a:rPr i="1" lang="ko-KR" sz="10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International Journal of Computer Vision</a:t>
            </a:r>
            <a:r>
              <a:rPr lang="ko-KR" sz="10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1-15.</a:t>
            </a:r>
            <a:r>
              <a:rPr lang="ko-KR" sz="1800"/>
              <a:t>) 모델 활용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방식은 “a photo of a {class}” - class 이미지 간의 쌍을 활용해 text와 image encoder 앞에 linear header를 장착해 코싸인 유사도를 활용한 contrastive loss를 활용해 모델을 파인튜닝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실험을 통해 few-shot 상황에서 coop(프롬프트 러닝 방식) 및 단일 linear probe 방식보다 좋은 성능을 보이고 있으며, 모델의 cost 부분에서 이득이 있다 라는 사실을 증명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21" name="Google Shape;121;g262e9ed1a55_1_6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62e9ed1a55_1_6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응용해서 새롭게 시도해볼만한 방식 - 모델 구조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262e9ed1a55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25" y="3822700"/>
            <a:ext cx="6226549" cy="2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62e9ed1a55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97" y="3822700"/>
            <a:ext cx="5360403" cy="28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54486ea85_0_7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a54486ea85_0_7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새로운 제안 프레임워크 - 1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a54486ea85_0_7"/>
          <p:cNvSpPr txBox="1"/>
          <p:nvPr>
            <p:ph idx="1" type="subTitle"/>
          </p:nvPr>
        </p:nvSpPr>
        <p:spPr>
          <a:xfrm>
            <a:off x="7207800" y="1854000"/>
            <a:ext cx="49842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ko-KR" sz="1700"/>
              <a:t>각 Encoder 앞에 dropout이 들어가있는 linear head가 있는, CLIP Adapter 방식을 사용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ko-KR" sz="1700"/>
              <a:t>학습 loss는 논문 그대로 CE로 할지 혹은 FLYP 방식처럼 contrastive loss를 사용할지 고민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ko-KR" sz="1700"/>
              <a:t>불확실성 측정 방식은 MC Dropout</a:t>
            </a:r>
            <a:endParaRPr sz="1700"/>
          </a:p>
        </p:txBody>
      </p:sp>
      <p:pic>
        <p:nvPicPr>
          <p:cNvPr id="132" name="Google Shape;132;g2a54486ea85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1800"/>
            <a:ext cx="9074473" cy="571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3670ed0d0_0_2"/>
          <p:cNvSpPr txBox="1"/>
          <p:nvPr>
            <p:ph idx="1" type="subTitle"/>
          </p:nvPr>
        </p:nvSpPr>
        <p:spPr>
          <a:xfrm>
            <a:off x="490450" y="882800"/>
            <a:ext cx="111024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논문(</a:t>
            </a:r>
            <a:r>
              <a:rPr lang="ko-KR" sz="1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Ardeshir, S., &amp; Azizan, N. (2022). Uncertainty in contrastive learning: On the predictability of downstream performance. </a:t>
            </a:r>
            <a:r>
              <a:rPr i="1" lang="ko-KR" sz="1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arXiv preprint arXiv:2207.09336</a:t>
            </a:r>
            <a:r>
              <a:rPr lang="ko-KR" sz="1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-KR" sz="1800"/>
              <a:t>)은 </a:t>
            </a:r>
            <a:r>
              <a:rPr b="1" i="1" lang="ko-KR" sz="1800"/>
              <a:t>“In other words, we explore if the downstream performance on a given datapoint is predictable, directly from its pre-trained embedding” </a:t>
            </a:r>
            <a:r>
              <a:rPr lang="ko-KR" sz="1800"/>
              <a:t>을 위해 대조 학습 모델 f에 대한 불확실성 측정과 관련된 연구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ko-KR" sz="1800"/>
              <a:t>CLIP 같은 큰 사전 훈련된 모델, 특히 대조학습으로 학습된 모델의 아웃풋 임베딩에서 불확실성을 조사함으로써, 해당 임베딩이 downstream 작업에서 어떻게 성능을 낼지 예측이 가능하다.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논문은 아웃풋 임베딩과 라벨 정보를 활용해 augmentation을 진행한 인스턴스들의 아웃풋 임베딩들에 대해 KNN을 진행하고 특정값 이상의 knn_consistency(impurity 같은)를 GMM 하여 학습한 GMM과 다른 정도를 불확실성으로 취급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unlabel dataset에 대해서는 변환한 인스턴스들에 대한 아웃풋들의 앙상블값들을 GMM을 활용해 불확실성 측정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38" name="Google Shape;138;g263670ed0d0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63670ed0d0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응용해서 새롭게 시도해볼만한 방식 - 불확실성 측정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263670ed0d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810" y="4363375"/>
            <a:ext cx="3879540" cy="249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63670ed0d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050" y="4872475"/>
            <a:ext cx="5853949" cy="19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63670ed0d0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6713" y="4363363"/>
            <a:ext cx="423862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54460e632_0_13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a54460e632_0_13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새로운 제안 프레임워크 - 2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2a54460e63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175" y="1137125"/>
            <a:ext cx="10759752" cy="539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a54460e632_0_13"/>
          <p:cNvSpPr txBox="1"/>
          <p:nvPr/>
        </p:nvSpPr>
        <p:spPr>
          <a:xfrm>
            <a:off x="1866125" y="1049888"/>
            <a:ext cx="172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&lt;GMM training&gt;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g2a54460e632_0_13"/>
          <p:cNvSpPr/>
          <p:nvPr/>
        </p:nvSpPr>
        <p:spPr>
          <a:xfrm>
            <a:off x="4445275" y="1288025"/>
            <a:ext cx="599100" cy="10611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2" name="Google Shape;152;g2a54460e632_0_13"/>
          <p:cNvCxnSpPr>
            <a:endCxn id="153" idx="0"/>
          </p:cNvCxnSpPr>
          <p:nvPr/>
        </p:nvCxnSpPr>
        <p:spPr>
          <a:xfrm flipH="1" rot="10800000">
            <a:off x="4775500" y="1288025"/>
            <a:ext cx="5130300" cy="1500"/>
          </a:xfrm>
          <a:prstGeom prst="bentConnector4">
            <a:avLst>
              <a:gd fmla="val -64" name="adj1"/>
              <a:gd fmla="val 15975000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4" name="Google Shape;154;g2a54460e632_0_13"/>
          <p:cNvSpPr txBox="1"/>
          <p:nvPr>
            <p:ph idx="1" type="subTitle"/>
          </p:nvPr>
        </p:nvSpPr>
        <p:spPr>
          <a:xfrm>
            <a:off x="6502275" y="4072425"/>
            <a:ext cx="5689800" cy="26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ko-KR" sz="1500"/>
              <a:t>파인튜닝한 CLIP의 불확실성을 측정하기 위해 </a:t>
            </a:r>
            <a:r>
              <a:rPr lang="ko-KR" sz="1500"/>
              <a:t>prompt </a:t>
            </a:r>
            <a:r>
              <a:rPr lang="ko-KR" sz="1500"/>
              <a:t>ensemble 전 모든 프롬프트에 대해 CLIP output 벡터를 생성하고 이를 GMM 학습</a:t>
            </a:r>
            <a:endParaRPr sz="15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500"/>
              <a:t>학습한 GMM을 통해 </a:t>
            </a:r>
            <a:r>
              <a:rPr lang="ko-KR" sz="1500"/>
              <a:t>prompt ensemble과</a:t>
            </a:r>
            <a:r>
              <a:rPr lang="ko-KR" sz="1500"/>
              <a:t> 이미지 인스턴스 간에 GMM 분포와 가장 먼 인스턴스 추출 → uncertainty sampling</a:t>
            </a:r>
            <a:r>
              <a:rPr lang="ko-KR" sz="1200"/>
              <a:t>(CLIP의 아웃풋 분포는 정규 분포를 따르기에 앙상블 해도 분포는 동일하다고 가정)</a:t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-KR" sz="1500"/>
              <a:t>label 데이터셋으로 FLYP 방식을 활용해 CLIP 파인튜닝</a:t>
            </a:r>
            <a:endParaRPr sz="1200"/>
          </a:p>
        </p:txBody>
      </p:sp>
      <p:sp>
        <p:nvSpPr>
          <p:cNvPr id="153" name="Google Shape;153;g2a54460e632_0_13"/>
          <p:cNvSpPr/>
          <p:nvPr/>
        </p:nvSpPr>
        <p:spPr>
          <a:xfrm>
            <a:off x="9606250" y="1288025"/>
            <a:ext cx="599100" cy="10611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