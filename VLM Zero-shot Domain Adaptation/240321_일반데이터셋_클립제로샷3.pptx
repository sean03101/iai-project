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85" r:id="rId3"/>
    <p:sldId id="287" r:id="rId4"/>
    <p:sldId id="288" r:id="rId5"/>
    <p:sldId id="289" r:id="rId6"/>
    <p:sldId id="290" r:id="rId7"/>
    <p:sldId id="291" r:id="rId8"/>
    <p:sldId id="292" r:id="rId9"/>
    <p:sldId id="286" r:id="rId10"/>
    <p:sldId id="293" r:id="rId11"/>
    <p:sldId id="295" r:id="rId12"/>
    <p:sldId id="296" r:id="rId13"/>
    <p:sldId id="297" r:id="rId14"/>
    <p:sldId id="298" r:id="rId15"/>
    <p:sldId id="299" r:id="rId16"/>
    <p:sldId id="300" r:id="rId17"/>
    <p:sldId id="302" r:id="rId18"/>
    <p:sldId id="304" r:id="rId19"/>
    <p:sldId id="305" r:id="rId20"/>
    <p:sldId id="303" r:id="rId21"/>
    <p:sldId id="308" r:id="rId22"/>
    <p:sldId id="307" r:id="rId23"/>
    <p:sldId id="309" r:id="rId24"/>
    <p:sldId id="306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FB47EE9-87DD-415D-B669-752C87DCC3DB}">
          <p14:sldIdLst>
            <p14:sldId id="257"/>
            <p14:sldId id="285"/>
            <p14:sldId id="287"/>
            <p14:sldId id="288"/>
            <p14:sldId id="289"/>
            <p14:sldId id="290"/>
            <p14:sldId id="291"/>
            <p14:sldId id="292"/>
            <p14:sldId id="286"/>
            <p14:sldId id="293"/>
            <p14:sldId id="295"/>
            <p14:sldId id="296"/>
            <p14:sldId id="297"/>
            <p14:sldId id="298"/>
            <p14:sldId id="299"/>
            <p14:sldId id="300"/>
            <p14:sldId id="302"/>
            <p14:sldId id="304"/>
            <p14:sldId id="305"/>
            <p14:sldId id="303"/>
            <p14:sldId id="308"/>
            <p14:sldId id="307"/>
            <p14:sldId id="309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43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S" initials="H" lastIdx="3" clrIdx="0">
    <p:extLst>
      <p:ext uri="{19B8F6BF-5375-455C-9EA6-DF929625EA0E}">
        <p15:presenceInfo xmlns:p15="http://schemas.microsoft.com/office/powerpoint/2012/main" userId="HJS" providerId="None"/>
      </p:ext>
    </p:extLst>
  </p:cmAuthor>
  <p:cmAuthor id="2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5653"/>
    <a:srgbClr val="F8CECC"/>
    <a:srgbClr val="073763"/>
    <a:srgbClr val="9FC5E8"/>
    <a:srgbClr val="0E4851"/>
    <a:srgbClr val="139CB7"/>
    <a:srgbClr val="02AE16"/>
    <a:srgbClr val="FF5050"/>
    <a:srgbClr val="E9EDF4"/>
    <a:srgbClr val="DB7E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8269" autoAdjust="0"/>
  </p:normalViewPr>
  <p:slideViewPr>
    <p:cSldViewPr>
      <p:cViewPr>
        <p:scale>
          <a:sx n="100" d="100"/>
          <a:sy n="100" d="100"/>
        </p:scale>
        <p:origin x="1050" y="6"/>
      </p:cViewPr>
      <p:guideLst>
        <p:guide pos="3840"/>
        <p:guide orient="horz"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0FBD8-0F1E-482F-BF10-82435D722E8E}" type="datetimeFigureOut">
              <a:rPr lang="ko-KR" altLang="en-US" smtClean="0"/>
              <a:pPr/>
              <a:t>2024-04-04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93A05-2254-4DA6-9E6A-09E57F39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논문들에 비하면 굉장히 간단한 </a:t>
            </a:r>
            <a:r>
              <a:rPr lang="en-US" altLang="ko-KR" dirty="0"/>
              <a:t>idea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47A2-F99C-483A-9979-4B6C3BF4D233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42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17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9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977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4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4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1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27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88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43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19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28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61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89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33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26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3AC0-F6A0-3F27-570A-E982F1E2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629713-8BE4-125C-9D3C-D0CC17F61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DDC2B9-8D29-B78C-A45D-32C4DE24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BBFE-E9D0-B344-06FE-EC44BBD79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292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3AC0-F6A0-3F27-570A-E982F1E2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629713-8BE4-125C-9D3C-D0CC17F61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DDC2B9-8D29-B78C-A45D-32C4DE24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BBFE-E9D0-B344-06FE-EC44BBD79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573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3AC0-F6A0-3F27-570A-E982F1E2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629713-8BE4-125C-9D3C-D0CC17F61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DDC2B9-8D29-B78C-A45D-32C4DE24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BBFE-E9D0-B344-06FE-EC44BBD79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381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425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641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7594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30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04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914400" y="1988841"/>
            <a:ext cx="10363200" cy="1362075"/>
          </a:xfrm>
        </p:spPr>
        <p:txBody>
          <a:bodyPr anchor="t"/>
          <a:lstStyle>
            <a:lvl1pPr algn="ctr">
              <a:defRPr sz="3200" b="1" cap="none" baseline="0">
                <a:solidFill>
                  <a:srgbClr val="139CB7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62200"/>
          </a:xfrm>
        </p:spPr>
        <p:txBody>
          <a:bodyPr/>
          <a:lstStyle>
            <a:lvl1pPr marL="0" indent="0" algn="ctr">
              <a:buNone/>
              <a:defRPr sz="2800">
                <a:solidFill>
                  <a:srgbClr val="437085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fld id="{07D497AA-5A78-43EA-8E51-56E9B9D2E806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52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304800" y="1051148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609600" y="-122014"/>
            <a:ext cx="10972800" cy="1143000"/>
          </a:xfrm>
        </p:spPr>
        <p:txBody>
          <a:bodyPr/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5356448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B920B53-77CF-4838-A2F2-45C5A158F6A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100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1AD55-FDBD-4401-942F-AD8C50636C9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11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F52639-425A-4381-B394-C1E41270EB7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6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EAA311-5005-4B70-88CC-6D871BF0D21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94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BF97E5-9D3B-4226-B5C7-A017F92B31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705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C38CB-944A-4FD9-9E3F-54E4DD4940D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968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08BAA-0FB2-4066-BD0F-4F0B8F9FBA3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89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CE856-BC0F-48AD-ADF5-076AE94B93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344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9BE155-8D86-4A13-91EE-6EF4D56209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351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A5C3-4D86-4669-B8A8-8DBB96DEBAE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558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9144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910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ED80CCF4-234E-430B-810E-80A33ED41C38}" type="slidenum">
              <a:rPr lang="zh-TW" altLang="en-US">
                <a:solidFill>
                  <a:srgbClr val="EEECE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EEEC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35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752600"/>
            <a:ext cx="103632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65F4F-B841-47C1-9A47-2500F1C17C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5808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2672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FA845-9BB3-4E6B-A7AC-97D44032999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789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B44C08AA-875D-40A9-8407-113FACEFA38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39" name="Rectangle 6"/>
          <p:cNvSpPr>
            <a:spLocks noChangeArrowheads="1"/>
          </p:cNvSpPr>
          <p:nvPr userDrawn="1"/>
        </p:nvSpPr>
        <p:spPr bwMode="auto">
          <a:xfrm>
            <a:off x="0" y="0"/>
            <a:ext cx="9648395" cy="274638"/>
          </a:xfrm>
          <a:prstGeom prst="rect">
            <a:avLst/>
          </a:prstGeom>
          <a:solidFill>
            <a:srgbClr val="0E4851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41" name="Rectangle 8"/>
          <p:cNvSpPr>
            <a:spLocks noChangeArrowheads="1"/>
          </p:cNvSpPr>
          <p:nvPr userDrawn="1"/>
        </p:nvSpPr>
        <p:spPr bwMode="auto">
          <a:xfrm>
            <a:off x="9648395" y="0"/>
            <a:ext cx="2543605" cy="274638"/>
          </a:xfrm>
          <a:prstGeom prst="rect">
            <a:avLst/>
          </a:prstGeom>
          <a:solidFill>
            <a:srgbClr val="139CB7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27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437085"/>
        </a:buClr>
        <a:buSzTx/>
        <a:buFont typeface="Wingdings" pitchFamily="2" charset="2"/>
        <a:buChar char="§"/>
        <a:tabLst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357E69"/>
        </a:buClr>
        <a:buSzTx/>
        <a:buFont typeface="Wingdings" pitchFamily="2" charset="2"/>
        <a:buChar char="§"/>
        <a:tabLst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918BA3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F6E7E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33337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l-a-vo.github.io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-UESTC/UniMo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119336" y="1490861"/>
            <a:ext cx="11881320" cy="1722115"/>
          </a:xfrm>
        </p:spPr>
        <p:txBody>
          <a:bodyPr/>
          <a:lstStyle/>
          <a:p>
            <a:pPr fontAlgn="base" latinLnBrk="0">
              <a:lnSpc>
                <a:spcPct val="200000"/>
              </a:lnSpc>
            </a:pPr>
            <a:r>
              <a:rPr lang="en-US" altLang="ko-KR" sz="4000" kern="0" dirty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Active Learning with Zero-shot VLM</a:t>
            </a:r>
            <a:br>
              <a:rPr lang="en-US" altLang="ko-KR" sz="4000" kern="0" dirty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</a:br>
            <a:endParaRPr lang="ko-KR" altLang="en-US" sz="1600" b="0" dirty="0">
              <a:solidFill>
                <a:schemeClr val="accent5">
                  <a:lumMod val="60000"/>
                  <a:lumOff val="40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pic>
        <p:nvPicPr>
          <p:cNvPr id="4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6520" y="620688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497AA-5A78-43EA-8E51-56E9B9D2E806}" type="slidenum">
              <a:rPr lang="zh-TW" altLang="en-US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05044401"/>
      </p:ext>
    </p:extLst>
  </p:cSld>
  <p:clrMapOvr>
    <a:masterClrMapping/>
  </p:clrMapOvr>
  <p:transition advTm="135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9,146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 256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확장판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30,607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256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각도와 배경에서 촬영된 물체 이미지를 포함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</a:t>
            </a:fld>
            <a:endParaRPr lang="en-US" altLang="zh-TW" dirty="0"/>
          </a:p>
        </p:txBody>
      </p:sp>
      <p:pic>
        <p:nvPicPr>
          <p:cNvPr id="1026" name="Picture 2" descr="caltech101 | TensorFlow Datase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478" y="1746845"/>
            <a:ext cx="4256262" cy="425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1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비행기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자동차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새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3074" name="Picture 2" descr="CIFAR-10 Dataset | Papers With C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331428"/>
            <a:ext cx="3998721" cy="30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75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환경에서 발견할 수 있는 다양한 텍스처의 이미지를 수집하여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5640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47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거친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매끄러운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줄무늬 있는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Sentinel-2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위성이 촬영한 지구의 다양한 표면 유형에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대한 고해상도 이미지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27,000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도시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농지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숲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호수 등 다양한 지형의 표면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4</a:t>
            </a:fld>
            <a:endParaRPr lang="en-US" altLang="zh-TW" dirty="0"/>
          </a:p>
        </p:txBody>
      </p:sp>
      <p:pic>
        <p:nvPicPr>
          <p:cNvPr id="4098" name="Picture 2" descr="DTD Dataset | Papers With Co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1190222"/>
            <a:ext cx="2888804" cy="229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urosat | TensorFlow Datase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645" y="3514591"/>
            <a:ext cx="3320852" cy="332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77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70000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(T-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셔츠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탑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바지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풀오버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드레스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샌들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48x48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픽셀 크기의 그레이스케일 이미지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35,000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감정 카테고리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6" y="4077072"/>
            <a:ext cx="4173116" cy="2038826"/>
          </a:xfrm>
          <a:prstGeom prst="rect">
            <a:avLst/>
          </a:prstGeom>
        </p:spPr>
      </p:pic>
      <p:pic>
        <p:nvPicPr>
          <p:cNvPr id="5126" name="Picture 6" descr="fashion_mnist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8"/>
          <a:stretch/>
        </p:blipFill>
        <p:spPr bwMode="auto">
          <a:xfrm>
            <a:off x="8472713" y="1124744"/>
            <a:ext cx="2876972" cy="26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28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Oxford Flowers 102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8,189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102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꽃 종류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Food-101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101,000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음식 종류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  <p:pic>
        <p:nvPicPr>
          <p:cNvPr id="6146" name="Picture 2" descr="oxford_flowers102 | TensorFlow Dataset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" b="5357"/>
          <a:stretch/>
        </p:blipFill>
        <p:spPr bwMode="auto">
          <a:xfrm>
            <a:off x="8248744" y="1124744"/>
            <a:ext cx="2909301" cy="26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ood101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3"/>
          <a:stretch/>
        </p:blipFill>
        <p:spPr bwMode="auto">
          <a:xfrm>
            <a:off x="7953217" y="3789040"/>
            <a:ext cx="3396468" cy="306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7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cars196 | TensorFlow Datase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t="12600" r="4243" b="10961"/>
          <a:stretch/>
        </p:blipFill>
        <p:spPr bwMode="auto">
          <a:xfrm>
            <a:off x="8457894" y="3996698"/>
            <a:ext cx="3053075" cy="262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개와 고양이의 다양한 품종을 포함한 이미지들로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개와 고양이의 품종을 분류하는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7,500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이미지가 포함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74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다양한 품종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자동차 모델을 정확하게 분류하기 위한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16,185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196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자동차 모델로 분류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  <p:pic>
        <p:nvPicPr>
          <p:cNvPr id="8194" name="Picture 2" descr="The Oxford-IIIT Pet Datase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138672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9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649451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동작 인식을 위한 비디오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13,320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비디오 클립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동작 카테고리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스포츠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악기 연주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생활 동작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환경에서 촬영되었으며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배경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조명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촬영 각도 등이 상이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  <p:pic>
        <p:nvPicPr>
          <p:cNvPr id="7170" name="Picture 2" descr="UCF101 Fram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047" y="1340768"/>
            <a:ext cx="460851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05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11103024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CLIP(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ViT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-B/32)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모든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(Train + test)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대해 실험 진행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각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대해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 사용된 기본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&amp; prompt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앙상블을 활용한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성능 비교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평가지표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accuracy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F1(macro)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AUROC(One-vs-Rest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방식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매크로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AUROC))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9631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0.9970,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0.8502, Macro F1: 0.8643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0.8740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0.8822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(+0.0179)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0.9942,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0.8185, Macro F1: 0.8269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0.9939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0.8286(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+0.0101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), Macro F1: 0.8364(+0.0095)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183" y="1372686"/>
            <a:ext cx="3472011" cy="23763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827" y="4061337"/>
            <a:ext cx="3508725" cy="25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5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0.9466,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0.723, Macro F1: 0.7149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(+0.0017)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0.7345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(+0.0115)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0.7312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(+0.0163)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0.9413,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0.4154, Macro F1: 0.4209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0.9438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(+0.0025)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0.4393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0.4331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(+0.0122)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906" y="2348880"/>
            <a:ext cx="3970734" cy="25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7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{} texture.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0.9175,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0.4384, Macro F1: 0.3985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0.9157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(-0.0018)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0.4579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(+0.0195)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0.4183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(0.0198)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centered satellite photo of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0.8451,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0.4054, Macro F1: 0.3595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0.8441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0.4121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(+0.0067)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0.3657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(+0.0062)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12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439217"/>
            <a:ext cx="4530706" cy="20647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3785214"/>
            <a:ext cx="4530706" cy="23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7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0.9262,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0.6400, Macro F1: 0.6065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0.9264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(+0.0002)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(+0.0268)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0.6370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(+0.0305)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{} person.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0.7946,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0.4242, Macro F1: 0.3356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(+0.0001)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0.4642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0.3637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(+0.0281)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13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6" y="1156494"/>
            <a:ext cx="3588562" cy="24020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008" y="3754610"/>
            <a:ext cx="3555583" cy="298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Flowers102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{}, a type of flower.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0.9499,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0.6655, Macro F1: 0.6195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0.9490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:0.6685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0.6268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(+0.0073)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Food101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{} person.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0.9898,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0.7938, Macro F1: 0.7932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0.9904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(+ 0.0006)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0.8073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(+ 0.0135)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0.8059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(+0.0127)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14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561" y="1228434"/>
            <a:ext cx="5169839" cy="205152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265" y="3861048"/>
            <a:ext cx="4836135" cy="222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0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{}, a type of pet.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0.9737,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0.8195, Macro F1: 0.8034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0.9746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:0.8262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(+ 0.0067)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0.8095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(+ 0.0061)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"A photo of a {}, a type of car."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0.4924,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0.0107, Macro F1: 0.0109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0.4916,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0.0106, Macro F1: 0.0111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15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166037"/>
            <a:ext cx="4112841" cy="222486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706" y="3649693"/>
            <a:ext cx="3725589" cy="255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person doing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0.9671,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0.6029, Macro F1: 0.5725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:0.6280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(+0.0251)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0.5963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(+0.0238)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16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197701"/>
            <a:ext cx="447450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C236D-AAE4-6C96-5D3E-3EA44A3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94CE7-9D0B-0889-7B94-711CF83F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액티브 러닝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 </a:t>
            </a:r>
            <a:r>
              <a:rPr lang="en-US" altLang="ko-KR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– Clip Adapter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34CC0-6A56-43CA-51D5-BC52DFAA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901479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제안하는 불확실성 검사 결과 생각보다 다양한 클래스의 인스턴스들이 리턴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 데이터 셋에서 처참한 결과를 보임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(acc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&amp; f1 :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0.1~)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실험을 재현해본 결과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(few shot learning)  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제대로 학습될 때 있고 안될 때 존재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Adapter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는 모델 구조 및 학습하는 데이터셋에 따라 되게 민감하게 반응한다고 생각됨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Scratch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하여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contrastive loss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로 학습하는 코드는 아직 </a:t>
            </a:r>
            <a:r>
              <a:rPr lang="ko-KR" altLang="en-US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미실행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800">
                <a:latin typeface="Noto Sans KR" panose="020B0500000000000000" pitchFamily="34" charset="-127"/>
                <a:ea typeface="Noto Sans KR" panose="020B0500000000000000" pitchFamily="34" charset="-127"/>
              </a:rPr>
              <a:t>메모리 문제</a:t>
            </a:r>
            <a:r>
              <a:rPr lang="en-US" altLang="ko-KR" sz="180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F610D6E2-0748-C949-E2A6-AC250904C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F2127-C148-B678-B900-E297C68A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17</a:t>
            </a:fld>
            <a:endParaRPr lang="en-US" altLang="zh-TW" dirty="0"/>
          </a:p>
        </p:txBody>
      </p:sp>
      <p:pic>
        <p:nvPicPr>
          <p:cNvPr id="7" name="Google Shape;88;g2aa3afeb0c7_0_2">
            <a:extLst>
              <a:ext uri="{FF2B5EF4-FFF2-40B4-BE49-F238E27FC236}">
                <a16:creationId xmlns:a16="http://schemas.microsoft.com/office/drawing/2014/main" id="{0E095570-5AF0-B96A-3562-27DEBBC195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2106"/>
          <a:stretch/>
        </p:blipFill>
        <p:spPr>
          <a:xfrm>
            <a:off x="2897999" y="4575932"/>
            <a:ext cx="6396001" cy="19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A791BF-D6C9-A23B-BCEA-F0188262A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958" y="1230668"/>
            <a:ext cx="3520084" cy="9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92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C236D-AAE4-6C96-5D3E-3EA44A3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94CE7-9D0B-0889-7B94-711CF83F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액티브 러닝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 </a:t>
            </a:r>
            <a:r>
              <a:rPr lang="en-US" altLang="ko-KR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– Clip Coop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34CC0-6A56-43CA-51D5-BC52DFAA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901479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Few-shot learning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은 잘 구현됨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Active Learning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또한 되고 있긴 하지만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 </a:t>
            </a: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기술된만큼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아직 나오지는 않음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아마 프롬프트 정보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(GPT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이용해서 이미지에 대한 내용을 추가로 넣음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및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Coop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하이퍼파라미터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차이로 인한 것으로 추측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F610D6E2-0748-C949-E2A6-AC250904C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F2127-C148-B678-B900-E297C68A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18</a:t>
            </a:fld>
            <a:endParaRPr lang="en-US" altLang="zh-TW" dirty="0"/>
          </a:p>
        </p:txBody>
      </p:sp>
      <p:pic>
        <p:nvPicPr>
          <p:cNvPr id="7" name="Google Shape;88;g2aa3afeb0c7_0_2">
            <a:extLst>
              <a:ext uri="{FF2B5EF4-FFF2-40B4-BE49-F238E27FC236}">
                <a16:creationId xmlns:a16="http://schemas.microsoft.com/office/drawing/2014/main" id="{0E095570-5AF0-B96A-3562-27DEBBC195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2106"/>
          <a:stretch/>
        </p:blipFill>
        <p:spPr>
          <a:xfrm>
            <a:off x="2897999" y="4221088"/>
            <a:ext cx="6396001" cy="19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394" y="1511179"/>
            <a:ext cx="3284980" cy="62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69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C236D-AAE4-6C96-5D3E-3EA44A3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94CE7-9D0B-0889-7B94-711CF83F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액티브 러닝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 </a:t>
            </a:r>
            <a:r>
              <a:rPr lang="en-US" altLang="ko-KR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– Clip Coop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34CC0-6A56-43CA-51D5-BC52DFAA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10526960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문제점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단일과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앙상블의 차이가 크지 않는 것으로 보임 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초반에 </a:t>
            </a: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데이터셋이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부족해서 모델 학습이 불안정하게 되는 경우도 존재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Unlabel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대한 계산이 너무 오래 걸림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일반적인 앙상블과 큰 차이가 없어 보여 포지션이 애매하다고 생각</a:t>
            </a: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원래 희귀한 산업 데이터셋에서 레이블 이미지 데이터를 구하기 힘드니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인간의 지식을 언어 형태로 전달하여 성능을 높이는 과정에서 어떻게 불확실성을 측정하면 좋을지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근데 일반 데이터셋에서는 일반적인 앙상블 방법과 큰 차이가 없는 거 같아 논문의 내용이 부족해질 것 같음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프롬프트들의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diversity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측정하는 과정에서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Coop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에서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dropout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사용할 방법이 없음 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F610D6E2-0748-C949-E2A6-AC250904C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F2127-C148-B678-B900-E297C68A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19</a:t>
            </a:fld>
            <a:endParaRPr lang="en-US" altLang="zh-TW" dirty="0"/>
          </a:p>
        </p:txBody>
      </p:sp>
      <p:sp>
        <p:nvSpPr>
          <p:cNvPr id="8" name="직사각형 7"/>
          <p:cNvSpPr/>
          <p:nvPr/>
        </p:nvSpPr>
        <p:spPr>
          <a:xfrm>
            <a:off x="5136666" y="3244334"/>
            <a:ext cx="1918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Foundation</a:t>
            </a:r>
            <a:r>
              <a:rPr lang="ko-KR" altLang="en-US" dirty="0"/>
              <a:t> </a:t>
            </a:r>
            <a:r>
              <a:rPr lang="ko-KR" altLang="en-US" dirty="0" err="1"/>
              <a:t>Model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777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9878888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아이디어 초안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VLLM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사용하되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foundation model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사용하지 않는 방법 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	-&gt; 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foundation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model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도 잘 모르기에 오히려 사용하면 안좋음 이런 </a:t>
            </a: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스텐스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?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대략적 아이디어 알고리즘 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희귀한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Single domain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데이터셋에서 분류 모델을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fine-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tunning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진행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Fine-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tunning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진행한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모델의 아웃풋과 구하기 쉬운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VLLM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모델의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source domain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및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target domain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output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추출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나온 아웃풋들의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manifold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들을 이용 및 비교해 희귀한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target domain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대해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domain shift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진행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	(Angle-wise distillation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loss or contrastive loss)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  <p:pic>
        <p:nvPicPr>
          <p:cNvPr id="1026" name="Picture 2" descr="https://blog.kakaocdn.net/dn/dCnrnn/btqz1KRaB9x/AdTgY57xZ0xJI5Gi3KmPdK/img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62" b="16340"/>
          <a:stretch/>
        </p:blipFill>
        <p:spPr bwMode="auto">
          <a:xfrm>
            <a:off x="8616280" y="4834768"/>
            <a:ext cx="2232248" cy="189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738656" y="5013176"/>
            <a:ext cx="1181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Domain shift</a:t>
            </a:r>
            <a:endParaRPr lang="ko-KR" altLang="en-US" sz="1200" dirty="0"/>
          </a:p>
        </p:txBody>
      </p:sp>
      <p:sp>
        <p:nvSpPr>
          <p:cNvPr id="7" name="이등변 삼각형 6"/>
          <p:cNvSpPr/>
          <p:nvPr/>
        </p:nvSpPr>
        <p:spPr>
          <a:xfrm rot="3810827">
            <a:off x="10307730" y="3448282"/>
            <a:ext cx="743087" cy="75613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660396" y="5236763"/>
            <a:ext cx="14401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10272008" y="5514334"/>
            <a:ext cx="144472" cy="123689"/>
          </a:xfrm>
          <a:custGeom>
            <a:avLst/>
            <a:gdLst>
              <a:gd name="connsiteX0" fmla="*/ 0 w 439132"/>
              <a:gd name="connsiteY0" fmla="*/ 0 h 704850"/>
              <a:gd name="connsiteX1" fmla="*/ 76200 w 439132"/>
              <a:gd name="connsiteY1" fmla="*/ 57150 h 704850"/>
              <a:gd name="connsiteX2" fmla="*/ 114300 w 439132"/>
              <a:gd name="connsiteY2" fmla="*/ 133350 h 704850"/>
              <a:gd name="connsiteX3" fmla="*/ 161925 w 439132"/>
              <a:gd name="connsiteY3" fmla="*/ 219075 h 704850"/>
              <a:gd name="connsiteX4" fmla="*/ 190500 w 439132"/>
              <a:gd name="connsiteY4" fmla="*/ 314325 h 704850"/>
              <a:gd name="connsiteX5" fmla="*/ 200025 w 439132"/>
              <a:gd name="connsiteY5" fmla="*/ 352425 h 704850"/>
              <a:gd name="connsiteX6" fmla="*/ 228600 w 439132"/>
              <a:gd name="connsiteY6" fmla="*/ 419100 h 704850"/>
              <a:gd name="connsiteX7" fmla="*/ 266700 w 439132"/>
              <a:gd name="connsiteY7" fmla="*/ 504825 h 704850"/>
              <a:gd name="connsiteX8" fmla="*/ 285750 w 439132"/>
              <a:gd name="connsiteY8" fmla="*/ 581025 h 704850"/>
              <a:gd name="connsiteX9" fmla="*/ 295275 w 439132"/>
              <a:gd name="connsiteY9" fmla="*/ 638175 h 704850"/>
              <a:gd name="connsiteX10" fmla="*/ 314325 w 439132"/>
              <a:gd name="connsiteY10" fmla="*/ 704850 h 704850"/>
              <a:gd name="connsiteX11" fmla="*/ 333375 w 439132"/>
              <a:gd name="connsiteY11" fmla="*/ 676275 h 704850"/>
              <a:gd name="connsiteX12" fmla="*/ 352425 w 439132"/>
              <a:gd name="connsiteY12" fmla="*/ 590550 h 704850"/>
              <a:gd name="connsiteX13" fmla="*/ 381000 w 439132"/>
              <a:gd name="connsiteY13" fmla="*/ 533400 h 704850"/>
              <a:gd name="connsiteX14" fmla="*/ 390525 w 439132"/>
              <a:gd name="connsiteY14" fmla="*/ 476250 h 704850"/>
              <a:gd name="connsiteX15" fmla="*/ 400050 w 439132"/>
              <a:gd name="connsiteY15" fmla="*/ 447675 h 704850"/>
              <a:gd name="connsiteX16" fmla="*/ 419100 w 439132"/>
              <a:gd name="connsiteY16" fmla="*/ 285750 h 704850"/>
              <a:gd name="connsiteX17" fmla="*/ 428625 w 439132"/>
              <a:gd name="connsiteY17" fmla="*/ 209550 h 704850"/>
              <a:gd name="connsiteX18" fmla="*/ 438150 w 439132"/>
              <a:gd name="connsiteY18" fmla="*/ 180975 h 704850"/>
              <a:gd name="connsiteX19" fmla="*/ 438150 w 439132"/>
              <a:gd name="connsiteY19" fmla="*/ 11430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9132" h="704850">
                <a:moveTo>
                  <a:pt x="0" y="0"/>
                </a:moveTo>
                <a:cubicBezTo>
                  <a:pt x="25491" y="15295"/>
                  <a:pt x="59043" y="30190"/>
                  <a:pt x="76200" y="57150"/>
                </a:cubicBezTo>
                <a:cubicBezTo>
                  <a:pt x="91446" y="81108"/>
                  <a:pt x="101600" y="107950"/>
                  <a:pt x="114300" y="133350"/>
                </a:cubicBezTo>
                <a:cubicBezTo>
                  <a:pt x="141629" y="188009"/>
                  <a:pt x="126045" y="159274"/>
                  <a:pt x="161925" y="219075"/>
                </a:cubicBezTo>
                <a:cubicBezTo>
                  <a:pt x="180736" y="313129"/>
                  <a:pt x="159172" y="220340"/>
                  <a:pt x="190500" y="314325"/>
                </a:cubicBezTo>
                <a:cubicBezTo>
                  <a:pt x="194640" y="326744"/>
                  <a:pt x="195551" y="340122"/>
                  <a:pt x="200025" y="352425"/>
                </a:cubicBezTo>
                <a:cubicBezTo>
                  <a:pt x="208288" y="375149"/>
                  <a:pt x="219920" y="396532"/>
                  <a:pt x="228600" y="419100"/>
                </a:cubicBezTo>
                <a:cubicBezTo>
                  <a:pt x="259514" y="499476"/>
                  <a:pt x="231812" y="452493"/>
                  <a:pt x="266700" y="504825"/>
                </a:cubicBezTo>
                <a:cubicBezTo>
                  <a:pt x="273050" y="530225"/>
                  <a:pt x="281446" y="555200"/>
                  <a:pt x="285750" y="581025"/>
                </a:cubicBezTo>
                <a:cubicBezTo>
                  <a:pt x="288925" y="600075"/>
                  <a:pt x="291487" y="619237"/>
                  <a:pt x="295275" y="638175"/>
                </a:cubicBezTo>
                <a:cubicBezTo>
                  <a:pt x="301255" y="668075"/>
                  <a:pt x="305247" y="677615"/>
                  <a:pt x="314325" y="704850"/>
                </a:cubicBezTo>
                <a:cubicBezTo>
                  <a:pt x="320675" y="695325"/>
                  <a:pt x="328866" y="686797"/>
                  <a:pt x="333375" y="676275"/>
                </a:cubicBezTo>
                <a:cubicBezTo>
                  <a:pt x="345821" y="647233"/>
                  <a:pt x="341576" y="620386"/>
                  <a:pt x="352425" y="590550"/>
                </a:cubicBezTo>
                <a:cubicBezTo>
                  <a:pt x="359704" y="570534"/>
                  <a:pt x="371475" y="552450"/>
                  <a:pt x="381000" y="533400"/>
                </a:cubicBezTo>
                <a:cubicBezTo>
                  <a:pt x="384175" y="514350"/>
                  <a:pt x="386335" y="495103"/>
                  <a:pt x="390525" y="476250"/>
                </a:cubicBezTo>
                <a:cubicBezTo>
                  <a:pt x="392703" y="466449"/>
                  <a:pt x="398877" y="457646"/>
                  <a:pt x="400050" y="447675"/>
                </a:cubicBezTo>
                <a:cubicBezTo>
                  <a:pt x="420531" y="273589"/>
                  <a:pt x="393176" y="363523"/>
                  <a:pt x="419100" y="285750"/>
                </a:cubicBezTo>
                <a:cubicBezTo>
                  <a:pt x="422275" y="260350"/>
                  <a:pt x="424046" y="234735"/>
                  <a:pt x="428625" y="209550"/>
                </a:cubicBezTo>
                <a:cubicBezTo>
                  <a:pt x="430421" y="199672"/>
                  <a:pt x="437151" y="190965"/>
                  <a:pt x="438150" y="180975"/>
                </a:cubicBezTo>
                <a:cubicBezTo>
                  <a:pt x="440361" y="158860"/>
                  <a:pt x="438150" y="136525"/>
                  <a:pt x="438150" y="1143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이등변 삼각형 10"/>
          <p:cNvSpPr/>
          <p:nvPr/>
        </p:nvSpPr>
        <p:spPr>
          <a:xfrm rot="3998783">
            <a:off x="11194531" y="4614695"/>
            <a:ext cx="694809" cy="85518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703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6538330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관련 논문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(VLM zero shot domain adaptation)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VLLaVO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Mitigating Visual Gap through LLMs(24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아카이브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	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  <a:hlinkClick r:id="rId3"/>
              </a:rPr>
              <a:t>https://ll-a-vo.github.io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  <a:hlinkClick r:id="rId3"/>
              </a:rPr>
              <a:t>/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PØDA: Prompt-driven Zero-shot Domain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Adaptation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상황에 대한 정보를 담은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text encoder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넣은 결과값의 평균과 분산을 구함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구한 평균과 분산으로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Adain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하여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style transfer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진행한 임의의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augmentation image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생성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이를 이용해 학습을 진행하여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domain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대해 강건한 모델 구축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21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930" y="1196752"/>
            <a:ext cx="4549577" cy="24691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2184" y="3910147"/>
            <a:ext cx="3701119" cy="238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40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6538330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관련 논문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(VLM zero shot domain adaptation)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Empowering Unsupervised Domain Adaptation with Large-scale Pre-trained Vision-Language Models(24IEEE/CVF Winter Conference on Applications of Computer Vision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Split to Merge: Unifying Separated Modalities for Unsupervised Domain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Adaptation(24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아카이브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	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  <a:hlinkClick r:id="rId3"/>
              </a:rPr>
              <a:t>https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  <a:hlinkClick r:id="rId3"/>
              </a:rPr>
              <a:t>://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  <a:hlinkClick r:id="rId3"/>
              </a:rPr>
              <a:t>github.com/TL-UESTC/UniMoS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22</a:t>
            </a:fld>
            <a:endParaRPr lang="en-US" altLang="zh-TW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/>
          <a:srcRect l="5044"/>
          <a:stretch/>
        </p:blipFill>
        <p:spPr>
          <a:xfrm>
            <a:off x="7147930" y="1223458"/>
            <a:ext cx="4597612" cy="229744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128" y="3936829"/>
            <a:ext cx="4680265" cy="217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86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6538330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관련 논문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(VLM zero shot domain adaptation)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Prompt-Based Distribution Alignment for Unsupervised Domain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Adaptation(24AAI)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	https://github.com/BaiShuanghao/Prompt-based-Distribution-Alignment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Improved Zero-Shot Classification by Adapting VLMs with Text Descriptions(24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아카이브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	</a:t>
            </a: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23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930" y="1196752"/>
            <a:ext cx="4886907" cy="27275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930" y="4078543"/>
            <a:ext cx="4886907" cy="216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56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6538330" cy="53564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관련 논문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분포의 각도 기반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loss 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및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adaptation)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Relational Knowledge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Distillation(19 CVPR)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sdsd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Novel Angular-Based Unsupervised Domain Adaptation Framework for Image </a:t>
            </a: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Classification(23TAI)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소스 도메인 데이터에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훈련된소스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도메인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학습한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KNN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이용해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수도레이블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생성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Domain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상관없는 특성을 추출하기 위한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각도 기반의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object function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정의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수도레이블을 활용해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도메일에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무관하도록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학습 진행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898" y="1200174"/>
            <a:ext cx="2832546" cy="201334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rcRect b="4886"/>
          <a:stretch/>
        </p:blipFill>
        <p:spPr>
          <a:xfrm>
            <a:off x="9336360" y="3352454"/>
            <a:ext cx="2704267" cy="207299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7930" y="3354613"/>
            <a:ext cx="2328490" cy="295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312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">
      <a:majorFont>
        <a:latin typeface="Calibri"/>
        <a:ea typeface="새굴림"/>
        <a:cs typeface=""/>
      </a:majorFont>
      <a:minorFont>
        <a:latin typeface="Calibri"/>
        <a:ea typeface="새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57171</TotalTime>
  <Words>1500</Words>
  <Application>Microsoft Office PowerPoint</Application>
  <PresentationFormat>와이드스크린</PresentationFormat>
  <Paragraphs>293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6" baseType="lpstr">
      <vt:lpstr>Arial Unicode MS</vt:lpstr>
      <vt:lpstr>ＭＳ Ｐゴシック</vt:lpstr>
      <vt:lpstr>Noto Sans KR</vt:lpstr>
      <vt:lpstr>Noto Sans KR Black</vt:lpstr>
      <vt:lpstr>Tmon몬소리 Black</vt:lpstr>
      <vt:lpstr>맑은 고딕</vt:lpstr>
      <vt:lpstr>새굴림</vt:lpstr>
      <vt:lpstr>Arial</vt:lpstr>
      <vt:lpstr>Calibri</vt:lpstr>
      <vt:lpstr>Tahoma</vt:lpstr>
      <vt:lpstr>Wingdings</vt:lpstr>
      <vt:lpstr>1_Office 테마</vt:lpstr>
      <vt:lpstr>Active Learning with Zero-shot VLM </vt:lpstr>
      <vt:lpstr>데이터셋</vt:lpstr>
      <vt:lpstr>데이터셋</vt:lpstr>
      <vt:lpstr>데이터셋</vt:lpstr>
      <vt:lpstr>데이터셋</vt:lpstr>
      <vt:lpstr>데이터셋</vt:lpstr>
      <vt:lpstr>데이터셋</vt:lpstr>
      <vt:lpstr>데이터셋</vt:lpstr>
      <vt:lpstr>제로샷 실험 세팅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액티브 러닝 실험 결과 – Clip Adapter</vt:lpstr>
      <vt:lpstr>액티브 러닝 실험 결과 – Clip Coop</vt:lpstr>
      <vt:lpstr>액티브 러닝 실험 결과 – Clip Coop</vt:lpstr>
      <vt:lpstr>VLM Domain adaptation</vt:lpstr>
      <vt:lpstr>VLM Domain adaptation</vt:lpstr>
      <vt:lpstr>VLM Domain adaptation</vt:lpstr>
      <vt:lpstr>VLM Domain adaptation</vt:lpstr>
      <vt:lpstr>VLM Domain adaptation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VQA : Visual Question Answering</dc:title>
  <dc:creator>HJS</dc:creator>
  <cp:lastModifiedBy>user</cp:lastModifiedBy>
  <cp:revision>4867</cp:revision>
  <dcterms:created xsi:type="dcterms:W3CDTF">2014-04-14T02:09:26Z</dcterms:created>
  <dcterms:modified xsi:type="dcterms:W3CDTF">2024-04-04T06:25:36Z</dcterms:modified>
</cp:coreProperties>
</file>