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7" r:id="rId2"/>
    <p:sldId id="285" r:id="rId3"/>
    <p:sldId id="287" r:id="rId4"/>
    <p:sldId id="288" r:id="rId5"/>
    <p:sldId id="289" r:id="rId6"/>
    <p:sldId id="290" r:id="rId7"/>
    <p:sldId id="291" r:id="rId8"/>
    <p:sldId id="292" r:id="rId9"/>
    <p:sldId id="286" r:id="rId10"/>
    <p:sldId id="293" r:id="rId11"/>
    <p:sldId id="295" r:id="rId12"/>
    <p:sldId id="296" r:id="rId13"/>
    <p:sldId id="297" r:id="rId14"/>
    <p:sldId id="298" r:id="rId15"/>
    <p:sldId id="299" r:id="rId16"/>
    <p:sldId id="300" r:id="rId17"/>
    <p:sldId id="30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FB47EE9-87DD-415D-B669-752C87DCC3DB}">
          <p14:sldIdLst>
            <p14:sldId id="257"/>
            <p14:sldId id="285"/>
            <p14:sldId id="287"/>
            <p14:sldId id="288"/>
            <p14:sldId id="289"/>
            <p14:sldId id="290"/>
            <p14:sldId id="291"/>
            <p14:sldId id="292"/>
            <p14:sldId id="286"/>
            <p14:sldId id="293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43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JS" initials="H" lastIdx="3" clrIdx="0">
    <p:extLst>
      <p:ext uri="{19B8F6BF-5375-455C-9EA6-DF929625EA0E}">
        <p15:presenceInfo xmlns:p15="http://schemas.microsoft.com/office/powerpoint/2012/main" userId="HJS" providerId="None"/>
      </p:ext>
    </p:extLst>
  </p:cmAuthor>
  <p:cmAuthor id="2" name="user" initials="u" lastIdx="1" clrIdx="1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5653"/>
    <a:srgbClr val="F8CECC"/>
    <a:srgbClr val="073763"/>
    <a:srgbClr val="9FC5E8"/>
    <a:srgbClr val="0E4851"/>
    <a:srgbClr val="139CB7"/>
    <a:srgbClr val="02AE16"/>
    <a:srgbClr val="FF5050"/>
    <a:srgbClr val="E9EDF4"/>
    <a:srgbClr val="DB7E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88269" autoAdjust="0"/>
  </p:normalViewPr>
  <p:slideViewPr>
    <p:cSldViewPr>
      <p:cViewPr varScale="1">
        <p:scale>
          <a:sx n="98" d="100"/>
          <a:sy n="98" d="100"/>
        </p:scale>
        <p:origin x="1128" y="96"/>
      </p:cViewPr>
      <p:guideLst>
        <p:guide pos="3840"/>
        <p:guide orient="horz"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0FBD8-0F1E-482F-BF10-82435D722E8E}" type="datetimeFigureOut">
              <a:rPr lang="ko-KR" altLang="en-US" smtClean="0"/>
              <a:pPr/>
              <a:t>2024-03-07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93A05-2254-4DA6-9E6A-09E57F39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726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논문들에 비하면 굉장히 간단한 </a:t>
            </a:r>
            <a:r>
              <a:rPr lang="en-US" altLang="ko-KR" dirty="0"/>
              <a:t>idea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147A2-F99C-483A-9979-4B6C3BF4D233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422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717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794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977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64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142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016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27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388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435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519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28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961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089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333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260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018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914400" y="1988841"/>
            <a:ext cx="10363200" cy="1362075"/>
          </a:xfrm>
        </p:spPr>
        <p:txBody>
          <a:bodyPr anchor="t"/>
          <a:lstStyle>
            <a:lvl1pPr algn="ctr">
              <a:defRPr sz="3200" b="1" cap="none" baseline="0">
                <a:solidFill>
                  <a:srgbClr val="139CB7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362200"/>
          </a:xfrm>
        </p:spPr>
        <p:txBody>
          <a:bodyPr/>
          <a:lstStyle>
            <a:lvl1pPr marL="0" indent="0" algn="ctr">
              <a:buNone/>
              <a:defRPr sz="2800">
                <a:solidFill>
                  <a:srgbClr val="437085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</p:spPr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</p:spPr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244475"/>
          </a:xfrm>
        </p:spPr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fld id="{07D497AA-5A78-43EA-8E51-56E9B9D2E806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4521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304800" y="1051148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609600" y="-122014"/>
            <a:ext cx="10972800" cy="1143000"/>
          </a:xfrm>
        </p:spPr>
        <p:txBody>
          <a:bodyPr/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609600" y="1196752"/>
            <a:ext cx="10972800" cy="5356448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B920B53-77CF-4838-A2F2-45C5A158F6A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100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1AD55-FDBD-4401-942F-AD8C50636C9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6110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FF52639-425A-4381-B394-C1E41270EB7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66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EAA311-5005-4B70-88CC-6D871BF0D21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941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0BF97E5-9D3B-4226-B5C7-A017F92B31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705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C38CB-944A-4FD9-9E3F-54E4DD4940D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968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08BAA-0FB2-4066-BD0F-4F0B8F9FBA3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896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CE856-BC0F-48AD-ADF5-076AE94B93D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344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9BE155-8D86-4A13-91EE-6EF4D562099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351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1A5C3-4D86-4669-B8A8-8DBB96DEBAE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5584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14400" y="9144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910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 anchor="b"/>
          <a:lstStyle>
            <a:lvl1pPr>
              <a:defRPr smtClean="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zh-TW" altLang="en-US">
              <a:solidFill>
                <a:srgbClr val="EEECE1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 anchor="b"/>
          <a:lstStyle>
            <a:lvl1pPr>
              <a:defRPr smtClean="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zh-TW" altLang="en-US">
              <a:solidFill>
                <a:srgbClr val="EEECE1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 anchor="b"/>
          <a:lstStyle>
            <a:lvl1pPr>
              <a:defRPr smtClean="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ED80CCF4-234E-430B-810E-80A33ED41C38}" type="slidenum">
              <a:rPr lang="zh-TW" altLang="en-US">
                <a:solidFill>
                  <a:srgbClr val="EEECE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EEEC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35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752600"/>
            <a:ext cx="103632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65F4F-B841-47C1-9A47-2500F1C17CD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5808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52600"/>
            <a:ext cx="10363200" cy="2362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267200"/>
            <a:ext cx="10363200" cy="2362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FA845-9BB3-4E6B-A7AC-97D44032999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789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</a:p>
        </p:txBody>
      </p:sp>
      <p:sp>
        <p:nvSpPr>
          <p:cNvPr id="36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latin typeface="Calibri" pitchFamily="34" charset="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898989"/>
                </a:solidFill>
                <a:latin typeface="Calibri" pitchFamily="34" charset="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1"/>
            <a:ext cx="28448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Calibri" pitchFamily="34" charset="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>
              <a:defRPr/>
            </a:pPr>
            <a:fld id="{B44C08AA-875D-40A9-8407-113FACEFA38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39" name="Rectangle 6"/>
          <p:cNvSpPr>
            <a:spLocks noChangeArrowheads="1"/>
          </p:cNvSpPr>
          <p:nvPr userDrawn="1"/>
        </p:nvSpPr>
        <p:spPr bwMode="auto">
          <a:xfrm>
            <a:off x="0" y="0"/>
            <a:ext cx="9648395" cy="274638"/>
          </a:xfrm>
          <a:prstGeom prst="rect">
            <a:avLst/>
          </a:prstGeom>
          <a:solidFill>
            <a:srgbClr val="0E4851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endParaRPr lang="en-US" sz="1600" i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</p:txBody>
      </p:sp>
      <p:sp>
        <p:nvSpPr>
          <p:cNvPr id="41" name="Rectangle 8"/>
          <p:cNvSpPr>
            <a:spLocks noChangeArrowheads="1"/>
          </p:cNvSpPr>
          <p:nvPr userDrawn="1"/>
        </p:nvSpPr>
        <p:spPr bwMode="auto">
          <a:xfrm>
            <a:off x="9648395" y="0"/>
            <a:ext cx="2543605" cy="274638"/>
          </a:xfrm>
          <a:prstGeom prst="rect">
            <a:avLst/>
          </a:prstGeom>
          <a:solidFill>
            <a:srgbClr val="139CB7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defRPr/>
            </a:pPr>
            <a:endParaRPr lang="en-US" sz="1600" i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274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437085"/>
        </a:buClr>
        <a:buSzTx/>
        <a:buFont typeface="Wingdings" pitchFamily="2" charset="2"/>
        <a:buChar char="§"/>
        <a:tabLst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marR="0" indent="-28575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357E69"/>
        </a:buClr>
        <a:buSzTx/>
        <a:buFont typeface="Wingdings" pitchFamily="2" charset="2"/>
        <a:buChar char="§"/>
        <a:tabLst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918BA3"/>
        </a:buClr>
        <a:buSzTx/>
        <a:buFont typeface="Wingdings" pitchFamily="2" charset="2"/>
        <a:buChar char="§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2F6E7E"/>
        </a:buClr>
        <a:buSzTx/>
        <a:buFont typeface="Wingdings" pitchFamily="2" charset="2"/>
        <a:buChar char="§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233337"/>
        </a:buClr>
        <a:buSzTx/>
        <a:buFont typeface="Wingdings" pitchFamily="2" charset="2"/>
        <a:buChar char="§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119336" y="1490861"/>
            <a:ext cx="11881320" cy="1722115"/>
          </a:xfrm>
        </p:spPr>
        <p:txBody>
          <a:bodyPr/>
          <a:lstStyle/>
          <a:p>
            <a:pPr fontAlgn="base" latinLnBrk="0">
              <a:lnSpc>
                <a:spcPct val="200000"/>
              </a:lnSpc>
            </a:pPr>
            <a:r>
              <a:rPr lang="en-US" altLang="ko-KR" sz="4000" kern="0" dirty="0" smtClean="0"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Active </a:t>
            </a:r>
            <a:r>
              <a:rPr lang="en-US" altLang="ko-KR" sz="4000" kern="0" dirty="0"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Learning with Zero-shot </a:t>
            </a:r>
            <a:r>
              <a:rPr lang="en-US" altLang="ko-KR" sz="4000" kern="0" dirty="0" smtClean="0"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VLM</a:t>
            </a:r>
            <a:br>
              <a:rPr lang="en-US" altLang="ko-KR" sz="4000" kern="0" dirty="0" smtClean="0"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</a:br>
            <a:endParaRPr lang="ko-KR" altLang="en-US" sz="1600" b="0" dirty="0">
              <a:solidFill>
                <a:schemeClr val="accent5">
                  <a:lumMod val="60000"/>
                  <a:lumOff val="40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pic>
        <p:nvPicPr>
          <p:cNvPr id="4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6520" y="620688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D497AA-5A78-43EA-8E51-56E9B9D2E806}" type="slidenum">
              <a:rPr lang="zh-TW" altLang="en-US" smtClean="0"/>
              <a:pPr>
                <a:defRPr/>
              </a:pPr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05044401"/>
      </p:ext>
    </p:extLst>
  </p:cSld>
  <p:clrMapOvr>
    <a:masterClrMapping/>
  </p:clrMapOvr>
  <p:transition advTm="1357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Caltech_101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9,146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: 101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얼굴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시계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기타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코끼리 등 다양한 일상적 물체 이미지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Caltech_256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Caltech 256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은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Caltech 101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의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확장판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30,607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: 256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얼굴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시계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기타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코끼리 등 다양한 일상적 물체 이미지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각도와 배경에서 촬영된 물체 이미지를 포함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2</a:t>
            </a:fld>
            <a:endParaRPr lang="en-US" altLang="zh-TW" dirty="0"/>
          </a:p>
        </p:txBody>
      </p:sp>
      <p:pic>
        <p:nvPicPr>
          <p:cNvPr id="1026" name="Picture 2" descr="caltech101 | TensorFlow Datase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478" y="1746845"/>
            <a:ext cx="4256262" cy="425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91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CIFAR-10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60,000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: 10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비행기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자동차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새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고양이 등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CIFAR-100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60,000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: 100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3</a:t>
            </a:fld>
            <a:endParaRPr lang="en-US" altLang="zh-TW" dirty="0"/>
          </a:p>
        </p:txBody>
      </p:sp>
      <p:pic>
        <p:nvPicPr>
          <p:cNvPr id="3074" name="Picture 2" descr="CIFAR-10 Dataset | Papers With Co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2331428"/>
            <a:ext cx="3998721" cy="30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75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Describable Textures Dataset (DTD)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일상 환경에서 발견할 수 있는 다양한 텍스처의 이미지를 수집하여 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5640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47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거친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매끄러운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줄무늬 있는 등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EuroSAT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Sentinel-2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위성이 촬영한 지구의 다양한 표면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유형에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대한 고해상도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이미지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27,000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: 10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도시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농지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숲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강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호수 등 다양한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지형의 표면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4</a:t>
            </a:fld>
            <a:endParaRPr lang="en-US" altLang="zh-TW" dirty="0"/>
          </a:p>
        </p:txBody>
      </p:sp>
      <p:pic>
        <p:nvPicPr>
          <p:cNvPr id="4098" name="Picture 2" descr="DTD Dataset | Papers With Co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1190222"/>
            <a:ext cx="2888804" cy="229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urosat | TensorFlow Dataset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645" y="3514591"/>
            <a:ext cx="3320852" cy="332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77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FashionMNIST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70000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10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T-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셔츠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탑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바지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풀오버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드레스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코트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샌들 등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원래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CLIP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논문에서는 사용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X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FER-2013(Facial Expression Recognition 2013)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48x48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픽셀 크기의 그레이스케일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이미지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35,000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7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감정 카테고리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행복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슬픔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놀람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분노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경멸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두려움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중립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원래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논문에서는 사용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X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5</a:t>
            </a:fld>
            <a:endParaRPr lang="en-US" altLang="zh-TW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136" y="4077072"/>
            <a:ext cx="4173116" cy="2038826"/>
          </a:xfrm>
          <a:prstGeom prst="rect">
            <a:avLst/>
          </a:prstGeom>
        </p:spPr>
      </p:pic>
      <p:pic>
        <p:nvPicPr>
          <p:cNvPr id="5126" name="Picture 6" descr="fashion_mnist | TensorFlow Datasets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8"/>
          <a:stretch/>
        </p:blipFill>
        <p:spPr bwMode="auto">
          <a:xfrm>
            <a:off x="8472713" y="1124744"/>
            <a:ext cx="2876972" cy="26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28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Oxford Flowers 102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8,189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이미지로 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102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다른 꽃 종류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Food-101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101,000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101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음식 종류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행복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슬픔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놀람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분노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경멸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두려움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중립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6</a:t>
            </a:fld>
            <a:endParaRPr lang="en-US" altLang="zh-TW" dirty="0"/>
          </a:p>
        </p:txBody>
      </p:sp>
      <p:pic>
        <p:nvPicPr>
          <p:cNvPr id="6146" name="Picture 2" descr="oxford_flowers102 | TensorFlow Dataset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3" b="5357"/>
          <a:stretch/>
        </p:blipFill>
        <p:spPr bwMode="auto">
          <a:xfrm>
            <a:off x="8248744" y="1124744"/>
            <a:ext cx="2909301" cy="260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food101 | TensorFlow Datasets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3"/>
          <a:stretch/>
        </p:blipFill>
        <p:spPr bwMode="auto">
          <a:xfrm>
            <a:off x="7953217" y="3789040"/>
            <a:ext cx="3396468" cy="306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77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cars196 | TensorFlow Dataset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" t="12600" r="4243" b="10961"/>
          <a:stretch/>
        </p:blipFill>
        <p:spPr bwMode="auto">
          <a:xfrm>
            <a:off x="8457894" y="3996698"/>
            <a:ext cx="3053075" cy="262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OxfordPets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개와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고양이의 다양한 품종을 포함한 이미지들로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개와 고양이의 품종을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분류하는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7,500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이미지가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포함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74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다양한 품종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37,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고양이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37)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StanfordCars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자동차 모델을 정확하게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분류하기 위한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16,185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196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다른 자동차 모델로 분류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  <p:pic>
        <p:nvPicPr>
          <p:cNvPr id="8194" name="Picture 2" descr="The Oxford-IIIT Pet Datase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1138672"/>
            <a:ext cx="273630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99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6494512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UCF101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동작 인식을 위한 비디오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13,320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비디오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클립 이미지로 구성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101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동작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카테고리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스포츠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악기 연주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일상 생활 동작 등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환경에서 촬영되었으며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배경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조명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촬영 각도 등이 상이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8</a:t>
            </a:fld>
            <a:endParaRPr lang="en-US" altLang="zh-TW" dirty="0"/>
          </a:p>
        </p:txBody>
      </p:sp>
      <p:pic>
        <p:nvPicPr>
          <p:cNvPr id="7170" name="Picture 2" descr="UCF101 Fram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047" y="1340768"/>
            <a:ext cx="4608512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05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세팅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11103024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실험 세팅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모델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CLIP(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ViT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-B/32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모든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(Train + test)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 대해 실험 진행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각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데이터셋에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대해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CLIP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 사용된 기본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prompt &amp; prompt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앙상블을 활용한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성능 비교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평가지표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ccuracy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F1(macro)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AUROC(One-vs-Rest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방식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매크로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AUROC))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9631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0.9970,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0.8502, Macro F1: 0.8643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형용사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결합한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0.9970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0.8740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(+0.0238)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0.8822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0.0179)</a:t>
            </a:r>
            <a:endParaRPr lang="en-US" altLang="ko-KR" sz="12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Caltech_256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0.9942,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0.8185, Macro F1: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0.8269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0.9939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(-0.0003)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0.8286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+0.0101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0.8364(+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0.0095)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10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183" y="1372686"/>
            <a:ext cx="3472011" cy="237630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827" y="4061337"/>
            <a:ext cx="3508725" cy="253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5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CIFAR-10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photo of a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0.9466,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0.723,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0.7149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형용사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결합한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0.9483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0.0017)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0.7345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(+0.0115)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0.7312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(+0.0163)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CIFAR-100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0.9413,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0.4154,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0.4209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0.9438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0.0025)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0.4393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0.0239)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0.4331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0.0122)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11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906" y="2348880"/>
            <a:ext cx="3970734" cy="254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7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Describable Textures Dataset (DTD)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 texture.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0.9175,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0.4384, Macro F1: 0.3985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형용사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결합한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0.9157</a:t>
            </a:r>
            <a:r>
              <a:rPr lang="en-US" altLang="ko-KR" sz="12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(-0.0018)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0.4579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(+0.0195)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0.4183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(0.0198)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EuroSAT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centered satellite photo of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{}.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0.8451,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0.4054, Macro F1: 0.3595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0.8441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(-0.001)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0.4121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(+0.0067)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0.3657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0.0062)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12</a:t>
            </a:fld>
            <a:endParaRPr lang="en-US" altLang="zh-TW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52" y="1439217"/>
            <a:ext cx="4530706" cy="20647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152" y="3785214"/>
            <a:ext cx="4530706" cy="231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7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FashionMNIST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{}.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0.9262,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0.6400, Macro F1: 0.6065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형용사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결합한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0.9264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(+0.0002)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0.6668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(+0.0268)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0.6370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(+0.0305)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FER-2013(Facial Expression Recognition 2013)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photo of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person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0.7946,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0.4242,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0.3356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0.7945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0.0001)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0.4642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0.02)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0.3637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0.0281)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13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6" y="1156494"/>
            <a:ext cx="3588562" cy="240208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008" y="3754610"/>
            <a:ext cx="3555583" cy="298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4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Flowers102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photo of a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type of flower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0.9499,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0.6655,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Macro F1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0.6195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형용사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결합한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0.9490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(-0.0009)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0.6685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(+0.003)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0.6268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(+0.0073)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Food101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photo of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person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0.9898,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0.7938, Macro F1: 0.7932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0.9904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(+ 0.0006)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0.8073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(+ 0.0135)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0.8059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(+0.0127)</a:t>
            </a:r>
            <a:endParaRPr lang="en-US" altLang="ko-KR" sz="12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14</a:t>
            </a:fld>
            <a:endParaRPr lang="en-US" altLang="zh-TW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561" y="1228434"/>
            <a:ext cx="5169839" cy="205152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265" y="3861048"/>
            <a:ext cx="4836135" cy="222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6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OxfordPets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photo of a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type of pet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0.9737,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0.8195,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Macro F1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0.8034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형용사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결합한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0.9746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(+ 0.0009)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0.8262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0.0067)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0.8095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0.0061)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StanfordCars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"A photo of a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type of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car."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0.4924,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: 0.0107, Macro F1: 0.0109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0.4916,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0.0106,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0.0111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15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68" y="1166037"/>
            <a:ext cx="4112841" cy="222486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706" y="3649693"/>
            <a:ext cx="3725589" cy="255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UCF101</a:t>
            </a:r>
            <a:endParaRPr lang="en-US" altLang="ko-KR" sz="18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person doing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0.9671,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0.6029,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Macro F1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0.5725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형용사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결합한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0.9668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(-0.0003)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0.6280</a:t>
            </a:r>
            <a:r>
              <a:rPr lang="en-US" altLang="ko-KR" sz="12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(+0.0251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Macro F1: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0.5963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0.0238)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16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52" y="1197701"/>
            <a:ext cx="4474508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</a:t>
            </a:r>
            <a:r>
              <a:rPr lang="ko-KR" altLang="en-US" sz="2400" b="1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10742984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결론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StanfordCars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를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제외하고는 상당히 훌륭한 성능을 보이고 있음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대부분 앙상블을 진행한 실험에서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가 높음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모든 실험에서 앙상블을 진행한 실험에서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가 높음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하지만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앙상블로 인한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증가폭은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그리 크지 않음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( ~ 0.03)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질문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클래스가 매우 많은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데이터셋에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대해서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active learning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이 효과적인지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방법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1(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지식증류를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통한 분류 모델 학습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 vs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방법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2(VLM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모델에 대한 새로운 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uncertainty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방법 제안</a:t>
            </a: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중 어느 것이 가능성이 더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높아보이는지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Active learning 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진행 시 기존과 달리 추가적으로 </a:t>
            </a:r>
            <a:r>
              <a:rPr lang="ko-KR" altLang="en-US" sz="1400" dirty="0" err="1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신경써야</a:t>
            </a:r>
            <a:r>
              <a:rPr lang="ko-KR" altLang="en-US" sz="1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 할 세팅은 있는지</a:t>
            </a:r>
            <a:endParaRPr lang="en-US" altLang="ko-KR" sz="1400" dirty="0" smtClean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6804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">
      <a:majorFont>
        <a:latin typeface="Calibri"/>
        <a:ea typeface="새굴림"/>
        <a:cs typeface=""/>
      </a:majorFont>
      <a:minorFont>
        <a:latin typeface="Calibri"/>
        <a:ea typeface="새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57014</TotalTime>
  <Words>1204</Words>
  <Application>Microsoft Office PowerPoint</Application>
  <PresentationFormat>와이드스크린</PresentationFormat>
  <Paragraphs>223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9" baseType="lpstr">
      <vt:lpstr>Arial Unicode MS</vt:lpstr>
      <vt:lpstr>ＭＳ Ｐゴシック</vt:lpstr>
      <vt:lpstr>Noto Sans KR</vt:lpstr>
      <vt:lpstr>Noto Sans KR Black</vt:lpstr>
      <vt:lpstr>Tmon몬소리 Black</vt:lpstr>
      <vt:lpstr>맑은 고딕</vt:lpstr>
      <vt:lpstr>새굴림</vt:lpstr>
      <vt:lpstr>Arial</vt:lpstr>
      <vt:lpstr>Calibri</vt:lpstr>
      <vt:lpstr>Tahoma</vt:lpstr>
      <vt:lpstr>Wingdings</vt:lpstr>
      <vt:lpstr>1_Office 테마</vt:lpstr>
      <vt:lpstr>Active Learning with Zero-shot VLM </vt:lpstr>
      <vt:lpstr>데이터셋</vt:lpstr>
      <vt:lpstr>데이터셋</vt:lpstr>
      <vt:lpstr>데이터셋</vt:lpstr>
      <vt:lpstr>데이터셋</vt:lpstr>
      <vt:lpstr>데이터셋</vt:lpstr>
      <vt:lpstr>데이터셋</vt:lpstr>
      <vt:lpstr>데이터셋</vt:lpstr>
      <vt:lpstr>제로샷 실험 세팅</vt:lpstr>
      <vt:lpstr>제로샷 실험 결과</vt:lpstr>
      <vt:lpstr>제로샷 실험 결과</vt:lpstr>
      <vt:lpstr>제로샷 실험 결과</vt:lpstr>
      <vt:lpstr>제로샷 실험 결과</vt:lpstr>
      <vt:lpstr>제로샷 실험 결과</vt:lpstr>
      <vt:lpstr>제로샷 실험 결과</vt:lpstr>
      <vt:lpstr>제로샷 실험 결과</vt:lpstr>
      <vt:lpstr>제로샷 실험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VQA : Visual Question Answering</dc:title>
  <dc:creator>HJS</dc:creator>
  <cp:lastModifiedBy>user</cp:lastModifiedBy>
  <cp:revision>4821</cp:revision>
  <dcterms:created xsi:type="dcterms:W3CDTF">2014-04-14T02:09:26Z</dcterms:created>
  <dcterms:modified xsi:type="dcterms:W3CDTF">2024-03-07T06:33:10Z</dcterms:modified>
</cp:coreProperties>
</file>