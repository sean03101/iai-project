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irEZCQe9KzDcPnWTfTPnmfocpW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90055855b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290055855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aa3afeb0c7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2aa3afeb0c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e802f9d83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2ae802f9d8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b2ab97a825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2b2ab97a82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b2ab97a82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2b2ab97a8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b2ab97a825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2b2ab97a82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b2ab97a825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2b2ab97a82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b2ab97a825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2b2ab97a82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b2acbc559b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b2acbc559b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af26c5baa8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2af26c5baa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4.png"/><Relationship Id="rId6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90055855b2_0_5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290055855b2_0_5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240124 연구 진행상황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290055855b2_0_5"/>
          <p:cNvSpPr txBox="1"/>
          <p:nvPr/>
        </p:nvSpPr>
        <p:spPr>
          <a:xfrm>
            <a:off x="490450" y="882800"/>
            <a:ext cx="11559600" cy="53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uncertainty 아이디어 재현</a:t>
            </a:r>
            <a:endParaRPr sz="18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lgun Gothic"/>
              <a:buChar char="-"/>
            </a:pPr>
            <a:r>
              <a:rPr lang="ko-KR" sz="1800">
                <a:solidFill>
                  <a:srgbClr val="B7B7B7"/>
                </a:solidFill>
                <a:latin typeface="Malgun Gothic"/>
                <a:ea typeface="Malgun Gothic"/>
                <a:cs typeface="Malgun Gothic"/>
                <a:sym typeface="Malgun Gothic"/>
              </a:rPr>
              <a:t>w/o prompt ensemble,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prompt ensemble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lgun Gothic"/>
              <a:buChar char="-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text fine tuning model 전 </a:t>
            </a:r>
            <a:r>
              <a:rPr lang="ko-KR" sz="1800">
                <a:solidFill>
                  <a:srgbClr val="B7B7B7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lgun Gothic"/>
              <a:buChar char="-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meanSTD</a:t>
            </a:r>
            <a:endParaRPr sz="1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aa3afeb0c7_0_2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2aa3afeb0c7_0_2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 개요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2aa3afeb0c7_0_2"/>
          <p:cNvSpPr txBox="1"/>
          <p:nvPr>
            <p:ph idx="1" type="subTitle"/>
          </p:nvPr>
        </p:nvSpPr>
        <p:spPr>
          <a:xfrm>
            <a:off x="490450" y="882800"/>
            <a:ext cx="10892400" cy="5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-KR" sz="1400"/>
              <a:t>제조 데이터를 이용한 VLM active learning에 적합한 uncertainty 방법 제안</a:t>
            </a:r>
            <a:endParaRPr sz="1400"/>
          </a:p>
          <a:p>
            <a:pPr indent="-469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 sz="1400"/>
              <a:t>Anomaly detection 모델 학습 방법 : VLM fine tuning 방법론 (prompt learning, </a:t>
            </a:r>
            <a:r>
              <a:rPr b="1" lang="ko-KR" sz="1400"/>
              <a:t>clip adapter</a:t>
            </a:r>
            <a:r>
              <a:rPr lang="ko-KR" sz="1400"/>
              <a:t>, FLYP 등)</a:t>
            </a:r>
            <a:endParaRPr sz="1400"/>
          </a:p>
          <a:p>
            <a:pPr indent="-469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 sz="1400"/>
              <a:t>CLIP text output을 </a:t>
            </a:r>
            <a:r>
              <a:rPr b="1" lang="ko-KR" sz="1400"/>
              <a:t>먼저 앙상블</a:t>
            </a:r>
            <a:r>
              <a:rPr lang="ko-KR" sz="1400"/>
              <a:t>하고, fine tuning 할 adapter model의 text encoder를 거치는 구조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-KR" sz="1400"/>
              <a:t>기존의</a:t>
            </a:r>
            <a:r>
              <a:rPr lang="ko-KR" sz="1400"/>
              <a:t> Anomaly detection 모델(CLIP)을 fine tuning 하는 과정에서의 anomaly score 측정 방법</a:t>
            </a:r>
            <a:endParaRPr sz="1400"/>
          </a:p>
          <a:p>
            <a:pPr indent="-469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 sz="1400"/>
              <a:t>random</a:t>
            </a:r>
            <a:endParaRPr sz="1400"/>
          </a:p>
          <a:p>
            <a:pPr indent="-469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 sz="1400"/>
              <a:t>least confidence</a:t>
            </a:r>
            <a:endParaRPr sz="1400"/>
          </a:p>
          <a:p>
            <a:pPr indent="-469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 sz="1400"/>
              <a:t>entropy</a:t>
            </a:r>
            <a:endParaRPr sz="1400"/>
          </a:p>
          <a:p>
            <a:pPr indent="-469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 sz="1400"/>
              <a:t>meanSTD (MCDropout)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-KR" sz="1400"/>
              <a:t>모든 대조군은 zero shot에서 시작 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-KR" sz="1400"/>
              <a:t>0부터 k는 1로 설정하여 10 iteration까지 실험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/>
          </a:p>
        </p:txBody>
      </p:sp>
      <p:sp>
        <p:nvSpPr>
          <p:cNvPr id="88" name="Google Shape;88;g2aa3afeb0c7_0_2"/>
          <p:cNvSpPr/>
          <p:nvPr/>
        </p:nvSpPr>
        <p:spPr>
          <a:xfrm flipH="1" rot="10800000">
            <a:off x="9897375" y="5084500"/>
            <a:ext cx="162900" cy="86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89" name="Google Shape;89;g2aa3afeb0c7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3538" y="1999650"/>
            <a:ext cx="5322877" cy="183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2aa3afeb0c7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2825" y="4454501"/>
            <a:ext cx="4235698" cy="225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ae802f9d83_0_1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2ae802f9d83_0_1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Proposed idea </a:t>
            </a:r>
            <a:r>
              <a:rPr b="1" i="0" lang="ko-KR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b="1" i="0" lang="ko-KR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prompt들의 output을 비교하여 uncertainty 도출</a:t>
            </a:r>
            <a:r>
              <a:rPr b="1" i="0" lang="ko-KR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b="1" i="0" sz="2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" name="Google Shape;97;g2ae802f9d83_0_1"/>
          <p:cNvSpPr txBox="1"/>
          <p:nvPr>
            <p:ph idx="1" type="subTitle"/>
          </p:nvPr>
        </p:nvSpPr>
        <p:spPr>
          <a:xfrm>
            <a:off x="490450" y="882800"/>
            <a:ext cx="10892400" cy="51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800"/>
              <a:t>normal과 관련된 프롬프트 총 a개, abnormal과 관련된 프롬프트 총 b개가 있을 때,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unlabel 이미지 인스턴스에 대해 [a개 중 m번째 normal prompt, b개 중 n번째 abnormal prompt]에 대해 앞서 fine-tunning시킨 clip adapter에 넣어 [normal probability, abnormal probability]인 아웃풋 도출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이를 반복해 총 a*b개의 아웃풋 생성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a*b개에 대해 MCDropout에서 사용하는 방법들 적용</a:t>
            </a:r>
            <a:r>
              <a:rPr lang="ko-KR" sz="1400"/>
              <a:t>(BALD, </a:t>
            </a:r>
            <a:r>
              <a:rPr lang="ko-KR" sz="1400">
                <a:solidFill>
                  <a:srgbClr val="FF0000"/>
                </a:solidFill>
              </a:rPr>
              <a:t>meanSTD</a:t>
            </a:r>
            <a:r>
              <a:rPr lang="ko-KR" sz="1400"/>
              <a:t>, 변동계수(coefficient of variation, a*b개의 abnormal probability에 대한 표준 편차 ÷ a*b개의 abnormal probability에 대한 평균[1-3]) 등의 여러 방법)</a:t>
            </a:r>
            <a:endParaRPr sz="14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해당 과정으로 모든 unlabel 이미지에 적용하여 불확실성이 큰 순서대로 label 하는 query 전략 구축 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b2ab97a825_0_62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2b2ab97a825_0_62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실험 세팅</a:t>
            </a:r>
            <a:endParaRPr b="1" i="0" sz="2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" name="Google Shape;104;g2b2ab97a825_0_62"/>
          <p:cNvSpPr txBox="1"/>
          <p:nvPr>
            <p:ph idx="1" type="subTitle"/>
          </p:nvPr>
        </p:nvSpPr>
        <p:spPr>
          <a:xfrm>
            <a:off x="490450" y="882800"/>
            <a:ext cx="10892400" cy="57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CLIP image &amp; text output 벡터를, 학습 시킬 각각의 adapter encoder의 input으로 활용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CLIP text output을 먼저 앙상블하고, text adapter encoder를 거치는 구조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a*b개의 CLIP Adapter까지 거친 아웃풋들에 대해 meanSTD로  불확실성이 큰 순서대로 label</a:t>
            </a:r>
            <a:endParaRPr sz="18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/>
              <a:t> 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하이퍼 파라미터</a:t>
            </a:r>
            <a:endParaRPr sz="18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batch_size = 128 </a:t>
            </a:r>
            <a:endParaRPr sz="15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num_epoch = 50 </a:t>
            </a:r>
            <a:endParaRPr sz="15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total_iteration = 20</a:t>
            </a:r>
            <a:endParaRPr sz="15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temperature = 0.01</a:t>
            </a:r>
            <a:endParaRPr sz="15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dropout_rate = 0.2</a:t>
            </a:r>
            <a:endParaRPr sz="15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MCdropout_iter = 50</a:t>
            </a:r>
            <a:endParaRPr sz="15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update_instance = 1</a:t>
            </a:r>
            <a:endParaRPr sz="15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Adapter : linear(512) -&gt; linear(256) -&gt; dropout layer -&gt; linear(64) 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b2ab97a825_0_0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2b2ab97a825_0_0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300"/>
              <a:t>실험 결과 (MVTecAD)</a:t>
            </a:r>
            <a:endParaRPr b="1" i="0" sz="2300" u="none" cap="none" strike="noStrike">
              <a:solidFill>
                <a:srgbClr val="000000"/>
              </a:solidFill>
            </a:endParaRPr>
          </a:p>
        </p:txBody>
      </p:sp>
      <p:pic>
        <p:nvPicPr>
          <p:cNvPr id="111" name="Google Shape;111;g2b2ab97a82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5525" y="704100"/>
            <a:ext cx="4308199" cy="28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2b2ab97a825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4925" y="704100"/>
            <a:ext cx="4308199" cy="2852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2b2ab97a825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75525" y="3841775"/>
            <a:ext cx="4308199" cy="2853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2b2ab97a825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21475" y="3770226"/>
            <a:ext cx="4191651" cy="2775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b2ab97a825_0_10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2b2ab97a825_0_10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ko-KR" sz="2300">
                <a:solidFill>
                  <a:schemeClr val="dk1"/>
                </a:solidFill>
              </a:rPr>
              <a:t>실험 결과 (MVTecAD)</a:t>
            </a:r>
            <a:endParaRPr b="1" i="0" sz="2300" u="none" cap="none" strike="noStrike">
              <a:solidFill>
                <a:srgbClr val="000000"/>
              </a:solidFill>
            </a:endParaRPr>
          </a:p>
        </p:txBody>
      </p:sp>
      <p:pic>
        <p:nvPicPr>
          <p:cNvPr id="121" name="Google Shape;121;g2b2ab97a825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7475" y="719400"/>
            <a:ext cx="4308199" cy="2852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2b2ab97a825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8550" y="795599"/>
            <a:ext cx="4078047" cy="270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2b2ab97a825_0_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27475" y="3757000"/>
            <a:ext cx="4308193" cy="28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2b2ab97a825_0_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28550" y="3909400"/>
            <a:ext cx="4078051" cy="270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b2ab97a825_0_25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2b2ab97a825_0_25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ko-KR" sz="2300">
                <a:solidFill>
                  <a:schemeClr val="dk1"/>
                </a:solidFill>
              </a:rPr>
              <a:t>실험 결과 (MVTecAD)</a:t>
            </a:r>
            <a:endParaRPr b="1" i="0" sz="2300" u="none" cap="none" strike="noStrike">
              <a:solidFill>
                <a:srgbClr val="000000"/>
              </a:solidFill>
            </a:endParaRPr>
          </a:p>
        </p:txBody>
      </p:sp>
      <p:pic>
        <p:nvPicPr>
          <p:cNvPr id="131" name="Google Shape;131;g2b2ab97a825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2875" y="757500"/>
            <a:ext cx="4193119" cy="27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2b2ab97a825_0_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8873" y="871798"/>
            <a:ext cx="4020514" cy="2662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2b2ab97a825_0_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02875" y="3745825"/>
            <a:ext cx="4193117" cy="27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2b2ab97a825_0_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88874" y="3795075"/>
            <a:ext cx="3853001" cy="2551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b2ab97a825_0_49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2b2ab97a825_0_49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ko-KR" sz="2300">
                <a:solidFill>
                  <a:schemeClr val="dk1"/>
                </a:solidFill>
              </a:rPr>
              <a:t>실험 결과 (MVTecAD)</a:t>
            </a:r>
            <a:endParaRPr b="1" i="0" sz="2300" u="none" cap="none" strike="noStrike">
              <a:solidFill>
                <a:srgbClr val="000000"/>
              </a:solidFill>
            </a:endParaRPr>
          </a:p>
        </p:txBody>
      </p:sp>
      <p:pic>
        <p:nvPicPr>
          <p:cNvPr id="141" name="Google Shape;141;g2b2ab97a825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5248" y="719399"/>
            <a:ext cx="4193125" cy="2776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2b2ab97a825_0_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7449" y="832373"/>
            <a:ext cx="4022525" cy="266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b2ab97a825_0_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4800" y="3707725"/>
            <a:ext cx="4153574" cy="2750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2b2ab97a825_0_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89050" y="3707732"/>
            <a:ext cx="4022525" cy="2600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b2acbc559b_1_7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논의 사항 및 향후 계획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2b2acbc559b_1_7"/>
          <p:cNvSpPr txBox="1"/>
          <p:nvPr/>
        </p:nvSpPr>
        <p:spPr>
          <a:xfrm>
            <a:off x="490450" y="882800"/>
            <a:ext cx="11559600" cy="53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●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defect정보(crack, color)에 따라 pormpt를 구성했을 때, 이상 데이터만 뽑힐 가능성 ↑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모델 성능 향상에 도움을 줄지?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●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 데이터는 이상 데이터에 비해 변동성이 적어 뽑히지 않지 않을까 ?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라벨 데이터의 불균형(이상 데이터&gt;정상 데이터)의 원인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⇒ 현재 setting에서 defect 정보를 제거하여 비교 실험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af26c5baa8_0_2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af26c5baa8_0_2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참조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af26c5baa8_0_2"/>
          <p:cNvSpPr txBox="1"/>
          <p:nvPr>
            <p:ph idx="1" type="subTitle"/>
          </p:nvPr>
        </p:nvSpPr>
        <p:spPr>
          <a:xfrm>
            <a:off x="490450" y="882800"/>
            <a:ext cx="10892400" cy="3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Roy, A. G., Conjeti, S., Navab, N., &amp; Wachinger, C. (2018). Inherent brain segmentation quality control from fully convnet monte carlo sampling. In </a:t>
            </a:r>
            <a:r>
              <a:rPr i="1"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Medical Image Computing and Computer Assisted Intervention–MICCAI 2018: 21st International Conference, Granada, Spain, September 16-20, 2018, Proceedings, Part I</a:t>
            </a: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(pp. 664-672). Springer International Publishing.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Char char="●"/>
            </a:pP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Nair, T., Precup, D., Arnold, D. L., &amp; Arbel, T. (2020). Exploring uncertainty measures in deep networks for multiple sclerosis lesion detection and segmentation. </a:t>
            </a:r>
            <a:r>
              <a:rPr i="1"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Medical image analysis</a:t>
            </a: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59</a:t>
            </a: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101557.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Char char="●"/>
            </a:pP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Wang, G., Li, W., Aertsen, M., Deprest, J., Ourselin, S., &amp; Vercauteren, T. (2019). Aleatoric uncertainty estimation with test-time augmentation for medical image segmentation with convolutional neural networks. </a:t>
            </a:r>
            <a:r>
              <a:rPr i="1"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Neurocomputing</a:t>
            </a: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338</a:t>
            </a: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34-45.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2023-03-23T02:52:33Z</dcterms:created>
  <dc:creator>user</dc:creator>
</cp:coreProperties>
</file>