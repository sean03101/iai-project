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embeddedFontLst>
    <p:embeddedFont>
      <p:font typeface="Noto Sans KR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3" roundtripDataSignature="AMtx7mj5QjZNWfWwIvA1SjmTs6+59gCf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11F6487-F835-48AC-A8C9-B4841E63F430}">
  <a:tblStyle styleId="{D11F6487-F835-48AC-A8C9-B4841E63F43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font" Target="fonts/NotoSansKR-bold.fntdata"/><Relationship Id="rId10" Type="http://schemas.openxmlformats.org/officeDocument/2006/relationships/slide" Target="slides/slide4.xml"/><Relationship Id="rId21" Type="http://schemas.openxmlformats.org/officeDocument/2006/relationships/font" Target="fonts/NotoSansKR-regular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175c13a6e3_2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g3175c13a6e3_2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1914e9eb23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g31914e9eb23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175c13a6e3_2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g3175c13a6e3_2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17e8d1f02e_3_18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g317e8d1f02e_3_1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17e8d1f02e_3_2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g317e8d1f02e_3_2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17e8d1f02e_3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g317e8d1f02e_3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175c13a6e3_2_1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g3175c13a6e3_2_1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24ece648c5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g324ece648c5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24ece648c5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g324ece648c5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24ece648c5_0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g324ece648c5_0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24ece648c5_0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g324ece648c5_0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2ac5cb26fd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g32ac5cb26fd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g32ac5cb26fd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2ac5cb26fd_1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g32ac5cb26fd_1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Domain classifier 가 잘 구분하도록 학습했을 때, cameraz 를 되게 잘 구분함 =&gt; cameraz 가 source 와 가장 뚜렷하게 차이나는 domain 이라서?.. </a:t>
            </a:r>
            <a:endParaRPr/>
          </a:p>
        </p:txBody>
      </p:sp>
      <p:sp>
        <p:nvSpPr>
          <p:cNvPr id="242" name="Google Shape;242;g32ac5cb26fd_1_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/>
        </p:nvSpPr>
        <p:spPr>
          <a:xfrm>
            <a:off x="1164746" y="2982609"/>
            <a:ext cx="9862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250113 실험 결과</a:t>
            </a:r>
            <a:endParaRPr b="1" i="0" sz="2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175c13a6e3_2_8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EA72E"/>
                </a:solidFill>
                <a:latin typeface="Noto Sans KR"/>
                <a:ea typeface="Noto Sans KR"/>
                <a:cs typeface="Noto Sans KR"/>
                <a:sym typeface="Noto Sans KR"/>
              </a:rPr>
              <a:t>아이디어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3175c13a6e3_2_8"/>
          <p:cNvSpPr txBox="1"/>
          <p:nvPr/>
        </p:nvSpPr>
        <p:spPr>
          <a:xfrm>
            <a:off x="242600" y="644350"/>
            <a:ext cx="11187300" cy="14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1. Contrastive loss를 활용한 Test Time Auto Augmentation</a:t>
            </a:r>
            <a:endParaRPr b="1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-"/>
            </a:pPr>
            <a:r>
              <a:rPr b="0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가정 : Test 단계에서 제품이 불량 여부(class)나 촬영 환경(domain) 및 어떤 제품인지 알 수 없음(기존 문제 상황)</a:t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-"/>
            </a:pPr>
            <a:r>
              <a:rPr b="0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목적 : 과도한 증강으로 클래스가 바뀌지 않으면서, 다양한 촬영 환경에 대해 강건한 모델을 학습시킬 수 있는 증강을 찾을 수 있도록 하는 최적의 증강 policy 찾기</a:t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6" name="Google Shape;96;g3175c13a6e3_2_8"/>
          <p:cNvSpPr txBox="1"/>
          <p:nvPr/>
        </p:nvSpPr>
        <p:spPr>
          <a:xfrm>
            <a:off x="242600" y="5837925"/>
            <a:ext cx="11949300" cy="12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797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-"/>
            </a:pPr>
            <a:r>
              <a:rPr b="0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기존의 AutoAugmentation(Cubuk et al.2018) 방식과 동일한 구조</a:t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○"/>
            </a:pPr>
            <a:r>
              <a:rPr b="0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Controller는 n개의 가지는 augmentation 조합에 대한 policy 생성 </a:t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○"/>
            </a:pPr>
            <a:r>
              <a:rPr b="0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Augmentation은 probability, method, magnitude 3가지 조합으로 정의</a:t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97" name="Google Shape;97;g3175c13a6e3_2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15651" y="2063900"/>
            <a:ext cx="3938775" cy="377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g31914e9eb23_0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39975" y="942625"/>
            <a:ext cx="9472825" cy="270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g31914e9eb23_0_3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EA72E"/>
                </a:solidFill>
                <a:latin typeface="Noto Sans KR"/>
                <a:ea typeface="Noto Sans KR"/>
                <a:cs typeface="Noto Sans KR"/>
                <a:sym typeface="Noto Sans KR"/>
              </a:rPr>
              <a:t>아이디어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1914e9eb23_0_3"/>
          <p:cNvSpPr txBox="1"/>
          <p:nvPr/>
        </p:nvSpPr>
        <p:spPr>
          <a:xfrm>
            <a:off x="242600" y="644350"/>
            <a:ext cx="11187300" cy="8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1. Contrastive loss를 활용한 Test Time Auto Augmentation</a:t>
            </a:r>
            <a:endParaRPr b="1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5" name="Google Shape;105;g31914e9eb23_0_3"/>
          <p:cNvSpPr txBox="1"/>
          <p:nvPr/>
        </p:nvSpPr>
        <p:spPr>
          <a:xfrm>
            <a:off x="242600" y="3551925"/>
            <a:ext cx="7525800" cy="26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797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-"/>
            </a:pPr>
            <a:r>
              <a:rPr b="0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controller는 child model의 아웃풋을 바탕으로 update / 직접 역전파 할 수 없기에 reward(accuracy)를 바탕으로 강화학습(PPO)를 통해 학습</a:t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-"/>
            </a:pPr>
            <a:r>
              <a:rPr b="0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Controller Input : 이전 에피소드의 Softmax 출력값(타입, 크기, 확률)을 임베딩한 벡터(이전 state)</a:t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-"/>
            </a:pPr>
            <a:r>
              <a:rPr b="0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Controller Output : 현재 에피소드의 Softmax 출력값(타입, 크기, 확률)을 임베딩한 벡터(현재 state)</a:t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-"/>
            </a:pPr>
            <a:r>
              <a:rPr b="0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Controller는 rnn으로, 이전 에피소드들의 아웃풋을 함께 사용해 순차적인 의사결정을 수행</a:t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-"/>
            </a:pPr>
            <a:r>
              <a:rPr b="0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Policy : policy_decoder를 통해 임베딩한 벡터를 현재 에피소드에서 선택할 augment 연산 종류, 크기, 확률로 mapping한 값</a:t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06" name="Google Shape;106;g31914e9eb23_0_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56175" y="3551925"/>
            <a:ext cx="4067425" cy="199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g31914e9eb23_0_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56179" y="5876675"/>
            <a:ext cx="3837120" cy="95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g31914e9eb23_0_3"/>
          <p:cNvSpPr txBox="1"/>
          <p:nvPr/>
        </p:nvSpPr>
        <p:spPr>
          <a:xfrm>
            <a:off x="8056200" y="3280775"/>
            <a:ext cx="38370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fast autoaugment 공식 코드 일부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g31914e9eb23_0_3"/>
          <p:cNvSpPr txBox="1"/>
          <p:nvPr/>
        </p:nvSpPr>
        <p:spPr>
          <a:xfrm>
            <a:off x="8132400" y="5490575"/>
            <a:ext cx="38370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autoaugment 논문 중 한 구절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g31914e9eb23_0_3"/>
          <p:cNvSpPr txBox="1"/>
          <p:nvPr/>
        </p:nvSpPr>
        <p:spPr>
          <a:xfrm>
            <a:off x="301738" y="1027800"/>
            <a:ext cx="11949300" cy="6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797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-"/>
            </a:pPr>
            <a:r>
              <a:rPr b="1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기존의 AutoAugmentation(Cubuk et al.2018) 설명</a:t>
            </a:r>
            <a:endParaRPr b="1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175c13a6e3_2_1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EA72E"/>
                </a:solidFill>
                <a:latin typeface="Noto Sans KR"/>
                <a:ea typeface="Noto Sans KR"/>
                <a:cs typeface="Noto Sans KR"/>
                <a:sym typeface="Noto Sans KR"/>
              </a:rPr>
              <a:t>아이디어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g3175c13a6e3_2_1"/>
          <p:cNvSpPr txBox="1"/>
          <p:nvPr/>
        </p:nvSpPr>
        <p:spPr>
          <a:xfrm>
            <a:off x="242600" y="644350"/>
            <a:ext cx="11187300" cy="14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1. Contrastive loss를 활용한 Test Time Auto Augmentation</a:t>
            </a:r>
            <a:endParaRPr b="1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-"/>
            </a:pPr>
            <a:r>
              <a:rPr b="0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가정 : Test 단계에서 제품이 불량 여부(class)나 촬영 환경(domain) 및 어떤 제품인지 알 수 없음(기존 문제 상황)</a:t>
            </a:r>
            <a:endParaRPr b="0" i="0" sz="1250" u="none" cap="none" strike="noStrike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-"/>
            </a:pPr>
            <a:r>
              <a:rPr b="0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목적 : 과도한 증강으로 클래스가 바뀌지 않으면서, 다양한 촬영 환경에 대해 강건한 모델을 학습시킬 수 있는 증강을 찾을 수 있도록 하는 최적의 증강 policy 찾기</a:t>
            </a:r>
            <a:endParaRPr b="1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7" name="Google Shape;117;g3175c13a6e3_2_1"/>
          <p:cNvSpPr/>
          <p:nvPr/>
        </p:nvSpPr>
        <p:spPr>
          <a:xfrm>
            <a:off x="2427800" y="3421525"/>
            <a:ext cx="792300" cy="248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3175c13a6e3_2_1"/>
          <p:cNvSpPr/>
          <p:nvPr/>
        </p:nvSpPr>
        <p:spPr>
          <a:xfrm rot="-5400000">
            <a:off x="1255538" y="3025463"/>
            <a:ext cx="987300" cy="1040525"/>
          </a:xfrm>
          <a:prstGeom prst="flowChartManualOperation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3175c13a6e3_2_1"/>
          <p:cNvSpPr txBox="1"/>
          <p:nvPr/>
        </p:nvSpPr>
        <p:spPr>
          <a:xfrm>
            <a:off x="1228925" y="3292200"/>
            <a:ext cx="1040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Controller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175c13a6e3_2_1"/>
          <p:cNvSpPr/>
          <p:nvPr/>
        </p:nvSpPr>
        <p:spPr>
          <a:xfrm>
            <a:off x="3480822" y="3196975"/>
            <a:ext cx="1565400" cy="69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Augmentation Image</a:t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g3175c13a6e3_2_1"/>
          <p:cNvSpPr/>
          <p:nvPr/>
        </p:nvSpPr>
        <p:spPr>
          <a:xfrm rot="-5400000">
            <a:off x="6244013" y="3025463"/>
            <a:ext cx="987300" cy="1040525"/>
          </a:xfrm>
          <a:prstGeom prst="flowChartManualOperation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3175c13a6e3_2_1"/>
          <p:cNvSpPr txBox="1"/>
          <p:nvPr/>
        </p:nvSpPr>
        <p:spPr>
          <a:xfrm>
            <a:off x="6217400" y="3139800"/>
            <a:ext cx="1040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Trained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g3175c13a6e3_2_1"/>
          <p:cNvSpPr/>
          <p:nvPr/>
        </p:nvSpPr>
        <p:spPr>
          <a:xfrm>
            <a:off x="5174188" y="3421525"/>
            <a:ext cx="792300" cy="248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3175c13a6e3_2_1"/>
          <p:cNvSpPr/>
          <p:nvPr/>
        </p:nvSpPr>
        <p:spPr>
          <a:xfrm>
            <a:off x="7638888" y="3421525"/>
            <a:ext cx="792300" cy="248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3175c13a6e3_2_1"/>
          <p:cNvSpPr/>
          <p:nvPr/>
        </p:nvSpPr>
        <p:spPr>
          <a:xfrm>
            <a:off x="8812172" y="3196975"/>
            <a:ext cx="1565400" cy="69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Suggest</a:t>
            </a:r>
            <a:endParaRPr b="1" i="0" sz="1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Reward</a:t>
            </a:r>
            <a:endParaRPr b="1" i="0" sz="1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" name="Google Shape;126;g3175c13a6e3_2_1"/>
          <p:cNvCxnSpPr>
            <a:endCxn id="118" idx="1"/>
          </p:cNvCxnSpPr>
          <p:nvPr/>
        </p:nvCxnSpPr>
        <p:spPr>
          <a:xfrm flipH="1">
            <a:off x="1749188" y="3877046"/>
            <a:ext cx="7802100" cy="63600"/>
          </a:xfrm>
          <a:prstGeom prst="bentConnector4">
            <a:avLst>
              <a:gd fmla="val 153" name="adj1"/>
              <a:gd fmla="val 629648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" name="Google Shape;127;g3175c13a6e3_2_1"/>
          <p:cNvSpPr txBox="1"/>
          <p:nvPr/>
        </p:nvSpPr>
        <p:spPr>
          <a:xfrm>
            <a:off x="4222400" y="4424675"/>
            <a:ext cx="2873400" cy="5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Proximal Policy Optimization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3175c13a6e3_2_1"/>
          <p:cNvSpPr txBox="1"/>
          <p:nvPr/>
        </p:nvSpPr>
        <p:spPr>
          <a:xfrm>
            <a:off x="242600" y="5228325"/>
            <a:ext cx="119493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797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-"/>
            </a:pPr>
            <a:r>
              <a:rPr b="0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Test Time augmentation 이기에, label이 없는 상황에서 사용할 수 있는 새로운 reward를 제안</a:t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29" name="Google Shape;129;g3175c13a6e3_2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6675" y="2625925"/>
            <a:ext cx="348349" cy="348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g3175c13a6e3_2_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81875" y="2737750"/>
            <a:ext cx="400451" cy="400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g3175c13a6e3_2_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36275" y="4487175"/>
            <a:ext cx="3863924" cy="107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17e8d1f02e_3_189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EA72E"/>
                </a:solidFill>
                <a:latin typeface="Noto Sans KR"/>
                <a:ea typeface="Noto Sans KR"/>
                <a:cs typeface="Noto Sans KR"/>
                <a:sym typeface="Noto Sans KR"/>
              </a:rPr>
              <a:t>아이디어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g317e8d1f02e_3_189"/>
          <p:cNvSpPr txBox="1"/>
          <p:nvPr/>
        </p:nvSpPr>
        <p:spPr>
          <a:xfrm>
            <a:off x="242600" y="644350"/>
            <a:ext cx="11187300" cy="23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1. Triplet loss 및 Margin을 활용한 Test Time Auto Augmentation</a:t>
            </a:r>
            <a:endParaRPr b="1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-"/>
            </a:pPr>
            <a:r>
              <a:rPr b="0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제안하는 Reward : source 원본 image와 target aug image 사이의 triplet loss + Least Confidence</a:t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1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1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1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38" name="Google Shape;138;g317e8d1f02e_3_1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9200" y="1509875"/>
            <a:ext cx="10513699" cy="420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17e8d1f02e_3_257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EA72E"/>
                </a:solidFill>
                <a:latin typeface="Noto Sans KR"/>
                <a:ea typeface="Noto Sans KR"/>
                <a:cs typeface="Noto Sans KR"/>
                <a:sym typeface="Noto Sans KR"/>
              </a:rPr>
              <a:t>아이디어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g317e8d1f02e_3_257"/>
          <p:cNvSpPr txBox="1"/>
          <p:nvPr/>
        </p:nvSpPr>
        <p:spPr>
          <a:xfrm>
            <a:off x="242600" y="644350"/>
            <a:ext cx="11187300" cy="32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1. Triplet loss 및 Margin을 활용한 Test Time Auto Augmentation</a:t>
            </a:r>
            <a:endParaRPr b="1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-"/>
            </a:pPr>
            <a:r>
              <a:rPr b="0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제안하는 Reward : source 원본 image와 target aug image 사이의 triplet loss + Least Confidence</a:t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1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1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1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○"/>
            </a:pPr>
            <a:r>
              <a:rPr b="0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triplet_loss : </a:t>
            </a:r>
            <a:r>
              <a:rPr b="0" i="0" lang="en-US" sz="1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Anchor는 </a:t>
            </a:r>
            <a:r>
              <a:rPr b="0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source 원본 image</a:t>
            </a:r>
            <a:r>
              <a:rPr b="0" i="0" lang="en-US" sz="1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Positive는 학습한 모델이 confidence하게 같은 클래스로 예측한 target 이미지를 증강 시킨 것, Negative는 학습한 모델이 confidence하게 다른 클래스로 예측한 target 이미지를 증강 시킨것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797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○"/>
            </a:pPr>
            <a:r>
              <a:rPr b="0" i="0" lang="en-US" sz="1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목적 : target 이미지를 과도하게 augmentation 해 class가 바뀌는 것을 방지</a:t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○"/>
            </a:pPr>
            <a:r>
              <a:rPr b="0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문제점 : </a:t>
            </a:r>
            <a:r>
              <a:rPr b="0" i="0" lang="en-US" sz="125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잘못된 수도레이블로 인해 잘못 학습될 수 도 있음</a:t>
            </a:r>
            <a:endParaRPr b="0" i="0" sz="1250" u="none" cap="none" strike="noStrike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5" name="Google Shape;145;g317e8d1f02e_3_257"/>
          <p:cNvSpPr/>
          <p:nvPr/>
        </p:nvSpPr>
        <p:spPr>
          <a:xfrm>
            <a:off x="3971100" y="4181375"/>
            <a:ext cx="782700" cy="91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317e8d1f02e_3_257"/>
          <p:cNvSpPr txBox="1"/>
          <p:nvPr/>
        </p:nvSpPr>
        <p:spPr>
          <a:xfrm>
            <a:off x="3971100" y="4329575"/>
            <a:ext cx="7827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1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g317e8d1f02e_3_257"/>
          <p:cNvSpPr txBox="1"/>
          <p:nvPr/>
        </p:nvSpPr>
        <p:spPr>
          <a:xfrm>
            <a:off x="3971100" y="5013575"/>
            <a:ext cx="782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anchor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317e8d1f02e_3_257"/>
          <p:cNvSpPr/>
          <p:nvPr/>
        </p:nvSpPr>
        <p:spPr>
          <a:xfrm>
            <a:off x="5607250" y="3960125"/>
            <a:ext cx="1082700" cy="9114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chemeClr val="accen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g317e8d1f02e_3_257"/>
          <p:cNvSpPr txBox="1"/>
          <p:nvPr/>
        </p:nvSpPr>
        <p:spPr>
          <a:xfrm>
            <a:off x="5607250" y="4108325"/>
            <a:ext cx="12255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T1</a:t>
            </a:r>
            <a:r>
              <a:rPr b="0" baseline="-25000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317e8d1f02e_3_257"/>
          <p:cNvSpPr txBox="1"/>
          <p:nvPr/>
        </p:nvSpPr>
        <p:spPr>
          <a:xfrm>
            <a:off x="5607250" y="4792325"/>
            <a:ext cx="782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positive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g317e8d1f02e_3_257"/>
          <p:cNvSpPr txBox="1"/>
          <p:nvPr/>
        </p:nvSpPr>
        <p:spPr>
          <a:xfrm>
            <a:off x="6881250" y="6054625"/>
            <a:ext cx="159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negative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g317e8d1f02e_3_257"/>
          <p:cNvSpPr/>
          <p:nvPr/>
        </p:nvSpPr>
        <p:spPr>
          <a:xfrm>
            <a:off x="4789175" y="4495925"/>
            <a:ext cx="782700" cy="2823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317e8d1f02e_3_257"/>
          <p:cNvSpPr/>
          <p:nvPr/>
        </p:nvSpPr>
        <p:spPr>
          <a:xfrm rot="1511866">
            <a:off x="4999357" y="5348380"/>
            <a:ext cx="1636194" cy="282224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317e8d1f02e_3_257"/>
          <p:cNvSpPr/>
          <p:nvPr/>
        </p:nvSpPr>
        <p:spPr>
          <a:xfrm>
            <a:off x="6843098" y="5092775"/>
            <a:ext cx="1506000" cy="911400"/>
          </a:xfrm>
          <a:prstGeom prst="triangle">
            <a:avLst>
              <a:gd fmla="val 50000" name="adj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317e8d1f02e_3_257"/>
          <p:cNvSpPr txBox="1"/>
          <p:nvPr/>
        </p:nvSpPr>
        <p:spPr>
          <a:xfrm>
            <a:off x="7064500" y="5382875"/>
            <a:ext cx="12255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T2</a:t>
            </a:r>
            <a:r>
              <a:rPr b="0" baseline="-25000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6" name="Google Shape;156;g317e8d1f02e_3_2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5163" y="1429725"/>
            <a:ext cx="10982325" cy="89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17e8d1f02e_3_55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EA72E"/>
                </a:solidFill>
                <a:latin typeface="Noto Sans KR"/>
                <a:ea typeface="Noto Sans KR"/>
                <a:cs typeface="Noto Sans KR"/>
                <a:sym typeface="Noto Sans KR"/>
              </a:rPr>
              <a:t>아이디어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g317e8d1f02e_3_55"/>
          <p:cNvSpPr txBox="1"/>
          <p:nvPr/>
        </p:nvSpPr>
        <p:spPr>
          <a:xfrm>
            <a:off x="242600" y="644350"/>
            <a:ext cx="11187300" cy="43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1. Triplet loss 및 Margin을 활용한 Test Time Auto Augmentation</a:t>
            </a:r>
            <a:endParaRPr b="1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-"/>
            </a:pPr>
            <a:r>
              <a:rPr b="0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제안하는 Reward : source 원본 image와 target aug image 사이의 triplet loss + Least Confidence</a:t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1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1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1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Max(LeastConficence(Unconfidence Target Image`)) : 도메인 변화로 인해 unconfidence해진 target image들을 confidence하게 예측하도록 바꾸는 augmentation을 찾자!</a:t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○"/>
            </a:pPr>
            <a:r>
              <a:rPr b="0" i="0" lang="en-US" sz="1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목표 : 도메인 변화로 인해 unconfidence한 Target 이미지를 augmentation으로 confidence하게 바꾸는 것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797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○"/>
            </a:pPr>
            <a:r>
              <a:rPr b="0" i="0" lang="en-US" sz="1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Augmentation이 잘못된 class에 대해 confidence를 높일 가능성도 있지만, Reward 계산 과정에서 Triplet Loss와 Least Confidence를 동시에 고려하므로, 최종적으로 선택된 augmentation(policy)는 올바른 class에 대해 confidence를 높이는 방향으로 작동할 것 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797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50"/>
              <a:buFont typeface="Arial"/>
              <a:buChar char="○"/>
            </a:pPr>
            <a:r>
              <a:rPr b="0" i="0" lang="en-US" sz="125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문제점 : 정말로 최종적으로 선택된 augmentation(policy)는 올바른 class에 대해 confidence를 높이는 방향으로 작동할 것인가?</a:t>
            </a:r>
            <a:endParaRPr b="0" i="0" sz="125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63" name="Google Shape;163;g317e8d1f02e_3_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0975" y="1477600"/>
            <a:ext cx="10982325" cy="89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175c13a6e3_2_160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EA72E"/>
                </a:solidFill>
                <a:latin typeface="Noto Sans KR"/>
                <a:ea typeface="Noto Sans KR"/>
                <a:cs typeface="Noto Sans KR"/>
                <a:sym typeface="Noto Sans KR"/>
              </a:rPr>
              <a:t>아이디어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3175c13a6e3_2_160"/>
          <p:cNvSpPr txBox="1"/>
          <p:nvPr/>
        </p:nvSpPr>
        <p:spPr>
          <a:xfrm>
            <a:off x="242600" y="644350"/>
            <a:ext cx="6238200" cy="23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1. Contrastive loss를 활용한 Test Time Auto Augmentation</a:t>
            </a:r>
            <a:endParaRPr b="1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-"/>
            </a:pPr>
            <a:r>
              <a:rPr b="0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증강 후보군</a:t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○"/>
            </a:pPr>
            <a:r>
              <a:rPr b="0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총 18개</a:t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○"/>
            </a:pPr>
            <a:r>
              <a:rPr b="0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이 중 매 에피소드마다 4개의 증강 선택 &amp; 각 증강에 맞는 p(적용할 확률), m(강도 세기)를 선택</a:t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○"/>
            </a:pPr>
            <a:r>
              <a:rPr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불량 탐지 목적이기에 다양한 증강을 선택할 수 없다는 한계 존재</a:t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1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1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70" name="Google Shape;170;g3175c13a6e3_2_1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8100" y="75525"/>
            <a:ext cx="5197227" cy="6706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24ece648c5_0_6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EA72E"/>
                </a:solidFill>
                <a:latin typeface="Noto Sans KR"/>
                <a:ea typeface="Noto Sans KR"/>
                <a:cs typeface="Noto Sans KR"/>
                <a:sym typeface="Noto Sans KR"/>
              </a:rPr>
              <a:t>아이디어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g324ece648c5_0_6"/>
          <p:cNvSpPr txBox="1"/>
          <p:nvPr/>
        </p:nvSpPr>
        <p:spPr>
          <a:xfrm>
            <a:off x="242600" y="644350"/>
            <a:ext cx="11877300" cy="25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1. Contrastive loss를 활용한 Test Time Auto Augmentation</a:t>
            </a:r>
            <a:endParaRPr b="1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-"/>
            </a:pPr>
            <a:r>
              <a:rPr b="0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리워드 계산</a:t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○"/>
            </a:pPr>
            <a:r>
              <a:rPr b="0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source dataset으로 학습시킨 모델이 예측한 target 이미지의 신뢰도에 따라 uncof_datset / conf_dataset으로 구분</a:t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○"/>
            </a:pPr>
            <a:r>
              <a:rPr b="0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uncof_datset은 증강 시킨 이미지의 confidence를 최대화 &amp; conf_dataset은 source 원본 image와 target aug image 사이의 triplet loss 최소화</a:t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○"/>
            </a:pPr>
            <a:r>
              <a:rPr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여기서 람다는 triplet:0.9, confidence:0.1 로 설정 했지만, 스케일을 통해 비율 및 중요도를 다시 설정해야 할 필요가 보임</a:t>
            </a:r>
            <a:endParaRPr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1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1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77" name="Google Shape;177;g324ece648c5_0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7175" y="2555650"/>
            <a:ext cx="6931773" cy="3540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24ece648c5_0_12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EA72E"/>
                </a:solidFill>
                <a:latin typeface="Noto Sans KR"/>
                <a:ea typeface="Noto Sans KR"/>
                <a:cs typeface="Noto Sans KR"/>
                <a:sym typeface="Noto Sans KR"/>
              </a:rPr>
              <a:t>아이디어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g324ece648c5_0_12"/>
          <p:cNvSpPr txBox="1"/>
          <p:nvPr/>
        </p:nvSpPr>
        <p:spPr>
          <a:xfrm>
            <a:off x="242600" y="644350"/>
            <a:ext cx="6238200" cy="48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1. Contrastive loss를 활용한 Test Time Auto Augmentation</a:t>
            </a:r>
            <a:endParaRPr b="1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-"/>
            </a:pPr>
            <a:r>
              <a:rPr b="0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Controller 업데이트</a:t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○"/>
            </a:pPr>
            <a:r>
              <a:rPr b="0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일정 에피소드(K_EPOCHS = 8)를 진행할 때 마다 그동안의 reward를 바탕으로 rnn 모델을 업데이트</a:t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○"/>
            </a:pPr>
            <a:r>
              <a:rPr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여기서 사용되는 하이퍼파라미터는 원 실험의 하이퍼파라미터 그대로 사용</a:t>
            </a:r>
            <a:endParaRPr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-"/>
            </a:pPr>
            <a:r>
              <a:rPr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PPO</a:t>
            </a:r>
            <a:endParaRPr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○"/>
            </a:pPr>
            <a:r>
              <a:rPr lang="en-US" sz="1250">
                <a:solidFill>
                  <a:schemeClr val="dk1"/>
                </a:solidFill>
              </a:rPr>
              <a:t>PPO(Proximal Policy Optimization)는 정책 변화 폭을 제한하여 학습 안정성을 높이는 발전된 방식</a:t>
            </a:r>
            <a:endParaRPr sz="1250">
              <a:solidFill>
                <a:schemeClr val="dk1"/>
              </a:solidFill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</a:endParaRPr>
          </a:p>
          <a:p>
            <a:pPr indent="-30797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Char char="○"/>
            </a:pPr>
            <a:r>
              <a:rPr lang="en-US" sz="1250">
                <a:solidFill>
                  <a:schemeClr val="dk1"/>
                </a:solidFill>
              </a:rPr>
              <a:t>정책 π_old와 새 정책 π_new의 행동 확률 비율 r(θ)=π_new / π_old를 계산하고, 이를 클리핑하여 [1-ε, 1+ε] 범위를 벗어나는 업데이트를 방지</a:t>
            </a:r>
            <a:endParaRPr sz="1250">
              <a:solidFill>
                <a:schemeClr val="dk1"/>
              </a:solidFill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</a:endParaRPr>
          </a:p>
          <a:p>
            <a:pPr indent="-30797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Char char="○"/>
            </a:pPr>
            <a:r>
              <a:rPr lang="en-US" sz="1250">
                <a:solidFill>
                  <a:schemeClr val="dk1"/>
                </a:solidFill>
              </a:rPr>
              <a:t>구한 리워드를 바탕으로  클리핑된 확률 비율(policy ratio)를 참고하여 컨트롤러를 최적화를 진행해, 과도한 업데이트를 방지하면서도 효율적으로 학습을 수행</a:t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1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1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84" name="Google Shape;184;g324ece648c5_0_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80800" y="2607525"/>
            <a:ext cx="5572773" cy="354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24ece648c5_0_29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EA72E"/>
                </a:solidFill>
                <a:latin typeface="Noto Sans KR"/>
                <a:ea typeface="Noto Sans KR"/>
                <a:cs typeface="Noto Sans KR"/>
                <a:sym typeface="Noto Sans KR"/>
              </a:rPr>
              <a:t>아이디어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324ece648c5_0_29"/>
          <p:cNvSpPr txBox="1"/>
          <p:nvPr/>
        </p:nvSpPr>
        <p:spPr>
          <a:xfrm>
            <a:off x="242600" y="644350"/>
            <a:ext cx="11464500" cy="25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1. Contrastive loss를 활용한 Test Time Auto Augmentation</a:t>
            </a:r>
            <a:endParaRPr b="1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-"/>
            </a:pPr>
            <a:r>
              <a:rPr b="0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최종 학습</a:t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○"/>
            </a:pPr>
            <a:r>
              <a:rPr b="0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초기 [1, time_stamp, input_size] 만큼 난수를 생성 후, 매 에피소드마다 생성한 난수를 queue 형식으로 누적하여 controller의 input 구성</a:t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○"/>
            </a:pPr>
            <a:r>
              <a:rPr b="0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가장 좋은 리워드를 가진 aug 저장 후 학습 끝난 후 리턴</a:t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1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1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91" name="Google Shape;191;g324ece648c5_0_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40400" y="1776799"/>
            <a:ext cx="6098202" cy="4776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24ece648c5_0_37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EA72E"/>
                </a:solidFill>
                <a:latin typeface="Noto Sans KR"/>
                <a:ea typeface="Noto Sans KR"/>
                <a:cs typeface="Noto Sans KR"/>
                <a:sym typeface="Noto Sans KR"/>
              </a:rPr>
              <a:t>아이디어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g324ece648c5_0_37"/>
          <p:cNvSpPr txBox="1"/>
          <p:nvPr/>
        </p:nvSpPr>
        <p:spPr>
          <a:xfrm>
            <a:off x="242600" y="644350"/>
            <a:ext cx="11464500" cy="25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1. Contrastive loss를 활용한 Test Time Auto Augmentation</a:t>
            </a:r>
            <a:endParaRPr b="1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-"/>
            </a:pPr>
            <a:r>
              <a:rPr b="0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Test Time Auto Augmentation 결과</a:t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○"/>
            </a:pPr>
            <a:r>
              <a:rPr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시간 관계상 800번의 에피소드만 수행하여 학습 진행</a:t>
            </a:r>
            <a:endParaRPr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○"/>
            </a:pPr>
            <a:r>
              <a:rPr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실험 결과, target dataset에 대한 예측 성능이 떨어지는 모습을 보임</a:t>
            </a:r>
            <a:endParaRPr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○"/>
            </a:pPr>
            <a:r>
              <a:rPr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아직 하이퍼파라미터 및 학습이 제대로 충분히 되지 않았다고 생각해 추가적인 반복 실험이 필요하다 생각</a:t>
            </a:r>
            <a:endParaRPr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1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1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98" name="Google Shape;198;g324ece648c5_0_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4475" y="2367600"/>
            <a:ext cx="3107725" cy="119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g324ece648c5_0_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03825" y="3669425"/>
            <a:ext cx="3289025" cy="236882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g324ece648c5_0_37"/>
          <p:cNvSpPr txBox="1"/>
          <p:nvPr/>
        </p:nvSpPr>
        <p:spPr>
          <a:xfrm>
            <a:off x="1894400" y="6172200"/>
            <a:ext cx="2752500" cy="5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 time aug 후 분류 결과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" name="Google Shape;201;g324ece648c5_0_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46650" y="2342934"/>
            <a:ext cx="3289025" cy="12491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g324ece648c5_0_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46649" y="3643575"/>
            <a:ext cx="3289026" cy="2398933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g324ece648c5_0_37"/>
          <p:cNvSpPr txBox="1"/>
          <p:nvPr/>
        </p:nvSpPr>
        <p:spPr>
          <a:xfrm>
            <a:off x="7155550" y="6172200"/>
            <a:ext cx="2460300" cy="5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바닐라 모델 분류 결과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9" name="Google Shape;209;g32ac5cb26fd_1_0"/>
          <p:cNvCxnSpPr/>
          <p:nvPr/>
        </p:nvCxnSpPr>
        <p:spPr>
          <a:xfrm>
            <a:off x="2691500" y="1312626"/>
            <a:ext cx="0" cy="239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0" name="Google Shape;210;g32ac5cb26fd_1_0"/>
          <p:cNvSpPr txBox="1"/>
          <p:nvPr/>
        </p:nvSpPr>
        <p:spPr>
          <a:xfrm>
            <a:off x="242596" y="214584"/>
            <a:ext cx="9862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8135"/>
              </a:buClr>
              <a:buSzPts val="1800"/>
              <a:buFont typeface="Noto Sans KR"/>
              <a:buChar char="-"/>
            </a:pPr>
            <a:r>
              <a:rPr b="1" i="0" lang="en-US" sz="1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Domain Classifier 이용</a:t>
            </a:r>
            <a:br>
              <a:rPr b="1" i="0" lang="en-US" sz="1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1" i="0" lang="en-US" sz="14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아이디어 개요</a:t>
            </a:r>
            <a:endParaRPr b="1" i="0" sz="1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1" name="Google Shape;211;g32ac5cb26fd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8525" y="1826481"/>
            <a:ext cx="2214950" cy="1245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2" name="Google Shape;212;g32ac5cb26fd_1_0"/>
          <p:cNvCxnSpPr/>
          <p:nvPr/>
        </p:nvCxnSpPr>
        <p:spPr>
          <a:xfrm rot="10800000">
            <a:off x="2691500" y="1312626"/>
            <a:ext cx="713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3" name="Google Shape;213;g32ac5cb26fd_1_0"/>
          <p:cNvCxnSpPr/>
          <p:nvPr/>
        </p:nvCxnSpPr>
        <p:spPr>
          <a:xfrm rot="10800000">
            <a:off x="2691500" y="3693001"/>
            <a:ext cx="713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4" name="Google Shape;214;g32ac5cb26fd_1_0"/>
          <p:cNvCxnSpPr/>
          <p:nvPr/>
        </p:nvCxnSpPr>
        <p:spPr>
          <a:xfrm rot="10800000">
            <a:off x="2691500" y="1690126"/>
            <a:ext cx="713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5" name="Google Shape;215;g32ac5cb26fd_1_0"/>
          <p:cNvSpPr txBox="1"/>
          <p:nvPr/>
        </p:nvSpPr>
        <p:spPr>
          <a:xfrm>
            <a:off x="751575" y="3072376"/>
            <a:ext cx="225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domain shifted image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g32ac5cb26fd_1_0"/>
          <p:cNvSpPr/>
          <p:nvPr/>
        </p:nvSpPr>
        <p:spPr>
          <a:xfrm>
            <a:off x="3478000" y="1186801"/>
            <a:ext cx="471900" cy="2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g32ac5cb26fd_1_0"/>
          <p:cNvSpPr/>
          <p:nvPr/>
        </p:nvSpPr>
        <p:spPr>
          <a:xfrm>
            <a:off x="3478000" y="1553776"/>
            <a:ext cx="471900" cy="2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g32ac5cb26fd_1_0"/>
          <p:cNvSpPr/>
          <p:nvPr/>
        </p:nvSpPr>
        <p:spPr>
          <a:xfrm>
            <a:off x="3478000" y="3147651"/>
            <a:ext cx="471900" cy="2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g32ac5cb26fd_1_0"/>
          <p:cNvSpPr/>
          <p:nvPr/>
        </p:nvSpPr>
        <p:spPr>
          <a:xfrm>
            <a:off x="3478000" y="3556651"/>
            <a:ext cx="471900" cy="2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0" name="Google Shape;220;g32ac5cb26fd_1_0"/>
          <p:cNvCxnSpPr/>
          <p:nvPr/>
        </p:nvCxnSpPr>
        <p:spPr>
          <a:xfrm rot="10800000">
            <a:off x="2691500" y="3284001"/>
            <a:ext cx="713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1" name="Google Shape;221;g32ac5cb26fd_1_0"/>
          <p:cNvSpPr txBox="1"/>
          <p:nvPr/>
        </p:nvSpPr>
        <p:spPr>
          <a:xfrm rot="5400000">
            <a:off x="3374800" y="2302405"/>
            <a:ext cx="678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g32ac5cb26fd_1_0"/>
          <p:cNvSpPr txBox="1"/>
          <p:nvPr/>
        </p:nvSpPr>
        <p:spPr>
          <a:xfrm>
            <a:off x="2911750" y="763126"/>
            <a:ext cx="1604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augmented image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32ac5cb26fd_1_0"/>
          <p:cNvSpPr txBox="1"/>
          <p:nvPr/>
        </p:nvSpPr>
        <p:spPr>
          <a:xfrm>
            <a:off x="4023300" y="1127976"/>
            <a:ext cx="4278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domain classifier … [0.09,</a:t>
            </a:r>
            <a:r>
              <a:rPr b="1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0.91</a:t>
            </a: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g32ac5cb26fd_1_0"/>
          <p:cNvSpPr txBox="1"/>
          <p:nvPr/>
        </p:nvSpPr>
        <p:spPr>
          <a:xfrm>
            <a:off x="4023300" y="1505476"/>
            <a:ext cx="4278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domain classifier … [0.49, 0.51]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g32ac5cb26fd_1_0"/>
          <p:cNvSpPr txBox="1"/>
          <p:nvPr/>
        </p:nvSpPr>
        <p:spPr>
          <a:xfrm>
            <a:off x="4023300" y="3099351"/>
            <a:ext cx="4278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domain classifier … [0.72, 0.28]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g32ac5cb26fd_1_0"/>
          <p:cNvSpPr txBox="1"/>
          <p:nvPr/>
        </p:nvSpPr>
        <p:spPr>
          <a:xfrm>
            <a:off x="4023300" y="3508351"/>
            <a:ext cx="4278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domain classifier … [0.55, 0.45]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g32ac5cb26fd_1_0"/>
          <p:cNvSpPr txBox="1"/>
          <p:nvPr/>
        </p:nvSpPr>
        <p:spPr>
          <a:xfrm>
            <a:off x="5134825" y="538076"/>
            <a:ext cx="16044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[target일 확률, source일 확률]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32ac5cb26fd_1_0"/>
          <p:cNvSpPr/>
          <p:nvPr/>
        </p:nvSpPr>
        <p:spPr>
          <a:xfrm>
            <a:off x="6686800" y="1232001"/>
            <a:ext cx="639600" cy="188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g32ac5cb26fd_1_0"/>
          <p:cNvSpPr txBox="1"/>
          <p:nvPr/>
        </p:nvSpPr>
        <p:spPr>
          <a:xfrm>
            <a:off x="7483750" y="999901"/>
            <a:ext cx="4278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source 와 가장 가깝게 원복됐다고 판단하여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해당 이미지에 대한 예측 확률을 최종 예측 확률로 선정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0" name="Google Shape;230;g32ac5cb26fd_1_0"/>
          <p:cNvSpPr/>
          <p:nvPr/>
        </p:nvSpPr>
        <p:spPr>
          <a:xfrm rot="5400000">
            <a:off x="6579399" y="2953546"/>
            <a:ext cx="2126400" cy="796800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g32ac5cb26fd_1_0"/>
          <p:cNvSpPr txBox="1"/>
          <p:nvPr/>
        </p:nvSpPr>
        <p:spPr>
          <a:xfrm>
            <a:off x="7244199" y="3138617"/>
            <a:ext cx="87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Feature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extractor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g32ac5cb26fd_1_0"/>
          <p:cNvSpPr/>
          <p:nvPr/>
        </p:nvSpPr>
        <p:spPr>
          <a:xfrm rot="5400000">
            <a:off x="7839662" y="3741861"/>
            <a:ext cx="979500" cy="367200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g32ac5cb26fd_1_0"/>
          <p:cNvSpPr/>
          <p:nvPr/>
        </p:nvSpPr>
        <p:spPr>
          <a:xfrm rot="5400000">
            <a:off x="7839662" y="2605684"/>
            <a:ext cx="979500" cy="367200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g32ac5cb26fd_1_0"/>
          <p:cNvSpPr txBox="1"/>
          <p:nvPr/>
        </p:nvSpPr>
        <p:spPr>
          <a:xfrm>
            <a:off x="7663499" y="2558376"/>
            <a:ext cx="133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Class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classifier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g32ac5cb26fd_1_0"/>
          <p:cNvSpPr txBox="1"/>
          <p:nvPr/>
        </p:nvSpPr>
        <p:spPr>
          <a:xfrm>
            <a:off x="7663499" y="3667091"/>
            <a:ext cx="133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Domain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classifier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g32ac5cb26fd_1_0"/>
          <p:cNvSpPr txBox="1"/>
          <p:nvPr/>
        </p:nvSpPr>
        <p:spPr>
          <a:xfrm>
            <a:off x="8885934" y="2642151"/>
            <a:ext cx="24885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모델 구조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ResNet101 이용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Feature Extractor 만 공유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각각 Task 별 두개의 Multi head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7" name="Google Shape;237;g32ac5cb26fd_1_0"/>
          <p:cNvSpPr/>
          <p:nvPr/>
        </p:nvSpPr>
        <p:spPr>
          <a:xfrm>
            <a:off x="6977825" y="1975058"/>
            <a:ext cx="4673700" cy="2802600"/>
          </a:xfrm>
          <a:prstGeom prst="rect">
            <a:avLst/>
          </a:prstGeom>
          <a:noFill/>
          <a:ln cap="flat" cmpd="sng" w="12700">
            <a:solidFill>
              <a:srgbClr val="D0CE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g32ac5cb26fd_1_0"/>
          <p:cNvSpPr txBox="1"/>
          <p:nvPr/>
        </p:nvSpPr>
        <p:spPr>
          <a:xfrm>
            <a:off x="324725" y="5361067"/>
            <a:ext cx="11944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arenR"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도메인 분류기와 클래스 분류기의 성능을 함께 올리는 방향으로 학습</a:t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arenR"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클래스 분류기는 잘 학습하고, 도메인 분류기는 잘 학습하지 못하도록 학습 (DANN: domain-adversarial training of neural networks 에서 착안)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2ac5cb26fd_1_34"/>
          <p:cNvSpPr txBox="1"/>
          <p:nvPr/>
        </p:nvSpPr>
        <p:spPr>
          <a:xfrm>
            <a:off x="242596" y="214584"/>
            <a:ext cx="9862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8135"/>
              </a:buClr>
              <a:buSzPts val="1800"/>
              <a:buFont typeface="Noto Sans KR"/>
              <a:buChar char="-"/>
            </a:pPr>
            <a:r>
              <a:rPr b="1" i="0" lang="en-US" sz="1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Domain Classifier 이용</a:t>
            </a:r>
            <a:br>
              <a:rPr b="1" i="0" lang="en-US" sz="1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1" i="0" lang="en-US" sz="14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실험 결과</a:t>
            </a:r>
            <a:endParaRPr b="1" i="0" sz="1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g32ac5cb26fd_1_34"/>
          <p:cNvSpPr txBox="1"/>
          <p:nvPr/>
        </p:nvSpPr>
        <p:spPr>
          <a:xfrm>
            <a:off x="324725" y="1222231"/>
            <a:ext cx="1194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Train data 320 개를 이용하여 320개의 원본 + 320개의 augmentation = 총 640개의 데이터로 학습됨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이는 train 시 augmentation 된 이미지의 representation 을 학습하게 되기 때문에 baseline 도 augmentation training 기반으로 설정해야 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g32ac5cb26fd_1_34"/>
          <p:cNvSpPr txBox="1"/>
          <p:nvPr/>
        </p:nvSpPr>
        <p:spPr>
          <a:xfrm>
            <a:off x="324725" y="945232"/>
            <a:ext cx="6132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이전 실험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g32ac5cb26fd_1_34"/>
          <p:cNvSpPr txBox="1"/>
          <p:nvPr/>
        </p:nvSpPr>
        <p:spPr>
          <a:xfrm>
            <a:off x="324725" y="2413368"/>
            <a:ext cx="11944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Train data 320 개 중 랜덤으로 거의 절반은 원본 + 나머지는 online augmentation 으로 학습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1) 클래스 분류기와 도메인 분류기의 성능이 모두 향상되도록 함께 학습 후 -&gt; Test 에서 도메인 분류기가 가장 source 에 가깝다고 판단하는 이미지를 TTA 에 선택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2) 클래스 분류기는 향상, 도메인 분류기는 하락하도록 학습 -&gt; ??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48" name="Google Shape;248;g32ac5cb26fd_1_34"/>
          <p:cNvSpPr txBox="1"/>
          <p:nvPr/>
        </p:nvSpPr>
        <p:spPr>
          <a:xfrm>
            <a:off x="324725" y="2136369"/>
            <a:ext cx="6132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현재 실험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49" name="Google Shape;249;g32ac5cb26fd_1_34"/>
          <p:cNvGraphicFramePr/>
          <p:nvPr/>
        </p:nvGraphicFramePr>
        <p:xfrm>
          <a:off x="609599" y="348706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{D11F6487-F835-48AC-A8C9-B4841E63F430}</a:tableStyleId>
              </a:tblPr>
              <a:tblGrid>
                <a:gridCol w="1348500"/>
                <a:gridCol w="1348500"/>
                <a:gridCol w="1348500"/>
                <a:gridCol w="1348500"/>
                <a:gridCol w="1348500"/>
                <a:gridCol w="1348500"/>
                <a:gridCol w="1348500"/>
                <a:gridCol w="13485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F1 score</a:t>
                      </a:r>
                      <a:endParaRPr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Repeat 으로 학습</a:t>
                      </a:r>
                      <a:br>
                        <a:rPr lang="en-US" sz="105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</a:br>
                      <a:r>
                        <a:rPr lang="en-US" sz="105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단순 예측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Repeat 으로 학습</a:t>
                      </a:r>
                      <a:br>
                        <a:rPr lang="en-US" sz="105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</a:br>
                      <a:r>
                        <a:rPr lang="en-US" sz="105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단순 TTA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Online aug 로 학습</a:t>
                      </a:r>
                      <a:br>
                        <a:rPr lang="en-US" sz="105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</a:br>
                      <a:r>
                        <a:rPr lang="en-US" sz="105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단순 예측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Online aug 로 학습</a:t>
                      </a:r>
                      <a:br>
                        <a:rPr lang="en-US" sz="105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</a:br>
                      <a:r>
                        <a:rPr lang="en-US" sz="105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단순 TTA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-228600" lvl="0" marL="2286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AutoNum type="arabicParenR"/>
                      </a:pPr>
                      <a:r>
                        <a:rPr lang="en-US" sz="105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+ 단순 예측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1) +</a:t>
                      </a:r>
                      <a:r>
                        <a:rPr lang="en-US" sz="1050" u="none" cap="none" strike="noStrike"/>
                        <a:t> TTA 중 source 와</a:t>
                      </a:r>
                      <a:br>
                        <a:rPr lang="en-US" sz="1050" u="none" cap="none" strike="noStrike"/>
                      </a:br>
                      <a:r>
                        <a:rPr lang="en-US" sz="1050" u="none" cap="none" strike="noStrike"/>
                        <a:t>가까운 이미지 선택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2) + 단순 예측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All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0.6592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0.60688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548135"/>
                          </a:solidFill>
                        </a:rPr>
                        <a:t>0.75726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548135"/>
                          </a:solidFill>
                        </a:rPr>
                        <a:t>0.75726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0.7488</a:t>
                      </a:r>
                      <a:endParaRPr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0.7308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0.7649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Repeat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0.71538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0.71536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548135"/>
                          </a:solidFill>
                        </a:rPr>
                        <a:t>0.7961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548135"/>
                          </a:solidFill>
                        </a:rPr>
                        <a:t>0.7961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0.7905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0.8010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0.8357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Brightness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0.51402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0.52908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548135"/>
                          </a:solidFill>
                        </a:rPr>
                        <a:t>0.74348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548135"/>
                          </a:solidFill>
                        </a:rPr>
                        <a:t>0.74348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0.7497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0.7277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0.7246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Cameraz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0.56202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0.55288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548135"/>
                          </a:solidFill>
                        </a:rPr>
                        <a:t>0.72038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548135"/>
                          </a:solidFill>
                        </a:rPr>
                        <a:t>0.72038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0.7119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0.6668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0.7352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lcondition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0.59208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0.587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548135"/>
                          </a:solidFill>
                        </a:rPr>
                        <a:t>0.77366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548135"/>
                          </a:solidFill>
                        </a:rPr>
                        <a:t>0.77366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0.7432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0.7285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0.7641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0" name="Google Shape;250;g32ac5cb26fd_1_34"/>
          <p:cNvSpPr txBox="1"/>
          <p:nvPr/>
        </p:nvSpPr>
        <p:spPr>
          <a:xfrm>
            <a:off x="5489734" y="5970836"/>
            <a:ext cx="6018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757070"/>
                </a:solidFill>
                <a:latin typeface="Noto Sans KR"/>
                <a:ea typeface="Noto Sans KR"/>
                <a:cs typeface="Noto Sans KR"/>
                <a:sym typeface="Noto Sans KR"/>
              </a:rPr>
              <a:t>2) 방법의 성능이 전반적으로 좋아지긴 했으나</a:t>
            </a:r>
            <a:br>
              <a:rPr b="0" i="0" lang="en-US" sz="1200" u="none" cap="none" strike="noStrike">
                <a:solidFill>
                  <a:srgbClr val="757070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200" u="none" cap="none" strike="noStrike">
                <a:solidFill>
                  <a:srgbClr val="757070"/>
                </a:solidFill>
                <a:latin typeface="Noto Sans KR"/>
                <a:ea typeface="Noto Sans KR"/>
                <a:cs typeface="Noto Sans KR"/>
                <a:sym typeface="Noto Sans KR"/>
              </a:rPr>
              <a:t>Repeat 의 성능이 높아진 것이 주된 이유</a:t>
            </a:r>
            <a:br>
              <a:rPr b="0" i="0" lang="en-US" sz="1200" u="none" cap="none" strike="noStrike">
                <a:solidFill>
                  <a:srgbClr val="757070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200" u="none" cap="none" strike="noStrike">
                <a:solidFill>
                  <a:srgbClr val="757070"/>
                </a:solidFill>
                <a:latin typeface="Noto Sans KR"/>
                <a:ea typeface="Noto Sans KR"/>
                <a:cs typeface="Noto Sans KR"/>
                <a:sym typeface="Noto Sans KR"/>
              </a:rPr>
              <a:t>Cameraz 를 제외한 Target domain 들에서는 성능 저하</a:t>
            </a:r>
            <a:endParaRPr b="0" i="0" sz="1400" u="none" cap="none" strike="noStrike">
              <a:solidFill>
                <a:srgbClr val="75707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2013 - 2022 테마">
  <a:themeElements>
    <a:clrScheme name="Office 2013 - 2022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2024-05-05T08:04:52Z</dcterms:created>
  <dc:creator>김나연</dc:creator>
</cp:coreProperties>
</file>