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Noto Sans KR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htBjg10XKMGAUEt2POQbGTxZHP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32EEC4-59C8-4306-A805-2762A73567BE}">
  <a:tblStyle styleId="{0332EEC4-59C8-4306-A805-2762A73567B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otoSansKR-bold.fntdata"/><Relationship Id="rId14" Type="http://schemas.openxmlformats.org/officeDocument/2006/relationships/font" Target="fonts/NotoSansKR-regular.fntdata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75c13a6e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175c13a6e3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175c13a6e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75c13a6e3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175c13a6e3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75c13a6e3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175c13a6e3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175c13a6e3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75c13a6e3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175c13a6e3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75c13a6e3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175c13a6e3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75c13a6e3_2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175c13a6e3_2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75c13a6e3_2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175c13a6e3_2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75c13a6e3_0_8"/>
          <p:cNvSpPr txBox="1"/>
          <p:nvPr/>
        </p:nvSpPr>
        <p:spPr>
          <a:xfrm>
            <a:off x="307254" y="1968816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M0 (base)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repeat 으로만 학습 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g3175c13a6e3_0_8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1. Intensity 높여가며 Train Augmentation Policy 찾기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175c13a6e3_0_8"/>
          <p:cNvSpPr txBox="1"/>
          <p:nvPr/>
        </p:nvSpPr>
        <p:spPr>
          <a:xfrm>
            <a:off x="242600" y="583884"/>
            <a:ext cx="1070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📍 repeat 으로만 학습한 베이스 모델 M0 을 만들고, 강도를 높여가며 성능이 달라질 때 augmentation 정도 높이는 것 멈춤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기존에 사용하던 augmentation policy 종류 + 강도 에서 5개로 나누어 점점 높여봄 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Ex. 기존 augmentation 강도가 1.0 -&gt; M1=0.2, M2=0.4, M3=0.6, M4=0.8, M5=1.0 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92" name="Google Shape;92;g3175c13a6e3_0_8"/>
          <p:cNvGraphicFramePr/>
          <p:nvPr/>
        </p:nvGraphicFramePr>
        <p:xfrm>
          <a:off x="307254" y="25980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{0332EEC4-59C8-4306-A805-2762A73567BE}</a:tableStyleId>
              </a:tblPr>
              <a:tblGrid>
                <a:gridCol w="1154550"/>
                <a:gridCol w="698875"/>
                <a:gridCol w="698875"/>
                <a:gridCol w="698875"/>
                <a:gridCol w="698875"/>
                <a:gridCol w="698875"/>
                <a:gridCol w="698875"/>
              </a:tblGrid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M0 (base)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M1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M2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M3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0.7663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0.8488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0.8531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0.8513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0.8544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0.865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0.8875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0.9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0.8775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0.8725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0.855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0.8225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0.8225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0.8275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0.8275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0.7125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0.8175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0.8225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0.7975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0.8375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0.83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0.7875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0.8575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0.88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0.885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0.875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0.87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" name="Google Shape;93;g3175c13a6e3_0_8"/>
          <p:cNvGraphicFramePr/>
          <p:nvPr/>
        </p:nvGraphicFramePr>
        <p:xfrm>
          <a:off x="6536891" y="25980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{0332EEC4-59C8-4306-A805-2762A73567BE}</a:tableStyleId>
              </a:tblPr>
              <a:tblGrid>
                <a:gridCol w="1154550"/>
                <a:gridCol w="698875"/>
                <a:gridCol w="698875"/>
                <a:gridCol w="698875"/>
                <a:gridCol w="698875"/>
                <a:gridCol w="698875"/>
                <a:gridCol w="698875"/>
              </a:tblGrid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M0 (base)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M1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M2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M3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0.6061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0.7594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0.7495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0.7517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0.7778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0.7767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0.7513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0.8133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0.8239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0.8416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0.8294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0.8257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0.5374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0.7798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0.7078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0.7142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0.7396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0.7428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0.5164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0.6767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0.6765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0.6678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0.7240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0.7353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0.6252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0.7604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0.7862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0.7854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0.8059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0.7961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" name="Google Shape;94;g3175c13a6e3_0_8"/>
          <p:cNvGraphicFramePr/>
          <p:nvPr/>
        </p:nvGraphicFramePr>
        <p:xfrm>
          <a:off x="307254" y="54349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{0332EEC4-59C8-4306-A805-2762A73567BE}</a:tableStyleId>
              </a:tblPr>
              <a:tblGrid>
                <a:gridCol w="1154550"/>
                <a:gridCol w="698875"/>
                <a:gridCol w="698875"/>
                <a:gridCol w="698875"/>
                <a:gridCol w="698875"/>
                <a:gridCol w="698875"/>
                <a:gridCol w="698875"/>
              </a:tblGrid>
              <a:tr h="4524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M0과 예측이 달라지는 개수</a:t>
                      </a:r>
                      <a:endParaRPr b="1" sz="120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M0 (base)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M1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M2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M3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300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292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312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303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356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75c13a6e3_0_1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지난 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175c13a6e3_0_17"/>
          <p:cNvSpPr txBox="1"/>
          <p:nvPr/>
        </p:nvSpPr>
        <p:spPr>
          <a:xfrm>
            <a:off x="242600" y="644350"/>
            <a:ext cx="111873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BatchNorm Layer 에 저장되는 통계량을 이용한 방법</a:t>
            </a:r>
            <a:endParaRPr b="1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으로 학습된 모델에 저장된 BatchNorm 통계량과</a:t>
            </a:r>
            <a:b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shift 된 이미지를 다시 repeat 에 가깝게 원복한 이미지의 통계량이 비슷하지 않을까 하는 생각에서 기반</a:t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+ ) 저차원 통계량과 고차원 통계량을 가중치 다르게 반영 -&gt; 얕은 layer 와 깊은 layer 따라서 도메인 변화를 캐치하고 / 클래스 정보를 캐치하는 그런 게 다르지 않을까 하는 생각에서 기반</a:t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1" name="Google Shape;101;g3175c13a6e3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3600" y="2471550"/>
            <a:ext cx="7144800" cy="2846250"/>
          </a:xfrm>
          <a:prstGeom prst="rect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g3175c13a6e3_0_17"/>
          <p:cNvSpPr txBox="1"/>
          <p:nvPr/>
        </p:nvSpPr>
        <p:spPr>
          <a:xfrm>
            <a:off x="3613000" y="5317800"/>
            <a:ext cx="6137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출처:: OptTTA https://openreview.net/pdf?id=B6HdQaY_iR</a:t>
            </a:r>
            <a:endParaRPr b="0" i="0" sz="11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3" name="Google Shape;103;g3175c13a6e3_0_17"/>
          <p:cNvSpPr txBox="1"/>
          <p:nvPr/>
        </p:nvSpPr>
        <p:spPr>
          <a:xfrm>
            <a:off x="242600" y="5837925"/>
            <a:ext cx="11949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본 논문에서는 모델이 train 될 때 저장된 BatchNorm 통계량과 각 Policy 별 augmentation 된 test 이미지의 통계량 간 divergence 를 측정하여 </a:t>
            </a:r>
            <a:b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 중 divergence 값이 작은 Policy 선택</a:t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다만 LossBn 의 영향력이 크진 않다고 ablation 에 나와있어서 유의미할지는 잘 모르겠음</a:t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75c13a6e3_0_25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2. BatchNorm Statistics 이용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175c13a6e3_0_25"/>
          <p:cNvSpPr txBox="1"/>
          <p:nvPr/>
        </p:nvSpPr>
        <p:spPr>
          <a:xfrm>
            <a:off x="242600" y="583884"/>
            <a:ext cx="1070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📍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mean, test  image mean) +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var, test image var) 값이 가장 작은 augmented image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하나만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앞서 사용했던 repeat 으로만 train 한 M0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모델의 batchnorm statistics 와 비교하여 차이가 가장 작은 image 선택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 test time augmentation 으로는 앞서 사용했던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M5를 이용하여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실험</a:t>
            </a:r>
            <a:endParaRPr/>
          </a:p>
        </p:txBody>
      </p:sp>
      <p:graphicFrame>
        <p:nvGraphicFramePr>
          <p:cNvPr id="111" name="Google Shape;111;g3175c13a6e3_0_25"/>
          <p:cNvGraphicFramePr/>
          <p:nvPr/>
        </p:nvGraphicFramePr>
        <p:xfrm>
          <a:off x="580716" y="34290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{0332EEC4-59C8-4306-A805-2762A73567BE}</a:tableStyleId>
              </a:tblPr>
              <a:tblGrid>
                <a:gridCol w="1154550"/>
                <a:gridCol w="698875"/>
                <a:gridCol w="698875"/>
              </a:tblGrid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0.5129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0.6335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0.4493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0.4454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0.5237</a:t>
                      </a:r>
                      <a:endParaRPr sz="12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2" name="Google Shape;112;g3175c13a6e3_0_25"/>
          <p:cNvGraphicFramePr/>
          <p:nvPr/>
        </p:nvGraphicFramePr>
        <p:xfrm>
          <a:off x="9147966" y="34290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{0332EEC4-59C8-4306-A805-2762A73567BE}</a:tableStyleId>
              </a:tblPr>
              <a:tblGrid>
                <a:gridCol w="1154550"/>
                <a:gridCol w="698875"/>
                <a:gridCol w="698875"/>
              </a:tblGrid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M4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M5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g3175c13a6e3_0_25"/>
          <p:cNvSpPr txBox="1"/>
          <p:nvPr/>
        </p:nvSpPr>
        <p:spPr>
          <a:xfrm>
            <a:off x="6547400" y="6148325"/>
            <a:ext cx="529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+"/>
            </a:pPr>
            <a:r>
              <a:rPr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mean1, mean2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 + </a:t>
            </a:r>
            <a:r>
              <a:rPr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var1, var2) 대신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KLDiv(mean1, mean2) + KLDiv(var1, var2) 로도 실험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/>
          </a:p>
        </p:txBody>
      </p:sp>
      <p:pic>
        <p:nvPicPr>
          <p:cNvPr id="114" name="Google Shape;114;g3175c13a6e3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6975" y="3270585"/>
            <a:ext cx="3747375" cy="303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175c13a6e3_0_25"/>
          <p:cNvSpPr txBox="1"/>
          <p:nvPr/>
        </p:nvSpPr>
        <p:spPr>
          <a:xfrm>
            <a:off x="3236275" y="5467138"/>
            <a:ext cx="2768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으로만 학습했을 때는 틀리고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제안하는 방법에서는 맞은 수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g3175c13a6e3_0_25"/>
          <p:cNvSpPr txBox="1"/>
          <p:nvPr/>
        </p:nvSpPr>
        <p:spPr>
          <a:xfrm>
            <a:off x="6099025" y="3327938"/>
            <a:ext cx="2768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으로만 학습했을 때는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맞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고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제안하는 방법에서는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틀린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수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75c13a6e3_2_8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175c13a6e3_2_8"/>
          <p:cNvSpPr txBox="1"/>
          <p:nvPr/>
        </p:nvSpPr>
        <p:spPr>
          <a:xfrm>
            <a:off x="242600" y="644350"/>
            <a:ext cx="111873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가정 : Test 단계에서 제품이 불량 여부(class)나 촬영 환경(domain)에 대한 정보는 알 수 없지만,</a:t>
            </a:r>
            <a:r>
              <a:rPr b="0" i="0" lang="en-US" sz="125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서로 다른 환경에서 촬영된 동일한 제품임을 그룹화할 수 있음</a:t>
            </a:r>
            <a:endParaRPr b="0" i="0" sz="125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목적 : 과도한 증강으로 클래스가 바뀌지 않으면서, 다양한 촬영 환경에 대해 강건한 모델을 학습시킬 수 있는 증강을 찾을 수 있도록 하는 최적의 증강 policy 찾기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g3175c13a6e3_2_8"/>
          <p:cNvSpPr txBox="1"/>
          <p:nvPr/>
        </p:nvSpPr>
        <p:spPr>
          <a:xfrm>
            <a:off x="242600" y="5837925"/>
            <a:ext cx="119493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기존의 AutoAugmentation(Cubuk et al.2018) 방식과 동일한 구조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Controller는 n개의 가지는 augmentation 조합에 대한 policy 생성 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Augmentation은 method, magnitude 2가지 조합으로 정의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4" name="Google Shape;124;g3175c13a6e3_2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5651" y="2063900"/>
            <a:ext cx="3938775" cy="37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75c13a6e3_2_1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175c13a6e3_2_1"/>
          <p:cNvSpPr txBox="1"/>
          <p:nvPr/>
        </p:nvSpPr>
        <p:spPr>
          <a:xfrm>
            <a:off x="242600" y="644350"/>
            <a:ext cx="111873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가정 : Test 단계에서 제품이 불량 여부(class)나 촬영 환경(domain)에 대한 정보는 알 수 없지만,</a:t>
            </a:r>
            <a:r>
              <a:rPr lang="en-US" sz="12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서로 다른 환경에서 촬영된 동일한 제품임을 그룹화할 수 있음</a:t>
            </a:r>
            <a:endParaRPr sz="125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목적 : 과도한 증강으로 클래스가 바뀌지 않으면서, 다양한 촬영 환경에 대해 강건한 모델을 학습시킬 수 있는 증강을 찾을 수 있도록 하는 최적의 증강 policy 찾기</a:t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g3175c13a6e3_2_1"/>
          <p:cNvSpPr/>
          <p:nvPr/>
        </p:nvSpPr>
        <p:spPr>
          <a:xfrm>
            <a:off x="2427800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175c13a6e3_2_1"/>
          <p:cNvSpPr/>
          <p:nvPr/>
        </p:nvSpPr>
        <p:spPr>
          <a:xfrm rot="-5400000">
            <a:off x="1255538" y="3025463"/>
            <a:ext cx="987300" cy="1040525"/>
          </a:xfrm>
          <a:prstGeom prst="flowChartManualOpe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175c13a6e3_2_1"/>
          <p:cNvSpPr txBox="1"/>
          <p:nvPr/>
        </p:nvSpPr>
        <p:spPr>
          <a:xfrm>
            <a:off x="1228925" y="3292200"/>
            <a:ext cx="104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175c13a6e3_2_1"/>
          <p:cNvSpPr/>
          <p:nvPr/>
        </p:nvSpPr>
        <p:spPr>
          <a:xfrm>
            <a:off x="3480822" y="3196975"/>
            <a:ext cx="1565400" cy="69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Augmentation Image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175c13a6e3_2_1"/>
          <p:cNvSpPr/>
          <p:nvPr/>
        </p:nvSpPr>
        <p:spPr>
          <a:xfrm rot="-5400000">
            <a:off x="6244013" y="3025463"/>
            <a:ext cx="987300" cy="1040525"/>
          </a:xfrm>
          <a:prstGeom prst="flowChartManualOpe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175c13a6e3_2_1"/>
          <p:cNvSpPr txBox="1"/>
          <p:nvPr/>
        </p:nvSpPr>
        <p:spPr>
          <a:xfrm>
            <a:off x="6217400" y="3139800"/>
            <a:ext cx="104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175c13a6e3_2_1"/>
          <p:cNvSpPr/>
          <p:nvPr/>
        </p:nvSpPr>
        <p:spPr>
          <a:xfrm>
            <a:off x="5174188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175c13a6e3_2_1"/>
          <p:cNvSpPr/>
          <p:nvPr/>
        </p:nvSpPr>
        <p:spPr>
          <a:xfrm>
            <a:off x="7638888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175c13a6e3_2_1"/>
          <p:cNvSpPr/>
          <p:nvPr/>
        </p:nvSpPr>
        <p:spPr>
          <a:xfrm>
            <a:off x="8812172" y="3196975"/>
            <a:ext cx="1565400" cy="69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Suggest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g3175c13a6e3_2_1"/>
          <p:cNvCxnSpPr>
            <a:endCxn id="132" idx="1"/>
          </p:cNvCxnSpPr>
          <p:nvPr/>
        </p:nvCxnSpPr>
        <p:spPr>
          <a:xfrm flipH="1">
            <a:off x="1749188" y="3877045"/>
            <a:ext cx="7802100" cy="63600"/>
          </a:xfrm>
          <a:prstGeom prst="bentConnector4">
            <a:avLst>
              <a:gd fmla="val 153" name="adj1"/>
              <a:gd fmla="val 62964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g3175c13a6e3_2_1"/>
          <p:cNvSpPr txBox="1"/>
          <p:nvPr/>
        </p:nvSpPr>
        <p:spPr>
          <a:xfrm>
            <a:off x="4222400" y="4424675"/>
            <a:ext cx="2873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Proximal Policy Optimization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175c13a6e3_2_1"/>
          <p:cNvSpPr txBox="1"/>
          <p:nvPr/>
        </p:nvSpPr>
        <p:spPr>
          <a:xfrm>
            <a:off x="242600" y="5228325"/>
            <a:ext cx="119493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 Time augmentation 이기에, label이 없는 상황에서 사용할 수 있는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새로운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reward를 제안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최적의 policy를 구한 후, 해당 policy를 이용해 source data로 model을 재학습하여 domain에 강건한 모델을 구축하는 것이 최종 결과물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3" name="Google Shape;143;g3175c13a6e3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8625" y="2791450"/>
            <a:ext cx="348349" cy="34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175c13a6e3_2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6675" y="2813950"/>
            <a:ext cx="400451" cy="40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75c13a6e3_2_3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175c13a6e3_2_37"/>
          <p:cNvSpPr txBox="1"/>
          <p:nvPr/>
        </p:nvSpPr>
        <p:spPr>
          <a:xfrm>
            <a:off x="242600" y="644350"/>
            <a:ext cx="111873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제안하는 Reward 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1" name="Google Shape;151;g3175c13a6e3_2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763" y="1520350"/>
            <a:ext cx="10377126" cy="27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175c13a6e3_2_37"/>
          <p:cNvSpPr/>
          <p:nvPr/>
        </p:nvSpPr>
        <p:spPr>
          <a:xfrm>
            <a:off x="1680200" y="5798875"/>
            <a:ext cx="697625" cy="496625"/>
          </a:xfrm>
          <a:prstGeom prst="flowChartExtra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175c13a6e3_2_37"/>
          <p:cNvSpPr/>
          <p:nvPr/>
        </p:nvSpPr>
        <p:spPr>
          <a:xfrm>
            <a:off x="2967713" y="5798875"/>
            <a:ext cx="697625" cy="496625"/>
          </a:xfrm>
          <a:prstGeom prst="flowChartExtra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175c13a6e3_2_37"/>
          <p:cNvSpPr/>
          <p:nvPr/>
        </p:nvSpPr>
        <p:spPr>
          <a:xfrm>
            <a:off x="4255225" y="5798875"/>
            <a:ext cx="697625" cy="496625"/>
          </a:xfrm>
          <a:prstGeom prst="flowChartExtra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175c13a6e3_2_37"/>
          <p:cNvSpPr/>
          <p:nvPr/>
        </p:nvSpPr>
        <p:spPr>
          <a:xfrm>
            <a:off x="1680200" y="4519250"/>
            <a:ext cx="697625" cy="555750"/>
          </a:xfrm>
          <a:prstGeom prst="flowChartMerg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175c13a6e3_2_37"/>
          <p:cNvSpPr/>
          <p:nvPr/>
        </p:nvSpPr>
        <p:spPr>
          <a:xfrm>
            <a:off x="2967713" y="4519250"/>
            <a:ext cx="697625" cy="555750"/>
          </a:xfrm>
          <a:prstGeom prst="flowChartMerg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175c13a6e3_2_37"/>
          <p:cNvSpPr/>
          <p:nvPr/>
        </p:nvSpPr>
        <p:spPr>
          <a:xfrm>
            <a:off x="4255250" y="4506975"/>
            <a:ext cx="697625" cy="555750"/>
          </a:xfrm>
          <a:prstGeom prst="flowChartMerg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175c13a6e3_2_37"/>
          <p:cNvSpPr/>
          <p:nvPr/>
        </p:nvSpPr>
        <p:spPr>
          <a:xfrm>
            <a:off x="579250" y="5798875"/>
            <a:ext cx="697625" cy="496625"/>
          </a:xfrm>
          <a:prstGeom prst="flowChartExtra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175c13a6e3_2_37"/>
          <p:cNvSpPr/>
          <p:nvPr/>
        </p:nvSpPr>
        <p:spPr>
          <a:xfrm>
            <a:off x="579250" y="4519250"/>
            <a:ext cx="697625" cy="555750"/>
          </a:xfrm>
          <a:prstGeom prst="flowChartMerg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g3175c13a6e3_2_37"/>
          <p:cNvCxnSpPr>
            <a:stCxn id="158" idx="0"/>
            <a:endCxn id="159" idx="2"/>
          </p:cNvCxnSpPr>
          <p:nvPr/>
        </p:nvCxnSpPr>
        <p:spPr>
          <a:xfrm rot="10800000">
            <a:off x="928063" y="5074975"/>
            <a:ext cx="0" cy="72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g3175c13a6e3_2_37"/>
          <p:cNvSpPr txBox="1"/>
          <p:nvPr/>
        </p:nvSpPr>
        <p:spPr>
          <a:xfrm>
            <a:off x="926075" y="5329875"/>
            <a:ext cx="603000" cy="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g3175c13a6e3_2_37"/>
          <p:cNvCxnSpPr/>
          <p:nvPr/>
        </p:nvCxnSpPr>
        <p:spPr>
          <a:xfrm rot="10800000">
            <a:off x="1994863" y="5074975"/>
            <a:ext cx="0" cy="72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g3175c13a6e3_2_37"/>
          <p:cNvSpPr txBox="1"/>
          <p:nvPr/>
        </p:nvSpPr>
        <p:spPr>
          <a:xfrm>
            <a:off x="1992875" y="5329875"/>
            <a:ext cx="603000" cy="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g3175c13a6e3_2_37"/>
          <p:cNvCxnSpPr/>
          <p:nvPr/>
        </p:nvCxnSpPr>
        <p:spPr>
          <a:xfrm rot="10800000">
            <a:off x="3290263" y="5074975"/>
            <a:ext cx="0" cy="72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g3175c13a6e3_2_37"/>
          <p:cNvSpPr txBox="1"/>
          <p:nvPr/>
        </p:nvSpPr>
        <p:spPr>
          <a:xfrm>
            <a:off x="3288275" y="5329875"/>
            <a:ext cx="603000" cy="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g3175c13a6e3_2_37"/>
          <p:cNvCxnSpPr/>
          <p:nvPr/>
        </p:nvCxnSpPr>
        <p:spPr>
          <a:xfrm rot="10800000">
            <a:off x="4585663" y="5074975"/>
            <a:ext cx="0" cy="72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g3175c13a6e3_2_37"/>
          <p:cNvSpPr txBox="1"/>
          <p:nvPr/>
        </p:nvSpPr>
        <p:spPr>
          <a:xfrm>
            <a:off x="4583675" y="5329875"/>
            <a:ext cx="603000" cy="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175c13a6e3_2_37"/>
          <p:cNvSpPr txBox="1"/>
          <p:nvPr/>
        </p:nvSpPr>
        <p:spPr>
          <a:xfrm>
            <a:off x="545075" y="6323100"/>
            <a:ext cx="792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175c13a6e3_2_37"/>
          <p:cNvSpPr txBox="1"/>
          <p:nvPr/>
        </p:nvSpPr>
        <p:spPr>
          <a:xfrm>
            <a:off x="1611875" y="6323100"/>
            <a:ext cx="792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targe1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175c13a6e3_2_37"/>
          <p:cNvSpPr txBox="1"/>
          <p:nvPr/>
        </p:nvSpPr>
        <p:spPr>
          <a:xfrm>
            <a:off x="2907275" y="6323100"/>
            <a:ext cx="792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targe2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175c13a6e3_2_37"/>
          <p:cNvSpPr txBox="1"/>
          <p:nvPr/>
        </p:nvSpPr>
        <p:spPr>
          <a:xfrm>
            <a:off x="4202675" y="6323100"/>
            <a:ext cx="792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targe3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175c13a6e3_2_37"/>
          <p:cNvSpPr txBox="1"/>
          <p:nvPr/>
        </p:nvSpPr>
        <p:spPr>
          <a:xfrm>
            <a:off x="639725" y="6022275"/>
            <a:ext cx="60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제품1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175c13a6e3_2_37"/>
          <p:cNvSpPr txBox="1"/>
          <p:nvPr/>
        </p:nvSpPr>
        <p:spPr>
          <a:xfrm>
            <a:off x="1774850" y="6022275"/>
            <a:ext cx="60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제품1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175c13a6e3_2_37"/>
          <p:cNvSpPr txBox="1"/>
          <p:nvPr/>
        </p:nvSpPr>
        <p:spPr>
          <a:xfrm>
            <a:off x="3015025" y="6022275"/>
            <a:ext cx="60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제품1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175c13a6e3_2_37"/>
          <p:cNvSpPr txBox="1"/>
          <p:nvPr/>
        </p:nvSpPr>
        <p:spPr>
          <a:xfrm>
            <a:off x="4302563" y="6022275"/>
            <a:ext cx="60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제품1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175c13a6e3_2_37"/>
          <p:cNvSpPr/>
          <p:nvPr/>
        </p:nvSpPr>
        <p:spPr>
          <a:xfrm>
            <a:off x="7014200" y="5811150"/>
            <a:ext cx="697625" cy="496625"/>
          </a:xfrm>
          <a:prstGeom prst="flowChartExtra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175c13a6e3_2_37"/>
          <p:cNvSpPr/>
          <p:nvPr/>
        </p:nvSpPr>
        <p:spPr>
          <a:xfrm>
            <a:off x="8301713" y="5811150"/>
            <a:ext cx="697625" cy="496625"/>
          </a:xfrm>
          <a:prstGeom prst="flowChartExtra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175c13a6e3_2_37"/>
          <p:cNvSpPr/>
          <p:nvPr/>
        </p:nvSpPr>
        <p:spPr>
          <a:xfrm>
            <a:off x="9589225" y="5811150"/>
            <a:ext cx="697625" cy="496625"/>
          </a:xfrm>
          <a:prstGeom prst="flowChartExtra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175c13a6e3_2_37"/>
          <p:cNvSpPr/>
          <p:nvPr/>
        </p:nvSpPr>
        <p:spPr>
          <a:xfrm>
            <a:off x="7014200" y="4531525"/>
            <a:ext cx="697625" cy="555750"/>
          </a:xfrm>
          <a:prstGeom prst="flowChartMerg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175c13a6e3_2_37"/>
          <p:cNvSpPr/>
          <p:nvPr/>
        </p:nvSpPr>
        <p:spPr>
          <a:xfrm>
            <a:off x="8301713" y="4531525"/>
            <a:ext cx="697625" cy="555750"/>
          </a:xfrm>
          <a:prstGeom prst="flowChartMerg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175c13a6e3_2_37"/>
          <p:cNvSpPr/>
          <p:nvPr/>
        </p:nvSpPr>
        <p:spPr>
          <a:xfrm>
            <a:off x="9589250" y="4519250"/>
            <a:ext cx="697625" cy="555750"/>
          </a:xfrm>
          <a:prstGeom prst="flowChartMerg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175c13a6e3_2_37"/>
          <p:cNvSpPr/>
          <p:nvPr/>
        </p:nvSpPr>
        <p:spPr>
          <a:xfrm>
            <a:off x="5913250" y="5811150"/>
            <a:ext cx="697625" cy="496625"/>
          </a:xfrm>
          <a:prstGeom prst="flowChartExtra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175c13a6e3_2_37"/>
          <p:cNvSpPr/>
          <p:nvPr/>
        </p:nvSpPr>
        <p:spPr>
          <a:xfrm>
            <a:off x="5913250" y="4531525"/>
            <a:ext cx="697625" cy="555750"/>
          </a:xfrm>
          <a:prstGeom prst="flowChartMerg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g3175c13a6e3_2_37"/>
          <p:cNvCxnSpPr>
            <a:stCxn id="182" idx="0"/>
            <a:endCxn id="183" idx="2"/>
          </p:cNvCxnSpPr>
          <p:nvPr/>
        </p:nvCxnSpPr>
        <p:spPr>
          <a:xfrm rot="10800000">
            <a:off x="6262063" y="5087250"/>
            <a:ext cx="0" cy="72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g3175c13a6e3_2_37"/>
          <p:cNvSpPr txBox="1"/>
          <p:nvPr/>
        </p:nvSpPr>
        <p:spPr>
          <a:xfrm>
            <a:off x="6260075" y="5342150"/>
            <a:ext cx="603000" cy="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g3175c13a6e3_2_37"/>
          <p:cNvCxnSpPr/>
          <p:nvPr/>
        </p:nvCxnSpPr>
        <p:spPr>
          <a:xfrm rot="10800000">
            <a:off x="7328863" y="5087250"/>
            <a:ext cx="0" cy="72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g3175c13a6e3_2_37"/>
          <p:cNvSpPr txBox="1"/>
          <p:nvPr/>
        </p:nvSpPr>
        <p:spPr>
          <a:xfrm>
            <a:off x="7326875" y="5342150"/>
            <a:ext cx="603000" cy="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g3175c13a6e3_2_37"/>
          <p:cNvCxnSpPr/>
          <p:nvPr/>
        </p:nvCxnSpPr>
        <p:spPr>
          <a:xfrm rot="10800000">
            <a:off x="8624263" y="5087250"/>
            <a:ext cx="0" cy="72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g3175c13a6e3_2_37"/>
          <p:cNvSpPr txBox="1"/>
          <p:nvPr/>
        </p:nvSpPr>
        <p:spPr>
          <a:xfrm>
            <a:off x="8622275" y="5342150"/>
            <a:ext cx="603000" cy="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g3175c13a6e3_2_37"/>
          <p:cNvCxnSpPr/>
          <p:nvPr/>
        </p:nvCxnSpPr>
        <p:spPr>
          <a:xfrm rot="10800000">
            <a:off x="9919663" y="5087250"/>
            <a:ext cx="0" cy="72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g3175c13a6e3_2_37"/>
          <p:cNvSpPr txBox="1"/>
          <p:nvPr/>
        </p:nvSpPr>
        <p:spPr>
          <a:xfrm>
            <a:off x="9917675" y="5342150"/>
            <a:ext cx="603000" cy="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175c13a6e3_2_37"/>
          <p:cNvSpPr txBox="1"/>
          <p:nvPr/>
        </p:nvSpPr>
        <p:spPr>
          <a:xfrm>
            <a:off x="5879075" y="6335375"/>
            <a:ext cx="792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175c13a6e3_2_37"/>
          <p:cNvSpPr txBox="1"/>
          <p:nvPr/>
        </p:nvSpPr>
        <p:spPr>
          <a:xfrm>
            <a:off x="6945875" y="6335375"/>
            <a:ext cx="792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targe1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175c13a6e3_2_37"/>
          <p:cNvSpPr txBox="1"/>
          <p:nvPr/>
        </p:nvSpPr>
        <p:spPr>
          <a:xfrm>
            <a:off x="8241275" y="6335375"/>
            <a:ext cx="792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targe2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175c13a6e3_2_37"/>
          <p:cNvSpPr txBox="1"/>
          <p:nvPr/>
        </p:nvSpPr>
        <p:spPr>
          <a:xfrm>
            <a:off x="9536675" y="6335375"/>
            <a:ext cx="7923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targe3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175c13a6e3_2_37"/>
          <p:cNvSpPr txBox="1"/>
          <p:nvPr/>
        </p:nvSpPr>
        <p:spPr>
          <a:xfrm>
            <a:off x="5973725" y="6034550"/>
            <a:ext cx="60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제품2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175c13a6e3_2_37"/>
          <p:cNvSpPr txBox="1"/>
          <p:nvPr/>
        </p:nvSpPr>
        <p:spPr>
          <a:xfrm>
            <a:off x="7120674" y="6034550"/>
            <a:ext cx="60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제품2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175c13a6e3_2_37"/>
          <p:cNvSpPr txBox="1"/>
          <p:nvPr/>
        </p:nvSpPr>
        <p:spPr>
          <a:xfrm>
            <a:off x="8349025" y="6034550"/>
            <a:ext cx="60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제품2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175c13a6e3_2_37"/>
          <p:cNvSpPr txBox="1"/>
          <p:nvPr/>
        </p:nvSpPr>
        <p:spPr>
          <a:xfrm>
            <a:off x="9636563" y="6034550"/>
            <a:ext cx="603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제품2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175c13a6e3_2_37"/>
          <p:cNvSpPr txBox="1"/>
          <p:nvPr/>
        </p:nvSpPr>
        <p:spPr>
          <a:xfrm>
            <a:off x="3761400" y="1180550"/>
            <a:ext cx="84306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KLD(임의의 도메인에서 촬영한 제품1의 아웃풋 &amp;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임의의 도메인에서 촬영한 제품 1의 aug image)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KLD(임의의 도메인에서 촬영한 제품1의 아웃풋 &amp; 임의의 도메인과 다른 도메인에서 촬영한 제품)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KLD(임의의 도메인에서 촬영한 제품 1의 aug image &amp; 임의의 도메인과 다른 도메인에서 촬영한 제품)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175c13a6e3_2_37"/>
          <p:cNvSpPr txBox="1"/>
          <p:nvPr/>
        </p:nvSpPr>
        <p:spPr>
          <a:xfrm>
            <a:off x="7639575" y="2727125"/>
            <a:ext cx="443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Anchor : 임의의 도메인에서 촬영한 제품 1의 aug image (Ex, 하늘색 역삼각형 제품1)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: 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임의의 도메인에서 촬영한 제품 1            (Ex, 하늘색 삼각형 제품1)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: 임의의 도메인에서 촬영한 제품 2            (Ex, 파란색 삼각형 제품2)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175c13a6e3_2_16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175c13a6e3_2_160"/>
          <p:cNvSpPr txBox="1"/>
          <p:nvPr/>
        </p:nvSpPr>
        <p:spPr>
          <a:xfrm>
            <a:off x="242600" y="644350"/>
            <a:ext cx="111873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수도코드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8" name="Google Shape;208;g3175c13a6e3_2_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5750" y="275950"/>
            <a:ext cx="4282826" cy="63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