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9144000"/>
  <p:embeddedFontLst>
    <p:embeddedFont>
      <p:font typeface="Noto Sans KR"/>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18" roundtripDataSignature="AMtx7mjyJAWcp9hko/H1hDWx54iWu+8g3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NotoSansKR-bold.fntdata"/><Relationship Id="rId16" Type="http://schemas.openxmlformats.org/officeDocument/2006/relationships/font" Target="fonts/NotoSansKR-regular.fntdata"/><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Malgun Gothic"/>
                <a:ea typeface="Malgun Gothic"/>
                <a:cs typeface="Malgun Gothic"/>
                <a:sym typeface="Malgun Gothic"/>
              </a:rPr>
              <a:t>‹#›</a:t>
            </a:fld>
            <a:endParaRPr b="0" i="0" sz="1200" u="none" cap="none" strike="noStrike">
              <a:solidFill>
                <a:schemeClr val="dk1"/>
              </a:solidFill>
              <a:latin typeface="Malgun Gothic"/>
              <a:ea typeface="Malgun Gothic"/>
              <a:cs typeface="Malgun Gothic"/>
              <a:sym typeface="Malgun Gothic"/>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 name="Google Shape;93;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4f0945bc02_0_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g34f0945bc02_0_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이 정도면 같다고 봐도 될지…</a:t>
            </a:r>
            <a:endParaRPr/>
          </a:p>
        </p:txBody>
      </p:sp>
      <p:sp>
        <p:nvSpPr>
          <p:cNvPr id="102" name="Google Shape;102;g34f0945bc02_0_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4f0945bc02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g34f0945bc02_0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g34f0945bc02_0_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4f0945bc02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g34f0945bc02_0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g34f0945bc02_0_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4f0945bc02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g34f0945bc02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4f0945bc02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4cdbc04084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g34cdbc04084_0_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g34cdbc04084_0_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4cdbc04084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g34cdbc04084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너무 복잡해지는 것 같아서 살짝 걱정…</a:t>
            </a:r>
            <a:endParaRPr/>
          </a:p>
          <a:p>
            <a:pPr indent="0" lvl="0" marL="0" rtl="0" algn="l">
              <a:lnSpc>
                <a:spcPct val="100000"/>
              </a:lnSpc>
              <a:spcBef>
                <a:spcPts val="0"/>
              </a:spcBef>
              <a:spcAft>
                <a:spcPts val="0"/>
              </a:spcAft>
              <a:buSzPts val="1400"/>
              <a:buNone/>
            </a:pPr>
            <a:r>
              <a:rPr lang="en-US"/>
              <a:t>그렇지만 기여점을 미세한 클래스 특징에 특화된 업데이트로 할거면 뭔가 이런 방식을 접목해야 성능.. 은 모르겟고 말이 되지 않나 생각해서 </a:t>
            </a:r>
            <a:endParaRPr/>
          </a:p>
        </p:txBody>
      </p:sp>
      <p:sp>
        <p:nvSpPr>
          <p:cNvPr id="161" name="Google Shape;161;g34cdbc04084_0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5125c7dbf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g35125c7dbf9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g35125c7dbf9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type="title">
  <p:cSld name="TITLE">
    <p:spTree>
      <p:nvGrpSpPr>
        <p:cNvPr id="15" name="Shape 15"/>
        <p:cNvGrpSpPr/>
        <p:nvPr/>
      </p:nvGrpSpPr>
      <p:grpSpPr>
        <a:xfrm>
          <a:off x="0" y="0"/>
          <a:ext cx="0" cy="0"/>
          <a:chOff x="0" y="0"/>
          <a:chExt cx="0" cy="0"/>
        </a:xfrm>
      </p:grpSpPr>
      <p:sp>
        <p:nvSpPr>
          <p:cNvPr id="16" name="Google Shape;16;p2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cSld name="OBJECT">
    <p:spTree>
      <p:nvGrpSpPr>
        <p:cNvPr id="21" name="Shape 21"/>
        <p:cNvGrpSpPr/>
        <p:nvPr/>
      </p:nvGrpSpPr>
      <p:grpSpPr>
        <a:xfrm>
          <a:off x="0" y="0"/>
          <a:ext cx="0" cy="0"/>
          <a:chOff x="0" y="0"/>
          <a:chExt cx="0" cy="0"/>
        </a:xfrm>
      </p:grpSpPr>
      <p:sp>
        <p:nvSpPr>
          <p:cNvPr id="22" name="Google Shape;22;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구역 머리글" type="secHead">
  <p:cSld name="SECTION_HEADER">
    <p:spTree>
      <p:nvGrpSpPr>
        <p:cNvPr id="27" name="Shape 27"/>
        <p:cNvGrpSpPr/>
        <p:nvPr/>
      </p:nvGrpSpPr>
      <p:grpSpPr>
        <a:xfrm>
          <a:off x="0" y="0"/>
          <a:ext cx="0" cy="0"/>
          <a:chOff x="0" y="0"/>
          <a:chExt cx="0" cy="0"/>
        </a:xfrm>
      </p:grpSpPr>
      <p:sp>
        <p:nvSpPr>
          <p:cNvPr id="28" name="Google Shape;28;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콘텐츠 2개" type="twoObj">
  <p:cSld name="TWO_OBJECTS">
    <p:spTree>
      <p:nvGrpSpPr>
        <p:cNvPr id="33" name="Shape 33"/>
        <p:cNvGrpSpPr/>
        <p:nvPr/>
      </p:nvGrpSpPr>
      <p:grpSpPr>
        <a:xfrm>
          <a:off x="0" y="0"/>
          <a:ext cx="0" cy="0"/>
          <a:chOff x="0" y="0"/>
          <a:chExt cx="0" cy="0"/>
        </a:xfrm>
      </p:grpSpPr>
      <p:sp>
        <p:nvSpPr>
          <p:cNvPr id="34" name="Google Shape;3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비교" type="twoTxTwoObj">
  <p:cSld name="TWO_OBJECTS_WITH_TEXT">
    <p:spTree>
      <p:nvGrpSpPr>
        <p:cNvPr id="40" name="Shape 40"/>
        <p:cNvGrpSpPr/>
        <p:nvPr/>
      </p:nvGrpSpPr>
      <p:grpSpPr>
        <a:xfrm>
          <a:off x="0" y="0"/>
          <a:ext cx="0" cy="0"/>
          <a:chOff x="0" y="0"/>
          <a:chExt cx="0" cy="0"/>
        </a:xfrm>
      </p:grpSpPr>
      <p:sp>
        <p:nvSpPr>
          <p:cNvPr id="41" name="Google Shape;41;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만" type="titleOnly">
  <p:cSld name="TITLE_ONLY">
    <p:spTree>
      <p:nvGrpSpPr>
        <p:cNvPr id="49" name="Shape 49"/>
        <p:cNvGrpSpPr/>
        <p:nvPr/>
      </p:nvGrpSpPr>
      <p:grpSpPr>
        <a:xfrm>
          <a:off x="0" y="0"/>
          <a:ext cx="0" cy="0"/>
          <a:chOff x="0" y="0"/>
          <a:chExt cx="0" cy="0"/>
        </a:xfrm>
      </p:grpSpPr>
      <p:sp>
        <p:nvSpPr>
          <p:cNvPr id="50" name="Google Shape;5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빈 화면" type="blank">
  <p:cSld name="BLANK">
    <p:spTree>
      <p:nvGrpSpPr>
        <p:cNvPr id="54" name="Shape 54"/>
        <p:cNvGrpSpPr/>
        <p:nvPr/>
      </p:nvGrpSpPr>
      <p:grpSpPr>
        <a:xfrm>
          <a:off x="0" y="0"/>
          <a:ext cx="0" cy="0"/>
          <a:chOff x="0" y="0"/>
          <a:chExt cx="0" cy="0"/>
        </a:xfrm>
      </p:grpSpPr>
      <p:sp>
        <p:nvSpPr>
          <p:cNvPr id="55" name="Google Shape;5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콘텐츠" type="objTx">
  <p:cSld name="OBJECT_WITH_CAPTION_TEXT">
    <p:spTree>
      <p:nvGrpSpPr>
        <p:cNvPr id="58" name="Shape 58"/>
        <p:cNvGrpSpPr/>
        <p:nvPr/>
      </p:nvGrpSpPr>
      <p:grpSpPr>
        <a:xfrm>
          <a:off x="0" y="0"/>
          <a:ext cx="0" cy="0"/>
          <a:chOff x="0" y="0"/>
          <a:chExt cx="0" cy="0"/>
        </a:xfrm>
      </p:grpSpPr>
      <p:sp>
        <p:nvSpPr>
          <p:cNvPr id="59" name="Google Shape;59;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그림" type="picTx">
  <p:cSld name="PICTURE_WITH_CAPTION_TEXT">
    <p:spTree>
      <p:nvGrpSpPr>
        <p:cNvPr id="65" name="Shape 65"/>
        <p:cNvGrpSpPr/>
        <p:nvPr/>
      </p:nvGrpSpPr>
      <p:grpSpPr>
        <a:xfrm>
          <a:off x="0" y="0"/>
          <a:ext cx="0" cy="0"/>
          <a:chOff x="0" y="0"/>
          <a:chExt cx="0" cy="0"/>
        </a:xfrm>
      </p:grpSpPr>
      <p:sp>
        <p:nvSpPr>
          <p:cNvPr id="66" name="Google Shape;66;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0"/>
          <p:cNvSpPr/>
          <p:nvPr>
            <p:ph idx="2" type="pic"/>
          </p:nvPr>
        </p:nvSpPr>
        <p:spPr>
          <a:xfrm>
            <a:off x="5183188" y="987425"/>
            <a:ext cx="6172200" cy="4873625"/>
          </a:xfrm>
          <a:prstGeom prst="rect">
            <a:avLst/>
          </a:prstGeom>
          <a:noFill/>
          <a:ln>
            <a:noFill/>
          </a:ln>
        </p:spPr>
      </p:sp>
      <p:sp>
        <p:nvSpPr>
          <p:cNvPr id="68" name="Google Shape;68;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세로 텍스트" type="vertTx">
  <p:cSld name="VERTICAL_TEXT">
    <p:spTree>
      <p:nvGrpSpPr>
        <p:cNvPr id="72" name="Shape 72"/>
        <p:cNvGrpSpPr/>
        <p:nvPr/>
      </p:nvGrpSpPr>
      <p:grpSpPr>
        <a:xfrm>
          <a:off x="0" y="0"/>
          <a:ext cx="0" cy="0"/>
          <a:chOff x="0" y="0"/>
          <a:chExt cx="0" cy="0"/>
        </a:xfrm>
      </p:grpSpPr>
      <p:sp>
        <p:nvSpPr>
          <p:cNvPr id="73" name="Google Shape;7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세로 제목 및 텍스트" type="vertTitleAndTx">
  <p:cSld name="VERTICAL_TITLE_AND_VERTICAL_TEXT">
    <p:spTree>
      <p:nvGrpSpPr>
        <p:cNvPr id="78" name="Shape 78"/>
        <p:cNvGrpSpPr/>
        <p:nvPr/>
      </p:nvGrpSpPr>
      <p:grpSpPr>
        <a:xfrm>
          <a:off x="0" y="0"/>
          <a:ext cx="0" cy="0"/>
          <a:chOff x="0" y="0"/>
          <a:chExt cx="0" cy="0"/>
        </a:xfrm>
      </p:grpSpPr>
      <p:sp>
        <p:nvSpPr>
          <p:cNvPr id="79" name="Google Shape;79;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4.png"/><Relationship Id="rId6"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5.png"/><Relationship Id="rId5"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hyperlink" Target="https://arxiv.org/pdf/2106.08265"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nvSpPr>
        <p:spPr>
          <a:xfrm>
            <a:off x="1164746" y="2982609"/>
            <a:ext cx="98625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548135"/>
                </a:solidFill>
                <a:latin typeface="Noto Sans KR"/>
                <a:ea typeface="Noto Sans KR"/>
                <a:cs typeface="Noto Sans KR"/>
                <a:sym typeface="Noto Sans KR"/>
              </a:rPr>
              <a:t>250425 실험 결과</a:t>
            </a:r>
            <a:endParaRPr b="1" i="0" sz="2400" u="none" cap="none" strike="noStrike">
              <a:solidFill>
                <a:srgbClr val="548135"/>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nvSpPr>
        <p:spPr>
          <a:xfrm>
            <a:off x="242596" y="214584"/>
            <a:ext cx="9862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548135"/>
                </a:solidFill>
                <a:latin typeface="Noto Sans KR"/>
                <a:ea typeface="Noto Sans KR"/>
                <a:cs typeface="Noto Sans KR"/>
                <a:sym typeface="Noto Sans KR"/>
              </a:rPr>
              <a:t>연구 진행 상황</a:t>
            </a:r>
            <a:endParaRPr b="1" i="0" sz="1400" u="none" cap="none" strike="noStrike">
              <a:solidFill>
                <a:srgbClr val="548135"/>
              </a:solidFill>
              <a:latin typeface="Arial"/>
              <a:ea typeface="Arial"/>
              <a:cs typeface="Arial"/>
              <a:sym typeface="Arial"/>
            </a:endParaRPr>
          </a:p>
        </p:txBody>
      </p:sp>
      <p:sp>
        <p:nvSpPr>
          <p:cNvPr id="96" name="Google Shape;96;p2"/>
          <p:cNvSpPr txBox="1"/>
          <p:nvPr/>
        </p:nvSpPr>
        <p:spPr>
          <a:xfrm>
            <a:off x="324724" y="1905520"/>
            <a:ext cx="11303857" cy="3046958"/>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b="1" i="0" lang="en-US" sz="1400" u="none" cap="none" strike="noStrike">
                <a:solidFill>
                  <a:schemeClr val="dk1"/>
                </a:solidFill>
                <a:latin typeface="Noto Sans KR"/>
                <a:ea typeface="Noto Sans KR"/>
                <a:cs typeface="Noto Sans KR"/>
                <a:sym typeface="Noto Sans KR"/>
              </a:rPr>
              <a:t>GradCAM 사용 유무</a:t>
            </a:r>
            <a:endParaRPr b="1" i="0" sz="1400" u="none" cap="none" strike="noStrike">
              <a:solidFill>
                <a:schemeClr val="dk1"/>
              </a:solidFill>
              <a:latin typeface="Noto Sans KR"/>
              <a:ea typeface="Noto Sans KR"/>
              <a:cs typeface="Noto Sans KR"/>
              <a:sym typeface="Noto Sans KR"/>
            </a:endParaRPr>
          </a:p>
          <a:p>
            <a:pPr indent="0" lvl="0" marL="0" marR="0" rtl="0" algn="l">
              <a:lnSpc>
                <a:spcPct val="150000"/>
              </a:lnSpc>
              <a:spcBef>
                <a:spcPts val="0"/>
              </a:spcBef>
              <a:spcAft>
                <a:spcPts val="0"/>
              </a:spcAft>
              <a:buNone/>
            </a:pPr>
            <a:r>
              <a:t/>
            </a:r>
            <a:endParaRPr b="0" i="0" sz="1400" u="none" cap="none" strike="noStrike">
              <a:solidFill>
                <a:schemeClr val="dk1"/>
              </a:solidFill>
              <a:latin typeface="Noto Sans KR"/>
              <a:ea typeface="Noto Sans KR"/>
              <a:cs typeface="Noto Sans KR"/>
              <a:sym typeface="Noto Sans KR"/>
            </a:endParaRPr>
          </a:p>
          <a:p>
            <a:pPr indent="-171450" lvl="0" marL="171450" marR="0" rtl="0" algn="l">
              <a:lnSpc>
                <a:spcPct val="150000"/>
              </a:lnSpc>
              <a:spcBef>
                <a:spcPts val="0"/>
              </a:spcBef>
              <a:spcAft>
                <a:spcPts val="0"/>
              </a:spcAft>
              <a:buClr>
                <a:schemeClr val="dk1"/>
              </a:buClr>
              <a:buSzPts val="1200"/>
              <a:buFont typeface="Arial"/>
              <a:buChar char="-"/>
            </a:pPr>
            <a:r>
              <a:rPr b="0" i="0" lang="en-US" sz="1200" u="none" cap="none" strike="noStrike">
                <a:solidFill>
                  <a:schemeClr val="dk1"/>
                </a:solidFill>
                <a:latin typeface="Noto Sans KR"/>
                <a:ea typeface="Noto Sans KR"/>
                <a:cs typeface="Noto Sans KR"/>
                <a:sym typeface="Noto Sans KR"/>
              </a:rPr>
              <a:t>Source domain 에서 Pretrained 된 모델로 얻은 CAM map 은 domain shift 상황에서 정확하지 않은 경우가 많음</a:t>
            </a:r>
            <a:endParaRPr b="0" i="0" sz="1200" u="none" cap="none" strike="noStrike">
              <a:solidFill>
                <a:schemeClr val="dk1"/>
              </a:solidFill>
              <a:latin typeface="Noto Sans KR"/>
              <a:ea typeface="Noto Sans KR"/>
              <a:cs typeface="Noto Sans KR"/>
              <a:sym typeface="Noto Sans KR"/>
            </a:endParaRPr>
          </a:p>
          <a:p>
            <a:pPr indent="-171450" lvl="0" marL="171450" marR="0" rtl="0" algn="l">
              <a:lnSpc>
                <a:spcPct val="150000"/>
              </a:lnSpc>
              <a:spcBef>
                <a:spcPts val="0"/>
              </a:spcBef>
              <a:spcAft>
                <a:spcPts val="0"/>
              </a:spcAft>
              <a:buClr>
                <a:schemeClr val="dk1"/>
              </a:buClr>
              <a:buSzPts val="1200"/>
              <a:buFont typeface="Arial"/>
              <a:buChar char="-"/>
            </a:pPr>
            <a:r>
              <a:rPr b="0" i="0" lang="en-US" sz="1200" u="none" cap="none" strike="noStrike">
                <a:solidFill>
                  <a:schemeClr val="dk1"/>
                </a:solidFill>
                <a:latin typeface="Noto Sans KR"/>
                <a:ea typeface="Noto Sans KR"/>
                <a:cs typeface="Noto Sans KR"/>
                <a:sym typeface="Noto Sans KR"/>
              </a:rPr>
              <a:t>따라서 forward 된 모델로 cam map 을 얻는 방안 고민중</a:t>
            </a:r>
            <a:endParaRPr b="0" i="0" sz="1200" u="none" cap="none" strike="noStrike">
              <a:solidFill>
                <a:schemeClr val="dk1"/>
              </a:solidFill>
              <a:latin typeface="Noto Sans KR"/>
              <a:ea typeface="Noto Sans KR"/>
              <a:cs typeface="Noto Sans KR"/>
              <a:sym typeface="Noto Sans KR"/>
            </a:endParaRPr>
          </a:p>
          <a:p>
            <a:pPr indent="0" lvl="0" marL="0" marR="0" rtl="0" algn="l">
              <a:lnSpc>
                <a:spcPct val="150000"/>
              </a:lnSpc>
              <a:spcBef>
                <a:spcPts val="0"/>
              </a:spcBef>
              <a:spcAft>
                <a:spcPts val="0"/>
              </a:spcAft>
              <a:buNone/>
            </a:pPr>
            <a:r>
              <a:t/>
            </a:r>
            <a:endParaRPr b="0" i="0" sz="1200" u="none" cap="none" strike="noStrike">
              <a:solidFill>
                <a:schemeClr val="dk1"/>
              </a:solidFill>
              <a:latin typeface="Noto Sans KR"/>
              <a:ea typeface="Noto Sans KR"/>
              <a:cs typeface="Noto Sans KR"/>
              <a:sym typeface="Noto Sans KR"/>
            </a:endParaRPr>
          </a:p>
          <a:p>
            <a:pPr indent="-171450" lvl="0" marL="171450" marR="0" rtl="0" algn="l">
              <a:lnSpc>
                <a:spcPct val="150000"/>
              </a:lnSpc>
              <a:spcBef>
                <a:spcPts val="0"/>
              </a:spcBef>
              <a:spcAft>
                <a:spcPts val="0"/>
              </a:spcAft>
              <a:buClr>
                <a:schemeClr val="dk1"/>
              </a:buClr>
              <a:buSzPts val="1200"/>
              <a:buFont typeface="Arial"/>
              <a:buChar char="-"/>
            </a:pPr>
            <a:r>
              <a:rPr b="0" i="0" lang="en-US" sz="1200" u="none" cap="none" strike="noStrike">
                <a:solidFill>
                  <a:schemeClr val="dk1"/>
                </a:solidFill>
                <a:latin typeface="Noto Sans KR"/>
                <a:ea typeface="Noto Sans KR"/>
                <a:cs typeface="Noto Sans KR"/>
                <a:sym typeface="Noto Sans KR"/>
              </a:rPr>
              <a:t>1) 메모리 문제 존재</a:t>
            </a:r>
            <a:endParaRPr b="0" i="0" sz="1200" u="none" cap="none" strike="noStrike">
              <a:solidFill>
                <a:schemeClr val="dk1"/>
              </a:solidFill>
              <a:latin typeface="Noto Sans KR"/>
              <a:ea typeface="Noto Sans KR"/>
              <a:cs typeface="Noto Sans KR"/>
              <a:sym typeface="Noto Sans KR"/>
            </a:endParaRPr>
          </a:p>
          <a:p>
            <a:pPr indent="-171450" lvl="0" marL="171450" marR="0" rtl="0" algn="l">
              <a:lnSpc>
                <a:spcPct val="150000"/>
              </a:lnSpc>
              <a:spcBef>
                <a:spcPts val="0"/>
              </a:spcBef>
              <a:spcAft>
                <a:spcPts val="0"/>
              </a:spcAft>
              <a:buClr>
                <a:schemeClr val="dk1"/>
              </a:buClr>
              <a:buSzPts val="1200"/>
              <a:buFont typeface="Arial"/>
              <a:buChar char="-"/>
            </a:pPr>
            <a:r>
              <a:rPr b="0" i="0" lang="en-US" sz="1200" u="none" cap="none" strike="noStrike">
                <a:solidFill>
                  <a:schemeClr val="dk1"/>
                </a:solidFill>
                <a:latin typeface="Noto Sans KR"/>
                <a:ea typeface="Noto Sans KR"/>
                <a:cs typeface="Noto Sans KR"/>
                <a:sym typeface="Noto Sans KR"/>
              </a:rPr>
              <a:t>2) Grad CAM 또한 모델의 forward / backward 간 gradient 변화량을 이용하여 attention map 을 얻기 때문에</a:t>
            </a:r>
            <a:br>
              <a:rPr b="0" i="0" lang="en-US" sz="1200" u="none" cap="none" strike="noStrike">
                <a:solidFill>
                  <a:schemeClr val="dk1"/>
                </a:solidFill>
                <a:latin typeface="Noto Sans KR"/>
                <a:ea typeface="Noto Sans KR"/>
                <a:cs typeface="Noto Sans KR"/>
                <a:sym typeface="Noto Sans KR"/>
              </a:rPr>
            </a:br>
            <a:r>
              <a:rPr b="0" i="0" lang="en-US" sz="1200" u="none" cap="none" strike="noStrike">
                <a:solidFill>
                  <a:schemeClr val="dk1"/>
                </a:solidFill>
                <a:latin typeface="Noto Sans KR"/>
                <a:ea typeface="Noto Sans KR"/>
                <a:cs typeface="Noto Sans KR"/>
                <a:sym typeface="Noto Sans KR"/>
              </a:rPr>
              <a:t>메인 모델의 forward  -- (Grad CAM 을 얻기 위한 forward / backward) -- 메인 모델의 backward 를 하면 </a:t>
            </a:r>
            <a:br>
              <a:rPr b="0" i="0" lang="en-US" sz="1200" u="none" cap="none" strike="noStrike">
                <a:solidFill>
                  <a:schemeClr val="dk1"/>
                </a:solidFill>
                <a:latin typeface="Noto Sans KR"/>
                <a:ea typeface="Noto Sans KR"/>
                <a:cs typeface="Noto Sans KR"/>
                <a:sym typeface="Noto Sans KR"/>
              </a:rPr>
            </a:br>
            <a:r>
              <a:rPr b="0" i="0" lang="en-US" sz="1200" u="none" cap="none" strike="noStrike">
                <a:solidFill>
                  <a:schemeClr val="dk1"/>
                </a:solidFill>
                <a:latin typeface="Noto Sans KR"/>
                <a:ea typeface="Noto Sans KR"/>
                <a:cs typeface="Noto Sans KR"/>
                <a:sym typeface="Noto Sans KR"/>
              </a:rPr>
              <a:t>기울기 변화에 영향을 줄 위험이 있을 수 있음</a:t>
            </a:r>
            <a:endParaRPr b="0" i="0" sz="1200" u="none" cap="none" strike="noStrike">
              <a:solidFill>
                <a:schemeClr val="dk1"/>
              </a:solidFill>
              <a:latin typeface="Noto Sans KR"/>
              <a:ea typeface="Noto Sans KR"/>
              <a:cs typeface="Noto Sans KR"/>
              <a:sym typeface="Noto Sans KR"/>
            </a:endParaRPr>
          </a:p>
          <a:p>
            <a:pPr indent="-95250" lvl="0" marL="171450" marR="0" rtl="0" algn="l">
              <a:lnSpc>
                <a:spcPct val="150000"/>
              </a:lnSpc>
              <a:spcBef>
                <a:spcPts val="0"/>
              </a:spcBef>
              <a:spcAft>
                <a:spcPts val="0"/>
              </a:spcAft>
              <a:buClr>
                <a:schemeClr val="dk1"/>
              </a:buClr>
              <a:buSzPts val="1200"/>
              <a:buFont typeface="Arial"/>
              <a:buNone/>
            </a:pPr>
            <a:r>
              <a:t/>
            </a:r>
            <a:endParaRPr b="0" i="0" sz="1200" u="none" cap="none" strike="noStrike">
              <a:solidFill>
                <a:schemeClr val="dk1"/>
              </a:solidFill>
              <a:latin typeface="Noto Sans KR"/>
              <a:ea typeface="Noto Sans KR"/>
              <a:cs typeface="Noto Sans KR"/>
              <a:sym typeface="Noto Sans KR"/>
            </a:endParaRPr>
          </a:p>
        </p:txBody>
      </p:sp>
      <p:pic>
        <p:nvPicPr>
          <p:cNvPr id="97" name="Google Shape;97;p2"/>
          <p:cNvPicPr preferRelativeResize="0"/>
          <p:nvPr/>
        </p:nvPicPr>
        <p:blipFill rotWithShape="1">
          <a:blip r:embed="rId3">
            <a:alphaModFix/>
          </a:blip>
          <a:srcRect b="0" l="0" r="0" t="0"/>
          <a:stretch/>
        </p:blipFill>
        <p:spPr>
          <a:xfrm>
            <a:off x="8747810" y="1397205"/>
            <a:ext cx="1127687" cy="4174419"/>
          </a:xfrm>
          <a:prstGeom prst="rect">
            <a:avLst/>
          </a:prstGeom>
          <a:noFill/>
          <a:ln>
            <a:noFill/>
          </a:ln>
        </p:spPr>
      </p:pic>
      <p:pic>
        <p:nvPicPr>
          <p:cNvPr id="98" name="Google Shape;98;p2"/>
          <p:cNvPicPr preferRelativeResize="0"/>
          <p:nvPr/>
        </p:nvPicPr>
        <p:blipFill rotWithShape="1">
          <a:blip r:embed="rId4">
            <a:alphaModFix/>
          </a:blip>
          <a:srcRect b="0" l="0" r="0" t="0"/>
          <a:stretch/>
        </p:blipFill>
        <p:spPr>
          <a:xfrm>
            <a:off x="9878351" y="1242707"/>
            <a:ext cx="1209844" cy="437258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34f0945bc02_0_86"/>
          <p:cNvSpPr txBox="1"/>
          <p:nvPr/>
        </p:nvSpPr>
        <p:spPr>
          <a:xfrm>
            <a:off x="242596" y="214584"/>
            <a:ext cx="9862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548135"/>
                </a:solidFill>
                <a:latin typeface="Noto Sans KR"/>
                <a:ea typeface="Noto Sans KR"/>
                <a:cs typeface="Noto Sans KR"/>
                <a:sym typeface="Noto Sans KR"/>
              </a:rPr>
              <a:t>연구 진행 상황</a:t>
            </a:r>
            <a:endParaRPr b="1" i="0" sz="1400" u="none" cap="none" strike="noStrike">
              <a:solidFill>
                <a:srgbClr val="548135"/>
              </a:solidFill>
              <a:latin typeface="Arial"/>
              <a:ea typeface="Arial"/>
              <a:cs typeface="Arial"/>
              <a:sym typeface="Arial"/>
            </a:endParaRPr>
          </a:p>
        </p:txBody>
      </p:sp>
      <p:sp>
        <p:nvSpPr>
          <p:cNvPr id="105" name="Google Shape;105;g34f0945bc02_0_86"/>
          <p:cNvSpPr txBox="1"/>
          <p:nvPr/>
        </p:nvSpPr>
        <p:spPr>
          <a:xfrm>
            <a:off x="324724" y="806393"/>
            <a:ext cx="11303857" cy="507801"/>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b="1" i="0" lang="en-US" sz="1400" u="none" cap="none" strike="noStrike">
                <a:solidFill>
                  <a:schemeClr val="dk1"/>
                </a:solidFill>
                <a:latin typeface="Noto Sans KR"/>
                <a:ea typeface="Noto Sans KR"/>
                <a:cs typeface="Noto Sans KR"/>
                <a:sym typeface="Noto Sans KR"/>
              </a:rPr>
              <a:t>Batch size 32 일 때 BN   vs   TENT   vs   TENT-Full   성능 비교</a:t>
            </a:r>
            <a:endParaRPr b="0" i="0" sz="1200" u="none" cap="none" strike="noStrike">
              <a:solidFill>
                <a:schemeClr val="dk1"/>
              </a:solidFill>
              <a:latin typeface="Noto Sans KR"/>
              <a:ea typeface="Noto Sans KR"/>
              <a:cs typeface="Noto Sans KR"/>
              <a:sym typeface="Noto Sans KR"/>
            </a:endParaRPr>
          </a:p>
        </p:txBody>
      </p:sp>
      <p:pic>
        <p:nvPicPr>
          <p:cNvPr id="106" name="Google Shape;106;g34f0945bc02_0_86"/>
          <p:cNvPicPr preferRelativeResize="0"/>
          <p:nvPr/>
        </p:nvPicPr>
        <p:blipFill rotWithShape="1">
          <a:blip r:embed="rId3">
            <a:alphaModFix/>
          </a:blip>
          <a:srcRect b="0" l="0" r="0" t="0"/>
          <a:stretch/>
        </p:blipFill>
        <p:spPr>
          <a:xfrm>
            <a:off x="5534033" y="2083021"/>
            <a:ext cx="3603362" cy="3512596"/>
          </a:xfrm>
          <a:prstGeom prst="rect">
            <a:avLst/>
          </a:prstGeom>
          <a:noFill/>
          <a:ln>
            <a:noFill/>
          </a:ln>
        </p:spPr>
      </p:pic>
      <p:pic>
        <p:nvPicPr>
          <p:cNvPr id="107" name="Google Shape;107;g34f0945bc02_0_86"/>
          <p:cNvPicPr preferRelativeResize="0"/>
          <p:nvPr/>
        </p:nvPicPr>
        <p:blipFill rotWithShape="1">
          <a:blip r:embed="rId4">
            <a:alphaModFix/>
          </a:blip>
          <a:srcRect b="0" l="0" r="0" t="0"/>
          <a:stretch/>
        </p:blipFill>
        <p:spPr>
          <a:xfrm>
            <a:off x="8747562" y="2003375"/>
            <a:ext cx="3444438" cy="3518116"/>
          </a:xfrm>
          <a:prstGeom prst="rect">
            <a:avLst/>
          </a:prstGeom>
          <a:noFill/>
          <a:ln>
            <a:noFill/>
          </a:ln>
        </p:spPr>
      </p:pic>
      <p:pic>
        <p:nvPicPr>
          <p:cNvPr id="108" name="Google Shape;108;g34f0945bc02_0_86"/>
          <p:cNvPicPr preferRelativeResize="0"/>
          <p:nvPr/>
        </p:nvPicPr>
        <p:blipFill rotWithShape="1">
          <a:blip r:embed="rId5">
            <a:alphaModFix/>
          </a:blip>
          <a:srcRect b="0" l="0" r="0" t="0"/>
          <a:stretch/>
        </p:blipFill>
        <p:spPr>
          <a:xfrm>
            <a:off x="324724" y="2140748"/>
            <a:ext cx="4990393" cy="2063928"/>
          </a:xfrm>
          <a:prstGeom prst="rect">
            <a:avLst/>
          </a:prstGeom>
          <a:noFill/>
          <a:ln>
            <a:noFill/>
          </a:ln>
        </p:spPr>
      </p:pic>
      <p:pic>
        <p:nvPicPr>
          <p:cNvPr id="109" name="Google Shape;109;g34f0945bc02_0_86"/>
          <p:cNvPicPr preferRelativeResize="0"/>
          <p:nvPr/>
        </p:nvPicPr>
        <p:blipFill rotWithShape="1">
          <a:blip r:embed="rId6">
            <a:alphaModFix/>
          </a:blip>
          <a:srcRect b="0" l="0" r="0" t="0"/>
          <a:stretch/>
        </p:blipFill>
        <p:spPr>
          <a:xfrm>
            <a:off x="353145" y="4350794"/>
            <a:ext cx="4976828" cy="1871103"/>
          </a:xfrm>
          <a:prstGeom prst="rect">
            <a:avLst/>
          </a:prstGeom>
          <a:noFill/>
          <a:ln>
            <a:noFill/>
          </a:ln>
        </p:spPr>
      </p:pic>
      <p:sp>
        <p:nvSpPr>
          <p:cNvPr id="110" name="Google Shape;110;g34f0945bc02_0_86"/>
          <p:cNvSpPr txBox="1"/>
          <p:nvPr/>
        </p:nvSpPr>
        <p:spPr>
          <a:xfrm>
            <a:off x="324723" y="1856130"/>
            <a:ext cx="4838403"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Noto Sans KR"/>
                <a:ea typeface="Noto Sans KR"/>
                <a:cs typeface="Noto Sans KR"/>
                <a:sym typeface="Noto Sans KR"/>
              </a:rPr>
              <a:t>단순 BN 수집과 비교했을 때 TENT (BN) 의 성능 (5번 반복 실험)</a:t>
            </a:r>
            <a:endParaRPr b="0" i="0" sz="1400" u="none" cap="none" strike="noStrike">
              <a:solidFill>
                <a:srgbClr val="000000"/>
              </a:solidFill>
              <a:latin typeface="Arial"/>
              <a:ea typeface="Arial"/>
              <a:cs typeface="Arial"/>
              <a:sym typeface="Arial"/>
            </a:endParaRPr>
          </a:p>
        </p:txBody>
      </p:sp>
      <p:sp>
        <p:nvSpPr>
          <p:cNvPr id="111" name="Google Shape;111;g34f0945bc02_0_86"/>
          <p:cNvSpPr txBox="1"/>
          <p:nvPr/>
        </p:nvSpPr>
        <p:spPr>
          <a:xfrm>
            <a:off x="5534033" y="1661107"/>
            <a:ext cx="6565603"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Noto Sans KR"/>
                <a:ea typeface="Noto Sans KR"/>
                <a:cs typeface="Noto Sans KR"/>
                <a:sym typeface="Noto Sans KR"/>
              </a:rPr>
              <a:t>단순 </a:t>
            </a:r>
            <a:r>
              <a:rPr b="0" i="0" lang="en-US" sz="1200" u="none" cap="none" strike="noStrike">
                <a:solidFill>
                  <a:srgbClr val="000000"/>
                </a:solidFill>
                <a:latin typeface="Noto Sans KR"/>
                <a:ea typeface="Noto Sans KR"/>
                <a:cs typeface="Noto Sans KR"/>
                <a:sym typeface="Noto Sans KR"/>
              </a:rPr>
              <a:t>BN 수집  vs  TENT  vs  TENT full  의 성능 비교 (1번 실험)</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34f0945bc02_0_17"/>
          <p:cNvSpPr txBox="1"/>
          <p:nvPr/>
        </p:nvSpPr>
        <p:spPr>
          <a:xfrm>
            <a:off x="242596" y="214584"/>
            <a:ext cx="9862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548135"/>
                </a:solidFill>
                <a:latin typeface="Noto Sans KR"/>
                <a:ea typeface="Noto Sans KR"/>
                <a:cs typeface="Noto Sans KR"/>
                <a:sym typeface="Noto Sans KR"/>
              </a:rPr>
              <a:t>연구 진행 상황</a:t>
            </a:r>
            <a:endParaRPr b="1" i="0" sz="1400" u="none" cap="none" strike="noStrike">
              <a:solidFill>
                <a:srgbClr val="548135"/>
              </a:solidFill>
              <a:latin typeface="Arial"/>
              <a:ea typeface="Arial"/>
              <a:cs typeface="Arial"/>
              <a:sym typeface="Arial"/>
            </a:endParaRPr>
          </a:p>
        </p:txBody>
      </p:sp>
      <p:sp>
        <p:nvSpPr>
          <p:cNvPr id="118" name="Google Shape;118;g34f0945bc02_0_17"/>
          <p:cNvSpPr txBox="1"/>
          <p:nvPr/>
        </p:nvSpPr>
        <p:spPr>
          <a:xfrm>
            <a:off x="324724" y="806393"/>
            <a:ext cx="11303857" cy="507801"/>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b="1" i="0" lang="en-US" sz="1400" u="none" cap="none" strike="noStrike">
                <a:solidFill>
                  <a:schemeClr val="dk1"/>
                </a:solidFill>
                <a:latin typeface="Noto Sans KR"/>
                <a:ea typeface="Noto Sans KR"/>
                <a:cs typeface="Noto Sans KR"/>
                <a:sym typeface="Noto Sans KR"/>
              </a:rPr>
              <a:t>Batch size 80 일 때 성능 비교</a:t>
            </a:r>
            <a:endParaRPr b="0" i="0" sz="1200" u="none" cap="none" strike="noStrike">
              <a:solidFill>
                <a:schemeClr val="dk1"/>
              </a:solidFill>
              <a:latin typeface="Noto Sans KR"/>
              <a:ea typeface="Noto Sans KR"/>
              <a:cs typeface="Noto Sans KR"/>
              <a:sym typeface="Noto Sans KR"/>
            </a:endParaRPr>
          </a:p>
        </p:txBody>
      </p:sp>
      <p:pic>
        <p:nvPicPr>
          <p:cNvPr id="119" name="Google Shape;119;g34f0945bc02_0_17"/>
          <p:cNvPicPr preferRelativeResize="0"/>
          <p:nvPr/>
        </p:nvPicPr>
        <p:blipFill rotWithShape="1">
          <a:blip r:embed="rId3">
            <a:alphaModFix/>
          </a:blip>
          <a:srcRect b="0" l="0" r="0" t="0"/>
          <a:stretch/>
        </p:blipFill>
        <p:spPr>
          <a:xfrm>
            <a:off x="242596" y="1856509"/>
            <a:ext cx="5453608" cy="3911666"/>
          </a:xfrm>
          <a:prstGeom prst="rect">
            <a:avLst/>
          </a:prstGeom>
          <a:noFill/>
          <a:ln>
            <a:noFill/>
          </a:ln>
        </p:spPr>
      </p:pic>
      <p:pic>
        <p:nvPicPr>
          <p:cNvPr id="120" name="Google Shape;120;g34f0945bc02_0_17"/>
          <p:cNvPicPr preferRelativeResize="0"/>
          <p:nvPr/>
        </p:nvPicPr>
        <p:blipFill rotWithShape="1">
          <a:blip r:embed="rId4">
            <a:alphaModFix/>
          </a:blip>
          <a:srcRect b="0" l="0" r="0" t="0"/>
          <a:stretch/>
        </p:blipFill>
        <p:spPr>
          <a:xfrm>
            <a:off x="6251846" y="1869289"/>
            <a:ext cx="5453608" cy="3898886"/>
          </a:xfrm>
          <a:prstGeom prst="rect">
            <a:avLst/>
          </a:prstGeom>
          <a:noFill/>
          <a:ln>
            <a:noFill/>
          </a:ln>
        </p:spPr>
      </p:pic>
      <p:sp>
        <p:nvSpPr>
          <p:cNvPr id="121" name="Google Shape;121;g34f0945bc02_0_17"/>
          <p:cNvSpPr/>
          <p:nvPr/>
        </p:nvSpPr>
        <p:spPr>
          <a:xfrm>
            <a:off x="5696204" y="3666836"/>
            <a:ext cx="538341" cy="397164"/>
          </a:xfrm>
          <a:prstGeom prst="rightArrow">
            <a:avLst>
              <a:gd fmla="val 50000" name="adj1"/>
              <a:gd fmla="val 50000" name="adj2"/>
            </a:avLst>
          </a:prstGeom>
          <a:solidFill>
            <a:schemeClr val="accent6"/>
          </a:solidFill>
          <a:ln cap="flat" cmpd="sng" w="25400">
            <a:solidFill>
              <a:srgbClr val="2F491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2" name="Google Shape;122;g34f0945bc02_0_17"/>
          <p:cNvSpPr txBox="1"/>
          <p:nvPr/>
        </p:nvSpPr>
        <p:spPr>
          <a:xfrm>
            <a:off x="324723" y="1545939"/>
            <a:ext cx="4838403"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Noto Sans KR"/>
                <a:ea typeface="Noto Sans KR"/>
                <a:cs typeface="Noto Sans KR"/>
                <a:sym typeface="Noto Sans KR"/>
              </a:rPr>
              <a:t>배치 사이즈 80 으로 진행한 단순 BN 조정</a:t>
            </a:r>
            <a:endParaRPr b="0" i="0" sz="1400" u="none" cap="none" strike="noStrike">
              <a:solidFill>
                <a:srgbClr val="000000"/>
              </a:solidFill>
              <a:latin typeface="Arial"/>
              <a:ea typeface="Arial"/>
              <a:cs typeface="Arial"/>
              <a:sym typeface="Arial"/>
            </a:endParaRPr>
          </a:p>
        </p:txBody>
      </p:sp>
      <p:sp>
        <p:nvSpPr>
          <p:cNvPr id="123" name="Google Shape;123;g34f0945bc02_0_17"/>
          <p:cNvSpPr txBox="1"/>
          <p:nvPr/>
        </p:nvSpPr>
        <p:spPr>
          <a:xfrm>
            <a:off x="6251846" y="1545939"/>
            <a:ext cx="4838403"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Noto Sans KR"/>
                <a:ea typeface="Noto Sans KR"/>
                <a:cs typeface="Noto Sans KR"/>
                <a:sym typeface="Noto Sans KR"/>
              </a:rPr>
              <a:t>배치 사이즈 80 으로 진행한 TENT</a:t>
            </a:r>
            <a:endParaRPr b="0" i="0" sz="1400" u="none" cap="none" strike="noStrike">
              <a:solidFill>
                <a:srgbClr val="000000"/>
              </a:solidFill>
              <a:latin typeface="Arial"/>
              <a:ea typeface="Arial"/>
              <a:cs typeface="Arial"/>
              <a:sym typeface="Arial"/>
            </a:endParaRPr>
          </a:p>
        </p:txBody>
      </p:sp>
      <p:sp>
        <p:nvSpPr>
          <p:cNvPr id="124" name="Google Shape;124;g34f0945bc02_0_17"/>
          <p:cNvSpPr txBox="1"/>
          <p:nvPr/>
        </p:nvSpPr>
        <p:spPr>
          <a:xfrm>
            <a:off x="6251846" y="5789333"/>
            <a:ext cx="4838403"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Noto Sans KR"/>
                <a:ea typeface="Noto Sans KR"/>
                <a:cs typeface="Noto Sans KR"/>
                <a:sym typeface="Noto Sans KR"/>
              </a:rPr>
              <a:t>Auroc 도 대부분 비슷하며, f1 의 값은 차이 없음</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4f0945bc02_0_44"/>
          <p:cNvSpPr txBox="1"/>
          <p:nvPr/>
        </p:nvSpPr>
        <p:spPr>
          <a:xfrm>
            <a:off x="242596" y="214584"/>
            <a:ext cx="9862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548135"/>
                </a:solidFill>
                <a:latin typeface="Noto Sans KR"/>
                <a:ea typeface="Noto Sans KR"/>
                <a:cs typeface="Noto Sans KR"/>
                <a:sym typeface="Noto Sans KR"/>
              </a:rPr>
              <a:t>연구 진행 상황</a:t>
            </a:r>
            <a:endParaRPr b="1" i="0" sz="1400" u="none" cap="none" strike="noStrike">
              <a:solidFill>
                <a:srgbClr val="548135"/>
              </a:solidFill>
              <a:latin typeface="Arial"/>
              <a:ea typeface="Arial"/>
              <a:cs typeface="Arial"/>
              <a:sym typeface="Arial"/>
            </a:endParaRPr>
          </a:p>
        </p:txBody>
      </p:sp>
      <p:sp>
        <p:nvSpPr>
          <p:cNvPr id="131" name="Google Shape;131;g34f0945bc02_0_44"/>
          <p:cNvSpPr txBox="1"/>
          <p:nvPr/>
        </p:nvSpPr>
        <p:spPr>
          <a:xfrm>
            <a:off x="324724" y="549409"/>
            <a:ext cx="11303857" cy="507801"/>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b="1" i="0" lang="en-US" sz="1400" u="none" cap="none" strike="noStrike">
                <a:solidFill>
                  <a:schemeClr val="dk1"/>
                </a:solidFill>
                <a:latin typeface="Noto Sans KR"/>
                <a:ea typeface="Noto Sans KR"/>
                <a:cs typeface="Noto Sans KR"/>
                <a:sym typeface="Noto Sans KR"/>
              </a:rPr>
              <a:t>Batch size 80 일 때 성능 비교</a:t>
            </a:r>
            <a:endParaRPr b="0" i="0" sz="1200" u="none" cap="none" strike="noStrike">
              <a:solidFill>
                <a:schemeClr val="dk1"/>
              </a:solidFill>
              <a:latin typeface="Noto Sans KR"/>
              <a:ea typeface="Noto Sans KR"/>
              <a:cs typeface="Noto Sans KR"/>
              <a:sym typeface="Noto Sans KR"/>
            </a:endParaRPr>
          </a:p>
        </p:txBody>
      </p:sp>
      <p:pic>
        <p:nvPicPr>
          <p:cNvPr id="132" name="Google Shape;132;g34f0945bc02_0_44"/>
          <p:cNvPicPr preferRelativeResize="0"/>
          <p:nvPr/>
        </p:nvPicPr>
        <p:blipFill rotWithShape="1">
          <a:blip r:embed="rId3">
            <a:alphaModFix/>
          </a:blip>
          <a:srcRect b="0" l="0" r="0" t="0"/>
          <a:stretch/>
        </p:blipFill>
        <p:spPr>
          <a:xfrm>
            <a:off x="324724" y="1612305"/>
            <a:ext cx="5453608" cy="3898886"/>
          </a:xfrm>
          <a:prstGeom prst="rect">
            <a:avLst/>
          </a:prstGeom>
          <a:noFill/>
          <a:ln>
            <a:noFill/>
          </a:ln>
        </p:spPr>
      </p:pic>
      <p:sp>
        <p:nvSpPr>
          <p:cNvPr id="133" name="Google Shape;133;g34f0945bc02_0_44"/>
          <p:cNvSpPr/>
          <p:nvPr/>
        </p:nvSpPr>
        <p:spPr>
          <a:xfrm>
            <a:off x="5833227" y="3409852"/>
            <a:ext cx="538341" cy="397164"/>
          </a:xfrm>
          <a:prstGeom prst="rightArrow">
            <a:avLst>
              <a:gd fmla="val 50000" name="adj1"/>
              <a:gd fmla="val 50000" name="adj2"/>
            </a:avLst>
          </a:prstGeom>
          <a:solidFill>
            <a:schemeClr val="accent6"/>
          </a:solidFill>
          <a:ln cap="flat" cmpd="sng" w="25400">
            <a:solidFill>
              <a:srgbClr val="2F491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4" name="Google Shape;134;g34f0945bc02_0_44"/>
          <p:cNvSpPr txBox="1"/>
          <p:nvPr/>
        </p:nvSpPr>
        <p:spPr>
          <a:xfrm>
            <a:off x="324724" y="1288955"/>
            <a:ext cx="4838403"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Noto Sans KR"/>
                <a:ea typeface="Noto Sans KR"/>
                <a:cs typeface="Noto Sans KR"/>
                <a:sym typeface="Noto Sans KR"/>
              </a:rPr>
              <a:t>배치 사이즈 80 으로 진행한 TENT</a:t>
            </a:r>
            <a:endParaRPr b="0" i="0" sz="1400" u="none" cap="none" strike="noStrike">
              <a:solidFill>
                <a:srgbClr val="000000"/>
              </a:solidFill>
              <a:latin typeface="Arial"/>
              <a:ea typeface="Arial"/>
              <a:cs typeface="Arial"/>
              <a:sym typeface="Arial"/>
            </a:endParaRPr>
          </a:p>
        </p:txBody>
      </p:sp>
      <p:sp>
        <p:nvSpPr>
          <p:cNvPr id="135" name="Google Shape;135;g34f0945bc02_0_44"/>
          <p:cNvSpPr txBox="1"/>
          <p:nvPr/>
        </p:nvSpPr>
        <p:spPr>
          <a:xfrm>
            <a:off x="324724" y="5555583"/>
            <a:ext cx="11784149" cy="116782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50000"/>
              </a:lnSpc>
              <a:spcBef>
                <a:spcPts val="0"/>
              </a:spcBef>
              <a:spcAft>
                <a:spcPts val="0"/>
              </a:spcAft>
              <a:buClr>
                <a:srgbClr val="000000"/>
              </a:buClr>
              <a:buSzPts val="1200"/>
              <a:buFont typeface="Arial"/>
              <a:buChar char="-"/>
            </a:pPr>
            <a:r>
              <a:rPr b="0" i="0" lang="en-US" sz="1200" u="none" cap="none" strike="noStrike">
                <a:solidFill>
                  <a:srgbClr val="000000"/>
                </a:solidFill>
                <a:latin typeface="Noto Sans KR"/>
                <a:ea typeface="Noto Sans KR"/>
                <a:cs typeface="Noto Sans KR"/>
                <a:sym typeface="Noto Sans KR"/>
              </a:rPr>
              <a:t>TENT 에 비해 성능이 감소하기도 증가하기도 함</a:t>
            </a:r>
            <a:endParaRPr b="0" i="0" sz="1200" u="none" cap="none" strike="noStrike">
              <a:solidFill>
                <a:srgbClr val="000000"/>
              </a:solidFill>
              <a:latin typeface="Noto Sans KR"/>
              <a:ea typeface="Noto Sans KR"/>
              <a:cs typeface="Noto Sans KR"/>
              <a:sym typeface="Noto Sans KR"/>
            </a:endParaRPr>
          </a:p>
          <a:p>
            <a:pPr indent="-171450" lvl="0" marL="171450" marR="0" rtl="0" algn="l">
              <a:lnSpc>
                <a:spcPct val="150000"/>
              </a:lnSpc>
              <a:spcBef>
                <a:spcPts val="0"/>
              </a:spcBef>
              <a:spcAft>
                <a:spcPts val="0"/>
              </a:spcAft>
              <a:buClr>
                <a:srgbClr val="000000"/>
              </a:buClr>
              <a:buSzPts val="1200"/>
              <a:buFont typeface="Arial"/>
              <a:buChar char="-"/>
            </a:pPr>
            <a:r>
              <a:rPr b="0" i="0" lang="en-US" sz="1200" u="none" cap="none" strike="noStrike">
                <a:solidFill>
                  <a:srgbClr val="000000"/>
                </a:solidFill>
                <a:latin typeface="Noto Sans KR"/>
                <a:ea typeface="Noto Sans KR"/>
                <a:cs typeface="Noto Sans KR"/>
                <a:sym typeface="Noto Sans KR"/>
              </a:rPr>
              <a:t>Brightness 와 cameraz 의 감소 정도에 비해 lcondition 의 증가 정도가 미미하여 이 결과로만 봤을 때 BN 업데이트만 사용하는 것이 좋아보이기는 함</a:t>
            </a:r>
            <a:endParaRPr b="0" i="0" sz="1200" u="none" cap="none" strike="noStrike">
              <a:solidFill>
                <a:srgbClr val="000000"/>
              </a:solidFill>
              <a:latin typeface="Noto Sans KR"/>
              <a:ea typeface="Noto Sans KR"/>
              <a:cs typeface="Noto Sans KR"/>
              <a:sym typeface="Noto Sans KR"/>
            </a:endParaRPr>
          </a:p>
          <a:p>
            <a:pPr indent="-171450" lvl="0" marL="171450" marR="0" rtl="0" algn="l">
              <a:lnSpc>
                <a:spcPct val="150000"/>
              </a:lnSpc>
              <a:spcBef>
                <a:spcPts val="0"/>
              </a:spcBef>
              <a:spcAft>
                <a:spcPts val="0"/>
              </a:spcAft>
              <a:buClr>
                <a:srgbClr val="000000"/>
              </a:buClr>
              <a:buSzPts val="1200"/>
              <a:buFont typeface="Arial"/>
              <a:buChar char="-"/>
            </a:pPr>
            <a:r>
              <a:rPr b="0" i="0" lang="en-US" sz="1200" u="none" cap="none" strike="noStrike">
                <a:solidFill>
                  <a:srgbClr val="000000"/>
                </a:solidFill>
                <a:latin typeface="Noto Sans KR"/>
                <a:ea typeface="Noto Sans KR"/>
                <a:cs typeface="Noto Sans KR"/>
                <a:sym typeface="Noto Sans KR"/>
              </a:rPr>
              <a:t>다만 BN 만으로는 큰 변화가 없어 성능 증감 정도가 미미할 것으로 예상</a:t>
            </a:r>
            <a:br>
              <a:rPr b="0" i="0" lang="en-US" sz="1200" u="none" cap="none" strike="noStrike">
                <a:solidFill>
                  <a:srgbClr val="000000"/>
                </a:solidFill>
                <a:latin typeface="Noto Sans KR"/>
                <a:ea typeface="Noto Sans KR"/>
                <a:cs typeface="Noto Sans KR"/>
                <a:sym typeface="Noto Sans KR"/>
              </a:rPr>
            </a:br>
            <a:r>
              <a:rPr b="0" i="0" lang="en-US" sz="1200" u="none" cap="none" strike="noStrike">
                <a:solidFill>
                  <a:srgbClr val="000000"/>
                </a:solidFill>
                <a:latin typeface="Noto Sans KR"/>
                <a:ea typeface="Noto Sans KR"/>
                <a:cs typeface="Noto Sans KR"/>
                <a:sym typeface="Noto Sans KR"/>
              </a:rPr>
              <a:t>-&gt; Full parameter 를 업데이트 하되, EMA 방식의 업데이트 등 기존 파라미터 정보 유지하는 방법 도입중</a:t>
            </a:r>
            <a:endParaRPr b="0" i="0" sz="1200" u="none" cap="none" strike="noStrike">
              <a:solidFill>
                <a:srgbClr val="000000"/>
              </a:solidFill>
              <a:latin typeface="Noto Sans KR"/>
              <a:ea typeface="Noto Sans KR"/>
              <a:cs typeface="Noto Sans KR"/>
              <a:sym typeface="Noto Sans KR"/>
            </a:endParaRPr>
          </a:p>
        </p:txBody>
      </p:sp>
      <p:pic>
        <p:nvPicPr>
          <p:cNvPr id="136" name="Google Shape;136;g34f0945bc02_0_44"/>
          <p:cNvPicPr preferRelativeResize="0"/>
          <p:nvPr/>
        </p:nvPicPr>
        <p:blipFill rotWithShape="1">
          <a:blip r:embed="rId4">
            <a:alphaModFix/>
          </a:blip>
          <a:srcRect b="0" l="0" r="0" t="0"/>
          <a:stretch/>
        </p:blipFill>
        <p:spPr>
          <a:xfrm>
            <a:off x="6420132" y="1612305"/>
            <a:ext cx="5440681" cy="3898886"/>
          </a:xfrm>
          <a:prstGeom prst="rect">
            <a:avLst/>
          </a:prstGeom>
          <a:noFill/>
          <a:ln>
            <a:noFill/>
          </a:ln>
        </p:spPr>
      </p:pic>
      <p:sp>
        <p:nvSpPr>
          <p:cNvPr id="137" name="Google Shape;137;g34f0945bc02_0_44"/>
          <p:cNvSpPr txBox="1"/>
          <p:nvPr/>
        </p:nvSpPr>
        <p:spPr>
          <a:xfrm>
            <a:off x="6413668" y="1288955"/>
            <a:ext cx="4838403"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Noto Sans KR"/>
                <a:ea typeface="Noto Sans KR"/>
                <a:cs typeface="Noto Sans KR"/>
                <a:sym typeface="Noto Sans KR"/>
              </a:rPr>
              <a:t>배치 사이즈 80 으로 진행한 TENT full parameter update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4f0945bc02_0_4"/>
          <p:cNvSpPr txBox="1"/>
          <p:nvPr/>
        </p:nvSpPr>
        <p:spPr>
          <a:xfrm>
            <a:off x="324724" y="165282"/>
            <a:ext cx="11303857" cy="507801"/>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b="1" i="0" lang="en-US" sz="1400" u="none" cap="none" strike="noStrike">
                <a:solidFill>
                  <a:schemeClr val="dk1"/>
                </a:solidFill>
                <a:latin typeface="Noto Sans KR"/>
                <a:ea typeface="Noto Sans KR"/>
                <a:cs typeface="Noto Sans KR"/>
                <a:sym typeface="Noto Sans KR"/>
              </a:rPr>
              <a:t>Cosine similarity loss 를 이용하여 같은 pseudo label 끼리 feature consisntency</a:t>
            </a:r>
            <a:endParaRPr b="0" i="0" sz="1200" u="none" cap="none" strike="noStrike">
              <a:solidFill>
                <a:schemeClr val="dk1"/>
              </a:solidFill>
              <a:latin typeface="Noto Sans KR"/>
              <a:ea typeface="Noto Sans KR"/>
              <a:cs typeface="Noto Sans KR"/>
              <a:sym typeface="Noto Sans KR"/>
            </a:endParaRPr>
          </a:p>
        </p:txBody>
      </p:sp>
      <p:sp>
        <p:nvSpPr>
          <p:cNvPr id="144" name="Google Shape;144;g34f0945bc02_0_4"/>
          <p:cNvSpPr txBox="1"/>
          <p:nvPr/>
        </p:nvSpPr>
        <p:spPr>
          <a:xfrm>
            <a:off x="324724" y="762482"/>
            <a:ext cx="4838403"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Noto Sans KR"/>
                <a:ea typeface="Noto Sans KR"/>
                <a:cs typeface="Noto Sans KR"/>
                <a:sym typeface="Noto Sans KR"/>
              </a:rPr>
              <a:t>배치 사이즈 80 으로 진행   /   BN layer 만 업데이트</a:t>
            </a:r>
            <a:endParaRPr b="0" i="0" sz="1400" u="none" cap="none" strike="noStrike">
              <a:solidFill>
                <a:srgbClr val="000000"/>
              </a:solidFill>
              <a:latin typeface="Arial"/>
              <a:ea typeface="Arial"/>
              <a:cs typeface="Arial"/>
              <a:sym typeface="Arial"/>
            </a:endParaRPr>
          </a:p>
        </p:txBody>
      </p:sp>
      <p:pic>
        <p:nvPicPr>
          <p:cNvPr id="145" name="Google Shape;145;g34f0945bc02_0_4"/>
          <p:cNvPicPr preferRelativeResize="0"/>
          <p:nvPr/>
        </p:nvPicPr>
        <p:blipFill rotWithShape="1">
          <a:blip r:embed="rId3">
            <a:alphaModFix/>
          </a:blip>
          <a:srcRect b="0" l="0" r="0" t="0"/>
          <a:stretch/>
        </p:blipFill>
        <p:spPr>
          <a:xfrm>
            <a:off x="4302991" y="762482"/>
            <a:ext cx="6172200" cy="533400"/>
          </a:xfrm>
          <a:prstGeom prst="rect">
            <a:avLst/>
          </a:prstGeom>
          <a:noFill/>
          <a:ln>
            <a:noFill/>
          </a:ln>
        </p:spPr>
      </p:pic>
      <p:sp>
        <p:nvSpPr>
          <p:cNvPr id="146" name="Google Shape;146;g34f0945bc02_0_4"/>
          <p:cNvSpPr txBox="1"/>
          <p:nvPr/>
        </p:nvSpPr>
        <p:spPr>
          <a:xfrm>
            <a:off x="4302991" y="1295882"/>
            <a:ext cx="4838403"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Noto Sans KR"/>
                <a:ea typeface="Noto Sans KR"/>
                <a:cs typeface="Noto Sans KR"/>
                <a:sym typeface="Noto Sans KR"/>
              </a:rPr>
              <a:t>변화량이 극소량</a:t>
            </a:r>
            <a:endParaRPr b="0" i="0" sz="1400" u="none" cap="none" strike="noStrike">
              <a:solidFill>
                <a:srgbClr val="000000"/>
              </a:solidFill>
              <a:latin typeface="Arial"/>
              <a:ea typeface="Arial"/>
              <a:cs typeface="Arial"/>
              <a:sym typeface="Arial"/>
            </a:endParaRPr>
          </a:p>
        </p:txBody>
      </p:sp>
      <p:pic>
        <p:nvPicPr>
          <p:cNvPr id="147" name="Google Shape;147;g34f0945bc02_0_4"/>
          <p:cNvPicPr preferRelativeResize="0"/>
          <p:nvPr/>
        </p:nvPicPr>
        <p:blipFill rotWithShape="1">
          <a:blip r:embed="rId4">
            <a:alphaModFix/>
          </a:blip>
          <a:srcRect b="0" l="0" r="0" t="0"/>
          <a:stretch/>
        </p:blipFill>
        <p:spPr>
          <a:xfrm>
            <a:off x="144063" y="2825519"/>
            <a:ext cx="5322049" cy="2736599"/>
          </a:xfrm>
          <a:prstGeom prst="rect">
            <a:avLst/>
          </a:prstGeom>
          <a:noFill/>
          <a:ln>
            <a:noFill/>
          </a:ln>
        </p:spPr>
      </p:pic>
      <p:pic>
        <p:nvPicPr>
          <p:cNvPr id="148" name="Google Shape;148;g34f0945bc02_0_4"/>
          <p:cNvPicPr preferRelativeResize="0"/>
          <p:nvPr/>
        </p:nvPicPr>
        <p:blipFill rotWithShape="1">
          <a:blip r:embed="rId5">
            <a:alphaModFix/>
          </a:blip>
          <a:srcRect b="0" l="0" r="0" t="0"/>
          <a:stretch/>
        </p:blipFill>
        <p:spPr>
          <a:xfrm>
            <a:off x="5535900" y="2825519"/>
            <a:ext cx="6517554" cy="27365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34cdbc04084_0_41"/>
          <p:cNvSpPr txBox="1"/>
          <p:nvPr/>
        </p:nvSpPr>
        <p:spPr>
          <a:xfrm>
            <a:off x="242596" y="214584"/>
            <a:ext cx="9862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548135"/>
                </a:solidFill>
                <a:latin typeface="Noto Sans KR"/>
                <a:ea typeface="Noto Sans KR"/>
                <a:cs typeface="Noto Sans KR"/>
                <a:sym typeface="Noto Sans KR"/>
              </a:rPr>
              <a:t>추후 연구 방향</a:t>
            </a:r>
            <a:endParaRPr b="1" i="0" sz="1400" u="none" cap="none" strike="noStrike">
              <a:solidFill>
                <a:srgbClr val="548135"/>
              </a:solidFill>
              <a:latin typeface="Arial"/>
              <a:ea typeface="Arial"/>
              <a:cs typeface="Arial"/>
              <a:sym typeface="Arial"/>
            </a:endParaRPr>
          </a:p>
        </p:txBody>
      </p:sp>
      <p:sp>
        <p:nvSpPr>
          <p:cNvPr id="155" name="Google Shape;155;g34cdbc04084_0_41"/>
          <p:cNvSpPr txBox="1"/>
          <p:nvPr/>
        </p:nvSpPr>
        <p:spPr>
          <a:xfrm>
            <a:off x="324724" y="699984"/>
            <a:ext cx="11303857" cy="507801"/>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b="1" i="0" lang="en-US" sz="1400" u="none" cap="none" strike="noStrike">
                <a:solidFill>
                  <a:schemeClr val="dk1"/>
                </a:solidFill>
                <a:latin typeface="Noto Sans KR"/>
                <a:ea typeface="Noto Sans KR"/>
                <a:cs typeface="Noto Sans KR"/>
                <a:sym typeface="Noto Sans KR"/>
              </a:rPr>
              <a:t>2 class task 로 전환</a:t>
            </a:r>
            <a:endParaRPr b="0" i="0" sz="1200" u="none" cap="none" strike="noStrike">
              <a:solidFill>
                <a:schemeClr val="dk1"/>
              </a:solidFill>
              <a:latin typeface="Noto Sans KR"/>
              <a:ea typeface="Noto Sans KR"/>
              <a:cs typeface="Noto Sans KR"/>
              <a:sym typeface="Noto Sans KR"/>
            </a:endParaRPr>
          </a:p>
        </p:txBody>
      </p:sp>
      <p:pic>
        <p:nvPicPr>
          <p:cNvPr id="156" name="Google Shape;156;g34cdbc04084_0_41"/>
          <p:cNvPicPr preferRelativeResize="0"/>
          <p:nvPr/>
        </p:nvPicPr>
        <p:blipFill rotWithShape="1">
          <a:blip r:embed="rId3">
            <a:alphaModFix/>
          </a:blip>
          <a:srcRect b="0" l="0" r="0" t="0"/>
          <a:stretch/>
        </p:blipFill>
        <p:spPr>
          <a:xfrm>
            <a:off x="110479" y="1584661"/>
            <a:ext cx="5705129" cy="4705878"/>
          </a:xfrm>
          <a:prstGeom prst="rect">
            <a:avLst/>
          </a:prstGeom>
          <a:noFill/>
          <a:ln>
            <a:noFill/>
          </a:ln>
        </p:spPr>
      </p:pic>
      <p:pic>
        <p:nvPicPr>
          <p:cNvPr id="157" name="Google Shape;157;g34cdbc04084_0_41"/>
          <p:cNvPicPr preferRelativeResize="0"/>
          <p:nvPr/>
        </p:nvPicPr>
        <p:blipFill rotWithShape="1">
          <a:blip r:embed="rId4">
            <a:alphaModFix/>
          </a:blip>
          <a:srcRect b="0" l="0" r="0" t="0"/>
          <a:stretch/>
        </p:blipFill>
        <p:spPr>
          <a:xfrm>
            <a:off x="5976652" y="1371146"/>
            <a:ext cx="5790535" cy="513290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2" name="Shape 162"/>
        <p:cNvGrpSpPr/>
        <p:nvPr/>
      </p:nvGrpSpPr>
      <p:grpSpPr>
        <a:xfrm>
          <a:off x="0" y="0"/>
          <a:ext cx="0" cy="0"/>
          <a:chOff x="0" y="0"/>
          <a:chExt cx="0" cy="0"/>
        </a:xfrm>
      </p:grpSpPr>
      <p:pic>
        <p:nvPicPr>
          <p:cNvPr descr="4.locally aware feature 만들기" id="163" name="Google Shape;163;g34cdbc04084_0_64"/>
          <p:cNvPicPr preferRelativeResize="0"/>
          <p:nvPr/>
        </p:nvPicPr>
        <p:blipFill rotWithShape="1">
          <a:blip r:embed="rId3">
            <a:alphaModFix/>
          </a:blip>
          <a:srcRect b="0" l="0" r="0" t="0"/>
          <a:stretch/>
        </p:blipFill>
        <p:spPr>
          <a:xfrm>
            <a:off x="8421185" y="236864"/>
            <a:ext cx="3528219" cy="3429000"/>
          </a:xfrm>
          <a:prstGeom prst="rect">
            <a:avLst/>
          </a:prstGeom>
          <a:noFill/>
          <a:ln>
            <a:noFill/>
          </a:ln>
        </p:spPr>
      </p:pic>
      <p:sp>
        <p:nvSpPr>
          <p:cNvPr id="164" name="Google Shape;164;g34cdbc04084_0_64"/>
          <p:cNvSpPr txBox="1"/>
          <p:nvPr/>
        </p:nvSpPr>
        <p:spPr>
          <a:xfrm>
            <a:off x="242596" y="214584"/>
            <a:ext cx="9862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548135"/>
                </a:solidFill>
                <a:latin typeface="Noto Sans KR"/>
                <a:ea typeface="Noto Sans KR"/>
                <a:cs typeface="Noto Sans KR"/>
                <a:sym typeface="Noto Sans KR"/>
              </a:rPr>
              <a:t>추후 연구 방향</a:t>
            </a:r>
            <a:endParaRPr b="1" i="0" sz="1400" u="none" cap="none" strike="noStrike">
              <a:solidFill>
                <a:srgbClr val="548135"/>
              </a:solidFill>
              <a:latin typeface="Arial"/>
              <a:ea typeface="Arial"/>
              <a:cs typeface="Arial"/>
              <a:sym typeface="Arial"/>
            </a:endParaRPr>
          </a:p>
        </p:txBody>
      </p:sp>
      <p:sp>
        <p:nvSpPr>
          <p:cNvPr id="165" name="Google Shape;165;g34cdbc04084_0_64"/>
          <p:cNvSpPr txBox="1"/>
          <p:nvPr/>
        </p:nvSpPr>
        <p:spPr>
          <a:xfrm>
            <a:off x="324724" y="981883"/>
            <a:ext cx="11303857" cy="5539948"/>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b="1" i="0" lang="en-US" sz="1400" u="sng" cap="none" strike="noStrike">
                <a:solidFill>
                  <a:schemeClr val="dk1"/>
                </a:solidFill>
                <a:latin typeface="Noto Sans KR"/>
                <a:ea typeface="Noto Sans KR"/>
                <a:cs typeface="Noto Sans KR"/>
                <a:sym typeface="Noto Sans KR"/>
                <a:hlinkClick r:id="rId4">
                  <a:extLst>
                    <a:ext uri="{A12FA001-AC4F-418D-AE19-62706E023703}">
                      <ahyp:hlinkClr val="tx"/>
                    </a:ext>
                  </a:extLst>
                </a:hlinkClick>
              </a:rPr>
              <a:t>PatchCore</a:t>
            </a:r>
            <a:r>
              <a:rPr b="1" i="0" lang="en-US" sz="1400" u="none" cap="none" strike="noStrike">
                <a:solidFill>
                  <a:schemeClr val="dk1"/>
                </a:solidFill>
                <a:latin typeface="Noto Sans KR"/>
                <a:ea typeface="Noto Sans KR"/>
                <a:cs typeface="Noto Sans KR"/>
                <a:sym typeface="Noto Sans KR"/>
              </a:rPr>
              <a:t> 를 이용한 feature alignment</a:t>
            </a:r>
            <a:endParaRPr/>
          </a:p>
          <a:p>
            <a:pPr indent="0" lvl="0" marL="0" marR="0" rtl="0" algn="l">
              <a:lnSpc>
                <a:spcPct val="150000"/>
              </a:lnSpc>
              <a:spcBef>
                <a:spcPts val="0"/>
              </a:spcBef>
              <a:spcAft>
                <a:spcPts val="0"/>
              </a:spcAft>
              <a:buNone/>
            </a:pPr>
            <a:r>
              <a:t/>
            </a:r>
            <a:endParaRPr b="0" i="0" sz="1400" u="none" cap="none" strike="noStrike">
              <a:solidFill>
                <a:schemeClr val="dk1"/>
              </a:solidFill>
              <a:latin typeface="Noto Sans KR"/>
              <a:ea typeface="Noto Sans KR"/>
              <a:cs typeface="Noto Sans KR"/>
              <a:sym typeface="Noto Sans KR"/>
            </a:endParaRPr>
          </a:p>
          <a:p>
            <a:pPr indent="-171450" lvl="0" marL="171450" marR="0" rtl="0" algn="l">
              <a:lnSpc>
                <a:spcPct val="150000"/>
              </a:lnSpc>
              <a:spcBef>
                <a:spcPts val="0"/>
              </a:spcBef>
              <a:spcAft>
                <a:spcPts val="0"/>
              </a:spcAft>
              <a:buClr>
                <a:schemeClr val="dk1"/>
              </a:buClr>
              <a:buSzPts val="1200"/>
              <a:buFont typeface="Arial"/>
              <a:buChar char="-"/>
            </a:pPr>
            <a:r>
              <a:rPr b="0" i="0" lang="en-US" sz="1200" u="none" cap="none" strike="noStrike">
                <a:solidFill>
                  <a:schemeClr val="dk1"/>
                </a:solidFill>
                <a:latin typeface="Noto Sans KR"/>
                <a:ea typeface="Noto Sans KR"/>
                <a:cs typeface="Noto Sans KR"/>
                <a:sym typeface="Noto Sans KR"/>
              </a:rPr>
              <a:t>MVTec 의 anomaly detection 문제를 해결하기 위한 비지도 학습 기반 알고리즘</a:t>
            </a:r>
            <a:endParaRPr b="0" i="0" sz="1200" u="none" cap="none" strike="noStrike">
              <a:solidFill>
                <a:schemeClr val="dk1"/>
              </a:solidFill>
              <a:latin typeface="Noto Sans KR"/>
              <a:ea typeface="Noto Sans KR"/>
              <a:cs typeface="Noto Sans KR"/>
              <a:sym typeface="Noto Sans KR"/>
            </a:endParaRPr>
          </a:p>
          <a:p>
            <a:pPr indent="-171450" lvl="0" marL="171450" marR="0" rtl="0" algn="l">
              <a:lnSpc>
                <a:spcPct val="150000"/>
              </a:lnSpc>
              <a:spcBef>
                <a:spcPts val="0"/>
              </a:spcBef>
              <a:spcAft>
                <a:spcPts val="0"/>
              </a:spcAft>
              <a:buClr>
                <a:schemeClr val="dk1"/>
              </a:buClr>
              <a:buSzPts val="1200"/>
              <a:buFont typeface="Arial"/>
              <a:buChar char="-"/>
            </a:pPr>
            <a:r>
              <a:rPr b="0" i="0" lang="en-US" sz="1200" u="none" cap="none" strike="noStrike">
                <a:solidFill>
                  <a:schemeClr val="dk1"/>
                </a:solidFill>
                <a:latin typeface="Noto Sans KR"/>
                <a:ea typeface="Noto Sans KR"/>
                <a:cs typeface="Noto Sans KR"/>
                <a:sym typeface="Noto Sans KR"/>
              </a:rPr>
              <a:t>정상 이미지에서 locally aware 한 국소 패치 수준의 특징을 이용하여 이상 탐지</a:t>
            </a:r>
            <a:endParaRPr b="0" i="0" sz="1200" u="none" cap="none" strike="noStrike">
              <a:solidFill>
                <a:schemeClr val="dk1"/>
              </a:solidFill>
              <a:latin typeface="Noto Sans KR"/>
              <a:ea typeface="Noto Sans KR"/>
              <a:cs typeface="Noto Sans KR"/>
              <a:sym typeface="Noto Sans KR"/>
            </a:endParaRPr>
          </a:p>
          <a:p>
            <a:pPr indent="-95250" lvl="0" marL="171450" marR="0" rtl="0" algn="l">
              <a:lnSpc>
                <a:spcPct val="150000"/>
              </a:lnSpc>
              <a:spcBef>
                <a:spcPts val="0"/>
              </a:spcBef>
              <a:spcAft>
                <a:spcPts val="0"/>
              </a:spcAft>
              <a:buClr>
                <a:schemeClr val="dk1"/>
              </a:buClr>
              <a:buSzPts val="1200"/>
              <a:buFont typeface="Arial"/>
              <a:buNone/>
            </a:pPr>
            <a:r>
              <a:t/>
            </a:r>
            <a:endParaRPr b="0" i="0" sz="1200" u="none" cap="none" strike="noStrike">
              <a:solidFill>
                <a:schemeClr val="dk1"/>
              </a:solidFill>
              <a:latin typeface="Noto Sans KR"/>
              <a:ea typeface="Noto Sans KR"/>
              <a:cs typeface="Noto Sans KR"/>
              <a:sym typeface="Noto Sans KR"/>
            </a:endParaRPr>
          </a:p>
          <a:p>
            <a:pPr indent="-171450" lvl="0" marL="171450" marR="0" rtl="0" algn="l">
              <a:lnSpc>
                <a:spcPct val="150000"/>
              </a:lnSpc>
              <a:spcBef>
                <a:spcPts val="0"/>
              </a:spcBef>
              <a:spcAft>
                <a:spcPts val="0"/>
              </a:spcAft>
              <a:buClr>
                <a:schemeClr val="dk1"/>
              </a:buClr>
              <a:buSzPts val="1200"/>
              <a:buFont typeface="Arial"/>
              <a:buChar char="-"/>
            </a:pPr>
            <a:r>
              <a:rPr b="0" i="0" lang="en-US" sz="1200" u="none" cap="none" strike="noStrike">
                <a:solidFill>
                  <a:schemeClr val="dk1"/>
                </a:solidFill>
                <a:latin typeface="Noto Sans KR"/>
                <a:ea typeface="Noto Sans KR"/>
                <a:cs typeface="Noto Sans KR"/>
                <a:sym typeface="Noto Sans KR"/>
              </a:rPr>
              <a:t>CNN 으로 feature map 추출. Average pooling 을 사용하여 주변부 정보를 고려한 locally aware 한 패치 생성</a:t>
            </a:r>
            <a:endParaRPr b="0" i="0" sz="1200" u="none" cap="none" strike="noStrike">
              <a:solidFill>
                <a:schemeClr val="dk1"/>
              </a:solidFill>
              <a:latin typeface="Noto Sans KR"/>
              <a:ea typeface="Noto Sans KR"/>
              <a:cs typeface="Noto Sans KR"/>
              <a:sym typeface="Noto Sans KR"/>
            </a:endParaRPr>
          </a:p>
          <a:p>
            <a:pPr indent="-171450" lvl="0" marL="171450" marR="0" rtl="0" algn="l">
              <a:lnSpc>
                <a:spcPct val="150000"/>
              </a:lnSpc>
              <a:spcBef>
                <a:spcPts val="0"/>
              </a:spcBef>
              <a:spcAft>
                <a:spcPts val="0"/>
              </a:spcAft>
              <a:buClr>
                <a:schemeClr val="dk1"/>
              </a:buClr>
              <a:buSzPts val="1200"/>
              <a:buFont typeface="Arial"/>
              <a:buChar char="-"/>
            </a:pPr>
            <a:r>
              <a:rPr b="0" i="0" lang="en-US" sz="1200" u="none" cap="none" strike="noStrike">
                <a:solidFill>
                  <a:schemeClr val="dk1"/>
                </a:solidFill>
                <a:latin typeface="Noto Sans KR"/>
                <a:ea typeface="Noto Sans KR"/>
                <a:cs typeface="Noto Sans KR"/>
                <a:sym typeface="Noto Sans KR"/>
              </a:rPr>
              <a:t>주로 사용하는 high level feature 대신, mid level feature (layer 2, 3) 사용</a:t>
            </a:r>
            <a:br>
              <a:rPr b="0" i="0" lang="en-US" sz="1200" u="none" cap="none" strike="noStrike">
                <a:solidFill>
                  <a:schemeClr val="dk1"/>
                </a:solidFill>
                <a:latin typeface="Noto Sans KR"/>
                <a:ea typeface="Noto Sans KR"/>
                <a:cs typeface="Noto Sans KR"/>
                <a:sym typeface="Noto Sans KR"/>
              </a:rPr>
            </a:br>
            <a:r>
              <a:rPr b="0" i="0" lang="en-US" sz="1200" u="none" cap="none" strike="noStrike">
                <a:solidFill>
                  <a:schemeClr val="dk1"/>
                </a:solidFill>
                <a:latin typeface="Noto Sans KR"/>
                <a:ea typeface="Noto Sans KR"/>
                <a:cs typeface="Noto Sans KR"/>
                <a:sym typeface="Noto Sans KR"/>
              </a:rPr>
              <a:t>high level feature 는 위치 정보가 많이 사라져 있다고 주장 </a:t>
            </a:r>
            <a:r>
              <a:rPr b="0" i="0" lang="en-US" sz="1200" u="none" cap="none" strike="noStrike">
                <a:solidFill>
                  <a:srgbClr val="757070"/>
                </a:solidFill>
                <a:latin typeface="Noto Sans KR"/>
                <a:ea typeface="Noto Sans KR"/>
                <a:cs typeface="Noto Sans KR"/>
                <a:sym typeface="Noto Sans KR"/>
              </a:rPr>
              <a:t>(+ 지나치게 imagenet 을 위해 특화된 정보라고 주장)</a:t>
            </a:r>
            <a:endParaRPr/>
          </a:p>
          <a:p>
            <a:pPr indent="-95250" lvl="0" marL="171450" marR="0" rtl="0" algn="l">
              <a:lnSpc>
                <a:spcPct val="150000"/>
              </a:lnSpc>
              <a:spcBef>
                <a:spcPts val="0"/>
              </a:spcBef>
              <a:spcAft>
                <a:spcPts val="0"/>
              </a:spcAft>
              <a:buClr>
                <a:schemeClr val="dk1"/>
              </a:buClr>
              <a:buSzPts val="1200"/>
              <a:buFont typeface="Arial"/>
              <a:buNone/>
            </a:pPr>
            <a:r>
              <a:t/>
            </a:r>
            <a:endParaRPr b="0" i="0" sz="1200" u="none" cap="none" strike="noStrike">
              <a:solidFill>
                <a:schemeClr val="dk1"/>
              </a:solidFill>
              <a:latin typeface="Noto Sans KR"/>
              <a:ea typeface="Noto Sans KR"/>
              <a:cs typeface="Noto Sans KR"/>
              <a:sym typeface="Noto Sans KR"/>
            </a:endParaRPr>
          </a:p>
          <a:p>
            <a:pPr indent="-171450" lvl="0" marL="171450" marR="0" rtl="0" algn="l">
              <a:lnSpc>
                <a:spcPct val="150000"/>
              </a:lnSpc>
              <a:spcBef>
                <a:spcPts val="0"/>
              </a:spcBef>
              <a:spcAft>
                <a:spcPts val="0"/>
              </a:spcAft>
              <a:buClr>
                <a:schemeClr val="dk1"/>
              </a:buClr>
              <a:buSzPts val="1200"/>
              <a:buFont typeface="Arial"/>
              <a:buChar char="-"/>
            </a:pPr>
            <a:r>
              <a:rPr b="0" i="0" lang="en-US" sz="1200" u="none" cap="none" strike="noStrike">
                <a:solidFill>
                  <a:srgbClr val="757070"/>
                </a:solidFill>
                <a:latin typeface="Noto Sans KR"/>
                <a:ea typeface="Noto Sans KR"/>
                <a:cs typeface="Noto Sans KR"/>
                <a:sym typeface="Noto Sans KR"/>
              </a:rPr>
              <a:t>Coreset 을 통해 선택된 주요 patch feature 을 memory bank 에 추가</a:t>
            </a:r>
            <a:endParaRPr b="0" i="0" sz="1200" u="none" cap="none" strike="noStrike">
              <a:solidFill>
                <a:srgbClr val="757070"/>
              </a:solidFill>
              <a:latin typeface="Noto Sans KR"/>
              <a:ea typeface="Noto Sans KR"/>
              <a:cs typeface="Noto Sans KR"/>
              <a:sym typeface="Noto Sans KR"/>
            </a:endParaRPr>
          </a:p>
          <a:p>
            <a:pPr indent="-171450" lvl="0" marL="171450" marR="0" rtl="0" algn="l">
              <a:lnSpc>
                <a:spcPct val="150000"/>
              </a:lnSpc>
              <a:spcBef>
                <a:spcPts val="0"/>
              </a:spcBef>
              <a:spcAft>
                <a:spcPts val="0"/>
              </a:spcAft>
              <a:buClr>
                <a:schemeClr val="dk1"/>
              </a:buClr>
              <a:buSzPts val="1200"/>
              <a:buFont typeface="Arial"/>
              <a:buChar char="-"/>
            </a:pPr>
            <a:r>
              <a:rPr b="0" i="0" lang="en-US" sz="1200" u="none" cap="none" strike="noStrike">
                <a:solidFill>
                  <a:srgbClr val="757070"/>
                </a:solidFill>
                <a:latin typeface="Noto Sans KR"/>
                <a:ea typeface="Noto Sans KR"/>
                <a:cs typeface="Noto Sans KR"/>
                <a:sym typeface="Noto Sans KR"/>
              </a:rPr>
              <a:t>Memory bank 에 있는 feature 들과의 거리를 통해 anomaly score 계산</a:t>
            </a:r>
            <a:endParaRPr b="0" i="0" sz="1200" u="none" cap="none" strike="noStrike">
              <a:solidFill>
                <a:srgbClr val="757070"/>
              </a:solidFill>
              <a:latin typeface="Noto Sans KR"/>
              <a:ea typeface="Noto Sans KR"/>
              <a:cs typeface="Noto Sans KR"/>
              <a:sym typeface="Noto Sans KR"/>
            </a:endParaRPr>
          </a:p>
          <a:p>
            <a:pPr indent="-95250" lvl="0" marL="171450" marR="0" rtl="0" algn="l">
              <a:lnSpc>
                <a:spcPct val="150000"/>
              </a:lnSpc>
              <a:spcBef>
                <a:spcPts val="0"/>
              </a:spcBef>
              <a:spcAft>
                <a:spcPts val="0"/>
              </a:spcAft>
              <a:buClr>
                <a:schemeClr val="dk1"/>
              </a:buClr>
              <a:buSzPts val="1200"/>
              <a:buFont typeface="Arial"/>
              <a:buNone/>
            </a:pPr>
            <a:r>
              <a:t/>
            </a:r>
            <a:endParaRPr b="0" i="0" sz="1200" u="none" cap="none" strike="noStrike">
              <a:solidFill>
                <a:schemeClr val="dk1"/>
              </a:solidFill>
              <a:latin typeface="Noto Sans KR"/>
              <a:ea typeface="Noto Sans KR"/>
              <a:cs typeface="Noto Sans KR"/>
              <a:sym typeface="Noto Sans KR"/>
            </a:endParaRPr>
          </a:p>
          <a:p>
            <a:pPr indent="-95250" lvl="0" marL="171450" marR="0" rtl="0" algn="l">
              <a:lnSpc>
                <a:spcPct val="150000"/>
              </a:lnSpc>
              <a:spcBef>
                <a:spcPts val="0"/>
              </a:spcBef>
              <a:spcAft>
                <a:spcPts val="0"/>
              </a:spcAft>
              <a:buClr>
                <a:schemeClr val="dk1"/>
              </a:buClr>
              <a:buSzPts val="1200"/>
              <a:buFont typeface="Arial"/>
              <a:buNone/>
            </a:pPr>
            <a:r>
              <a:t/>
            </a:r>
            <a:endParaRPr b="0" i="0" sz="1200" u="none" cap="none" strike="noStrike">
              <a:solidFill>
                <a:schemeClr val="dk1"/>
              </a:solidFill>
              <a:latin typeface="Noto Sans KR"/>
              <a:ea typeface="Noto Sans KR"/>
              <a:cs typeface="Noto Sans KR"/>
              <a:sym typeface="Noto Sans KR"/>
            </a:endParaRPr>
          </a:p>
          <a:p>
            <a:pPr indent="-95250" lvl="0" marL="171450" marR="0" rtl="0" algn="l">
              <a:lnSpc>
                <a:spcPct val="150000"/>
              </a:lnSpc>
              <a:spcBef>
                <a:spcPts val="0"/>
              </a:spcBef>
              <a:spcAft>
                <a:spcPts val="0"/>
              </a:spcAft>
              <a:buClr>
                <a:schemeClr val="dk1"/>
              </a:buClr>
              <a:buSzPts val="1200"/>
              <a:buFont typeface="Arial"/>
              <a:buNone/>
            </a:pPr>
            <a:r>
              <a:t/>
            </a:r>
            <a:endParaRPr b="0" i="0" sz="1200" u="none" cap="none" strike="noStrike">
              <a:solidFill>
                <a:schemeClr val="dk1"/>
              </a:solidFill>
              <a:latin typeface="Noto Sans KR"/>
              <a:ea typeface="Noto Sans KR"/>
              <a:cs typeface="Noto Sans KR"/>
              <a:sym typeface="Noto Sans KR"/>
            </a:endParaRPr>
          </a:p>
          <a:p>
            <a:pPr indent="-95250" lvl="0" marL="171450" marR="0" rtl="0" algn="l">
              <a:lnSpc>
                <a:spcPct val="150000"/>
              </a:lnSpc>
              <a:spcBef>
                <a:spcPts val="0"/>
              </a:spcBef>
              <a:spcAft>
                <a:spcPts val="0"/>
              </a:spcAft>
              <a:buClr>
                <a:schemeClr val="dk1"/>
              </a:buClr>
              <a:buSzPts val="1200"/>
              <a:buFont typeface="Arial"/>
              <a:buNone/>
            </a:pPr>
            <a:r>
              <a:t/>
            </a:r>
            <a:endParaRPr b="0" i="0" sz="1200" u="none" cap="none" strike="noStrike">
              <a:solidFill>
                <a:schemeClr val="dk1"/>
              </a:solidFill>
              <a:latin typeface="Noto Sans KR"/>
              <a:ea typeface="Noto Sans KR"/>
              <a:cs typeface="Noto Sans KR"/>
              <a:sym typeface="Noto Sans KR"/>
            </a:endParaRPr>
          </a:p>
          <a:p>
            <a:pPr indent="-95250" lvl="0" marL="171450" marR="0" rtl="0" algn="l">
              <a:lnSpc>
                <a:spcPct val="150000"/>
              </a:lnSpc>
              <a:spcBef>
                <a:spcPts val="0"/>
              </a:spcBef>
              <a:spcAft>
                <a:spcPts val="0"/>
              </a:spcAft>
              <a:buClr>
                <a:schemeClr val="dk1"/>
              </a:buClr>
              <a:buSzPts val="1200"/>
              <a:buFont typeface="Arial"/>
              <a:buNone/>
            </a:pPr>
            <a:r>
              <a:t/>
            </a:r>
            <a:endParaRPr b="0" i="0" sz="1200" u="none" cap="none" strike="noStrike">
              <a:solidFill>
                <a:schemeClr val="dk1"/>
              </a:solidFill>
              <a:latin typeface="Noto Sans KR"/>
              <a:ea typeface="Noto Sans KR"/>
              <a:cs typeface="Noto Sans KR"/>
              <a:sym typeface="Noto Sans KR"/>
            </a:endParaRPr>
          </a:p>
          <a:p>
            <a:pPr indent="-95250" lvl="0" marL="171450" marR="0" rtl="0" algn="l">
              <a:lnSpc>
                <a:spcPct val="150000"/>
              </a:lnSpc>
              <a:spcBef>
                <a:spcPts val="0"/>
              </a:spcBef>
              <a:spcAft>
                <a:spcPts val="0"/>
              </a:spcAft>
              <a:buClr>
                <a:schemeClr val="dk1"/>
              </a:buClr>
              <a:buSzPts val="1200"/>
              <a:buFont typeface="Arial"/>
              <a:buNone/>
            </a:pPr>
            <a:r>
              <a:t/>
            </a:r>
            <a:endParaRPr b="0" i="0" sz="1200" u="none" cap="none" strike="noStrike">
              <a:solidFill>
                <a:schemeClr val="dk1"/>
              </a:solidFill>
              <a:latin typeface="Noto Sans KR"/>
              <a:ea typeface="Noto Sans KR"/>
              <a:cs typeface="Noto Sans KR"/>
              <a:sym typeface="Noto Sans KR"/>
            </a:endParaRPr>
          </a:p>
          <a:p>
            <a:pPr indent="-95250" lvl="0" marL="171450" marR="0" rtl="0" algn="l">
              <a:lnSpc>
                <a:spcPct val="150000"/>
              </a:lnSpc>
              <a:spcBef>
                <a:spcPts val="0"/>
              </a:spcBef>
              <a:spcAft>
                <a:spcPts val="0"/>
              </a:spcAft>
              <a:buClr>
                <a:schemeClr val="dk1"/>
              </a:buClr>
              <a:buSzPts val="1200"/>
              <a:buFont typeface="Arial"/>
              <a:buNone/>
            </a:pPr>
            <a:r>
              <a:t/>
            </a:r>
            <a:endParaRPr b="0" i="0" sz="1200" u="none" cap="none" strike="noStrike">
              <a:solidFill>
                <a:schemeClr val="dk1"/>
              </a:solidFill>
              <a:latin typeface="Noto Sans KR"/>
              <a:ea typeface="Noto Sans KR"/>
              <a:cs typeface="Noto Sans KR"/>
              <a:sym typeface="Noto Sans KR"/>
            </a:endParaRPr>
          </a:p>
          <a:p>
            <a:pPr indent="0" lvl="0" marL="0" marR="0" rtl="0" algn="l">
              <a:lnSpc>
                <a:spcPct val="150000"/>
              </a:lnSpc>
              <a:spcBef>
                <a:spcPts val="0"/>
              </a:spcBef>
              <a:spcAft>
                <a:spcPts val="0"/>
              </a:spcAft>
              <a:buNone/>
            </a:pPr>
            <a:r>
              <a:t/>
            </a:r>
            <a:endParaRPr b="0" i="0" sz="1200" u="none" cap="none" strike="noStrike">
              <a:solidFill>
                <a:schemeClr val="dk1"/>
              </a:solidFill>
              <a:latin typeface="Noto Sans KR"/>
              <a:ea typeface="Noto Sans KR"/>
              <a:cs typeface="Noto Sans KR"/>
              <a:sym typeface="Noto Sans K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35125c7dbf9_0_0"/>
          <p:cNvSpPr txBox="1"/>
          <p:nvPr/>
        </p:nvSpPr>
        <p:spPr>
          <a:xfrm>
            <a:off x="242596" y="214584"/>
            <a:ext cx="9862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548135"/>
                </a:solidFill>
                <a:latin typeface="Noto Sans KR"/>
                <a:ea typeface="Noto Sans KR"/>
                <a:cs typeface="Noto Sans KR"/>
                <a:sym typeface="Noto Sans KR"/>
              </a:rPr>
              <a:t>MVTEC AD2 데이터셋 분석</a:t>
            </a:r>
            <a:endParaRPr b="1" i="0" sz="1400" u="none" cap="none" strike="noStrike">
              <a:solidFill>
                <a:srgbClr val="548135"/>
              </a:solidFill>
              <a:latin typeface="Arial"/>
              <a:ea typeface="Arial"/>
              <a:cs typeface="Arial"/>
              <a:sym typeface="Arial"/>
            </a:endParaRPr>
          </a:p>
        </p:txBody>
      </p:sp>
      <p:sp>
        <p:nvSpPr>
          <p:cNvPr id="172" name="Google Shape;172;g35125c7dbf9_0_0"/>
          <p:cNvSpPr txBox="1"/>
          <p:nvPr/>
        </p:nvSpPr>
        <p:spPr>
          <a:xfrm>
            <a:off x="390910" y="4040372"/>
            <a:ext cx="10695600" cy="1662300"/>
          </a:xfrm>
          <a:prstGeom prst="rect">
            <a:avLst/>
          </a:prstGeom>
          <a:noFill/>
          <a:ln>
            <a:noFill/>
          </a:ln>
        </p:spPr>
        <p:txBody>
          <a:bodyPr anchorCtr="0" anchor="t" bIns="45700" lIns="91425" spcFirstLastPara="1" rIns="91425" wrap="square" tIns="45700">
            <a:spAutoFit/>
          </a:bodyPr>
          <a:lstStyle/>
          <a:p>
            <a:pPr indent="-304800" lvl="0" marL="457200" marR="0" rtl="0" algn="l">
              <a:lnSpc>
                <a:spcPct val="150000"/>
              </a:lnSpc>
              <a:spcBef>
                <a:spcPts val="0"/>
              </a:spcBef>
              <a:spcAft>
                <a:spcPts val="0"/>
              </a:spcAft>
              <a:buClr>
                <a:schemeClr val="dk1"/>
              </a:buClr>
              <a:buSzPts val="1200"/>
              <a:buFont typeface="Noto Sans KR"/>
              <a:buChar char="●"/>
            </a:pPr>
            <a:r>
              <a:rPr lang="en-US" sz="1200">
                <a:solidFill>
                  <a:schemeClr val="dk1"/>
                </a:solidFill>
                <a:latin typeface="Noto Sans KR"/>
                <a:ea typeface="Noto Sans KR"/>
                <a:cs typeface="Noto Sans KR"/>
                <a:sym typeface="Noto Sans KR"/>
              </a:rPr>
              <a:t>상당한 고화질의 이미지</a:t>
            </a:r>
            <a:endParaRPr b="0" i="0" sz="1200" u="none" cap="none" strike="noStrike">
              <a:solidFill>
                <a:schemeClr val="dk1"/>
              </a:solidFill>
              <a:latin typeface="Noto Sans KR"/>
              <a:ea typeface="Noto Sans KR"/>
              <a:cs typeface="Noto Sans KR"/>
              <a:sym typeface="Noto Sans KR"/>
            </a:endParaRPr>
          </a:p>
          <a:p>
            <a:pPr indent="-304800" lvl="0" marL="457200" marR="0" rtl="0" algn="l">
              <a:lnSpc>
                <a:spcPct val="150000"/>
              </a:lnSpc>
              <a:spcBef>
                <a:spcPts val="0"/>
              </a:spcBef>
              <a:spcAft>
                <a:spcPts val="0"/>
              </a:spcAft>
              <a:buClr>
                <a:schemeClr val="dk1"/>
              </a:buClr>
              <a:buSzPts val="1200"/>
              <a:buFont typeface="Noto Sans KR"/>
              <a:buChar char="●"/>
            </a:pPr>
            <a:r>
              <a:rPr lang="en-US" sz="1200">
                <a:solidFill>
                  <a:schemeClr val="dk1"/>
                </a:solidFill>
                <a:latin typeface="Noto Sans KR"/>
                <a:ea typeface="Noto Sans KR"/>
                <a:cs typeface="Noto Sans KR"/>
                <a:sym typeface="Noto Sans KR"/>
              </a:rPr>
              <a:t>Test Priv &amp; Test Priv,Mix 는 라벨이 없기에 사용할 수 없음(챌린지 용)</a:t>
            </a:r>
            <a:endParaRPr sz="1200">
              <a:solidFill>
                <a:schemeClr val="dk1"/>
              </a:solidFill>
              <a:latin typeface="Noto Sans KR"/>
              <a:ea typeface="Noto Sans KR"/>
              <a:cs typeface="Noto Sans KR"/>
              <a:sym typeface="Noto Sans KR"/>
            </a:endParaRPr>
          </a:p>
          <a:p>
            <a:pPr indent="-304800" lvl="0" marL="457200" marR="0" rtl="0" algn="l">
              <a:lnSpc>
                <a:spcPct val="150000"/>
              </a:lnSpc>
              <a:spcBef>
                <a:spcPts val="0"/>
              </a:spcBef>
              <a:spcAft>
                <a:spcPts val="0"/>
              </a:spcAft>
              <a:buClr>
                <a:schemeClr val="dk1"/>
              </a:buClr>
              <a:buSzPts val="1200"/>
              <a:buFont typeface="Noto Sans KR"/>
              <a:buChar char="●"/>
            </a:pPr>
            <a:r>
              <a:rPr lang="en-US" sz="1200">
                <a:solidFill>
                  <a:schemeClr val="dk1"/>
                </a:solidFill>
                <a:latin typeface="Noto Sans KR"/>
                <a:ea typeface="Noto Sans KR"/>
                <a:cs typeface="Noto Sans KR"/>
                <a:sym typeface="Noto Sans KR"/>
              </a:rPr>
              <a:t>Test Pub에는 15개의 불량 이미지 * 6 혹은 4 개의 타겟 도메인이 존재(regular(소스도메인), overexposed, underexposed, </a:t>
            </a:r>
            <a:r>
              <a:rPr lang="en-US" sz="1200">
                <a:solidFill>
                  <a:schemeClr val="dk1"/>
                </a:solidFill>
                <a:latin typeface="Noto Sans KR"/>
                <a:ea typeface="Noto Sans KR"/>
                <a:cs typeface="Noto Sans KR"/>
                <a:sym typeface="Noto Sans KR"/>
              </a:rPr>
              <a:t>shift 1</a:t>
            </a:r>
            <a:r>
              <a:rPr lang="en-US" sz="1200">
                <a:solidFill>
                  <a:schemeClr val="dk1"/>
                </a:solidFill>
                <a:latin typeface="Noto Sans KR"/>
                <a:ea typeface="Noto Sans KR"/>
                <a:cs typeface="Noto Sans KR"/>
                <a:sym typeface="Noto Sans KR"/>
              </a:rPr>
              <a:t>~3 )</a:t>
            </a:r>
            <a:endParaRPr sz="1200">
              <a:solidFill>
                <a:schemeClr val="dk1"/>
              </a:solidFill>
              <a:latin typeface="Noto Sans KR"/>
              <a:ea typeface="Noto Sans KR"/>
              <a:cs typeface="Noto Sans KR"/>
              <a:sym typeface="Noto Sans KR"/>
            </a:endParaRPr>
          </a:p>
          <a:p>
            <a:pPr indent="0" lvl="0" marL="457200" marR="0" rtl="0" algn="l">
              <a:lnSpc>
                <a:spcPct val="150000"/>
              </a:lnSpc>
              <a:spcBef>
                <a:spcPts val="0"/>
              </a:spcBef>
              <a:spcAft>
                <a:spcPts val="0"/>
              </a:spcAft>
              <a:buNone/>
            </a:pPr>
            <a:r>
              <a:rPr lang="en-US" sz="1200">
                <a:solidFill>
                  <a:schemeClr val="dk1"/>
                </a:solidFill>
                <a:latin typeface="Noto Sans KR"/>
                <a:ea typeface="Noto Sans KR"/>
                <a:cs typeface="Noto Sans KR"/>
                <a:sym typeface="Noto Sans KR"/>
              </a:rPr>
              <a:t>-&gt; 상당히 큰 클래스 불균형을 가짐  </a:t>
            </a:r>
            <a:endParaRPr sz="1200">
              <a:solidFill>
                <a:schemeClr val="dk1"/>
              </a:solidFill>
              <a:latin typeface="Noto Sans KR"/>
              <a:ea typeface="Noto Sans KR"/>
              <a:cs typeface="Noto Sans KR"/>
              <a:sym typeface="Noto Sans KR"/>
            </a:endParaRPr>
          </a:p>
          <a:p>
            <a:pPr indent="-304800" lvl="0" marL="457200" marR="0" rtl="0" algn="l">
              <a:lnSpc>
                <a:spcPct val="150000"/>
              </a:lnSpc>
              <a:spcBef>
                <a:spcPts val="0"/>
              </a:spcBef>
              <a:spcAft>
                <a:spcPts val="0"/>
              </a:spcAft>
              <a:buClr>
                <a:schemeClr val="dk1"/>
              </a:buClr>
              <a:buSzPts val="1200"/>
              <a:buFont typeface="Noto Sans KR"/>
              <a:buChar char="●"/>
            </a:pPr>
            <a:r>
              <a:rPr lang="en-US" sz="1200">
                <a:solidFill>
                  <a:schemeClr val="dk1"/>
                </a:solidFill>
                <a:latin typeface="Noto Sans KR"/>
                <a:ea typeface="Noto Sans KR"/>
                <a:cs typeface="Noto Sans KR"/>
                <a:sym typeface="Noto Sans KR"/>
              </a:rPr>
              <a:t>같은 인스턴스에 도메인만 바뀐 데이터셋이기에 현재 상황에선 supervised로 전환하여 실험을 진행할 수는 없음</a:t>
            </a:r>
            <a:endParaRPr sz="1200">
              <a:solidFill>
                <a:schemeClr val="dk1"/>
              </a:solidFill>
              <a:latin typeface="Noto Sans KR"/>
              <a:ea typeface="Noto Sans KR"/>
              <a:cs typeface="Noto Sans KR"/>
              <a:sym typeface="Noto Sans KR"/>
            </a:endParaRPr>
          </a:p>
          <a:p>
            <a:pPr indent="0" lvl="0" marL="0" marR="0" rtl="0" algn="l">
              <a:lnSpc>
                <a:spcPct val="150000"/>
              </a:lnSpc>
              <a:spcBef>
                <a:spcPts val="0"/>
              </a:spcBef>
              <a:spcAft>
                <a:spcPts val="0"/>
              </a:spcAft>
              <a:buNone/>
            </a:pPr>
            <a:r>
              <a:t/>
            </a:r>
            <a:endParaRPr sz="1200">
              <a:solidFill>
                <a:schemeClr val="dk1"/>
              </a:solidFill>
              <a:latin typeface="Noto Sans KR"/>
              <a:ea typeface="Noto Sans KR"/>
              <a:cs typeface="Noto Sans KR"/>
              <a:sym typeface="Noto Sans KR"/>
            </a:endParaRPr>
          </a:p>
        </p:txBody>
      </p:sp>
      <p:pic>
        <p:nvPicPr>
          <p:cNvPr id="173" name="Google Shape;173;g35125c7dbf9_0_0"/>
          <p:cNvPicPr preferRelativeResize="0"/>
          <p:nvPr/>
        </p:nvPicPr>
        <p:blipFill>
          <a:blip r:embed="rId3">
            <a:alphaModFix/>
          </a:blip>
          <a:stretch>
            <a:fillRect/>
          </a:stretch>
        </p:blipFill>
        <p:spPr>
          <a:xfrm>
            <a:off x="456973" y="1122514"/>
            <a:ext cx="6077428" cy="2379213"/>
          </a:xfrm>
          <a:prstGeom prst="rect">
            <a:avLst/>
          </a:prstGeom>
          <a:noFill/>
          <a:ln>
            <a:noFill/>
          </a:ln>
        </p:spPr>
      </p:pic>
      <p:pic>
        <p:nvPicPr>
          <p:cNvPr id="174" name="Google Shape;174;g35125c7dbf9_0_0"/>
          <p:cNvPicPr preferRelativeResize="0"/>
          <p:nvPr/>
        </p:nvPicPr>
        <p:blipFill>
          <a:blip r:embed="rId4">
            <a:alphaModFix/>
          </a:blip>
          <a:stretch>
            <a:fillRect/>
          </a:stretch>
        </p:blipFill>
        <p:spPr>
          <a:xfrm>
            <a:off x="6773145" y="722138"/>
            <a:ext cx="4775699" cy="3179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9"/>
          <p:cNvSpPr txBox="1"/>
          <p:nvPr/>
        </p:nvSpPr>
        <p:spPr>
          <a:xfrm>
            <a:off x="242596" y="214584"/>
            <a:ext cx="9862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548135"/>
                </a:solidFill>
                <a:latin typeface="Noto Sans KR"/>
                <a:ea typeface="Noto Sans KR"/>
                <a:cs typeface="Noto Sans KR"/>
                <a:sym typeface="Noto Sans KR"/>
              </a:rPr>
              <a:t>초록</a:t>
            </a:r>
            <a:endParaRPr b="1" i="0" sz="1400" u="none" cap="none" strike="noStrike">
              <a:solidFill>
                <a:srgbClr val="548135"/>
              </a:solidFill>
              <a:latin typeface="Arial"/>
              <a:ea typeface="Arial"/>
              <a:cs typeface="Arial"/>
              <a:sym typeface="Arial"/>
            </a:endParaRPr>
          </a:p>
        </p:txBody>
      </p:sp>
      <p:sp>
        <p:nvSpPr>
          <p:cNvPr id="181" name="Google Shape;181;p9"/>
          <p:cNvSpPr txBox="1"/>
          <p:nvPr/>
        </p:nvSpPr>
        <p:spPr>
          <a:xfrm>
            <a:off x="314024" y="3946225"/>
            <a:ext cx="11787300" cy="30477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US" sz="1200" u="none" cap="none" strike="noStrike">
                <a:solidFill>
                  <a:schemeClr val="dk1"/>
                </a:solidFill>
                <a:latin typeface="Noto Sans KR"/>
                <a:ea typeface="Noto Sans KR"/>
                <a:cs typeface="Noto Sans KR"/>
                <a:sym typeface="Noto Sans KR"/>
              </a:rPr>
              <a:t> 딥러닝 모델은 학습 시와 테스트 시의 분포가 상이할 경우 성능 저하를 겪는 도메인 변화 문제에 취약하다. 이러한 문제점을 완화하기 위한 여러 방법론들 중, 학습 데이터에 재접근하지 않고 테스트 시점에서 데이터에 맞추어 모델을 적응시키는 테스트 시점 적응 방식이 주목받고 있다. 본 연구는 특히 제조 환경의 결함처럼 미세한 클래스 구분이 요구되는 상황에 집중하여, 이에 적합한 적응 전략을 제안한다. 기존 테스트 시점 적응 기법들과의 성능 비교 실험을 통해 다양한 도메인 변화 환경에서의 적용 가능성과 우수성을 입증한다.</a:t>
            </a:r>
            <a:endParaRPr b="0" i="0" sz="1200" u="none" cap="none" strike="noStrike">
              <a:solidFill>
                <a:schemeClr val="dk1"/>
              </a:solidFill>
              <a:latin typeface="Noto Sans KR"/>
              <a:ea typeface="Noto Sans KR"/>
              <a:cs typeface="Noto Sans KR"/>
              <a:sym typeface="Noto Sans KR"/>
            </a:endParaRPr>
          </a:p>
          <a:p>
            <a:pPr indent="0" lvl="0" marL="0" marR="0" rtl="0" algn="l">
              <a:lnSpc>
                <a:spcPct val="150000"/>
              </a:lnSpc>
              <a:spcBef>
                <a:spcPts val="0"/>
              </a:spcBef>
              <a:spcAft>
                <a:spcPts val="0"/>
              </a:spcAft>
              <a:buNone/>
            </a:pPr>
            <a:r>
              <a:t/>
            </a:r>
            <a:endParaRPr sz="1200">
              <a:solidFill>
                <a:schemeClr val="dk1"/>
              </a:solidFill>
              <a:latin typeface="Noto Sans KR"/>
              <a:ea typeface="Noto Sans KR"/>
              <a:cs typeface="Noto Sans KR"/>
              <a:sym typeface="Noto Sans KR"/>
            </a:endParaRPr>
          </a:p>
          <a:p>
            <a:pPr indent="0" lvl="0" marL="0" marR="0" rtl="0" algn="l">
              <a:lnSpc>
                <a:spcPct val="150000"/>
              </a:lnSpc>
              <a:spcBef>
                <a:spcPts val="0"/>
              </a:spcBef>
              <a:spcAft>
                <a:spcPts val="0"/>
              </a:spcAft>
              <a:buNone/>
            </a:pPr>
            <a:r>
              <a:t/>
            </a:r>
            <a:endParaRPr sz="1200">
              <a:solidFill>
                <a:schemeClr val="dk1"/>
              </a:solidFill>
              <a:latin typeface="Noto Sans KR"/>
              <a:ea typeface="Noto Sans KR"/>
              <a:cs typeface="Noto Sans KR"/>
              <a:sym typeface="Noto Sans KR"/>
            </a:endParaRPr>
          </a:p>
          <a:p>
            <a:pPr indent="0" lvl="0" marL="0" marR="0" rtl="0" algn="l">
              <a:lnSpc>
                <a:spcPct val="150000"/>
              </a:lnSpc>
              <a:spcBef>
                <a:spcPts val="0"/>
              </a:spcBef>
              <a:spcAft>
                <a:spcPts val="0"/>
              </a:spcAft>
              <a:buNone/>
            </a:pPr>
            <a:r>
              <a:rPr lang="en-US" sz="1200">
                <a:solidFill>
                  <a:schemeClr val="dk1"/>
                </a:solidFill>
                <a:latin typeface="Noto Sans KR"/>
                <a:ea typeface="Noto Sans KR"/>
                <a:cs typeface="Noto Sans KR"/>
                <a:sym typeface="Noto Sans KR"/>
              </a:rPr>
              <a:t>(제조업에서) 딥러닝 기반 결함 분류 모델을 다른 생산 라인에 적용하면, 환경 변화로 인해 미세한 결함 정보가 손실되어 성능이 크게 저하된다. 이를 방지하려면 각 라인마다 모델을 구축해야 하지만, 비용이 크다는 현실적인 한계가 있다. 따라서 새로운 라인에서 수집한 라벨 없는 이미지를 활용해, 기존 모델을 해당 라인의 환경에 맞게 적응시킬 수 있는 방법이 필요하다. 본 연구는 미세한 결함 구분이 요구되는 상황에 초점을 맞춰 이에 적합한 테스트 단계에서의 비지도 도메인 적응 방법을 제안하며, 국내 제조업체의 실제 데이터셋을 통해 성능을 검증하였다.</a:t>
            </a:r>
            <a:endParaRPr sz="1200">
              <a:solidFill>
                <a:schemeClr val="dk1"/>
              </a:solidFill>
              <a:latin typeface="Noto Sans KR"/>
              <a:ea typeface="Noto Sans KR"/>
              <a:cs typeface="Noto Sans KR"/>
              <a:sym typeface="Noto Sans KR"/>
            </a:endParaRPr>
          </a:p>
          <a:p>
            <a:pPr indent="0" lvl="0" marL="0" marR="0" rtl="0" algn="l">
              <a:lnSpc>
                <a:spcPct val="150000"/>
              </a:lnSpc>
              <a:spcBef>
                <a:spcPts val="0"/>
              </a:spcBef>
              <a:spcAft>
                <a:spcPts val="0"/>
              </a:spcAft>
              <a:buNone/>
            </a:pPr>
            <a:r>
              <a:t/>
            </a:r>
            <a:endParaRPr sz="1200">
              <a:solidFill>
                <a:schemeClr val="dk1"/>
              </a:solidFill>
              <a:latin typeface="Noto Sans KR"/>
              <a:ea typeface="Noto Sans KR"/>
              <a:cs typeface="Noto Sans KR"/>
              <a:sym typeface="Noto Sans KR"/>
            </a:endParaRPr>
          </a:p>
          <a:p>
            <a:pPr indent="0" lvl="0" marL="0" marR="0" rtl="0" algn="l">
              <a:lnSpc>
                <a:spcPct val="150000"/>
              </a:lnSpc>
              <a:spcBef>
                <a:spcPts val="0"/>
              </a:spcBef>
              <a:spcAft>
                <a:spcPts val="0"/>
              </a:spcAft>
              <a:buNone/>
            </a:pPr>
            <a:r>
              <a:rPr lang="en-US" sz="1200">
                <a:solidFill>
                  <a:schemeClr val="dk1"/>
                </a:solidFill>
                <a:latin typeface="Noto Sans KR"/>
                <a:ea typeface="Noto Sans KR"/>
                <a:cs typeface="Noto Sans KR"/>
                <a:sym typeface="Noto Sans KR"/>
              </a:rPr>
              <a:t>Gradient Accumulation + (2) Mixed Precision</a:t>
            </a:r>
            <a:endParaRPr sz="1200">
              <a:solidFill>
                <a:schemeClr val="dk1"/>
              </a:solidFill>
              <a:latin typeface="Noto Sans KR"/>
              <a:ea typeface="Noto Sans KR"/>
              <a:cs typeface="Noto Sans KR"/>
              <a:sym typeface="Noto Sans KR"/>
            </a:endParaRPr>
          </a:p>
        </p:txBody>
      </p:sp>
      <p:sp>
        <p:nvSpPr>
          <p:cNvPr id="182" name="Google Shape;182;p9"/>
          <p:cNvSpPr txBox="1"/>
          <p:nvPr/>
        </p:nvSpPr>
        <p:spPr>
          <a:xfrm>
            <a:off x="314035" y="1194182"/>
            <a:ext cx="10695709" cy="37753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i="0" lang="en-US" sz="1400" u="none" cap="none" strike="noStrike">
                <a:solidFill>
                  <a:schemeClr val="dk1"/>
                </a:solidFill>
                <a:latin typeface="Noto Sans KR"/>
                <a:ea typeface="Noto Sans KR"/>
                <a:cs typeface="Noto Sans KR"/>
                <a:sym typeface="Noto Sans KR"/>
              </a:rPr>
              <a:t>제목</a:t>
            </a:r>
            <a:endParaRPr b="1" i="0" sz="1400" u="none" cap="none" strike="noStrike">
              <a:solidFill>
                <a:schemeClr val="dk1"/>
              </a:solidFill>
              <a:latin typeface="Noto Sans KR"/>
              <a:ea typeface="Noto Sans KR"/>
              <a:cs typeface="Noto Sans KR"/>
              <a:sym typeface="Noto Sans KR"/>
            </a:endParaRPr>
          </a:p>
        </p:txBody>
      </p:sp>
      <p:sp>
        <p:nvSpPr>
          <p:cNvPr id="183" name="Google Shape;183;p9"/>
          <p:cNvSpPr txBox="1"/>
          <p:nvPr/>
        </p:nvSpPr>
        <p:spPr>
          <a:xfrm>
            <a:off x="314035" y="3429000"/>
            <a:ext cx="10695709" cy="37753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i="0" lang="en-US" sz="1400" u="none" cap="none" strike="noStrike">
                <a:solidFill>
                  <a:schemeClr val="dk1"/>
                </a:solidFill>
                <a:latin typeface="Noto Sans KR"/>
                <a:ea typeface="Noto Sans KR"/>
                <a:cs typeface="Noto Sans KR"/>
                <a:sym typeface="Noto Sans KR"/>
              </a:rPr>
              <a:t>초록</a:t>
            </a:r>
            <a:endParaRPr b="1" i="0" sz="1400" u="none" cap="none" strike="noStrike">
              <a:solidFill>
                <a:schemeClr val="dk1"/>
              </a:solidFill>
              <a:latin typeface="Noto Sans KR"/>
              <a:ea typeface="Noto Sans KR"/>
              <a:cs typeface="Noto Sans KR"/>
              <a:sym typeface="Noto Sans KR"/>
            </a:endParaRPr>
          </a:p>
        </p:txBody>
      </p:sp>
      <p:sp>
        <p:nvSpPr>
          <p:cNvPr id="184" name="Google Shape;184;p9"/>
          <p:cNvSpPr txBox="1"/>
          <p:nvPr/>
        </p:nvSpPr>
        <p:spPr>
          <a:xfrm>
            <a:off x="314035" y="1607422"/>
            <a:ext cx="106956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US" sz="1200" u="none" cap="none" strike="noStrike">
                <a:solidFill>
                  <a:schemeClr val="dk1"/>
                </a:solidFill>
                <a:latin typeface="Noto Sans KR"/>
                <a:ea typeface="Noto Sans KR"/>
                <a:cs typeface="Noto Sans KR"/>
                <a:sym typeface="Noto Sans KR"/>
              </a:rPr>
              <a:t>미세 결함 탐지를 위한 테스트 시점 모델 적응 전략</a:t>
            </a:r>
            <a:endParaRPr b="0" i="0" sz="1200" u="none" cap="none" strike="noStrike">
              <a:solidFill>
                <a:schemeClr val="dk1"/>
              </a:solidFill>
              <a:latin typeface="Noto Sans KR"/>
              <a:ea typeface="Noto Sans KR"/>
              <a:cs typeface="Noto Sans KR"/>
              <a:sym typeface="Noto Sans KR"/>
            </a:endParaRPr>
          </a:p>
          <a:p>
            <a:pPr indent="0" lvl="0" marL="0" marR="0" rtl="0" algn="l">
              <a:lnSpc>
                <a:spcPct val="150000"/>
              </a:lnSpc>
              <a:spcBef>
                <a:spcPts val="0"/>
              </a:spcBef>
              <a:spcAft>
                <a:spcPts val="0"/>
              </a:spcAft>
              <a:buNone/>
            </a:pPr>
            <a:r>
              <a:rPr b="0" i="0" lang="en-US" sz="1200" u="none" cap="none" strike="noStrike">
                <a:solidFill>
                  <a:schemeClr val="dk1"/>
                </a:solidFill>
                <a:latin typeface="Noto Sans KR"/>
                <a:ea typeface="Noto Sans KR"/>
                <a:cs typeface="Noto Sans KR"/>
                <a:sym typeface="Noto Sans KR"/>
              </a:rPr>
              <a:t>도메인 변화 환경에서의 미세 결함 인식을 위한 테스트 시점 적응 기법 탐색</a:t>
            </a:r>
            <a:endParaRPr b="0" i="0" sz="1200" u="none" cap="none" strike="noStrike">
              <a:solidFill>
                <a:schemeClr val="dk1"/>
              </a:solidFill>
              <a:latin typeface="Noto Sans KR"/>
              <a:ea typeface="Noto Sans KR"/>
              <a:cs typeface="Noto Sans KR"/>
              <a:sym typeface="Noto Sans KR"/>
            </a:endParaRPr>
          </a:p>
          <a:p>
            <a:pPr indent="0" lvl="0" marL="0" marR="0" rtl="0" algn="l">
              <a:lnSpc>
                <a:spcPct val="150000"/>
              </a:lnSpc>
              <a:spcBef>
                <a:spcPts val="0"/>
              </a:spcBef>
              <a:spcAft>
                <a:spcPts val="0"/>
              </a:spcAft>
              <a:buNone/>
            </a:pPr>
            <a:r>
              <a:t/>
            </a:r>
            <a:endParaRPr sz="1200">
              <a:solidFill>
                <a:schemeClr val="dk1"/>
              </a:solidFill>
              <a:latin typeface="Noto Sans KR"/>
              <a:ea typeface="Noto Sans KR"/>
              <a:cs typeface="Noto Sans KR"/>
              <a:sym typeface="Noto Sans KR"/>
            </a:endParaRPr>
          </a:p>
          <a:p>
            <a:pPr indent="0" lvl="0" marL="0" marR="0" rtl="0" algn="l">
              <a:lnSpc>
                <a:spcPct val="150000"/>
              </a:lnSpc>
              <a:spcBef>
                <a:spcPts val="0"/>
              </a:spcBef>
              <a:spcAft>
                <a:spcPts val="0"/>
              </a:spcAft>
              <a:buNone/>
            </a:pPr>
            <a:r>
              <a:rPr lang="en-US" sz="1200">
                <a:solidFill>
                  <a:schemeClr val="dk1"/>
                </a:solidFill>
                <a:latin typeface="Noto Sans KR"/>
                <a:ea typeface="Noto Sans KR"/>
                <a:cs typeface="Noto Sans KR"/>
                <a:sym typeface="Noto Sans KR"/>
              </a:rPr>
              <a:t>Test-time Domain Adaptation for Fine-grained Defect Classification under Product Line Environment Shift</a:t>
            </a:r>
            <a:endParaRPr sz="1200">
              <a:solidFill>
                <a:schemeClr val="dk1"/>
              </a:solidFill>
              <a:latin typeface="Noto Sans KR"/>
              <a:ea typeface="Noto Sans KR"/>
              <a:cs typeface="Noto Sans KR"/>
              <a:sym typeface="Noto Sans KR"/>
            </a:endParaRPr>
          </a:p>
          <a:p>
            <a:pPr indent="0" lvl="0" marL="0" marR="0" rtl="0" algn="l">
              <a:lnSpc>
                <a:spcPct val="150000"/>
              </a:lnSpc>
              <a:spcBef>
                <a:spcPts val="0"/>
              </a:spcBef>
              <a:spcAft>
                <a:spcPts val="0"/>
              </a:spcAft>
              <a:buNone/>
            </a:pPr>
            <a:r>
              <a:rPr lang="en-US" sz="1200">
                <a:solidFill>
                  <a:schemeClr val="dk1"/>
                </a:solidFill>
                <a:latin typeface="Noto Sans KR"/>
                <a:ea typeface="Noto Sans KR"/>
                <a:cs typeface="Noto Sans KR"/>
                <a:sym typeface="Noto Sans KR"/>
              </a:rPr>
              <a:t>생산 라인 환경 변화가 존재하는 상황에서의 미세 결함 분류를 위한 테스트 단계 도메인 적응</a:t>
            </a:r>
            <a:endParaRPr sz="1200">
              <a:solidFill>
                <a:schemeClr val="dk1"/>
              </a:solidFill>
              <a:latin typeface="Noto Sans KR"/>
              <a:ea typeface="Noto Sans KR"/>
              <a:cs typeface="Noto Sans KR"/>
              <a:sym typeface="Noto Sans K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2013 - 2022 테마">
  <a:themeElements>
    <a:clrScheme name="Office 2013 - 2022 테마">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2024-05-05T08:04:52Z</dcterms:created>
  <dc:creator>김나연</dc:creator>
</cp:coreProperties>
</file>