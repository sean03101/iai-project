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Noto Sans KR"/>
      <p:regular r:id="rId15"/>
      <p:bold r:id="rId16"/>
    </p:embeddedFont>
    <p:embeddedFont>
      <p:font typeface="No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NhRUzJ140eX0bP2VND0GzRjuT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5CE5E6-3114-451D-BCD3-6637AFFF87EC}">
  <a:tblStyle styleId="{E65CE5E6-3114-451D-BCD3-6637AFFF87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0851F5F-E45B-4EE4-A4BD-7988C7E1007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KR-regular.fntdata"/><Relationship Id="rId14" Type="http://schemas.openxmlformats.org/officeDocument/2006/relationships/slide" Target="slides/slide8.xml"/><Relationship Id="rId17" Type="http://schemas.openxmlformats.org/officeDocument/2006/relationships/font" Target="fonts/NotoSans-regular.fntdata"/><Relationship Id="rId16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o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ef1287c67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5ef1287c67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5ef1287c67_1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e816b7e2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5ee816b7e2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5ee816b7e2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11b617d4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611b617d4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611b617d47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11b617d4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611b617d4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611b617d4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11b617d4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611b617d4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611b617d47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11b617d4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611b617d4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611b617d47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</a:t>
            </a:r>
            <a:r>
              <a:rPr b="1" lang="en-US" sz="2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606</a:t>
            </a: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ef1287c67_1_60"/>
          <p:cNvSpPr txBox="1"/>
          <p:nvPr/>
        </p:nvSpPr>
        <p:spPr>
          <a:xfrm>
            <a:off x="51126" y="106850"/>
            <a:ext cx="11787000" cy="61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Segmentation Baseline 실험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ef1287c67_1_60"/>
          <p:cNvSpPr txBox="1"/>
          <p:nvPr/>
        </p:nvSpPr>
        <p:spPr>
          <a:xfrm>
            <a:off x="396050" y="547022"/>
            <a:ext cx="120216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인풋 : 512 * 512 이미지 / 아웃풋 : 512 * 512 multi class mask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모델 종류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Unet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DeepLabV3</a:t>
            </a:r>
            <a:endParaRPr/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HRNet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전부 Resnet101</a:t>
            </a:r>
            <a:endParaRPr/>
          </a:p>
          <a:p>
            <a:pPr indent="-2286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SGD + 코싸인 어닐링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Loss 함수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0.2* CE + 0.8 Dice Loss</a:t>
            </a:r>
            <a:endParaRPr/>
          </a:p>
          <a:p>
            <a:pPr indent="-2286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Metric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 : 세그멘테이션 결과에서 정한 이미지 단위 예측 클래스(pred_class)와 실제 라벨이 일치한 비율로 계산되며, 0번은 불량 픽셀이 전혀 없을 때만 예측됨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F1 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위에서 얻은 이미지 단위 예측 클래스와 실제 라벨 간의 macro 평균 F1 점수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Auc : 각 이미지에 대해 픽셀 비율 기반으로 생성한 클래스별 soft 확률 벡터(prob_vec)를 가지고 실제 클래스와 비교하여 multi-class ROC AUC 계산 (one-vs-rest 방식)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mIou :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영역과 실제 정답 영역의 (교집합 / 합집합)을 계산한 뒤, 클래스별 평균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Dice :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영역과 실제 정답 영역의 겹치는 정도를 2배로 강조하여 계산한 값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e816b7e2_1_3"/>
          <p:cNvSpPr txBox="1"/>
          <p:nvPr/>
        </p:nvSpPr>
        <p:spPr>
          <a:xfrm>
            <a:off x="51126" y="106850"/>
            <a:ext cx="11787000" cy="61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Segmentation Baseline 실험 결과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ee816b7e2_1_3"/>
          <p:cNvSpPr txBox="1"/>
          <p:nvPr/>
        </p:nvSpPr>
        <p:spPr>
          <a:xfrm>
            <a:off x="51125" y="3880725"/>
            <a:ext cx="113820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HRNet은 텐트 논문에서 세그멘테이션 실험을 진행했을때의 모델 -&gt; 사용한 이유는 적혀있지 않지만, seg dataset(GTA5 및 Cityscapes)에 SOTA라 사용한 것으로 추측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 에 적용되는 별도 설정에 대한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언급이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없어 그냥 그대로 TENT 적용 &amp; 모델 내 존재하는 BN 업데이트 진행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그냥 진행했기에 유넷 같이 BN이 존재하는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 Block을 End to end 까지 사용하는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세그멘테이션 모델이 있다면 이것도 HRNet처럼 그냥 적용 가능할 것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HRNet 의 경우, source model 이 1번 4번과 같이 어렵고 미세한 결함의 클래스를 전혀 예측하지 못하여 auc: nan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 적용 결과, 성능 저하 (accuracy 0.81 -&gt; 0.54  /  f1 0.60 -&gt; 0.15  /  auroc nan -&gt; 0.5  /  mIoU 0.4 -&gt; 0.36  /  Dice 0.48 -&gt; 0.42)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4" name="Google Shape;104;g35ee816b7e2_1_3"/>
          <p:cNvGraphicFramePr/>
          <p:nvPr/>
        </p:nvGraphicFramePr>
        <p:xfrm>
          <a:off x="1812544" y="1332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{E65CE5E6-3114-451D-BCD3-6637AFFF87EC}</a:tableStyleId>
              </a:tblPr>
              <a:tblGrid>
                <a:gridCol w="1421100"/>
                <a:gridCol w="1421100"/>
                <a:gridCol w="1421100"/>
                <a:gridCol w="1421100"/>
                <a:gridCol w="1421100"/>
                <a:gridCol w="1421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Resnet101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Unet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DeepLabV3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HRNet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제안하는 방법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0.6800 ± 0.0414 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0.7875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</a:t>
                      </a: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0.0255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0.8142 ± 0.0118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0.8833 ± 0.0059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f1</a:t>
                      </a:r>
                      <a:endParaRPr/>
                    </a:p>
                  </a:txBody>
                  <a:tcPr marT="9525" marB="0" marR="9525" marL="95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0.5551 ± 0.0690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0.6095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</a:t>
                      </a: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0.0286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0.5961 ± 0.0263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0.8076 ± 0.0149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auc</a:t>
                      </a:r>
                      <a:endParaRPr/>
                    </a:p>
                  </a:txBody>
                  <a:tcPr marT="9525" marB="0" marR="9525" marL="95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0.826</a:t>
                      </a:r>
                      <a:r>
                        <a:rPr lang="en-US"/>
                        <a:t>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 0.0405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0.8028 ± 0.0501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0.7941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</a:t>
                      </a: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0.0069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0.7726 ± 0.0161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0.9443 ± 0.0088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miou</a:t>
                      </a:r>
                      <a:endParaRPr/>
                    </a:p>
                  </a:txBody>
                  <a:tcPr marT="9525" marB="0" marR="9525" marL="95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0.3385 ± 0.0494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0.4717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</a:t>
                      </a: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0.0225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0.4036 ± 0.0051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dice</a:t>
                      </a:r>
                      <a:endParaRPr/>
                    </a:p>
                  </a:txBody>
                  <a:tcPr marT="9525" marB="0" marR="9525" marL="95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0.4172 ± 0.0607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0.5406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</a:t>
                      </a: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0.0250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0.4835 ± 0.0085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525" marB="0" marR="9525" marL="95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11b617d47_0_30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Segmentation Baseline 실험 결과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1" name="Google Shape;111;g3611b617d47_0_30"/>
          <p:cNvGraphicFramePr/>
          <p:nvPr/>
        </p:nvGraphicFramePr>
        <p:xfrm>
          <a:off x="202538" y="91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{D0851F5F-E45B-4EE4-A4BD-7988C7E1007A}</a:tableStyleId>
              </a:tblPr>
              <a:tblGrid>
                <a:gridCol w="948725"/>
                <a:gridCol w="1083800"/>
                <a:gridCol w="1083800"/>
                <a:gridCol w="1083800"/>
                <a:gridCol w="1083800"/>
                <a:gridCol w="1083800"/>
                <a:gridCol w="1083800"/>
                <a:gridCol w="1083800"/>
                <a:gridCol w="1083800"/>
                <a:gridCol w="1083800"/>
                <a:gridCol w="1083800"/>
              </a:tblGrid>
              <a:tr h="48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Drift Type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</a:t>
                      </a:r>
                      <a:b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+TENT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MGANet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MGANet</a:t>
                      </a:r>
                      <a:b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+TENT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HRNet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HRNet</a:t>
                      </a:r>
                      <a:b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TENT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Ours+TENT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Ours+EATA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Ours+DeYO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 drift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0.9236±0.0169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0.9385±0.0061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0.8053±0.0321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0.9442±0.0073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0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0.8869±0.0194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0.9161±0.0259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0.9494±0.0114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0.9159±0.0058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0.7962±0.0191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0.4945±0.0057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0.9368±0.0195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0.9583±0.0109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0.9583±0.0108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0.9556±0.0130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1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0.9008±0.0185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0.9271±0.0106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0.9294±0.0082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0.9238±0.0066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0.7982±0.0299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0.5086±0.0118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0.9373±0.0102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0.9528±0.0085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0.9528±0.0086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0.9525±0.0092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2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0.8397±0.0328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0.9305±0.0211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0.8429±0.0198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0.9031±0.0056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0.7781±0.0031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0.5012±0.0081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0.9307±0.0092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0.9522±0.0068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0.9528±0.0066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0.9448±0.0073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3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0.8132±0.0598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0.9183±0.0135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0.8600±0.0044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0.9245±0.0072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0.7927±0.0184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0.4918±0.0211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0.9462±0.0045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0.9509±0.0068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0.9496±0.0049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0.9461±0.0070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0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0.8084±0.0346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0.9017±0.0282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0.8168±0.0115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0.8727±0.0118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0.7315±0.0239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0.4910±0.0056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0.9370±0.0136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0.9463±0.0101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0.9463±0.0101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0.9465±0.0115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1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0.8694±0.0201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0.9124±0.0231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0.8866±0.0006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0.8928±0.0139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0.7492±0.0004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0.4897±0.0074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0.9406±0.0096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0.9497±0.0095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0.9497±0.0095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0.9484±0.0107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2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0.7253±0.1077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0.9319±0.0117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0.8531±0.0059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0.8994±0.0044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0.8058±0.0028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0.4937±0.0121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0.9494±0.0054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0.9534±0.0054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0.9542±0.0056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0.9509±0.0071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3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0.5032±0.0071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0.9127±0.0254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0.5048±0.0036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0.8344±0.0061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0.7435±0.0156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0.4901±0.0126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0.9412±0.0034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0.9548±0.0063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0.9484±0.0052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0.9498±0.0058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0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0.8774±0.0442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0.9084±0.0318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0.8178±0.1206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0.9101±0.0308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0.8007±0.0128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0.5156±0.0229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0.9400±0.0048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0.9486±0.0064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0.9486±0.0064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0.9442±0.0061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1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0.9136±0.0231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0.9177±0.0156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0.9227±0.0136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0.9147±0.0110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0.8241±0.0155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0.5020±0.0115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0.9526±0.0093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0.9507±0.0086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0.9522±0.0064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0.9512±0.0084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2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0.8822±0.0534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0.9010±0.0373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0.9164±0.0194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0.9221±0.0010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0.7223±0.0265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0.4853±0.0089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0.9344±0.0021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0.9393±0.0017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0.9393±0.0020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0.9374±0.0059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3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0.7922±0.1121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0.8499±0.0423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0.8509±0.0198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0.8643±0.0301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0.6966±0.0086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0.5019±0.0172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0.9092±0.0080</a:t>
                      </a:r>
                      <a:endParaRPr b="1"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0.9169±0.0031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0.9194±0.0040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0.9178±0.0035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g3611b617d47_0_30"/>
          <p:cNvSpPr txBox="1"/>
          <p:nvPr/>
        </p:nvSpPr>
        <p:spPr>
          <a:xfrm>
            <a:off x="5479625" y="491750"/>
            <a:ext cx="6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HRNet 의 경우, 아예 예측하지 못하는 클래스가 있어 auroc nan -&gt; 해당 클래스만 0.5 로 설정하고 클래스별 평균 계산</a:t>
            </a:r>
            <a:endParaRPr/>
          </a:p>
        </p:txBody>
      </p:sp>
      <p:sp>
        <p:nvSpPr>
          <p:cNvPr id="113" name="Google Shape;113;g3611b617d47_0_30"/>
          <p:cNvSpPr txBox="1"/>
          <p:nvPr/>
        </p:nvSpPr>
        <p:spPr>
          <a:xfrm>
            <a:off x="0" y="6240325"/>
            <a:ext cx="121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HRNet 은 source 에서도 잘 학습되지 않았으며, 이를 기반으로 TENT 를 진행하면 모델이 많이 붕괴되는 모습을 보임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/>
        </p:nvSpPr>
        <p:spPr>
          <a:xfrm>
            <a:off x="51126" y="106850"/>
            <a:ext cx="11787000" cy="61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Segmentation Baseline 실험 결과 분석 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1125" y="1416324"/>
            <a:ext cx="11382000" cy="4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1 라벨 이미지 평균 픽셀 수: 클래스 0 = 261697.54, 클래스 1 = 446.46 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2 라벨 이미지 평균 픽셀 수: 클래스 0 = 261521.00, 클래스 2 = 623.00 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3 라벨 이미지 평균 픽셀 수: 클래스 0 = 261440.88, 클래스 3 = 703.12 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4 라벨 이미지 평균 픽셀 수: 클래스 0 = 262017.21, 클래스 4 = 126.79 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5 라벨 이미지 평균 픽셀 수: 클래스 0 = 259137.42, 클래스 5 = 3006.58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0 (정상) 이 대부분의 픽셀을 차지하고 있고, </a:t>
            </a:r>
            <a:r>
              <a:rPr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</a:t>
            </a: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영역이 너무 국소적이라 </a:t>
            </a: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픽셀이 적어서 </a:t>
            </a: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학습이 어려움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불균형을 보완하기 위해 class weight , focal loss 등 손실 함수를 보정하거나 backbone 모델을 바꾸어도 성능 향상에 한계가 있었음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학습에 필요한 절대적인 데이터 부족 및 클래스별 세그멘테이션 자체가 데이터셋의 특성과 맞지 않기 때문이라고 추정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11b617d47_0_15"/>
          <p:cNvSpPr txBox="1"/>
          <p:nvPr/>
        </p:nvSpPr>
        <p:spPr>
          <a:xfrm>
            <a:off x="51126" y="106850"/>
            <a:ext cx="117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기타 Segmentation 모델</a:t>
            </a:r>
            <a:endParaRPr b="1" i="0" sz="11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611b617d47_0_15"/>
          <p:cNvSpPr txBox="1"/>
          <p:nvPr/>
        </p:nvSpPr>
        <p:spPr>
          <a:xfrm>
            <a:off x="208925" y="2089200"/>
            <a:ext cx="1091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g3611b617d47_0_15"/>
          <p:cNvSpPr txBox="1"/>
          <p:nvPr/>
        </p:nvSpPr>
        <p:spPr>
          <a:xfrm>
            <a:off x="208925" y="962850"/>
            <a:ext cx="10917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Understanding Imbalanced Semantic Segmentation Through Neural Collapse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Zhong, Zhisheng, et al. "Understanding imbalanced semantic segmentation through neural collapse." Proceedings of the IEEE/CVF conference on computer vision and pattern recognition. 2023.</a:t>
            </a:r>
            <a:r>
              <a:rPr lang="en-US" sz="8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(66회 인용)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한 이미지에서 대다수의 영역을 차지하는 클래스와, 적은 영역을 차지하는 소수 클래스 간 불균형 문제를 해결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소수 클래스의 feature 도 feature repesentation space 차원에서 명확히 구분되도록 (각 클래스 중심들이 정다각형 모양일 이루도록) 강제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Point / Pixel Recognition Branch : 일반적인 학습을 수행하는 main branch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Center Regularization Branch : Main branch 에서 추출한 feature 를 기준으로 각 클래스의 평균 벡터를 구함</a:t>
            </a:r>
            <a:b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정다각형 구조를 강제하는 고정된 구조의 classifier weight 에 맞추어 잘 분류되도록 auxiliary branch 설정 (Test 때는 사용하지 않음)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9" name="Google Shape;129;g3611b617d4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3450" y="50875"/>
            <a:ext cx="2690650" cy="13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611b617d47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9713" y="3587250"/>
            <a:ext cx="6655734" cy="26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611b617d47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9572" y="5593925"/>
            <a:ext cx="2891753" cy="3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11b617d47_0_1"/>
          <p:cNvSpPr txBox="1"/>
          <p:nvPr/>
        </p:nvSpPr>
        <p:spPr>
          <a:xfrm>
            <a:off x="51126" y="106850"/>
            <a:ext cx="117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기타 Segmentation 모델</a:t>
            </a:r>
            <a:endParaRPr b="1" i="0" sz="11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611b617d47_0_1"/>
          <p:cNvSpPr txBox="1"/>
          <p:nvPr/>
        </p:nvSpPr>
        <p:spPr>
          <a:xfrm>
            <a:off x="208925" y="2089200"/>
            <a:ext cx="1091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g3611b617d47_0_1"/>
          <p:cNvSpPr txBox="1"/>
          <p:nvPr/>
        </p:nvSpPr>
        <p:spPr>
          <a:xfrm>
            <a:off x="208925" y="962850"/>
            <a:ext cx="11943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Camouflaged Object Segmentation with Distraction Mining</a:t>
            </a:r>
            <a:br>
              <a:rPr b="1" lang="en-US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i="1" lang="en-US" sz="8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Proceedings of the IEEE/CVF conference on computer vision and pattern recognition</a:t>
            </a:r>
            <a:r>
              <a:rPr lang="en-US" sz="8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. 2021. (510회 인용)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주변 환경과 잘 구분되지 않는 위장된(camouflaged) 객체를 식별하는 task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PM(Positioning Module) 이 화면 전체에서 어디에 객체가 있을지 대략적으로 탐색, FM(Focus Module)이 해당 부분을 중심으로 정확하게 탐색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high level feature 에 channel attention + spatial attention + residual 이 적용된 새로운 feature F’’ 생성, 이를 기준으로 coarse prediction (대략적 객체 vs 전경 구분)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이에 따라 전경과 배경 영역을 구분하고, 각 block 에서 나온 feature 와 연산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배경인데 전경으로 잘못 예측한 영역을 feature 에서 제외하고, 전경인데 배경으로 잘못 예측한 영역을 더함으로써 feature 정제 -&gt; 각 블록마다 반복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PM 모듈에서의 Loss(pm) + 각 블록별 가중치를 다르게 한 Loss(fm) 으로 학습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ResNet backbone 을 사용하였기 때문에 TTA 적용 가능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0" name="Google Shape;140;g3611b617d4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75" y="106850"/>
            <a:ext cx="3789450" cy="18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611b617d47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500" y="3856650"/>
            <a:ext cx="6293000" cy="300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611b617d47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1075" y="6053900"/>
            <a:ext cx="1835151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11b617d47_0_46"/>
          <p:cNvSpPr txBox="1"/>
          <p:nvPr/>
        </p:nvSpPr>
        <p:spPr>
          <a:xfrm>
            <a:off x="51126" y="106850"/>
            <a:ext cx="117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기타 Segmentation 모델</a:t>
            </a:r>
            <a:endParaRPr b="1" i="0" sz="11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611b617d47_0_46"/>
          <p:cNvSpPr txBox="1"/>
          <p:nvPr/>
        </p:nvSpPr>
        <p:spPr>
          <a:xfrm>
            <a:off x="208925" y="2089200"/>
            <a:ext cx="1091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g3611b617d47_0_46"/>
          <p:cNvSpPr txBox="1"/>
          <p:nvPr/>
        </p:nvSpPr>
        <p:spPr>
          <a:xfrm>
            <a:off x="208925" y="962850"/>
            <a:ext cx="119439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Segmentation-based deep-learning approach for surface-defect detection</a:t>
            </a:r>
            <a:br>
              <a:rPr b="1" lang="en-US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Tabernik, Domen, et al. Journal of Intelligent Manufacturing 31.3 (2020): 759-776. (923회 인용)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미세한 제조 데이터의 crack 을 detection 하는 task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1~9 conv block 까지 5*5 커널을 사용하여 local 정보 추출 / 10 conv block 에서 15*15 커널을 사용하여 넓은 receptive field / 11 conv block 에서 1*1 커널로 채널 축소 및 segmentation mask 생성 -&gt; 작고 local 하면서도 넓은 범위에 분포되어 있는 결함 등을 탐지할 수 있음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segmentation network 에서 만들어진 segmentation ouput 과, 1024 채널로 이루어진 feature 를 decision network 의 input 으로 사용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pooling 을 반복하여 feature map 크기를 줄이고 , 채널수는 점점 늘리며 고차원의 feature 생성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고차원 feature 를 pooling 한 것과 + segmentation output 을 pooling 한 정보를 concat 하여 결함 유무 classification 에 사용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1단계로 segmentation network 만 학습 -&gt; 2단계로 segmentation network freeze 후 decision network 학습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다만, 1) input 이 grayscale 이라는 점 2) binary classification 모델이라는 점이 데이터에 맞게 수정 가능한지 확인 필요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1" name="Google Shape;151;g3611b617d47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763" y="4216700"/>
            <a:ext cx="6536475" cy="24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