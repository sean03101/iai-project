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9" r:id="rId13"/>
    <p:sldId id="268" r:id="rId14"/>
    <p:sldId id="266" r:id="rId15"/>
  </p:sldIdLst>
  <p:sldSz cx="12192000" cy="6858000"/>
  <p:notesSz cx="6858000" cy="9144000"/>
  <p:embeddedFontLst>
    <p:embeddedFont>
      <p:font typeface="Noto Sans KR" panose="020B0500000000000000" pitchFamily="34" charset="-127"/>
      <p:regular r:id="rId17"/>
      <p:bold r:id="rId18"/>
    </p:embeddedFont>
    <p:embeddedFont>
      <p:font typeface="Malgun Gothic" panose="020B0503020000020004" pitchFamily="50" charset="-127"/>
      <p:regular r:id="rId19"/>
      <p:bold r:id="rId20"/>
    </p:embeddedFont>
    <p:embeddedFont>
      <p:font typeface="Noto Sans ExtraBold" panose="020B0600000101010101" charset="0"/>
      <p:bold r:id="rId21"/>
      <p:boldItalic r:id="rId22"/>
    </p:embeddedFont>
    <p:embeddedFont>
      <p:font typeface="Noto Sans SemiBold" panose="020B0600000101010101" charset="0"/>
      <p:regular r:id="rId23"/>
      <p:bold r:id="rId24"/>
      <p:italic r:id="rId25"/>
      <p:boldItalic r:id="rId26"/>
    </p:embeddedFont>
    <p:embeddedFont>
      <p:font typeface="Noto Sans" panose="020B0600000101010101" charset="0"/>
      <p:regular r:id="rId27"/>
      <p:bold r:id="rId28"/>
      <p:italic r:id="rId29"/>
      <p:boldItalic r:id="rId30"/>
    </p:embeddedFont>
    <p:embeddedFont>
      <p:font typeface="Malgun Gothic" panose="020B0503020000020004" pitchFamily="50" charset="-127"/>
      <p:regular r:id="rId19"/>
      <p:bold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1" roundtripDataSignature="AMtx7mgZBXjUu//3DR58a8aaj8UtfJ9yu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5" d="100"/>
          <a:sy n="105" d="100"/>
        </p:scale>
        <p:origin x="714" y="114"/>
      </p:cViewPr>
      <p:guideLst>
        <p:guide orient="horz" pos="2115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280297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921482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66982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7" name="Google Shape;18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2" name="Google Shape;12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3" name="Google Shape;13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4" name="Google Shape;14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arxiv.org/abs/1807.09441" TargetMode="Externa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hyperlink" Target="https://arxiv.org/abs/1807.09441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arxiv.org/abs/1807.09441" TargetMode="External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hyperlink" Target="https://arxiv.org/abs/1807.09441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/>
        </p:nvSpPr>
        <p:spPr>
          <a:xfrm>
            <a:off x="242596" y="214604"/>
            <a:ext cx="986245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0" u="none" strike="noStrike" cap="none">
                <a:solidFill>
                  <a:schemeClr val="accent6"/>
                </a:solidFill>
                <a:latin typeface="Noto Sans ExtraBold"/>
                <a:ea typeface="Noto Sans ExtraBold"/>
                <a:cs typeface="Noto Sans ExtraBold"/>
                <a:sym typeface="Noto Sans ExtraBold"/>
              </a:rPr>
              <a:t>Offline augmentation </a:t>
            </a:r>
            <a:r>
              <a:rPr lang="en-US" sz="2400" i="0" u="none" strike="noStrike" cap="none">
                <a:solidFill>
                  <a:schemeClr val="dk1"/>
                </a:solidFill>
                <a:latin typeface="Noto Sans ExtraBold"/>
                <a:ea typeface="Noto Sans ExtraBold"/>
                <a:cs typeface="Noto Sans ExtraBold"/>
                <a:sym typeface="Noto Sans ExtraBold"/>
              </a:rPr>
              <a:t>시 전체 test set 에 대한 성능</a:t>
            </a:r>
            <a:endParaRPr>
              <a:latin typeface="Noto Sans ExtraBold"/>
              <a:ea typeface="Noto Sans ExtraBold"/>
              <a:cs typeface="Noto Sans ExtraBold"/>
              <a:sym typeface="Noto Sans ExtraBold"/>
            </a:endParaRPr>
          </a:p>
        </p:txBody>
      </p:sp>
      <p:pic>
        <p:nvPicPr>
          <p:cNvPr id="89" name="Google Shape;89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4018" y="1870660"/>
            <a:ext cx="3553473" cy="3514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49736" y="1870660"/>
            <a:ext cx="3483339" cy="351451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/>
          <p:nvPr/>
        </p:nvSpPr>
        <p:spPr>
          <a:xfrm>
            <a:off x="5949726" y="826400"/>
            <a:ext cx="5822100" cy="585000"/>
          </a:xfrm>
          <a:prstGeom prst="rect">
            <a:avLst/>
          </a:prstGeom>
          <a:noFill/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KR"/>
              <a:buNone/>
            </a:pPr>
            <a:r>
              <a:rPr lang="en-US" sz="16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initial labeled pool : 30       + 1개씩 샘플링 하여 100회 진행</a:t>
            </a:r>
            <a:br>
              <a:rPr lang="en-US" sz="16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6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optimizer : Adam           model : ResNet50</a:t>
            </a:r>
            <a:endParaRPr sz="1600" b="0" i="0" u="none" strike="noStrike" cap="non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242596" y="657127"/>
            <a:ext cx="986245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Augmentation 별 uncertainty </a:t>
            </a:r>
            <a:r>
              <a:rPr lang="en-US" sz="1600">
                <a:solidFill>
                  <a:schemeClr val="accent6"/>
                </a:solidFill>
                <a:latin typeface="Noto Sans KR"/>
                <a:ea typeface="Noto Sans KR"/>
                <a:cs typeface="Noto Sans KR"/>
                <a:sym typeface="Noto Sans KR"/>
              </a:rPr>
              <a:t>max</a:t>
            </a:r>
            <a:r>
              <a:rPr lang="en-US" sz="16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값으로 샘플링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AEAEAE"/>
                </a:solidFill>
                <a:latin typeface="Noto Sans KR"/>
                <a:ea typeface="Noto Sans KR"/>
                <a:cs typeface="Noto Sans KR"/>
                <a:sym typeface="Noto Sans KR"/>
              </a:rPr>
              <a:t>그래프 제목 : {성능 측정 지표} of {도메인}</a:t>
            </a:r>
            <a:endParaRPr sz="1600">
              <a:solidFill>
                <a:srgbClr val="AEAEAE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76116" y="2434824"/>
            <a:ext cx="2493047" cy="2515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6016" y="2434824"/>
            <a:ext cx="2493047" cy="2515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095817" y="2459647"/>
            <a:ext cx="2493047" cy="2465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55916" y="2459647"/>
            <a:ext cx="2493047" cy="246571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"/>
          <p:cNvSpPr txBox="1"/>
          <p:nvPr/>
        </p:nvSpPr>
        <p:spPr>
          <a:xfrm>
            <a:off x="366884" y="3658374"/>
            <a:ext cx="83955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auroc</a:t>
            </a:r>
            <a:endParaRPr sz="16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242596" y="657127"/>
            <a:ext cx="986245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Augmentation 별 uncertainty </a:t>
            </a:r>
            <a:r>
              <a:rPr lang="en-US" sz="1600">
                <a:solidFill>
                  <a:schemeClr val="accent6"/>
                </a:solidFill>
                <a:latin typeface="Noto Sans KR"/>
                <a:ea typeface="Noto Sans KR"/>
                <a:cs typeface="Noto Sans KR"/>
                <a:sym typeface="Noto Sans KR"/>
              </a:rPr>
              <a:t>max</a:t>
            </a:r>
            <a:r>
              <a:rPr lang="en-US" sz="16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값으로 샘플링</a:t>
            </a:r>
            <a:endParaRPr/>
          </a:p>
        </p:txBody>
      </p:sp>
      <p:sp>
        <p:nvSpPr>
          <p:cNvPr id="103" name="Google Shape;103;p2"/>
          <p:cNvSpPr txBox="1"/>
          <p:nvPr/>
        </p:nvSpPr>
        <p:spPr>
          <a:xfrm>
            <a:off x="242596" y="214604"/>
            <a:ext cx="9862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0" u="none" strike="noStrike" cap="none">
                <a:solidFill>
                  <a:schemeClr val="accent6"/>
                </a:solidFill>
                <a:latin typeface="Noto Sans ExtraBold"/>
                <a:ea typeface="Noto Sans ExtraBold"/>
                <a:cs typeface="Noto Sans ExtraBold"/>
                <a:sym typeface="Noto Sans ExtraBold"/>
              </a:rPr>
              <a:t>Offline augmentation </a:t>
            </a:r>
            <a:r>
              <a:rPr lang="en-US" sz="2400" i="0" u="none" strike="noStrike" cap="none">
                <a:solidFill>
                  <a:schemeClr val="dk1"/>
                </a:solidFill>
                <a:latin typeface="Noto Sans ExtraBold"/>
                <a:ea typeface="Noto Sans ExtraBold"/>
                <a:cs typeface="Noto Sans ExtraBold"/>
                <a:sym typeface="Noto Sans ExtraBold"/>
              </a:rPr>
              <a:t>시 전체 test set 에 대한 성능</a:t>
            </a:r>
            <a:endParaRPr>
              <a:latin typeface="Noto Sans ExtraBold"/>
              <a:ea typeface="Noto Sans ExtraBold"/>
              <a:cs typeface="Noto Sans ExtraBold"/>
              <a:sym typeface="Noto Sans Extra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0007" y="2328382"/>
            <a:ext cx="3561494" cy="3593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10658" y="2328382"/>
            <a:ext cx="3561494" cy="359336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3"/>
          <p:cNvSpPr txBox="1"/>
          <p:nvPr/>
        </p:nvSpPr>
        <p:spPr>
          <a:xfrm>
            <a:off x="6455122" y="826404"/>
            <a:ext cx="5316670" cy="584775"/>
          </a:xfrm>
          <a:prstGeom prst="rect">
            <a:avLst/>
          </a:prstGeom>
          <a:noFill/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KR"/>
              <a:buNone/>
            </a:pPr>
            <a:r>
              <a:rPr lang="en-US" sz="16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initial labeled pool : 30       + 1개씩 샘플링 하여 100회 진행</a:t>
            </a:r>
            <a:br>
              <a:rPr lang="en-US" sz="16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6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optimizer : Adam           model : ResNet50</a:t>
            </a:r>
            <a:endParaRPr sz="1600" b="0" i="0" u="none" strike="noStrike" cap="non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1" name="Google Shape;111;p3"/>
          <p:cNvSpPr txBox="1"/>
          <p:nvPr/>
        </p:nvSpPr>
        <p:spPr>
          <a:xfrm>
            <a:off x="242596" y="214604"/>
            <a:ext cx="986245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6"/>
                </a:solidFill>
                <a:latin typeface="Noto Sans ExtraBold"/>
                <a:ea typeface="Noto Sans ExtraBold"/>
                <a:cs typeface="Noto Sans ExtraBold"/>
                <a:sym typeface="Noto Sans ExtraBold"/>
              </a:rPr>
              <a:t>Online augmentation </a:t>
            </a:r>
            <a:r>
              <a:rPr lang="en-US" sz="2400">
                <a:solidFill>
                  <a:schemeClr val="dk1"/>
                </a:solidFill>
                <a:latin typeface="Noto Sans ExtraBold"/>
                <a:ea typeface="Noto Sans ExtraBold"/>
                <a:cs typeface="Noto Sans ExtraBold"/>
                <a:sym typeface="Noto Sans ExtraBold"/>
              </a:rPr>
              <a:t>시 전체 test set 에 대한 성능</a:t>
            </a:r>
            <a:endParaRPr>
              <a:latin typeface="Noto Sans ExtraBold"/>
              <a:ea typeface="Noto Sans ExtraBold"/>
              <a:cs typeface="Noto Sans ExtraBold"/>
              <a:sym typeface="Noto Sans ExtraBold"/>
            </a:endParaRPr>
          </a:p>
        </p:txBody>
      </p:sp>
      <p:sp>
        <p:nvSpPr>
          <p:cNvPr id="112" name="Google Shape;112;p3"/>
          <p:cNvSpPr txBox="1"/>
          <p:nvPr/>
        </p:nvSpPr>
        <p:spPr>
          <a:xfrm>
            <a:off x="242596" y="657127"/>
            <a:ext cx="986245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Augmentation 별 uncertainty </a:t>
            </a:r>
            <a:r>
              <a:rPr lang="en-US" sz="1600">
                <a:solidFill>
                  <a:schemeClr val="accent6"/>
                </a:solidFill>
                <a:latin typeface="Noto Sans KR"/>
                <a:ea typeface="Noto Sans KR"/>
                <a:cs typeface="Noto Sans KR"/>
                <a:sym typeface="Noto Sans KR"/>
              </a:rPr>
              <a:t>mean</a:t>
            </a:r>
            <a:r>
              <a:rPr lang="en-US" sz="16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값으로 샘플링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AEAEAE"/>
                </a:solidFill>
                <a:latin typeface="Noto Sans KR"/>
                <a:ea typeface="Noto Sans KR"/>
                <a:cs typeface="Noto Sans KR"/>
                <a:sym typeface="Noto Sans KR"/>
              </a:rPr>
              <a:t>그래프 제목 : {성능 측정 지표} of {도메인}</a:t>
            </a:r>
            <a:endParaRPr sz="1600">
              <a:solidFill>
                <a:srgbClr val="AEAEAE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83132" y="2370871"/>
            <a:ext cx="2443842" cy="24657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63052" y="2346048"/>
            <a:ext cx="2493047" cy="25153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30307" y="2373647"/>
            <a:ext cx="2438338" cy="24601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73173" y="2346048"/>
            <a:ext cx="2493047" cy="2515357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4"/>
          <p:cNvSpPr txBox="1"/>
          <p:nvPr/>
        </p:nvSpPr>
        <p:spPr>
          <a:xfrm>
            <a:off x="153820" y="3569598"/>
            <a:ext cx="83955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auroc</a:t>
            </a:r>
            <a:endParaRPr sz="16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2" name="Google Shape;122;p4"/>
          <p:cNvSpPr txBox="1"/>
          <p:nvPr/>
        </p:nvSpPr>
        <p:spPr>
          <a:xfrm>
            <a:off x="242596" y="214604"/>
            <a:ext cx="986245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6"/>
                </a:solidFill>
                <a:latin typeface="Noto Sans ExtraBold"/>
                <a:ea typeface="Noto Sans ExtraBold"/>
                <a:cs typeface="Noto Sans ExtraBold"/>
                <a:sym typeface="Noto Sans ExtraBold"/>
              </a:rPr>
              <a:t>Online augmentation </a:t>
            </a:r>
            <a:r>
              <a:rPr lang="en-US" sz="2400">
                <a:solidFill>
                  <a:schemeClr val="dk1"/>
                </a:solidFill>
                <a:latin typeface="Noto Sans ExtraBold"/>
                <a:ea typeface="Noto Sans ExtraBold"/>
                <a:cs typeface="Noto Sans ExtraBold"/>
                <a:sym typeface="Noto Sans ExtraBold"/>
              </a:rPr>
              <a:t>시 전체 test set 에 대한 성능</a:t>
            </a:r>
            <a:endParaRPr>
              <a:latin typeface="Noto Sans ExtraBold"/>
              <a:ea typeface="Noto Sans ExtraBold"/>
              <a:cs typeface="Noto Sans ExtraBold"/>
              <a:sym typeface="Noto Sans ExtraBold"/>
            </a:endParaRPr>
          </a:p>
        </p:txBody>
      </p:sp>
      <p:sp>
        <p:nvSpPr>
          <p:cNvPr id="123" name="Google Shape;123;p4"/>
          <p:cNvSpPr txBox="1"/>
          <p:nvPr/>
        </p:nvSpPr>
        <p:spPr>
          <a:xfrm>
            <a:off x="242596" y="657127"/>
            <a:ext cx="986245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Augmentation 별 uncertainty </a:t>
            </a:r>
            <a:r>
              <a:rPr lang="en-US" sz="1600">
                <a:solidFill>
                  <a:schemeClr val="accent6"/>
                </a:solidFill>
                <a:latin typeface="Noto Sans KR"/>
                <a:ea typeface="Noto Sans KR"/>
                <a:cs typeface="Noto Sans KR"/>
                <a:sym typeface="Noto Sans KR"/>
              </a:rPr>
              <a:t>mean</a:t>
            </a:r>
            <a:r>
              <a:rPr lang="en-US" sz="16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값으로 샘플링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89085" y="1870660"/>
            <a:ext cx="3483339" cy="3514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49736" y="1870660"/>
            <a:ext cx="3483339" cy="3514509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5"/>
          <p:cNvSpPr txBox="1"/>
          <p:nvPr/>
        </p:nvSpPr>
        <p:spPr>
          <a:xfrm>
            <a:off x="242596" y="214604"/>
            <a:ext cx="986245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6"/>
                </a:solidFill>
                <a:latin typeface="Noto Sans ExtraBold"/>
                <a:ea typeface="Noto Sans ExtraBold"/>
                <a:cs typeface="Noto Sans ExtraBold"/>
                <a:sym typeface="Noto Sans ExtraBold"/>
              </a:rPr>
              <a:t>Online augmentation </a:t>
            </a:r>
            <a:r>
              <a:rPr lang="en-US" sz="2400">
                <a:solidFill>
                  <a:schemeClr val="dk1"/>
                </a:solidFill>
                <a:latin typeface="Noto Sans ExtraBold"/>
                <a:ea typeface="Noto Sans ExtraBold"/>
                <a:cs typeface="Noto Sans ExtraBold"/>
                <a:sym typeface="Noto Sans ExtraBold"/>
              </a:rPr>
              <a:t>시 전체 test set 에 대한 성능</a:t>
            </a:r>
            <a:endParaRPr>
              <a:latin typeface="Noto Sans ExtraBold"/>
              <a:ea typeface="Noto Sans ExtraBold"/>
              <a:cs typeface="Noto Sans ExtraBold"/>
              <a:sym typeface="Noto Sans ExtraBold"/>
            </a:endParaRPr>
          </a:p>
        </p:txBody>
      </p:sp>
      <p:sp>
        <p:nvSpPr>
          <p:cNvPr id="131" name="Google Shape;131;p5"/>
          <p:cNvSpPr txBox="1"/>
          <p:nvPr/>
        </p:nvSpPr>
        <p:spPr>
          <a:xfrm>
            <a:off x="242596" y="657127"/>
            <a:ext cx="986245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Augmentation 별 uncertainty </a:t>
            </a:r>
            <a:r>
              <a:rPr lang="en-US" sz="1600">
                <a:solidFill>
                  <a:schemeClr val="accent6"/>
                </a:solidFill>
                <a:latin typeface="Noto Sans KR"/>
                <a:ea typeface="Noto Sans KR"/>
                <a:cs typeface="Noto Sans KR"/>
                <a:sym typeface="Noto Sans KR"/>
              </a:rPr>
              <a:t>max</a:t>
            </a:r>
            <a:r>
              <a:rPr lang="en-US" sz="16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값으로 샘플링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76116" y="2434824"/>
            <a:ext cx="2493046" cy="2515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6016" y="2434824"/>
            <a:ext cx="2493046" cy="2515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095817" y="2459647"/>
            <a:ext cx="2493046" cy="2465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55916" y="2459647"/>
            <a:ext cx="2493046" cy="246571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6"/>
          <p:cNvSpPr txBox="1"/>
          <p:nvPr/>
        </p:nvSpPr>
        <p:spPr>
          <a:xfrm>
            <a:off x="366884" y="3658374"/>
            <a:ext cx="83955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auroc</a:t>
            </a:r>
            <a:endParaRPr sz="16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1" name="Google Shape;141;p6"/>
          <p:cNvSpPr txBox="1"/>
          <p:nvPr/>
        </p:nvSpPr>
        <p:spPr>
          <a:xfrm>
            <a:off x="242596" y="214604"/>
            <a:ext cx="986245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6"/>
                </a:solidFill>
                <a:latin typeface="Noto Sans ExtraBold"/>
                <a:ea typeface="Noto Sans ExtraBold"/>
                <a:cs typeface="Noto Sans ExtraBold"/>
                <a:sym typeface="Noto Sans ExtraBold"/>
              </a:rPr>
              <a:t>Online augmentation </a:t>
            </a:r>
            <a:r>
              <a:rPr lang="en-US" sz="2400">
                <a:solidFill>
                  <a:schemeClr val="dk1"/>
                </a:solidFill>
                <a:latin typeface="Noto Sans ExtraBold"/>
                <a:ea typeface="Noto Sans ExtraBold"/>
                <a:cs typeface="Noto Sans ExtraBold"/>
                <a:sym typeface="Noto Sans ExtraBold"/>
              </a:rPr>
              <a:t>시 전체 test set 에 대한 성능</a:t>
            </a:r>
            <a:endParaRPr>
              <a:latin typeface="Noto Sans ExtraBold"/>
              <a:ea typeface="Noto Sans ExtraBold"/>
              <a:cs typeface="Noto Sans ExtraBold"/>
              <a:sym typeface="Noto Sans ExtraBold"/>
            </a:endParaRPr>
          </a:p>
        </p:txBody>
      </p:sp>
      <p:sp>
        <p:nvSpPr>
          <p:cNvPr id="142" name="Google Shape;142;p6"/>
          <p:cNvSpPr txBox="1"/>
          <p:nvPr/>
        </p:nvSpPr>
        <p:spPr>
          <a:xfrm>
            <a:off x="242596" y="657127"/>
            <a:ext cx="986245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Augmentation 별 uncertainty </a:t>
            </a:r>
            <a:r>
              <a:rPr lang="en-US" sz="1600">
                <a:solidFill>
                  <a:schemeClr val="accent6"/>
                </a:solidFill>
                <a:latin typeface="Noto Sans KR"/>
                <a:ea typeface="Noto Sans KR"/>
                <a:cs typeface="Noto Sans KR"/>
                <a:sym typeface="Noto Sans KR"/>
              </a:rPr>
              <a:t>max</a:t>
            </a:r>
            <a:r>
              <a:rPr lang="en-US" sz="16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값으로 샘플링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"/>
          <p:cNvSpPr txBox="1"/>
          <p:nvPr/>
        </p:nvSpPr>
        <p:spPr>
          <a:xfrm>
            <a:off x="242596" y="657127"/>
            <a:ext cx="986245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Augmentation 별 uncertainty </a:t>
            </a:r>
            <a:r>
              <a:rPr lang="en-US" sz="1600">
                <a:solidFill>
                  <a:schemeClr val="accent6"/>
                </a:solidFill>
                <a:latin typeface="Noto Sans KR"/>
                <a:ea typeface="Noto Sans KR"/>
                <a:cs typeface="Noto Sans KR"/>
                <a:sym typeface="Noto Sans KR"/>
              </a:rPr>
              <a:t>mean</a:t>
            </a:r>
            <a:r>
              <a:rPr lang="en-US" sz="16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값으로 샘플링</a:t>
            </a:r>
            <a:endParaRPr/>
          </a:p>
        </p:txBody>
      </p:sp>
      <p:pic>
        <p:nvPicPr>
          <p:cNvPr id="148" name="Google Shape;148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89085" y="1870660"/>
            <a:ext cx="3483339" cy="35145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49736" y="1874582"/>
            <a:ext cx="3483339" cy="3506664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7"/>
          <p:cNvSpPr txBox="1"/>
          <p:nvPr/>
        </p:nvSpPr>
        <p:spPr>
          <a:xfrm>
            <a:off x="242596" y="214604"/>
            <a:ext cx="9862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6"/>
                </a:solidFill>
                <a:latin typeface="Noto Sans ExtraBold"/>
                <a:ea typeface="Noto Sans ExtraBold"/>
                <a:cs typeface="Noto Sans ExtraBold"/>
                <a:sym typeface="Noto Sans ExtraBold"/>
              </a:rPr>
              <a:t>IBN</a:t>
            </a:r>
            <a:r>
              <a:rPr lang="en-US" sz="2200">
                <a:solidFill>
                  <a:schemeClr val="accent6"/>
                </a:solidFill>
                <a:latin typeface="Noto Sans ExtraBold"/>
                <a:ea typeface="Noto Sans ExtraBold"/>
                <a:cs typeface="Noto Sans ExtraBold"/>
                <a:sym typeface="Noto Sans ExtraBold"/>
              </a:rPr>
              <a:t>(</a:t>
            </a:r>
            <a:r>
              <a:rPr lang="en-US" sz="1500" b="1">
                <a:solidFill>
                  <a:schemeClr val="accent6"/>
                </a:solidFill>
                <a:highlight>
                  <a:srgbClr val="FFFFFF"/>
                </a:highlight>
                <a:latin typeface="Noto Sans"/>
                <a:ea typeface="Noto Sans"/>
                <a:cs typeface="Noto Sans"/>
                <a:sym typeface="Noto Sans"/>
              </a:rPr>
              <a:t>Instance-Batch Normalization Network</a:t>
            </a:r>
            <a:r>
              <a:rPr lang="en-US" sz="2200">
                <a:solidFill>
                  <a:schemeClr val="accent6"/>
                </a:solidFill>
                <a:latin typeface="Noto Sans ExtraBold"/>
                <a:ea typeface="Noto Sans ExtraBold"/>
                <a:cs typeface="Noto Sans ExtraBold"/>
                <a:sym typeface="Noto Sans ExtraBold"/>
              </a:rPr>
              <a:t>)</a:t>
            </a:r>
            <a:r>
              <a:rPr lang="en-US" sz="2400">
                <a:solidFill>
                  <a:schemeClr val="accent6"/>
                </a:solidFill>
                <a:latin typeface="Noto Sans ExtraBold"/>
                <a:ea typeface="Noto Sans ExtraBold"/>
                <a:cs typeface="Noto Sans ExtraBold"/>
                <a:sym typeface="Noto Sans ExtraBold"/>
              </a:rPr>
              <a:t> </a:t>
            </a:r>
            <a:r>
              <a:rPr lang="en-US" sz="2400">
                <a:solidFill>
                  <a:schemeClr val="dk1"/>
                </a:solidFill>
                <a:latin typeface="Noto Sans ExtraBold"/>
                <a:ea typeface="Noto Sans ExtraBold"/>
                <a:cs typeface="Noto Sans ExtraBold"/>
                <a:sym typeface="Noto Sans ExtraBold"/>
              </a:rPr>
              <a:t>모델 활용– 반복 실험1</a:t>
            </a:r>
            <a:endParaRPr sz="2400">
              <a:solidFill>
                <a:schemeClr val="dk1"/>
              </a:solidFill>
              <a:latin typeface="Noto Sans ExtraBold"/>
              <a:ea typeface="Noto Sans ExtraBold"/>
              <a:cs typeface="Noto Sans ExtraBold"/>
              <a:sym typeface="Noto Sans ExtraBold"/>
            </a:endParaRPr>
          </a:p>
        </p:txBody>
      </p:sp>
      <p:sp>
        <p:nvSpPr>
          <p:cNvPr id="151" name="Google Shape;151;p7"/>
          <p:cNvSpPr txBox="1"/>
          <p:nvPr/>
        </p:nvSpPr>
        <p:spPr>
          <a:xfrm>
            <a:off x="0" y="6488700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F2328"/>
                </a:solidFill>
                <a:highlight>
                  <a:srgbClr val="FFFFFF"/>
                </a:highlight>
                <a:latin typeface="Noto Sans"/>
                <a:ea typeface="Noto Sans"/>
                <a:cs typeface="Noto Sans"/>
                <a:sym typeface="Noto Sans"/>
              </a:rPr>
              <a:t>Xingang Pan, Ping Luo, Jianping Shi, Xiaoou Tang. </a:t>
            </a:r>
            <a:r>
              <a:rPr lang="en-US" sz="1200" u="sng">
                <a:solidFill>
                  <a:schemeClr val="hlink"/>
                </a:solidFill>
                <a:highlight>
                  <a:srgbClr val="FFFFFF"/>
                </a:highlight>
                <a:latin typeface="Noto Sans"/>
                <a:ea typeface="Noto Sans"/>
                <a:cs typeface="Noto Sans"/>
                <a:sym typeface="Noto Sans"/>
                <a:hlinkClick r:id="rId5"/>
              </a:rPr>
              <a:t>"Two at Once: Enhancing Learning and Generalization Capacities via IBN-Net"</a:t>
            </a:r>
            <a:r>
              <a:rPr lang="en-US" sz="1200">
                <a:solidFill>
                  <a:srgbClr val="1F2328"/>
                </a:solidFill>
                <a:highlight>
                  <a:srgbClr val="FFFFFF"/>
                </a:highlight>
                <a:latin typeface="Noto Sans"/>
                <a:ea typeface="Noto Sans"/>
                <a:cs typeface="Noto Sans"/>
                <a:sym typeface="Noto Sans"/>
              </a:rPr>
              <a:t>, ECCV2018.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76116" y="2434824"/>
            <a:ext cx="2493046" cy="25153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6016" y="2434824"/>
            <a:ext cx="2493046" cy="25153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20419" y="2459647"/>
            <a:ext cx="2443841" cy="2465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80518" y="2459647"/>
            <a:ext cx="2443841" cy="246571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8"/>
          <p:cNvSpPr txBox="1"/>
          <p:nvPr/>
        </p:nvSpPr>
        <p:spPr>
          <a:xfrm>
            <a:off x="366884" y="3658374"/>
            <a:ext cx="83955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auroc</a:t>
            </a:r>
            <a:endParaRPr sz="16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1" name="Google Shape;161;p8"/>
          <p:cNvSpPr txBox="1"/>
          <p:nvPr/>
        </p:nvSpPr>
        <p:spPr>
          <a:xfrm>
            <a:off x="242596" y="657127"/>
            <a:ext cx="986245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Augmentation 별 uncertainty </a:t>
            </a:r>
            <a:r>
              <a:rPr lang="en-US" sz="1600">
                <a:solidFill>
                  <a:schemeClr val="accent6"/>
                </a:solidFill>
                <a:latin typeface="Noto Sans KR"/>
                <a:ea typeface="Noto Sans KR"/>
                <a:cs typeface="Noto Sans KR"/>
                <a:sym typeface="Noto Sans KR"/>
              </a:rPr>
              <a:t>mean</a:t>
            </a:r>
            <a:r>
              <a:rPr lang="en-US" sz="16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값으로 샘플링</a:t>
            </a:r>
            <a:endParaRPr/>
          </a:p>
        </p:txBody>
      </p:sp>
      <p:sp>
        <p:nvSpPr>
          <p:cNvPr id="162" name="Google Shape;162;p8"/>
          <p:cNvSpPr txBox="1"/>
          <p:nvPr/>
        </p:nvSpPr>
        <p:spPr>
          <a:xfrm>
            <a:off x="242596" y="214604"/>
            <a:ext cx="9862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6"/>
                </a:solidFill>
                <a:latin typeface="Noto Sans ExtraBold"/>
                <a:ea typeface="Noto Sans ExtraBold"/>
                <a:cs typeface="Noto Sans ExtraBold"/>
                <a:sym typeface="Noto Sans ExtraBold"/>
              </a:rPr>
              <a:t>IBN</a:t>
            </a:r>
            <a:r>
              <a:rPr lang="en-US" sz="2200">
                <a:solidFill>
                  <a:schemeClr val="accent6"/>
                </a:solidFill>
                <a:latin typeface="Noto Sans ExtraBold"/>
                <a:ea typeface="Noto Sans ExtraBold"/>
                <a:cs typeface="Noto Sans ExtraBold"/>
                <a:sym typeface="Noto Sans ExtraBold"/>
              </a:rPr>
              <a:t>(</a:t>
            </a:r>
            <a:r>
              <a:rPr lang="en-US" sz="1500" b="1">
                <a:solidFill>
                  <a:schemeClr val="accent6"/>
                </a:solidFill>
                <a:highlight>
                  <a:srgbClr val="FFFFFF"/>
                </a:highlight>
                <a:latin typeface="Noto Sans"/>
                <a:ea typeface="Noto Sans"/>
                <a:cs typeface="Noto Sans"/>
                <a:sym typeface="Noto Sans"/>
              </a:rPr>
              <a:t>Instance-Batch Normalization Network</a:t>
            </a:r>
            <a:r>
              <a:rPr lang="en-US" sz="2200">
                <a:solidFill>
                  <a:schemeClr val="accent6"/>
                </a:solidFill>
                <a:latin typeface="Noto Sans ExtraBold"/>
                <a:ea typeface="Noto Sans ExtraBold"/>
                <a:cs typeface="Noto Sans ExtraBold"/>
                <a:sym typeface="Noto Sans ExtraBold"/>
              </a:rPr>
              <a:t>)</a:t>
            </a:r>
            <a:r>
              <a:rPr lang="en-US" sz="2400">
                <a:solidFill>
                  <a:schemeClr val="accent6"/>
                </a:solidFill>
                <a:latin typeface="Noto Sans ExtraBold"/>
                <a:ea typeface="Noto Sans ExtraBold"/>
                <a:cs typeface="Noto Sans ExtraBold"/>
                <a:sym typeface="Noto Sans ExtraBold"/>
              </a:rPr>
              <a:t> </a:t>
            </a:r>
            <a:r>
              <a:rPr lang="en-US" sz="2400">
                <a:solidFill>
                  <a:schemeClr val="dk1"/>
                </a:solidFill>
                <a:latin typeface="Noto Sans ExtraBold"/>
                <a:ea typeface="Noto Sans ExtraBold"/>
                <a:cs typeface="Noto Sans ExtraBold"/>
                <a:sym typeface="Noto Sans ExtraBold"/>
              </a:rPr>
              <a:t>모델 활용– 반복 실험1</a:t>
            </a:r>
            <a:endParaRPr sz="2400">
              <a:solidFill>
                <a:schemeClr val="dk1"/>
              </a:solidFill>
              <a:latin typeface="Noto Sans ExtraBold"/>
              <a:ea typeface="Noto Sans ExtraBold"/>
              <a:cs typeface="Noto Sans ExtraBold"/>
              <a:sym typeface="Noto Sans ExtraBold"/>
            </a:endParaRPr>
          </a:p>
        </p:txBody>
      </p:sp>
      <p:sp>
        <p:nvSpPr>
          <p:cNvPr id="163" name="Google Shape;163;p8"/>
          <p:cNvSpPr txBox="1"/>
          <p:nvPr/>
        </p:nvSpPr>
        <p:spPr>
          <a:xfrm>
            <a:off x="0" y="6488700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F2328"/>
                </a:solidFill>
                <a:highlight>
                  <a:srgbClr val="FFFFFF"/>
                </a:highlight>
                <a:latin typeface="Noto Sans"/>
                <a:ea typeface="Noto Sans"/>
                <a:cs typeface="Noto Sans"/>
                <a:sym typeface="Noto Sans"/>
              </a:rPr>
              <a:t>Xingang Pan, Ping Luo, Jianping Shi, Xiaoou Tang. </a:t>
            </a:r>
            <a:r>
              <a:rPr lang="en-US" sz="1200" u="sng">
                <a:solidFill>
                  <a:schemeClr val="hlink"/>
                </a:solidFill>
                <a:highlight>
                  <a:srgbClr val="FFFFFF"/>
                </a:highlight>
                <a:latin typeface="Noto Sans"/>
                <a:ea typeface="Noto Sans"/>
                <a:cs typeface="Noto Sans"/>
                <a:sym typeface="Noto Sans"/>
                <a:hlinkClick r:id="rId7"/>
              </a:rPr>
              <a:t>"Two at Once: Enhancing Learning and Generalization Capacities via IBN-Net"</a:t>
            </a:r>
            <a:r>
              <a:rPr lang="en-US" sz="1200">
                <a:solidFill>
                  <a:srgbClr val="1F2328"/>
                </a:solidFill>
                <a:highlight>
                  <a:srgbClr val="FFFFFF"/>
                </a:highlight>
                <a:latin typeface="Noto Sans"/>
                <a:ea typeface="Noto Sans"/>
                <a:cs typeface="Noto Sans"/>
                <a:sym typeface="Noto Sans"/>
              </a:rPr>
              <a:t>, ECCV2018.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"/>
          <p:cNvSpPr txBox="1"/>
          <p:nvPr/>
        </p:nvSpPr>
        <p:spPr>
          <a:xfrm>
            <a:off x="242596" y="657127"/>
            <a:ext cx="986245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Augmentation 별 uncertainty </a:t>
            </a:r>
            <a:r>
              <a:rPr lang="en-US" sz="1600">
                <a:solidFill>
                  <a:schemeClr val="accent6"/>
                </a:solidFill>
                <a:latin typeface="Noto Sans KR"/>
                <a:ea typeface="Noto Sans KR"/>
                <a:cs typeface="Noto Sans KR"/>
                <a:sym typeface="Noto Sans KR"/>
              </a:rPr>
              <a:t>mean</a:t>
            </a:r>
            <a:r>
              <a:rPr lang="en-US" sz="16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값으로 샘플링</a:t>
            </a:r>
            <a:endParaRPr/>
          </a:p>
        </p:txBody>
      </p:sp>
      <p:pic>
        <p:nvPicPr>
          <p:cNvPr id="169" name="Google Shape;169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89085" y="1905342"/>
            <a:ext cx="3483339" cy="3445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49736" y="1905342"/>
            <a:ext cx="3483339" cy="3445144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9"/>
          <p:cNvSpPr txBox="1"/>
          <p:nvPr/>
        </p:nvSpPr>
        <p:spPr>
          <a:xfrm>
            <a:off x="0" y="6488700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F2328"/>
                </a:solidFill>
                <a:highlight>
                  <a:srgbClr val="FFFFFF"/>
                </a:highlight>
                <a:latin typeface="Noto Sans"/>
                <a:ea typeface="Noto Sans"/>
                <a:cs typeface="Noto Sans"/>
                <a:sym typeface="Noto Sans"/>
              </a:rPr>
              <a:t>Xingang Pan, Ping Luo, Jianping Shi, Xiaoou Tang. </a:t>
            </a:r>
            <a:r>
              <a:rPr lang="en-US" sz="1200" u="sng">
                <a:solidFill>
                  <a:schemeClr val="hlink"/>
                </a:solidFill>
                <a:highlight>
                  <a:srgbClr val="FFFFFF"/>
                </a:highlight>
                <a:latin typeface="Noto Sans"/>
                <a:ea typeface="Noto Sans"/>
                <a:cs typeface="Noto Sans"/>
                <a:sym typeface="Noto Sans"/>
                <a:hlinkClick r:id="rId5"/>
              </a:rPr>
              <a:t>"Two at Once: Enhancing Learning and Generalization Capacities via IBN-Net"</a:t>
            </a:r>
            <a:r>
              <a:rPr lang="en-US" sz="1200">
                <a:solidFill>
                  <a:srgbClr val="1F2328"/>
                </a:solidFill>
                <a:highlight>
                  <a:srgbClr val="FFFFFF"/>
                </a:highlight>
                <a:latin typeface="Noto Sans"/>
                <a:ea typeface="Noto Sans"/>
                <a:cs typeface="Noto Sans"/>
                <a:sym typeface="Noto Sans"/>
              </a:rPr>
              <a:t>, ECCV2018.</a:t>
            </a:r>
            <a:endParaRPr/>
          </a:p>
        </p:txBody>
      </p:sp>
      <p:sp>
        <p:nvSpPr>
          <p:cNvPr id="172" name="Google Shape;172;p9"/>
          <p:cNvSpPr txBox="1"/>
          <p:nvPr/>
        </p:nvSpPr>
        <p:spPr>
          <a:xfrm>
            <a:off x="242596" y="214604"/>
            <a:ext cx="9862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6"/>
                </a:solidFill>
                <a:latin typeface="Noto Sans ExtraBold"/>
                <a:ea typeface="Noto Sans ExtraBold"/>
                <a:cs typeface="Noto Sans ExtraBold"/>
                <a:sym typeface="Noto Sans ExtraBold"/>
              </a:rPr>
              <a:t>IBN</a:t>
            </a:r>
            <a:r>
              <a:rPr lang="en-US" sz="2200">
                <a:solidFill>
                  <a:schemeClr val="accent6"/>
                </a:solidFill>
                <a:latin typeface="Noto Sans ExtraBold"/>
                <a:ea typeface="Noto Sans ExtraBold"/>
                <a:cs typeface="Noto Sans ExtraBold"/>
                <a:sym typeface="Noto Sans ExtraBold"/>
              </a:rPr>
              <a:t>(</a:t>
            </a:r>
            <a:r>
              <a:rPr lang="en-US" sz="1500" b="1">
                <a:solidFill>
                  <a:schemeClr val="accent6"/>
                </a:solidFill>
                <a:highlight>
                  <a:srgbClr val="FFFFFF"/>
                </a:highlight>
                <a:latin typeface="Noto Sans"/>
                <a:ea typeface="Noto Sans"/>
                <a:cs typeface="Noto Sans"/>
                <a:sym typeface="Noto Sans"/>
              </a:rPr>
              <a:t>Instance-Batch Normalization Network</a:t>
            </a:r>
            <a:r>
              <a:rPr lang="en-US" sz="2200">
                <a:solidFill>
                  <a:schemeClr val="accent6"/>
                </a:solidFill>
                <a:latin typeface="Noto Sans ExtraBold"/>
                <a:ea typeface="Noto Sans ExtraBold"/>
                <a:cs typeface="Noto Sans ExtraBold"/>
                <a:sym typeface="Noto Sans ExtraBold"/>
              </a:rPr>
              <a:t>)</a:t>
            </a:r>
            <a:r>
              <a:rPr lang="en-US" sz="2400">
                <a:solidFill>
                  <a:schemeClr val="accent6"/>
                </a:solidFill>
                <a:latin typeface="Noto Sans ExtraBold"/>
                <a:ea typeface="Noto Sans ExtraBold"/>
                <a:cs typeface="Noto Sans ExtraBold"/>
                <a:sym typeface="Noto Sans ExtraBold"/>
              </a:rPr>
              <a:t> </a:t>
            </a:r>
            <a:r>
              <a:rPr lang="en-US" sz="2400">
                <a:solidFill>
                  <a:schemeClr val="dk1"/>
                </a:solidFill>
                <a:latin typeface="Noto Sans ExtraBold"/>
                <a:ea typeface="Noto Sans ExtraBold"/>
                <a:cs typeface="Noto Sans ExtraBold"/>
                <a:sym typeface="Noto Sans ExtraBold"/>
              </a:rPr>
              <a:t>모델 활용– 반복 실험2</a:t>
            </a:r>
            <a:endParaRPr sz="2400">
              <a:solidFill>
                <a:schemeClr val="dk1"/>
              </a:solidFill>
              <a:latin typeface="Noto Sans ExtraBold"/>
              <a:ea typeface="Noto Sans ExtraBold"/>
              <a:cs typeface="Noto Sans ExtraBold"/>
              <a:sym typeface="Noto Sans Extra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76116" y="2434824"/>
            <a:ext cx="2493045" cy="25153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6016" y="2437631"/>
            <a:ext cx="2493046" cy="2509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20419" y="2483980"/>
            <a:ext cx="2443841" cy="24170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80518" y="2459647"/>
            <a:ext cx="2443841" cy="2465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0"/>
          <p:cNvSpPr txBox="1"/>
          <p:nvPr/>
        </p:nvSpPr>
        <p:spPr>
          <a:xfrm>
            <a:off x="366884" y="3658374"/>
            <a:ext cx="83955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auroc</a:t>
            </a:r>
            <a:endParaRPr sz="16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2" name="Google Shape;182;p10"/>
          <p:cNvSpPr txBox="1"/>
          <p:nvPr/>
        </p:nvSpPr>
        <p:spPr>
          <a:xfrm>
            <a:off x="242596" y="657127"/>
            <a:ext cx="986245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Augmentation 별 uncertainty </a:t>
            </a:r>
            <a:r>
              <a:rPr lang="en-US" sz="1600">
                <a:solidFill>
                  <a:schemeClr val="accent6"/>
                </a:solidFill>
                <a:latin typeface="Noto Sans KR"/>
                <a:ea typeface="Noto Sans KR"/>
                <a:cs typeface="Noto Sans KR"/>
                <a:sym typeface="Noto Sans KR"/>
              </a:rPr>
              <a:t>mean</a:t>
            </a:r>
            <a:r>
              <a:rPr lang="en-US" sz="16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값으로 샘플링</a:t>
            </a:r>
            <a:endParaRPr/>
          </a:p>
        </p:txBody>
      </p:sp>
      <p:sp>
        <p:nvSpPr>
          <p:cNvPr id="183" name="Google Shape;183;p10"/>
          <p:cNvSpPr txBox="1"/>
          <p:nvPr/>
        </p:nvSpPr>
        <p:spPr>
          <a:xfrm>
            <a:off x="242596" y="214604"/>
            <a:ext cx="9862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6"/>
                </a:solidFill>
                <a:latin typeface="Noto Sans ExtraBold"/>
                <a:ea typeface="Noto Sans ExtraBold"/>
                <a:cs typeface="Noto Sans ExtraBold"/>
                <a:sym typeface="Noto Sans ExtraBold"/>
              </a:rPr>
              <a:t>IBN</a:t>
            </a:r>
            <a:r>
              <a:rPr lang="en-US" sz="2200">
                <a:solidFill>
                  <a:schemeClr val="accent6"/>
                </a:solidFill>
                <a:latin typeface="Noto Sans ExtraBold"/>
                <a:ea typeface="Noto Sans ExtraBold"/>
                <a:cs typeface="Noto Sans ExtraBold"/>
                <a:sym typeface="Noto Sans ExtraBold"/>
              </a:rPr>
              <a:t>(</a:t>
            </a:r>
            <a:r>
              <a:rPr lang="en-US" sz="1500" b="1">
                <a:solidFill>
                  <a:schemeClr val="accent6"/>
                </a:solidFill>
                <a:highlight>
                  <a:srgbClr val="FFFFFF"/>
                </a:highlight>
                <a:latin typeface="Noto Sans"/>
                <a:ea typeface="Noto Sans"/>
                <a:cs typeface="Noto Sans"/>
                <a:sym typeface="Noto Sans"/>
              </a:rPr>
              <a:t>Instance-Batch Normalization Network</a:t>
            </a:r>
            <a:r>
              <a:rPr lang="en-US" sz="2200">
                <a:solidFill>
                  <a:schemeClr val="accent6"/>
                </a:solidFill>
                <a:latin typeface="Noto Sans ExtraBold"/>
                <a:ea typeface="Noto Sans ExtraBold"/>
                <a:cs typeface="Noto Sans ExtraBold"/>
                <a:sym typeface="Noto Sans ExtraBold"/>
              </a:rPr>
              <a:t>)</a:t>
            </a:r>
            <a:r>
              <a:rPr lang="en-US" sz="2400">
                <a:solidFill>
                  <a:schemeClr val="accent6"/>
                </a:solidFill>
                <a:latin typeface="Noto Sans ExtraBold"/>
                <a:ea typeface="Noto Sans ExtraBold"/>
                <a:cs typeface="Noto Sans ExtraBold"/>
                <a:sym typeface="Noto Sans ExtraBold"/>
              </a:rPr>
              <a:t> </a:t>
            </a:r>
            <a:r>
              <a:rPr lang="en-US" sz="2400">
                <a:solidFill>
                  <a:schemeClr val="dk1"/>
                </a:solidFill>
                <a:latin typeface="Noto Sans ExtraBold"/>
                <a:ea typeface="Noto Sans ExtraBold"/>
                <a:cs typeface="Noto Sans ExtraBold"/>
                <a:sym typeface="Noto Sans ExtraBold"/>
              </a:rPr>
              <a:t>모델 활용– 반복 실험2</a:t>
            </a:r>
            <a:endParaRPr sz="2400">
              <a:solidFill>
                <a:schemeClr val="dk1"/>
              </a:solidFill>
              <a:latin typeface="Noto Sans ExtraBold"/>
              <a:ea typeface="Noto Sans ExtraBold"/>
              <a:cs typeface="Noto Sans ExtraBold"/>
              <a:sym typeface="Noto Sans ExtraBold"/>
            </a:endParaRPr>
          </a:p>
        </p:txBody>
      </p:sp>
      <p:sp>
        <p:nvSpPr>
          <p:cNvPr id="184" name="Google Shape;184;p10"/>
          <p:cNvSpPr txBox="1"/>
          <p:nvPr/>
        </p:nvSpPr>
        <p:spPr>
          <a:xfrm>
            <a:off x="0" y="6488700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F2328"/>
                </a:solidFill>
                <a:highlight>
                  <a:srgbClr val="FFFFFF"/>
                </a:highlight>
                <a:latin typeface="Noto Sans"/>
                <a:ea typeface="Noto Sans"/>
                <a:cs typeface="Noto Sans"/>
                <a:sym typeface="Noto Sans"/>
              </a:rPr>
              <a:t>Xingang Pan, Ping Luo, Jianping Shi, Xiaoou Tang. </a:t>
            </a:r>
            <a:r>
              <a:rPr lang="en-US" sz="1200" u="sng">
                <a:solidFill>
                  <a:schemeClr val="hlink"/>
                </a:solidFill>
                <a:highlight>
                  <a:srgbClr val="FFFFFF"/>
                </a:highlight>
                <a:latin typeface="Noto Sans"/>
                <a:ea typeface="Noto Sans"/>
                <a:cs typeface="Noto Sans"/>
                <a:sym typeface="Noto Sans"/>
                <a:hlinkClick r:id="rId7"/>
              </a:rPr>
              <a:t>"Two at Once: Enhancing Learning and Generalization Capacities via IBN-Net"</a:t>
            </a:r>
            <a:r>
              <a:rPr lang="en-US" sz="1200">
                <a:solidFill>
                  <a:srgbClr val="1F2328"/>
                </a:solidFill>
                <a:highlight>
                  <a:srgbClr val="FFFFFF"/>
                </a:highlight>
                <a:latin typeface="Noto Sans"/>
                <a:ea typeface="Noto Sans"/>
                <a:cs typeface="Noto Sans"/>
                <a:sym typeface="Noto Sans"/>
              </a:rPr>
              <a:t>, ECCV2018.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"/>
          <p:cNvSpPr txBox="1"/>
          <p:nvPr/>
        </p:nvSpPr>
        <p:spPr>
          <a:xfrm>
            <a:off x="242596" y="214604"/>
            <a:ext cx="98625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dirty="0" smtClean="0">
                <a:solidFill>
                  <a:schemeClr val="accent6"/>
                </a:solidFill>
                <a:latin typeface="Noto Sans ExtraBold"/>
                <a:ea typeface="Noto Sans ExtraBold"/>
                <a:cs typeface="Noto Sans ExtraBold"/>
                <a:sym typeface="Noto Sans ExtraBold"/>
              </a:rPr>
              <a:t>추가 </a:t>
            </a:r>
            <a:r>
              <a:rPr lang="en-US" altLang="ko-KR" sz="2400" dirty="0" err="1" smtClean="0">
                <a:solidFill>
                  <a:schemeClr val="accent6"/>
                </a:solidFill>
                <a:latin typeface="Noto Sans ExtraBold"/>
                <a:ea typeface="Noto Sans ExtraBold"/>
                <a:cs typeface="Noto Sans ExtraBold"/>
                <a:sym typeface="Noto Sans ExtraBold"/>
              </a:rPr>
              <a:t>SingleDG</a:t>
            </a:r>
            <a:r>
              <a:rPr lang="en-US" sz="2400" dirty="0" err="1" smtClean="0">
                <a:solidFill>
                  <a:schemeClr val="dk1"/>
                </a:solidFill>
                <a:latin typeface="Noto Sans ExtraBold"/>
                <a:ea typeface="Noto Sans ExtraBold"/>
                <a:cs typeface="Noto Sans ExtraBold"/>
                <a:sym typeface="Noto Sans ExtraBold"/>
              </a:rPr>
              <a:t>모델</a:t>
            </a:r>
            <a:r>
              <a:rPr lang="en-US" sz="2400" dirty="0" smtClean="0">
                <a:solidFill>
                  <a:schemeClr val="dk1"/>
                </a:solidFill>
                <a:latin typeface="Noto Sans ExtraBold"/>
                <a:ea typeface="Noto Sans ExtraBold"/>
                <a:cs typeface="Noto Sans ExtraBold"/>
                <a:sym typeface="Noto Sans ExtraBold"/>
              </a:rPr>
              <a:t> 활용1– </a:t>
            </a:r>
            <a:r>
              <a:rPr lang="en-US" sz="2400" dirty="0" err="1" smtClean="0">
                <a:solidFill>
                  <a:schemeClr val="dk1"/>
                </a:solidFill>
                <a:latin typeface="Noto Sans ExtraBold"/>
                <a:ea typeface="Noto Sans ExtraBold"/>
                <a:cs typeface="Noto Sans ExtraBold"/>
                <a:sym typeface="Noto Sans ExtraBold"/>
              </a:rPr>
              <a:t>SagNet</a:t>
            </a:r>
            <a:endParaRPr sz="2400" dirty="0">
              <a:solidFill>
                <a:schemeClr val="dk1"/>
              </a:solidFill>
              <a:latin typeface="Noto Sans ExtraBold"/>
              <a:ea typeface="Noto Sans ExtraBold"/>
              <a:cs typeface="Noto Sans ExtraBold"/>
              <a:sym typeface="Noto Sans ExtraBold"/>
            </a:endParaRPr>
          </a:p>
        </p:txBody>
      </p:sp>
      <p:sp>
        <p:nvSpPr>
          <p:cNvPr id="184" name="Google Shape;184;p10"/>
          <p:cNvSpPr txBox="1"/>
          <p:nvPr/>
        </p:nvSpPr>
        <p:spPr>
          <a:xfrm>
            <a:off x="0" y="6488700"/>
            <a:ext cx="12192000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sz="1000" dirty="0">
                <a:solidFill>
                  <a:srgbClr val="1F2328"/>
                </a:solidFill>
                <a:highlight>
                  <a:srgbClr val="FFFFFF"/>
                </a:highlight>
                <a:latin typeface="Noto Sans"/>
                <a:ea typeface="Noto Sans"/>
                <a:cs typeface="Noto Sans"/>
                <a:sym typeface="Noto Sans"/>
              </a:rPr>
              <a:t>Nam, H., Lee, H., Park, J., Yoon, W., &amp; </a:t>
            </a:r>
            <a:r>
              <a:rPr lang="en-US" sz="1000" dirty="0" err="1">
                <a:solidFill>
                  <a:srgbClr val="1F2328"/>
                </a:solidFill>
                <a:highlight>
                  <a:srgbClr val="FFFFFF"/>
                </a:highlight>
                <a:latin typeface="Noto Sans"/>
                <a:ea typeface="Noto Sans"/>
                <a:cs typeface="Noto Sans"/>
                <a:sym typeface="Noto Sans"/>
              </a:rPr>
              <a:t>Yoo</a:t>
            </a:r>
            <a:r>
              <a:rPr lang="en-US" sz="1000" dirty="0">
                <a:solidFill>
                  <a:srgbClr val="1F2328"/>
                </a:solidFill>
                <a:highlight>
                  <a:srgbClr val="FFFFFF"/>
                </a:highlight>
                <a:latin typeface="Noto Sans"/>
                <a:ea typeface="Noto Sans"/>
                <a:cs typeface="Noto Sans"/>
                <a:sym typeface="Noto Sans"/>
              </a:rPr>
              <a:t>, D. (2021). Reducing domain gap by reducing style bias. In Proceedings of the IEEE/CVF Conference on Computer Vision and Pattern Recognition (pp. 8690-8699).</a:t>
            </a:r>
            <a:endParaRPr sz="1000" dirty="0"/>
          </a:p>
        </p:txBody>
      </p:sp>
      <p:sp>
        <p:nvSpPr>
          <p:cNvPr id="2" name="TextBox 1"/>
          <p:cNvSpPr txBox="1"/>
          <p:nvPr/>
        </p:nvSpPr>
        <p:spPr>
          <a:xfrm>
            <a:off x="548640" y="868680"/>
            <a:ext cx="1091793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Contents(class)</a:t>
            </a:r>
            <a:r>
              <a:rPr lang="ko-KR" altLang="en-US" sz="16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를 </a:t>
            </a:r>
            <a:r>
              <a:rPr lang="ko-KR" altLang="en-US" sz="16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위주로 학습하는 네트워크와 </a:t>
            </a:r>
            <a:r>
              <a:rPr lang="en-US" altLang="ko-KR" sz="16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style(domain)</a:t>
            </a:r>
            <a:r>
              <a:rPr lang="ko-KR" altLang="en-US" sz="16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을 </a:t>
            </a:r>
            <a:r>
              <a:rPr lang="ko-KR" altLang="en-US" sz="16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위주로 학습하는 네트워크를 구축함으로써 </a:t>
            </a:r>
            <a:r>
              <a:rPr lang="en-US" altLang="ko-KR" sz="16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style bias </a:t>
            </a:r>
            <a:r>
              <a:rPr lang="ko-KR" altLang="en-US" sz="16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즉 </a:t>
            </a:r>
            <a:r>
              <a:rPr lang="en-US" altLang="ko-KR" sz="16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domain bias</a:t>
            </a:r>
            <a:r>
              <a:rPr lang="ko-KR" altLang="en-US" sz="16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를 줄인 </a:t>
            </a:r>
            <a:r>
              <a:rPr lang="en-US" altLang="ko-KR" sz="16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CNN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input x</a:t>
            </a:r>
            <a:r>
              <a:rPr lang="ko-KR" altLang="en-US" sz="16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와 </a:t>
            </a:r>
            <a:r>
              <a:rPr lang="en-US" altLang="ko-KR" sz="16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random</a:t>
            </a:r>
            <a:r>
              <a:rPr lang="ko-KR" altLang="en-US" sz="16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하게 뽑은 </a:t>
            </a:r>
            <a:r>
              <a:rPr lang="en-US" altLang="ko-KR" sz="16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x'</a:t>
            </a:r>
            <a:r>
              <a:rPr lang="ko-KR" altLang="en-US" sz="16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으로부터 </a:t>
            </a:r>
            <a:r>
              <a:rPr lang="en-US" altLang="ko-KR" sz="16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contents biased network </a:t>
            </a:r>
            <a:r>
              <a:rPr lang="en-US" altLang="ko-KR" sz="16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Gc</a:t>
            </a:r>
            <a:r>
              <a:rPr lang="ko-KR" altLang="en-US" sz="16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는 </a:t>
            </a:r>
            <a:r>
              <a:rPr lang="en-US" altLang="ko-KR" sz="16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x</a:t>
            </a:r>
            <a:r>
              <a:rPr lang="ko-KR" altLang="en-US" sz="16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의 </a:t>
            </a:r>
            <a:r>
              <a:rPr lang="en-US" altLang="ko-KR" sz="16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content, x'</a:t>
            </a:r>
            <a:r>
              <a:rPr lang="ko-KR" altLang="en-US" sz="16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의 </a:t>
            </a:r>
            <a:r>
              <a:rPr lang="en-US" altLang="ko-KR" sz="16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style</a:t>
            </a:r>
            <a:r>
              <a:rPr lang="ko-KR" altLang="en-US" sz="16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을 가진 </a:t>
            </a:r>
            <a:r>
              <a:rPr lang="en-US" altLang="ko-KR" sz="16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feature</a:t>
            </a:r>
            <a:r>
              <a:rPr lang="ko-KR" altLang="en-US" sz="16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를 받아</a:t>
            </a:r>
            <a:r>
              <a:rPr lang="en-US" altLang="ko-KR" sz="16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</a:t>
            </a:r>
            <a:r>
              <a:rPr lang="en-US" altLang="ko-KR" sz="1600" dirty="0" err="1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AdaIN</a:t>
            </a:r>
            <a:r>
              <a:rPr lang="en-US" altLang="ko-KR" sz="16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)</a:t>
            </a:r>
            <a:r>
              <a:rPr lang="ko-KR" altLang="en-US" sz="16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en-US" altLang="ko-KR" sz="16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contents</a:t>
            </a:r>
            <a:r>
              <a:rPr lang="ko-KR" altLang="en-US" sz="16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만 </a:t>
            </a:r>
            <a:r>
              <a:rPr lang="ko-KR" altLang="en-US" sz="16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보고 </a:t>
            </a:r>
            <a:r>
              <a:rPr lang="en-US" altLang="ko-KR" sz="16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classification</a:t>
            </a:r>
            <a:r>
              <a:rPr lang="ko-KR" altLang="en-US" sz="16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을 </a:t>
            </a:r>
            <a:r>
              <a:rPr lang="ko-KR" altLang="en-US" sz="16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진행</a:t>
            </a:r>
            <a:endParaRPr lang="en-US" altLang="ko-KR" sz="16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style </a:t>
            </a:r>
            <a:r>
              <a:rPr lang="en-US" altLang="ko-KR" sz="16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biased network </a:t>
            </a:r>
            <a:r>
              <a:rPr lang="en-US" altLang="ko-KR" sz="16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Gs</a:t>
            </a:r>
            <a:r>
              <a:rPr lang="ko-KR" altLang="en-US" sz="16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는 </a:t>
            </a:r>
            <a:r>
              <a:rPr lang="en-US" altLang="ko-KR" sz="16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x'</a:t>
            </a:r>
            <a:r>
              <a:rPr lang="ko-KR" altLang="en-US" sz="16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의 </a:t>
            </a:r>
            <a:r>
              <a:rPr lang="en-US" altLang="ko-KR" sz="16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random</a:t>
            </a:r>
            <a:r>
              <a:rPr lang="ko-KR" altLang="en-US" sz="16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한 </a:t>
            </a:r>
            <a:r>
              <a:rPr lang="en-US" altLang="ko-KR" sz="16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contents</a:t>
            </a:r>
            <a:r>
              <a:rPr lang="ko-KR" altLang="en-US" sz="16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와 </a:t>
            </a:r>
            <a:r>
              <a:rPr lang="en-US" altLang="ko-KR" sz="16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input x</a:t>
            </a:r>
            <a:r>
              <a:rPr lang="ko-KR" altLang="en-US" sz="16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의 </a:t>
            </a:r>
            <a:r>
              <a:rPr lang="en-US" altLang="ko-KR" sz="16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style</a:t>
            </a:r>
            <a:r>
              <a:rPr lang="ko-KR" altLang="en-US" sz="16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이 합쳐져 </a:t>
            </a:r>
            <a:r>
              <a:rPr lang="en-US" altLang="ko-KR" sz="16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style</a:t>
            </a:r>
            <a:r>
              <a:rPr lang="ko-KR" altLang="en-US" sz="16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만 보고 </a:t>
            </a:r>
            <a:r>
              <a:rPr lang="en-US" altLang="ko-KR" sz="16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classification </a:t>
            </a:r>
            <a:r>
              <a:rPr lang="ko-KR" altLang="en-US" sz="16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진행</a:t>
            </a:r>
            <a:r>
              <a:rPr lang="en-US" altLang="ko-KR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(style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에 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bias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가 적은 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network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를 만드는 것이 목적이기 때문에 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style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만을 보고 판단하는 </a:t>
            </a:r>
            <a:r>
              <a:rPr lang="en-US" altLang="ko-KR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Gs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로부터 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cross entropy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가 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maximize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되는 방향으로 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Gf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를 업데이트</a:t>
            </a:r>
            <a:r>
              <a:rPr lang="en-US" altLang="ko-KR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ko-KR" altLang="en-US" sz="16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1871" y="3921762"/>
            <a:ext cx="5644705" cy="2469986"/>
          </a:xfrm>
          <a:prstGeom prst="rect">
            <a:avLst/>
          </a:prstGeom>
        </p:spPr>
      </p:pic>
      <p:pic>
        <p:nvPicPr>
          <p:cNvPr id="2050" name="Picture 2" descr="https://blog.kakaocdn.net/dn/FFLlU/btqYN103djD/fLpwnTTJidMueMEOOCIx7K/img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225" y="3603267"/>
            <a:ext cx="3768090" cy="2872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s://blog.kakaocdn.net/dn/cTPG9V/btqYW2LylIX/ZkhCoWtboRrhK4G2qLVKYk/img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5205" y="1923068"/>
            <a:ext cx="3575050" cy="571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https://blog.kakaocdn.net/dn/Z9Bot/btqYE8fUjmp/jUX8gH0FR0EVBfur4u23u0/img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3846" y="3549251"/>
            <a:ext cx="3380747" cy="473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https://blog.kakaocdn.net/dn/b72xkM/btqYE7gWcpe/DQxHitAqJFgKr5VuNUk8t0/img.pn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7629" y="3549251"/>
            <a:ext cx="3452706" cy="463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56160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"/>
          <p:cNvSpPr txBox="1"/>
          <p:nvPr/>
        </p:nvSpPr>
        <p:spPr>
          <a:xfrm>
            <a:off x="242596" y="214604"/>
            <a:ext cx="98625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ko-KR" altLang="en-US" sz="2400" dirty="0" smtClean="0">
                <a:solidFill>
                  <a:schemeClr val="accent6"/>
                </a:solidFill>
                <a:latin typeface="Noto Sans ExtraBold"/>
                <a:ea typeface="Noto Sans ExtraBold"/>
                <a:cs typeface="Noto Sans ExtraBold"/>
                <a:sym typeface="Noto Sans ExtraBold"/>
              </a:rPr>
              <a:t>추가 </a:t>
            </a:r>
            <a:r>
              <a:rPr lang="en-US" altLang="ko-KR" sz="2400" dirty="0" err="1" smtClean="0">
                <a:solidFill>
                  <a:schemeClr val="accent6"/>
                </a:solidFill>
                <a:latin typeface="Noto Sans ExtraBold"/>
                <a:ea typeface="Noto Sans ExtraBold"/>
                <a:cs typeface="Noto Sans ExtraBold"/>
                <a:sym typeface="Noto Sans ExtraBold"/>
              </a:rPr>
              <a:t>SingleDG</a:t>
            </a:r>
            <a:r>
              <a:rPr lang="en-US" sz="2400" dirty="0" err="1" smtClean="0">
                <a:solidFill>
                  <a:schemeClr val="dk1"/>
                </a:solidFill>
                <a:latin typeface="Noto Sans ExtraBold"/>
                <a:ea typeface="Noto Sans ExtraBold"/>
                <a:cs typeface="Noto Sans ExtraBold"/>
                <a:sym typeface="Noto Sans ExtraBold"/>
              </a:rPr>
              <a:t>모델</a:t>
            </a:r>
            <a:r>
              <a:rPr lang="en-US" sz="2400" dirty="0" smtClean="0">
                <a:solidFill>
                  <a:schemeClr val="dk1"/>
                </a:solidFill>
                <a:latin typeface="Noto Sans ExtraBold"/>
                <a:ea typeface="Noto Sans ExtraBold"/>
                <a:cs typeface="Noto Sans ExtraBold"/>
                <a:sym typeface="Noto Sans ExtraBold"/>
              </a:rPr>
              <a:t> 활용2</a:t>
            </a:r>
            <a:r>
              <a:rPr lang="en-US" sz="2400" dirty="0">
                <a:solidFill>
                  <a:schemeClr val="dk1"/>
                </a:solidFill>
                <a:latin typeface="Noto Sans ExtraBold"/>
                <a:ea typeface="Noto Sans ExtraBold"/>
                <a:cs typeface="Noto Sans ExtraBold"/>
                <a:sym typeface="Noto Sans ExtraBold"/>
              </a:rPr>
              <a:t>– ADA</a:t>
            </a:r>
            <a:endParaRPr sz="2400" dirty="0">
              <a:solidFill>
                <a:schemeClr val="dk1"/>
              </a:solidFill>
              <a:latin typeface="Noto Sans ExtraBold"/>
              <a:ea typeface="Noto Sans ExtraBold"/>
              <a:cs typeface="Noto Sans ExtraBold"/>
              <a:sym typeface="Noto Sans ExtraBold"/>
            </a:endParaRPr>
          </a:p>
        </p:txBody>
      </p:sp>
      <p:sp>
        <p:nvSpPr>
          <p:cNvPr id="184" name="Google Shape;184;p10"/>
          <p:cNvSpPr txBox="1"/>
          <p:nvPr/>
        </p:nvSpPr>
        <p:spPr>
          <a:xfrm>
            <a:off x="0" y="6488700"/>
            <a:ext cx="12192000" cy="335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sz="980" dirty="0" err="1">
                <a:solidFill>
                  <a:srgbClr val="1F2328"/>
                </a:solidFill>
                <a:highlight>
                  <a:srgbClr val="FFFFFF"/>
                </a:highlight>
                <a:latin typeface="Noto Sans"/>
                <a:ea typeface="Noto Sans"/>
                <a:cs typeface="Noto Sans"/>
                <a:sym typeface="Noto Sans"/>
              </a:rPr>
              <a:t>Volpi</a:t>
            </a:r>
            <a:r>
              <a:rPr lang="en-US" sz="980" dirty="0">
                <a:solidFill>
                  <a:srgbClr val="1F2328"/>
                </a:solidFill>
                <a:highlight>
                  <a:srgbClr val="FFFFFF"/>
                </a:highlight>
                <a:latin typeface="Noto Sans"/>
                <a:ea typeface="Noto Sans"/>
                <a:cs typeface="Noto Sans"/>
                <a:sym typeface="Noto Sans"/>
              </a:rPr>
              <a:t>, R., </a:t>
            </a:r>
            <a:r>
              <a:rPr lang="en-US" sz="980" dirty="0" err="1">
                <a:solidFill>
                  <a:srgbClr val="1F2328"/>
                </a:solidFill>
                <a:highlight>
                  <a:srgbClr val="FFFFFF"/>
                </a:highlight>
                <a:latin typeface="Noto Sans"/>
                <a:ea typeface="Noto Sans"/>
                <a:cs typeface="Noto Sans"/>
                <a:sym typeface="Noto Sans"/>
              </a:rPr>
              <a:t>Namkoong</a:t>
            </a:r>
            <a:r>
              <a:rPr lang="en-US" sz="980" dirty="0">
                <a:solidFill>
                  <a:srgbClr val="1F2328"/>
                </a:solidFill>
                <a:highlight>
                  <a:srgbClr val="FFFFFF"/>
                </a:highlight>
                <a:latin typeface="Noto Sans"/>
                <a:ea typeface="Noto Sans"/>
                <a:cs typeface="Noto Sans"/>
                <a:sym typeface="Noto Sans"/>
              </a:rPr>
              <a:t>, H., </a:t>
            </a:r>
            <a:r>
              <a:rPr lang="en-US" sz="980" dirty="0" err="1">
                <a:solidFill>
                  <a:srgbClr val="1F2328"/>
                </a:solidFill>
                <a:highlight>
                  <a:srgbClr val="FFFFFF"/>
                </a:highlight>
                <a:latin typeface="Noto Sans"/>
                <a:ea typeface="Noto Sans"/>
                <a:cs typeface="Noto Sans"/>
                <a:sym typeface="Noto Sans"/>
              </a:rPr>
              <a:t>Sener</a:t>
            </a:r>
            <a:r>
              <a:rPr lang="en-US" sz="980" dirty="0">
                <a:solidFill>
                  <a:srgbClr val="1F2328"/>
                </a:solidFill>
                <a:highlight>
                  <a:srgbClr val="FFFFFF"/>
                </a:highlight>
                <a:latin typeface="Noto Sans"/>
                <a:ea typeface="Noto Sans"/>
                <a:cs typeface="Noto Sans"/>
                <a:sym typeface="Noto Sans"/>
              </a:rPr>
              <a:t>, O., </a:t>
            </a:r>
            <a:r>
              <a:rPr lang="en-US" sz="980" dirty="0" err="1">
                <a:solidFill>
                  <a:srgbClr val="1F2328"/>
                </a:solidFill>
                <a:highlight>
                  <a:srgbClr val="FFFFFF"/>
                </a:highlight>
                <a:latin typeface="Noto Sans"/>
                <a:ea typeface="Noto Sans"/>
                <a:cs typeface="Noto Sans"/>
                <a:sym typeface="Noto Sans"/>
              </a:rPr>
              <a:t>Duchi</a:t>
            </a:r>
            <a:r>
              <a:rPr lang="en-US" sz="980" dirty="0">
                <a:solidFill>
                  <a:srgbClr val="1F2328"/>
                </a:solidFill>
                <a:highlight>
                  <a:srgbClr val="FFFFFF"/>
                </a:highlight>
                <a:latin typeface="Noto Sans"/>
                <a:ea typeface="Noto Sans"/>
                <a:cs typeface="Noto Sans"/>
                <a:sym typeface="Noto Sans"/>
              </a:rPr>
              <a:t>, J. C., </a:t>
            </a:r>
            <a:r>
              <a:rPr lang="en-US" sz="980" dirty="0" err="1">
                <a:solidFill>
                  <a:srgbClr val="1F2328"/>
                </a:solidFill>
                <a:highlight>
                  <a:srgbClr val="FFFFFF"/>
                </a:highlight>
                <a:latin typeface="Noto Sans"/>
                <a:ea typeface="Noto Sans"/>
                <a:cs typeface="Noto Sans"/>
                <a:sym typeface="Noto Sans"/>
              </a:rPr>
              <a:t>Murino</a:t>
            </a:r>
            <a:r>
              <a:rPr lang="en-US" sz="980" dirty="0">
                <a:solidFill>
                  <a:srgbClr val="1F2328"/>
                </a:solidFill>
                <a:highlight>
                  <a:srgbClr val="FFFFFF"/>
                </a:highlight>
                <a:latin typeface="Noto Sans"/>
                <a:ea typeface="Noto Sans"/>
                <a:cs typeface="Noto Sans"/>
                <a:sym typeface="Noto Sans"/>
              </a:rPr>
              <a:t>, V., &amp; </a:t>
            </a:r>
            <a:r>
              <a:rPr lang="en-US" sz="980" dirty="0" err="1">
                <a:solidFill>
                  <a:srgbClr val="1F2328"/>
                </a:solidFill>
                <a:highlight>
                  <a:srgbClr val="FFFFFF"/>
                </a:highlight>
                <a:latin typeface="Noto Sans"/>
                <a:ea typeface="Noto Sans"/>
                <a:cs typeface="Noto Sans"/>
                <a:sym typeface="Noto Sans"/>
              </a:rPr>
              <a:t>Savarese</a:t>
            </a:r>
            <a:r>
              <a:rPr lang="en-US" sz="980" dirty="0">
                <a:solidFill>
                  <a:srgbClr val="1F2328"/>
                </a:solidFill>
                <a:highlight>
                  <a:srgbClr val="FFFFFF"/>
                </a:highlight>
                <a:latin typeface="Noto Sans"/>
                <a:ea typeface="Noto Sans"/>
                <a:cs typeface="Noto Sans"/>
                <a:sym typeface="Noto Sans"/>
              </a:rPr>
              <a:t>, S. (2018). Generalizing to unseen domains via adversarial data augmentation. Advances in neural information processing systems, 31.</a:t>
            </a:r>
            <a:endParaRPr sz="980" dirty="0"/>
          </a:p>
        </p:txBody>
      </p:sp>
      <p:sp>
        <p:nvSpPr>
          <p:cNvPr id="2" name="TextBox 1"/>
          <p:cNvSpPr txBox="1"/>
          <p:nvPr/>
        </p:nvSpPr>
        <p:spPr>
          <a:xfrm>
            <a:off x="548640" y="868680"/>
            <a:ext cx="1091793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 err="1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Pertubation</a:t>
            </a:r>
            <a:r>
              <a:rPr lang="ko-KR" altLang="en-US" sz="16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을 적용해도 </a:t>
            </a:r>
            <a:r>
              <a:rPr lang="en-US" altLang="ko-KR" sz="16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class</a:t>
            </a:r>
            <a:r>
              <a:rPr lang="ko-KR" altLang="en-US" sz="16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에 대한 정보를 잃지 않는다는 것을 측정하기 위한  </a:t>
            </a:r>
            <a:r>
              <a:rPr lang="en-US" altLang="ko-KR" sz="16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sematic space</a:t>
            </a:r>
            <a:r>
              <a:rPr lang="ko-KR" altLang="en-US" sz="16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에서의 </a:t>
            </a:r>
            <a:r>
              <a:rPr lang="en-US" altLang="ko-KR" sz="16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distance</a:t>
            </a:r>
            <a:r>
              <a:rPr lang="ko-KR" altLang="en-US" sz="16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를 구하는 방식</a:t>
            </a:r>
            <a:r>
              <a:rPr lang="en-US" altLang="ko-KR" sz="16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(Wasserstein distance)</a:t>
            </a:r>
            <a:r>
              <a:rPr lang="ko-KR" altLang="en-US" sz="16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과 어떤 방식으로 </a:t>
            </a:r>
            <a:r>
              <a:rPr lang="en-US" altLang="ko-KR" sz="16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adversarial example(</a:t>
            </a:r>
            <a:r>
              <a:rPr lang="ko-KR" altLang="en-US" sz="16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현재 모델의 </a:t>
            </a:r>
            <a:r>
              <a:rPr lang="en-US" altLang="ko-KR" sz="16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loss</a:t>
            </a:r>
            <a:r>
              <a:rPr lang="ko-KR" altLang="en-US" sz="16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를 가장 크게 높이는 방식 </a:t>
            </a:r>
            <a:r>
              <a:rPr lang="en-US" altLang="ko-KR" sz="16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+ semantic distance</a:t>
            </a:r>
            <a:r>
              <a:rPr lang="ko-KR" altLang="en-US" sz="16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가 가장 최소</a:t>
            </a:r>
            <a:r>
              <a:rPr lang="en-US" altLang="ko-KR" sz="16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)</a:t>
            </a:r>
            <a:r>
              <a:rPr lang="ko-KR" altLang="en-US" sz="16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을 만들어 </a:t>
            </a:r>
            <a:r>
              <a:rPr lang="en-US" altLang="ko-KR" sz="16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domain</a:t>
            </a:r>
            <a:r>
              <a:rPr lang="ko-KR" altLang="en-US" sz="16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에 강건한 모델을 학습 </a:t>
            </a:r>
            <a:r>
              <a:rPr lang="ko-KR" altLang="en-US" sz="1600" dirty="0" err="1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시킬것인지에</a:t>
            </a:r>
            <a:r>
              <a:rPr lang="ko-KR" altLang="en-US" sz="16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 대한 연구</a:t>
            </a:r>
            <a:endParaRPr lang="en-US" altLang="ko-KR" sz="16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즉</a:t>
            </a:r>
            <a:r>
              <a:rPr lang="en-US" altLang="ko-KR" sz="16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6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도메인에 대해 강건하게 학습시킬 수 있는 인스턴스를 만들고 이를 종합해 분류 모델을 학습하는 방식</a:t>
            </a:r>
            <a:endParaRPr lang="ko-KR" altLang="en-US" sz="16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7739" y="3392488"/>
            <a:ext cx="4798261" cy="2767012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4"/>
          <a:srcRect t="4672"/>
          <a:stretch/>
        </p:blipFill>
        <p:spPr>
          <a:xfrm>
            <a:off x="6242542" y="2894910"/>
            <a:ext cx="2645426" cy="3429190"/>
          </a:xfrm>
          <a:prstGeom prst="rect">
            <a:avLst/>
          </a:prstGeom>
        </p:spPr>
      </p:pic>
      <p:sp>
        <p:nvSpPr>
          <p:cNvPr id="5" name="오른쪽 화살표 4"/>
          <p:cNvSpPr/>
          <p:nvPr/>
        </p:nvSpPr>
        <p:spPr>
          <a:xfrm>
            <a:off x="9090112" y="5422392"/>
            <a:ext cx="1014984" cy="50274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5"/>
          <a:srcRect t="8659"/>
          <a:stretch/>
        </p:blipFill>
        <p:spPr>
          <a:xfrm>
            <a:off x="10239299" y="4972480"/>
            <a:ext cx="1952701" cy="1402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15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"/>
          <p:cNvSpPr txBox="1"/>
          <p:nvPr/>
        </p:nvSpPr>
        <p:spPr>
          <a:xfrm>
            <a:off x="242596" y="214604"/>
            <a:ext cx="98625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ko-KR" altLang="en-US" sz="2400" dirty="0" smtClean="0">
                <a:solidFill>
                  <a:schemeClr val="accent6"/>
                </a:solidFill>
                <a:latin typeface="Noto Sans ExtraBold"/>
                <a:ea typeface="Noto Sans ExtraBold"/>
                <a:cs typeface="Noto Sans ExtraBold"/>
                <a:sym typeface="Noto Sans ExtraBold"/>
              </a:rPr>
              <a:t>추가 </a:t>
            </a:r>
            <a:r>
              <a:rPr lang="en-US" altLang="ko-KR" sz="2400" dirty="0" err="1" smtClean="0">
                <a:solidFill>
                  <a:schemeClr val="accent6"/>
                </a:solidFill>
                <a:latin typeface="Noto Sans ExtraBold"/>
                <a:ea typeface="Noto Sans ExtraBold"/>
                <a:cs typeface="Noto Sans ExtraBold"/>
                <a:sym typeface="Noto Sans ExtraBold"/>
              </a:rPr>
              <a:t>SingleDG</a:t>
            </a:r>
            <a:r>
              <a:rPr lang="en-US" sz="2400" dirty="0" err="1" smtClean="0">
                <a:solidFill>
                  <a:schemeClr val="dk1"/>
                </a:solidFill>
                <a:latin typeface="Noto Sans ExtraBold"/>
                <a:ea typeface="Noto Sans ExtraBold"/>
                <a:cs typeface="Noto Sans ExtraBold"/>
                <a:sym typeface="Noto Sans ExtraBold"/>
              </a:rPr>
              <a:t>모델</a:t>
            </a:r>
            <a:r>
              <a:rPr lang="en-US" sz="2400" dirty="0" smtClean="0">
                <a:solidFill>
                  <a:schemeClr val="dk1"/>
                </a:solidFill>
                <a:latin typeface="Noto Sans ExtraBold"/>
                <a:ea typeface="Noto Sans ExtraBold"/>
                <a:cs typeface="Noto Sans ExtraBold"/>
                <a:sym typeface="Noto Sans ExtraBold"/>
              </a:rPr>
              <a:t> 활용3</a:t>
            </a:r>
            <a:r>
              <a:rPr lang="en-US" sz="2400" dirty="0" smtClean="0">
                <a:solidFill>
                  <a:schemeClr val="dk1"/>
                </a:solidFill>
                <a:latin typeface="Noto Sans ExtraBold"/>
                <a:ea typeface="Noto Sans ExtraBold"/>
                <a:cs typeface="Noto Sans ExtraBold"/>
                <a:sym typeface="Noto Sans ExtraBold"/>
              </a:rPr>
              <a:t>– </a:t>
            </a:r>
            <a:r>
              <a:rPr lang="en-US" sz="2400" dirty="0" err="1" smtClean="0">
                <a:solidFill>
                  <a:schemeClr val="dk1"/>
                </a:solidFill>
                <a:latin typeface="Noto Sans ExtraBold"/>
                <a:ea typeface="Noto Sans ExtraBold"/>
                <a:cs typeface="Noto Sans ExtraBold"/>
                <a:sym typeface="Noto Sans ExtraBold"/>
              </a:rPr>
              <a:t>JiGen</a:t>
            </a:r>
            <a:endParaRPr sz="2400" dirty="0">
              <a:solidFill>
                <a:schemeClr val="dk1"/>
              </a:solidFill>
              <a:latin typeface="Noto Sans ExtraBold"/>
              <a:ea typeface="Noto Sans ExtraBold"/>
              <a:cs typeface="Noto Sans ExtraBold"/>
              <a:sym typeface="Noto Sans ExtraBold"/>
            </a:endParaRPr>
          </a:p>
        </p:txBody>
      </p:sp>
      <p:sp>
        <p:nvSpPr>
          <p:cNvPr id="184" name="Google Shape;184;p10"/>
          <p:cNvSpPr txBox="1"/>
          <p:nvPr/>
        </p:nvSpPr>
        <p:spPr>
          <a:xfrm>
            <a:off x="0" y="6488700"/>
            <a:ext cx="12192000" cy="315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sz="850" dirty="0">
                <a:solidFill>
                  <a:srgbClr val="1F2328"/>
                </a:solidFill>
                <a:highlight>
                  <a:srgbClr val="FFFFFF"/>
                </a:highlight>
                <a:latin typeface="Noto Sans"/>
                <a:ea typeface="Noto Sans"/>
                <a:cs typeface="Noto Sans"/>
                <a:sym typeface="Noto Sans"/>
              </a:rPr>
              <a:t>Carlucci, F. M., </a:t>
            </a:r>
            <a:r>
              <a:rPr lang="en-US" sz="850" dirty="0" err="1">
                <a:solidFill>
                  <a:srgbClr val="1F2328"/>
                </a:solidFill>
                <a:highlight>
                  <a:srgbClr val="FFFFFF"/>
                </a:highlight>
                <a:latin typeface="Noto Sans"/>
                <a:ea typeface="Noto Sans"/>
                <a:cs typeface="Noto Sans"/>
                <a:sym typeface="Noto Sans"/>
              </a:rPr>
              <a:t>D'Innocente</a:t>
            </a:r>
            <a:r>
              <a:rPr lang="en-US" sz="850" dirty="0">
                <a:solidFill>
                  <a:srgbClr val="1F2328"/>
                </a:solidFill>
                <a:highlight>
                  <a:srgbClr val="FFFFFF"/>
                </a:highlight>
                <a:latin typeface="Noto Sans"/>
                <a:ea typeface="Noto Sans"/>
                <a:cs typeface="Noto Sans"/>
                <a:sym typeface="Noto Sans"/>
              </a:rPr>
              <a:t>, A., </a:t>
            </a:r>
            <a:r>
              <a:rPr lang="en-US" sz="850" dirty="0" err="1">
                <a:solidFill>
                  <a:srgbClr val="1F2328"/>
                </a:solidFill>
                <a:highlight>
                  <a:srgbClr val="FFFFFF"/>
                </a:highlight>
                <a:latin typeface="Noto Sans"/>
                <a:ea typeface="Noto Sans"/>
                <a:cs typeface="Noto Sans"/>
                <a:sym typeface="Noto Sans"/>
              </a:rPr>
              <a:t>Bucci</a:t>
            </a:r>
            <a:r>
              <a:rPr lang="en-US" sz="850" dirty="0">
                <a:solidFill>
                  <a:srgbClr val="1F2328"/>
                </a:solidFill>
                <a:highlight>
                  <a:srgbClr val="FFFFFF"/>
                </a:highlight>
                <a:latin typeface="Noto Sans"/>
                <a:ea typeface="Noto Sans"/>
                <a:cs typeface="Noto Sans"/>
                <a:sym typeface="Noto Sans"/>
              </a:rPr>
              <a:t>, S., Caputo, B., &amp; </a:t>
            </a:r>
            <a:r>
              <a:rPr lang="en-US" sz="850" dirty="0" err="1">
                <a:solidFill>
                  <a:srgbClr val="1F2328"/>
                </a:solidFill>
                <a:highlight>
                  <a:srgbClr val="FFFFFF"/>
                </a:highlight>
                <a:latin typeface="Noto Sans"/>
                <a:ea typeface="Noto Sans"/>
                <a:cs typeface="Noto Sans"/>
                <a:sym typeface="Noto Sans"/>
              </a:rPr>
              <a:t>Tommasi</a:t>
            </a:r>
            <a:r>
              <a:rPr lang="en-US" sz="850" dirty="0">
                <a:solidFill>
                  <a:srgbClr val="1F2328"/>
                </a:solidFill>
                <a:highlight>
                  <a:srgbClr val="FFFFFF"/>
                </a:highlight>
                <a:latin typeface="Noto Sans"/>
                <a:ea typeface="Noto Sans"/>
                <a:cs typeface="Noto Sans"/>
                <a:sym typeface="Noto Sans"/>
              </a:rPr>
              <a:t>, T. (2019). Domain generalization by solving jigsaw puzzles. In Proceedings of the IEEE/CVF Conference on Computer Vision and Pattern Recognition (pp. 2229-2238).</a:t>
            </a:r>
            <a:endParaRPr sz="850" dirty="0"/>
          </a:p>
        </p:txBody>
      </p:sp>
      <p:sp>
        <p:nvSpPr>
          <p:cNvPr id="2" name="TextBox 1"/>
          <p:cNvSpPr txBox="1"/>
          <p:nvPr/>
        </p:nvSpPr>
        <p:spPr>
          <a:xfrm>
            <a:off x="242596" y="1016037"/>
            <a:ext cx="1091793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jigsaw </a:t>
            </a:r>
            <a:r>
              <a:rPr lang="ko-KR" altLang="en-US" sz="16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퍼즐 </a:t>
            </a:r>
            <a:r>
              <a:rPr lang="en-US" altLang="ko-KR" sz="16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30</a:t>
            </a:r>
            <a:r>
              <a:rPr lang="ko-KR" altLang="en-US" sz="16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개 패턴을 </a:t>
            </a:r>
            <a:r>
              <a:rPr lang="ko-KR" altLang="en-US" sz="16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푸는 모델을 학습시키면서</a:t>
            </a:r>
            <a:r>
              <a:rPr lang="en-US" altLang="ko-KR" sz="16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ko-KR" altLang="en-US" sz="16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분류에 대한 학습을 진행하는 </a:t>
            </a:r>
            <a:r>
              <a:rPr lang="en-US" altLang="ko-KR" sz="16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Self-supervised </a:t>
            </a:r>
            <a:r>
              <a:rPr lang="ko-KR" altLang="en-US" sz="16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방식</a:t>
            </a:r>
            <a:endParaRPr lang="en-US" altLang="ko-KR" sz="16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이러한 방식을 통해 </a:t>
            </a:r>
            <a:r>
              <a:rPr lang="en-US" altLang="ko-KR" sz="16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object classifier</a:t>
            </a:r>
            <a:r>
              <a:rPr lang="ko-KR" altLang="en-US" sz="16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는 </a:t>
            </a:r>
            <a:r>
              <a:rPr lang="en-US" altLang="ko-KR" sz="16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domain</a:t>
            </a:r>
            <a:r>
              <a:rPr lang="ko-KR" altLang="en-US" sz="16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에 대한 정보 대신 </a:t>
            </a:r>
            <a:r>
              <a:rPr lang="en-US" altLang="ko-KR" sz="16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class</a:t>
            </a:r>
            <a:r>
              <a:rPr lang="ko-KR" altLang="en-US" sz="16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에 대한 </a:t>
            </a:r>
            <a:r>
              <a:rPr lang="en-US" altLang="ko-KR" sz="16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feature</a:t>
            </a:r>
            <a:r>
              <a:rPr lang="ko-KR" altLang="en-US" sz="16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를 보다 더 잘 학습할 수 있어 </a:t>
            </a:r>
            <a:r>
              <a:rPr lang="en-US" altLang="ko-KR" sz="16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DG</a:t>
            </a:r>
            <a:r>
              <a:rPr lang="ko-KR" altLang="en-US" sz="16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가 되는 원리</a:t>
            </a:r>
            <a:endParaRPr lang="ko-KR" altLang="en-US" sz="16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pic>
        <p:nvPicPr>
          <p:cNvPr id="1026" name="Picture 2" descr="JIGE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4276" y="3989067"/>
            <a:ext cx="5931858" cy="2001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ttps://blog.kakaocdn.net/dn/bAUa4G/btrVe3IB36W/L9HuGCIWHg0nSdobfsa8RK/img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537" y="4105656"/>
            <a:ext cx="5331027" cy="1768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43508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1"/>
          <p:cNvSpPr txBox="1"/>
          <p:nvPr/>
        </p:nvSpPr>
        <p:spPr>
          <a:xfrm>
            <a:off x="242596" y="214604"/>
            <a:ext cx="986245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Noto Sans ExtraBold"/>
                <a:ea typeface="Noto Sans ExtraBold"/>
                <a:cs typeface="Noto Sans ExtraBold"/>
                <a:sym typeface="Noto Sans ExtraBold"/>
              </a:rPr>
              <a:t>보완점</a:t>
            </a:r>
            <a:endParaRPr>
              <a:latin typeface="Noto Sans ExtraBold"/>
              <a:ea typeface="Noto Sans ExtraBold"/>
              <a:cs typeface="Noto Sans ExtraBold"/>
              <a:sym typeface="Noto Sans ExtraBold"/>
            </a:endParaRPr>
          </a:p>
        </p:txBody>
      </p:sp>
      <p:grpSp>
        <p:nvGrpSpPr>
          <p:cNvPr id="191" name="Google Shape;191;p11"/>
          <p:cNvGrpSpPr/>
          <p:nvPr/>
        </p:nvGrpSpPr>
        <p:grpSpPr>
          <a:xfrm>
            <a:off x="242596" y="1508153"/>
            <a:ext cx="10070730" cy="3455655"/>
            <a:chOff x="242596" y="1155068"/>
            <a:chExt cx="10070730" cy="3455655"/>
          </a:xfrm>
        </p:grpSpPr>
        <p:sp>
          <p:nvSpPr>
            <p:cNvPr id="192" name="Google Shape;192;p11"/>
            <p:cNvSpPr txBox="1"/>
            <p:nvPr/>
          </p:nvSpPr>
          <p:spPr>
            <a:xfrm>
              <a:off x="242596" y="1155068"/>
              <a:ext cx="9862457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1. 적은 수의 데이터</a:t>
              </a:r>
              <a:endParaRPr sz="16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93" name="Google Shape;193;p11"/>
            <p:cNvSpPr txBox="1"/>
            <p:nvPr/>
          </p:nvSpPr>
          <p:spPr>
            <a:xfrm>
              <a:off x="450826" y="1400527"/>
              <a:ext cx="9862457" cy="7007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초기 labeled pool : 30    </a:t>
              </a:r>
              <a:r>
                <a:rPr lang="en-US" sz="1200">
                  <a:solidFill>
                    <a:srgbClr val="AEAEAE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* 클래스별 데이터 수 = ( class0: 20, class1: 2, class2: 2, class3: 2, class4: 2, class5: 2 )</a:t>
              </a:r>
              <a:endParaRPr/>
            </a:p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매 회 1개씩 샘플링 하여 100회 진행 -&gt; 100 iteration 이후 최종적으로 30 + 100 = 130 data 학습</a:t>
              </a:r>
              <a:endParaRPr/>
            </a:p>
          </p:txBody>
        </p:sp>
        <p:sp>
          <p:nvSpPr>
            <p:cNvPr id="194" name="Google Shape;194;p11"/>
            <p:cNvSpPr txBox="1"/>
            <p:nvPr/>
          </p:nvSpPr>
          <p:spPr>
            <a:xfrm>
              <a:off x="242596" y="2462623"/>
              <a:ext cx="9862457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2. Augmentation 방법 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95" name="Google Shape;195;p11"/>
            <p:cNvSpPr txBox="1"/>
            <p:nvPr/>
          </p:nvSpPr>
          <p:spPr>
            <a:xfrm>
              <a:off x="450826" y="2735398"/>
              <a:ext cx="9862500" cy="63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Imgaug 를 이용하여 랜덤하게 0~3개의 augmentation 방법을 종합적으로 적용</a:t>
              </a:r>
              <a:r>
                <a:rPr lang="en-US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중으로</a:t>
              </a:r>
              <a:endParaRPr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augmentation 의 랜덤성이 강함</a:t>
              </a:r>
              <a:endParaRPr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96" name="Google Shape;196;p11"/>
            <p:cNvSpPr txBox="1"/>
            <p:nvPr/>
          </p:nvSpPr>
          <p:spPr>
            <a:xfrm>
              <a:off x="242596" y="4233184"/>
              <a:ext cx="9862457" cy="3775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Sagnet 등 Domain generalization 모델을 이식하여 실험 예정</a:t>
              </a:r>
              <a:endParaRPr/>
            </a:p>
          </p:txBody>
        </p:sp>
      </p:grpSp>
      <p:sp>
        <p:nvSpPr>
          <p:cNvPr id="197" name="Google Shape;197;p11"/>
          <p:cNvSpPr txBox="1"/>
          <p:nvPr/>
        </p:nvSpPr>
        <p:spPr>
          <a:xfrm>
            <a:off x="242596" y="1074459"/>
            <a:ext cx="986245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6"/>
                </a:solidFill>
                <a:latin typeface="Noto Sans SemiBold"/>
                <a:ea typeface="Noto Sans SemiBold"/>
                <a:cs typeface="Noto Sans SemiBold"/>
                <a:sym typeface="Noto Sans SemiBold"/>
              </a:rPr>
              <a:t>문제점 추정</a:t>
            </a:r>
            <a:endParaRPr>
              <a:latin typeface="Noto Sans SemiBold"/>
              <a:ea typeface="Noto Sans SemiBold"/>
              <a:cs typeface="Noto Sans SemiBold"/>
              <a:sym typeface="Noto Sans SemiBold"/>
            </a:endParaRPr>
          </a:p>
        </p:txBody>
      </p:sp>
      <p:sp>
        <p:nvSpPr>
          <p:cNvPr id="198" name="Google Shape;198;p11"/>
          <p:cNvSpPr txBox="1"/>
          <p:nvPr/>
        </p:nvSpPr>
        <p:spPr>
          <a:xfrm>
            <a:off x="242596" y="4216937"/>
            <a:ext cx="986245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6"/>
                </a:solidFill>
                <a:latin typeface="Noto Sans SemiBold"/>
                <a:ea typeface="Noto Sans SemiBold"/>
                <a:cs typeface="Noto Sans SemiBold"/>
                <a:sym typeface="Noto Sans SemiBold"/>
              </a:rPr>
              <a:t>추후 진행 예정</a:t>
            </a:r>
            <a:endParaRPr>
              <a:latin typeface="Noto Sans SemiBold"/>
              <a:ea typeface="Noto Sans SemiBold"/>
              <a:cs typeface="Noto Sans SemiBold"/>
              <a:sym typeface="Noto Sans Semi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797</Words>
  <Application>Microsoft Office PowerPoint</Application>
  <PresentationFormat>와이드스크린</PresentationFormat>
  <Paragraphs>62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2" baseType="lpstr">
      <vt:lpstr>Noto Sans KR</vt:lpstr>
      <vt:lpstr>Malgun Gothic</vt:lpstr>
      <vt:lpstr>Arial</vt:lpstr>
      <vt:lpstr>Noto Sans ExtraBold</vt:lpstr>
      <vt:lpstr>Noto Sans SemiBold</vt:lpstr>
      <vt:lpstr>Noto Sans</vt:lpstr>
      <vt:lpstr>Malgun Gothic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김나연</dc:creator>
  <cp:lastModifiedBy>user</cp:lastModifiedBy>
  <cp:revision>24</cp:revision>
  <dcterms:created xsi:type="dcterms:W3CDTF">2024-05-05T08:04:52Z</dcterms:created>
  <dcterms:modified xsi:type="dcterms:W3CDTF">2024-05-16T04:48:05Z</dcterms:modified>
</cp:coreProperties>
</file>