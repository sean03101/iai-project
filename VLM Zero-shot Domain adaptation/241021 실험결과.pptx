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Noto Sans KR"/>
      <p:regular r:id="rId11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jZ8WROOivj+BwuGFNpdSvFH7Yw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otoSansKR-regular.fntdata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font" Target="fonts/NotoSansKR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200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rPr>
              <a:t>target model 에 따라 다르게 나올까 싶었지만 대부분 다 lightness TTA 를 선택함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근데 이게 중요한 게 아닌 듯 함…</a:t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fcaead3f67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g2fcaead3f67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0cdbd60cc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g30cdbd60cc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caead3f67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2fcaead3f67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caead3f67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2fcaead3f67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/>
        </p:nvSpPr>
        <p:spPr>
          <a:xfrm>
            <a:off x="242600" y="575626"/>
            <a:ext cx="10701000" cy="7386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된 이미지들에 대한 Loss 를 예측하는 별도의 모듈 학습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모듈을 통해 가장 loss 가 낮을 것으로 예상되는 방법을 선택하여 TTA 적용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Learning Loss for Test Time Augmentation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92362" y="1321572"/>
            <a:ext cx="7684655" cy="101563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(augmentation)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lightness / brightness / clahe / cameraz 각각 augment 정도 0~4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(target model) 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Online Augmentation 을 적용하여 학습한 ResNet101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EABAB"/>
                </a:solidFill>
                <a:latin typeface="Noto Sans KR"/>
                <a:ea typeface="Noto Sans KR"/>
                <a:cs typeface="Noto Sans KR"/>
                <a:sym typeface="Noto Sans KR"/>
              </a:rPr>
              <a:t>(loss predict model)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EfficientNet 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5356" y="2493835"/>
            <a:ext cx="3777600" cy="1385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All | Accuracy: 84.12   f1-score:0.7209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| Accuracy: 87.00   f1-score:0.7620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| Accuracy: 81.25   f1-score:0.6887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| Accuracy: 83.00   f1-score:0.6963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| Accuracy: 85.25   f1-score:0.7355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30662" l="0" r="0" t="0"/>
          <a:stretch/>
        </p:blipFill>
        <p:spPr>
          <a:xfrm>
            <a:off x="7062631" y="149326"/>
            <a:ext cx="4886769" cy="2344492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4099760" y="2493835"/>
            <a:ext cx="3777600" cy="1385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All | Accuracy: 82.81   f1-score:0.7217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| Accuracy: 82.50   f1-score:0.7414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accent6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| Accuracy: 83.25   f1-score:0.7710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| Accuracy: 81.25   f1-score:0.6798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| Accuracy: 84.25   f1-score:0.6663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83138" y="3961092"/>
            <a:ext cx="355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Online Aug 후 도메인 별 테스트 결과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4210596" y="3961092"/>
            <a:ext cx="355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Loss prediction module TTA 결과 (aug trained)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42596" y="5248453"/>
            <a:ext cx="7484622" cy="7694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DCFE"/>
                </a:solidFill>
                <a:latin typeface="Consolas"/>
                <a:ea typeface="Consolas"/>
                <a:cs typeface="Consolas"/>
                <a:sym typeface="Consolas"/>
              </a:rPr>
              <a:t>tta_actions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-US" sz="1100" u="none" cap="none" strike="noStrike">
                <a:solidFill>
                  <a:srgbClr val="D4D4D4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'n'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'brightness_0'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'brightness_1'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'brightness_2'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'brightness_3'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'brightness_4'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'lightness_0'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'lightness_1'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'lightness_2'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'lightness_3'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'lightness_4'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'clahe_0'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'clahe_1'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'clahe_2'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'clahe_3'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'clahe_4'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               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'cameraz_0'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'cameraz_1'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'cameraz_2'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'cameraz_3'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b="0" i="0" lang="en-US" sz="1100" u="none" cap="none" strike="noStrike">
                <a:solidFill>
                  <a:srgbClr val="CE9178"/>
                </a:solidFill>
                <a:latin typeface="Consolas"/>
                <a:ea typeface="Consolas"/>
                <a:cs typeface="Consolas"/>
                <a:sym typeface="Consolas"/>
              </a:rPr>
              <a:t>'cameraz_4’</a:t>
            </a:r>
            <a:r>
              <a:rPr b="0" i="0" lang="en-US" sz="1100" u="none" cap="none" strike="noStrike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7924800" y="5248452"/>
            <a:ext cx="2059709" cy="76944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TTA CNT [0, 0, 0, 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0, 0, 320, 0, 0,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0, 0, 0, 0, 0,</a:t>
            </a:r>
            <a:b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0, 0, 0, 0, 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35350" y="4286788"/>
            <a:ext cx="120567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TTA 종류별로 몇 개가 선택되었는지 나타냄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augmentation 으로 학습한 모델과 repeat 으로만 학습한 모델 모두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 lightness /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TTA 를 선택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(∵</a:t>
            </a:r>
            <a:r>
              <a:rPr b="0" i="0" lang="en-US" sz="1200" u="none" cap="none" strike="noStrike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원래 target mo</a:t>
            </a:r>
            <a:r>
              <a:rPr b="0" i="0" lang="en-US" sz="1200" u="none" cap="none" strike="noStrike">
                <a:solidFill>
                  <a:srgbClr val="222A35"/>
                </a:solidFill>
                <a:latin typeface="Noto Sans KR"/>
                <a:ea typeface="Noto Sans KR"/>
                <a:cs typeface="Noto Sans KR"/>
                <a:sym typeface="Noto Sans KR"/>
              </a:rPr>
              <a:t>del 으로부터 나온 실제 loss 값이 lightness 에서 낮은 경향을 보이기 때문으로 추정됨)</a:t>
            </a:r>
            <a:endParaRPr sz="1200">
              <a:solidFill>
                <a:srgbClr val="222A3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1549150" y="6005375"/>
            <a:ext cx="4257900" cy="86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TTA CNT [0, 0, 1096, 0, 0, 0, 0, 0, 406, 0, 0, 0, 0, 0, 0, 0, 0, 0, 0, 0, 98]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TTA CNT [0, 0, 285, 0, 0, 0, 0, 0, 85, 0, 0, 0, 0, 0, 0, 0, 0, 0, 0, 0, 30]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Brightness TTA CNT [0, 0, 271, 0, 0, 0, 0, 0, 108, 0, 0, 0, 0, 0, 0, 0, 0, 0, 0, 0, 21]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Cameraz TTA CNT [0, 0, 278, 0, 0, 0, 0, 0, 100, 0, 0, 0, 0, 0, 0, 0, 0, 0, 0, 0, 22]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Lcondition TTA CNT [0, 0, 262, 0, 0, 0, 0, 0, 113, 0, 0, 0, 0, 0, 0, 0, 0, 0, 0, 0, 25]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8064160" y="2493835"/>
            <a:ext cx="3777600" cy="1385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All | Accuracy: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66.5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f1-score: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0..5419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| Accuracy: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79.5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f1-score: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0.6930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| Accuracy: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57.0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f1-score: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0.4482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Cameraz | Accuracy: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65.75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f1-score: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0.5213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Lcondition | Accuracy: 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63.75</a:t>
            </a:r>
            <a:r>
              <a:rPr b="0" i="0" lang="en-US" sz="12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   f1-score:0.</a:t>
            </a:r>
            <a:r>
              <a:rPr lang="en-US" sz="1200">
                <a:latin typeface="Noto Sans KR"/>
                <a:ea typeface="Noto Sans KR"/>
                <a:cs typeface="Noto Sans KR"/>
                <a:sym typeface="Noto Sans KR"/>
              </a:rPr>
              <a:t>5309</a:t>
            </a:r>
            <a:endParaRPr b="0" i="0" sz="1200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8174996" y="3961092"/>
            <a:ext cx="355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Loss prediction module TTA 결과 (repeat trained</a:t>
            </a:r>
            <a:r>
              <a:rPr lang="en-US" sz="11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6152625" y="6005375"/>
            <a:ext cx="4257900" cy="861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TTA CNT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[0, 0, 0, 379, 1, 0, 1220, 0, 0, 0, 0, 0, 0, 0, 0, 0, 0, 0, 0, 0, 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Repeat TTA CNT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[0, 0, 0, 30, 0, 0, 370, 0, 0, 0, 0, 0, 0, 0, 0, 0, 0, 0, 0, 0, 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Brightness TTA CNT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[0, 0, 0, 153, 1, 0, 246, 0, 0, 0, 0, 0, 0, 0, 0, 0, 0, 0, 0, 0, 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Cameraz TTA CNT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[0, 0, 0, 160, 0, 0, 240, 0, 0, 0, 0, 0, 0, 0, 0, 0, 0, 0, 0, 0, 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Lcondition TTA CNT </a:t>
            </a:r>
            <a:r>
              <a:rPr lang="en-US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[0, 0, 0, 36, 0, 0, 364, 0, 0, 0, 0, 0, 0, 0, 0, 0, 0, 0, 0, 0, 0]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/ lightness 는 도움이 되는지…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/>
        </p:nvSpPr>
        <p:spPr>
          <a:xfrm>
            <a:off x="288950" y="4560850"/>
            <a:ext cx="4007100" cy="17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 으로 학습 후 일반적인 Test 성능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 | Accuracy: </a:t>
            </a:r>
            <a:r>
              <a:rPr lang="en-US" sz="1150">
                <a:solidFill>
                  <a:srgbClr val="4EA72E"/>
                </a:solidFill>
                <a:latin typeface="Consolas"/>
                <a:ea typeface="Consolas"/>
                <a:cs typeface="Consolas"/>
                <a:sym typeface="Consolas"/>
              </a:rPr>
              <a:t>72.81</a:t>
            </a: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f1-score:</a:t>
            </a:r>
            <a:r>
              <a:rPr lang="en-US" sz="1150">
                <a:solidFill>
                  <a:srgbClr val="4EA72E"/>
                </a:solidFill>
                <a:latin typeface="Consolas"/>
                <a:ea typeface="Consolas"/>
                <a:cs typeface="Consolas"/>
                <a:sym typeface="Consolas"/>
              </a:rPr>
              <a:t>0.6138 </a:t>
            </a:r>
            <a:endParaRPr sz="1150">
              <a:solidFill>
                <a:srgbClr val="4EA7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 | Accuracy: 85.00  f1-score:0.7825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Brightness | Accuracy: 65.75  f1-score:0.5340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Cameraz | Accuracy: 65.25  f1-score:0.5228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Lcondition | Accuracy: 75.25  f1-score:0.6501 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0" name="Google Shape;11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50" y="1007650"/>
            <a:ext cx="4107675" cy="34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375" y="1007650"/>
            <a:ext cx="4427193" cy="35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5046475" y="4560850"/>
            <a:ext cx="4007100" cy="20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 으로 학습 후 Lightness, Brightness </a:t>
            </a: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만 사용한 TTA 성능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 | Accuracy: </a:t>
            </a:r>
            <a:r>
              <a:rPr lang="en-US" sz="1150">
                <a:solidFill>
                  <a:srgbClr val="4EA72E"/>
                </a:solidFill>
                <a:latin typeface="Consolas"/>
                <a:ea typeface="Consolas"/>
                <a:cs typeface="Consolas"/>
                <a:sym typeface="Consolas"/>
              </a:rPr>
              <a:t>72.62</a:t>
            </a: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f1-score:</a:t>
            </a:r>
            <a:r>
              <a:rPr lang="en-US" sz="1150">
                <a:solidFill>
                  <a:srgbClr val="4EA72E"/>
                </a:solidFill>
                <a:latin typeface="Consolas"/>
                <a:ea typeface="Consolas"/>
                <a:cs typeface="Consolas"/>
                <a:sym typeface="Consolas"/>
              </a:rPr>
              <a:t>0.5921 </a:t>
            </a:r>
            <a:endParaRPr sz="1150">
              <a:solidFill>
                <a:srgbClr val="4EA72E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 | Accuracy: 82.75  f1-score:0.7580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Brightness | Accuracy: 65.25  f1-score:0.5133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Cameraz | Accuracy: 66.75  f1-score:0.5223 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Lcondition | Accuracy: 75.75  f1-score:0.6162</a:t>
            </a:r>
            <a:r>
              <a:rPr lang="en-US" sz="1150">
                <a:solidFill>
                  <a:srgbClr val="CCCC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fcaead3f67_0_4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/ lightness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2fcaead3f67_0_40"/>
          <p:cNvSpPr txBox="1"/>
          <p:nvPr/>
        </p:nvSpPr>
        <p:spPr>
          <a:xfrm>
            <a:off x="242600" y="1727550"/>
            <a:ext cx="6137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정답 Label: 1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단순 예측 결과: 0 (Prob: 1.00)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TTA 예측 결과: 0 (Prob: 0.998)</a:t>
            </a:r>
            <a:endParaRPr sz="1600">
              <a:solidFill>
                <a:schemeClr val="dk1"/>
              </a:solidFill>
            </a:endParaRPr>
          </a:p>
        </p:txBody>
      </p:sp>
      <p:grpSp>
        <p:nvGrpSpPr>
          <p:cNvPr id="119" name="Google Shape;119;g2fcaead3f67_0_40"/>
          <p:cNvGrpSpPr/>
          <p:nvPr/>
        </p:nvGrpSpPr>
        <p:grpSpPr>
          <a:xfrm>
            <a:off x="3313350" y="471625"/>
            <a:ext cx="8312775" cy="2874850"/>
            <a:chOff x="242600" y="1079925"/>
            <a:chExt cx="8312775" cy="2874850"/>
          </a:xfrm>
        </p:grpSpPr>
        <p:pic>
          <p:nvPicPr>
            <p:cNvPr id="120" name="Google Shape;120;g2fcaead3f67_0_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2600" y="2781653"/>
              <a:ext cx="8287807" cy="11731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" name="Google Shape;121;g2fcaead3f67_0_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0671" y="1426126"/>
              <a:ext cx="8304703" cy="115705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g2fcaead3f67_0_40"/>
            <p:cNvSpPr txBox="1"/>
            <p:nvPr/>
          </p:nvSpPr>
          <p:spPr>
            <a:xfrm>
              <a:off x="3226125" y="1079925"/>
              <a:ext cx="2353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brightness 적용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23" name="Google Shape;123;g2fcaead3f67_0_40"/>
            <p:cNvSpPr txBox="1"/>
            <p:nvPr/>
          </p:nvSpPr>
          <p:spPr>
            <a:xfrm>
              <a:off x="3226125" y="2516525"/>
              <a:ext cx="2353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lightness 적용</a:t>
              </a:r>
              <a:endParaRPr b="1" sz="1600">
                <a:solidFill>
                  <a:schemeClr val="dk1"/>
                </a:solidFill>
              </a:endParaRPr>
            </a:p>
          </p:txBody>
        </p:sp>
      </p:grpSp>
      <p:sp>
        <p:nvSpPr>
          <p:cNvPr id="124" name="Google Shape;124;g2fcaead3f67_0_40"/>
          <p:cNvSpPr txBox="1"/>
          <p:nvPr/>
        </p:nvSpPr>
        <p:spPr>
          <a:xfrm>
            <a:off x="242600" y="4370100"/>
            <a:ext cx="61374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정답 Label: 1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단순 예측 결과: 2 (Prob: 0.80)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TTA 예측 결과: 2 (Prob: 0.759)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25" name="Google Shape;125;g2fcaead3f67_0_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56375" y="3695720"/>
            <a:ext cx="8312776" cy="1169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2fcaead3f67_0_4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56375" y="4980450"/>
            <a:ext cx="8269753" cy="1169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g2fcaead3f67_0_40"/>
          <p:cNvGrpSpPr/>
          <p:nvPr/>
        </p:nvGrpSpPr>
        <p:grpSpPr>
          <a:xfrm>
            <a:off x="6339900" y="3437163"/>
            <a:ext cx="2353800" cy="1717300"/>
            <a:chOff x="3226125" y="1128075"/>
            <a:chExt cx="2353800" cy="1717300"/>
          </a:xfrm>
        </p:grpSpPr>
        <p:sp>
          <p:nvSpPr>
            <p:cNvPr id="128" name="Google Shape;128;g2fcaead3f67_0_40"/>
            <p:cNvSpPr txBox="1"/>
            <p:nvPr/>
          </p:nvSpPr>
          <p:spPr>
            <a:xfrm>
              <a:off x="3226125" y="1128075"/>
              <a:ext cx="2353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brightness 적용</a:t>
              </a:r>
              <a:endParaRPr b="1" sz="1600">
                <a:solidFill>
                  <a:schemeClr val="dk1"/>
                </a:solidFill>
              </a:endParaRPr>
            </a:p>
          </p:txBody>
        </p:sp>
        <p:sp>
          <p:nvSpPr>
            <p:cNvPr id="129" name="Google Shape;129;g2fcaead3f67_0_40"/>
            <p:cNvSpPr txBox="1"/>
            <p:nvPr/>
          </p:nvSpPr>
          <p:spPr>
            <a:xfrm>
              <a:off x="3226125" y="2468275"/>
              <a:ext cx="2353800" cy="37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5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lightness 적용</a:t>
              </a:r>
              <a:endParaRPr b="1" sz="1600">
                <a:solidFill>
                  <a:schemeClr val="dk1"/>
                </a:solidFill>
              </a:endParaRPr>
            </a:p>
          </p:txBody>
        </p:sp>
      </p:grpSp>
      <p:sp>
        <p:nvSpPr>
          <p:cNvPr id="130" name="Google Shape;130;g2fcaead3f67_0_40"/>
          <p:cNvSpPr txBox="1"/>
          <p:nvPr/>
        </p:nvSpPr>
        <p:spPr>
          <a:xfrm>
            <a:off x="179675" y="6265175"/>
            <a:ext cx="6137400" cy="5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✅ 딱히 이 transformation 이 도움이 된다고 보긴 어렵다고 생각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✅ augmentation 으로 인해 결함 부분이 지워지는 경향이 있는지 파악하기 힘듦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0cdbd60cc7_0_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2 class 성능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0cdbd60cc7_0_0"/>
          <p:cNvSpPr txBox="1"/>
          <p:nvPr/>
        </p:nvSpPr>
        <p:spPr>
          <a:xfrm>
            <a:off x="316000" y="749425"/>
            <a:ext cx="6137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정상 0 / 불량 1 로 재설정 후 예측 정확도 확인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online augmentation 을 이용하여 학습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7" name="Google Shape;137;g30cdbd60cc7_0_0"/>
          <p:cNvSpPr txBox="1"/>
          <p:nvPr/>
        </p:nvSpPr>
        <p:spPr>
          <a:xfrm>
            <a:off x="242600" y="1520575"/>
            <a:ext cx="4635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ALL)        accuracy: 0.8925  f1 score: 0.8842                                                                                                                                                                         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repeat)     accuracy: 0.9     f1 score: 0.8936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brightness) accuracy: 0.8925  f1 score: 0.8839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cameraz)    accuracy: 0.8825  f1 score: 0.8731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lcondition) accuracy: 0.895   f1 score: 0.8861</a:t>
            </a:r>
            <a:endParaRPr/>
          </a:p>
        </p:txBody>
      </p:sp>
      <p:pic>
        <p:nvPicPr>
          <p:cNvPr id="138" name="Google Shape;138;g30cdbd60cc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0760" y="560937"/>
            <a:ext cx="3499940" cy="2871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0cdbd60cc7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00" y="2937427"/>
            <a:ext cx="3514126" cy="29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0cdbd60cc7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7137" y="3719374"/>
            <a:ext cx="3499940" cy="2871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g30cdbd60cc7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5095" y="583865"/>
            <a:ext cx="3444037" cy="28258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g30cdbd60cc7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160761" y="3719374"/>
            <a:ext cx="3499940" cy="28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fcaead3f67_0_12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2fcaead3f67_0_12"/>
          <p:cNvSpPr txBox="1"/>
          <p:nvPr/>
        </p:nvSpPr>
        <p:spPr>
          <a:xfrm>
            <a:off x="242600" y="644350"/>
            <a:ext cx="111873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BatchNorm Layer 에 저장되는 통계량을 이용한 방법</a:t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repeat 으로 학습된 모델에 저장된 BatchNorm 통계량과</a:t>
            </a:r>
            <a:b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domain shift 된 이미지를 다시 repeat 에 가깝게 원복한 이미지의 통계량이 비슷하지 않을까 하는 생각에서 기반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+ ) 저차원 통계량과 고차원 통계량을 가중치 다르게 반영 -&gt; 얕은 layer 와 깊은 layer 따라서 도메인 변화를 캐치하고 / 클래스 정보를 캐치하는 그런 게 다르지 않을까 하는 생각에서 기반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9" name="Google Shape;149;g2fcaead3f67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3600" y="2471550"/>
            <a:ext cx="7144800" cy="2846250"/>
          </a:xfrm>
          <a:prstGeom prst="rect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0" name="Google Shape;150;g2fcaead3f67_0_12"/>
          <p:cNvSpPr txBox="1"/>
          <p:nvPr/>
        </p:nvSpPr>
        <p:spPr>
          <a:xfrm>
            <a:off x="3613000" y="5317800"/>
            <a:ext cx="6137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출처:: OptTTA https://openreview.net/pdf?id=B6HdQaY_iR</a:t>
            </a:r>
            <a:endParaRPr sz="11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g2fcaead3f67_0_12"/>
          <p:cNvSpPr txBox="1"/>
          <p:nvPr/>
        </p:nvSpPr>
        <p:spPr>
          <a:xfrm>
            <a:off x="242600" y="58379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본 논문에서는 모델이 train 될 때 저장된 BatchNorm 통계량과 각 Policy 별 augmentation 된 test 이미지의 통계량 간 divergence 를 측정하여 </a:t>
            </a:r>
            <a:b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이 중 divergence 값이 작은 Policy 선택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다만 LossBn 의 영향력이 크진 않다고 ablation 에 나와있어서 유의미할지는 잘 모르겠음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caead3f67_0_67"/>
          <p:cNvSpPr txBox="1"/>
          <p:nvPr/>
        </p:nvSpPr>
        <p:spPr>
          <a:xfrm>
            <a:off x="242600" y="644350"/>
            <a:ext cx="11187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클래스 정보 보존을 위해 original_prob 와 TTA prob 를 적절히 aggregation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그런데 original prob 도 올바른 클래스 정보라는 가정이 없음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uncertainty 나 confidence 도 올바름을 나타내진 못함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