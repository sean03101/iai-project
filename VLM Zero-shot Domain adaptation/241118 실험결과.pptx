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Noto Sans KR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17" roundtripDataSignature="AMtx7mj+UYWpa5shlpdw150Oa9NMUtWw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2DD0900-5A0A-4D04-BEB8-F03ABEC6EC22}">
  <a:tblStyle styleId="{F2DD0900-5A0A-4D04-BEB8-F03ABEC6EC2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>
          <a:top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bottom>
        </a:tcBdr>
      </a:tcStyle>
    </a:band1H>
    <a:band2H>
      <a:tcTxStyle b="off" i="off"/>
    </a:band2H>
    <a:band1V>
      <a:tcTxStyle b="off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1V>
    <a:band2V>
      <a:tcTxStyle b="off" i="off"/>
      <a:tcStyle>
        <a:tcBdr>
          <a:lef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right>
        </a:tcBdr>
      </a:tcStyle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a:top>
        </a:tcBdr>
      </a:tcStyle>
    </a:lastRow>
    <a:seCell>
      <a:tcTxStyle b="off" i="off"/>
    </a:seCell>
    <a:swCell>
      <a:tcTxStyle b="off" i="off"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6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NotoSansKR-regular.fntdata"/><Relationship Id="rId14" Type="http://schemas.openxmlformats.org/officeDocument/2006/relationships/slide" Target="slides/slide8.xml"/><Relationship Id="rId17" Type="http://customschemas.google.com/relationships/presentationmetadata" Target="metadata"/><Relationship Id="rId16" Type="http://schemas.openxmlformats.org/officeDocument/2006/relationships/font" Target="fonts/NotoSansKR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175c13a6e3_0_1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g3175c13a6e3_0_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175c13a6e3_0_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g3175c13a6e3_0_2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6" name="Google Shape;96;g3175c13a6e3_0_2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175c13a6e3_2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8" name="Google Shape;108;g3175c13a6e3_2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75c13a6e3_2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g3175c13a6e3_2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17e8d1f02e_3_18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6" name="Google Shape;136;g317e8d1f02e_3_1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7e8d1f02e_3_25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17e8d1f02e_3_2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7e8d1f02e_3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2" name="Google Shape;172;g317e8d1f02e_3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175c13a6e3_2_16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9" name="Google Shape;179;g3175c13a6e3_2_1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8" name="Google Shape;1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4" name="Google Shape;2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2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175c13a6e3_0_1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지난 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g3175c13a6e3_0_17"/>
          <p:cNvSpPr txBox="1"/>
          <p:nvPr/>
        </p:nvSpPr>
        <p:spPr>
          <a:xfrm>
            <a:off x="242600" y="644350"/>
            <a:ext cx="11187300" cy="17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AutoNum type="arabicPeriod"/>
            </a:pPr>
            <a:r>
              <a:rPr b="1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BatchNorm Layer 에 저장되는 통계량을 이용한 방법</a:t>
            </a:r>
            <a:endParaRPr b="1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으로 학습된 모델에 저장된 BatchNorm 통계량과</a:t>
            </a:r>
            <a:b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shift 된 이미지를 다시 repeat 에 가깝게 원복한 이미지의 통계량이 비슷하지 않을까 하는 생각에서 기반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+ ) 저차원 통계량과 고차원 통계량을 가중치 다르게 반영 -&gt; 얕은 layer 와 깊은 layer 따라서 도메인 변화를 캐치하고 / 클래스 정보를 캐치하는 그런 게 다르지 않을까 하는 생각에서 기반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90" name="Google Shape;90;g3175c13a6e3_0_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3600" y="2471550"/>
            <a:ext cx="7144800" cy="2846250"/>
          </a:xfrm>
          <a:prstGeom prst="rect">
            <a:avLst/>
          </a:prstGeom>
          <a:noFill/>
          <a:ln cap="flat" cmpd="sng" w="19050">
            <a:solidFill>
              <a:srgbClr val="888888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91" name="Google Shape;91;g3175c13a6e3_0_17"/>
          <p:cNvSpPr txBox="1"/>
          <p:nvPr/>
        </p:nvSpPr>
        <p:spPr>
          <a:xfrm>
            <a:off x="3613000" y="5317800"/>
            <a:ext cx="61374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50"/>
              <a:buFont typeface="Arial"/>
              <a:buNone/>
            </a:pPr>
            <a:r>
              <a:rPr b="0" i="0" lang="en-US" sz="11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출처:: OptTTA https://openreview.net/pdf?id=B6HdQaY_iR</a:t>
            </a:r>
            <a:endParaRPr b="0" i="0" sz="11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92" name="Google Shape;92;g3175c13a6e3_0_17"/>
          <p:cNvSpPr txBox="1"/>
          <p:nvPr/>
        </p:nvSpPr>
        <p:spPr>
          <a:xfrm>
            <a:off x="242600" y="5837925"/>
            <a:ext cx="1194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본 논문에서는 모델이 train 될 때 저장된 BatchNorm 통계량과 각 Policy 별 augmentation 된 test 이미지의 통계량 간 divergence 를 측정하여 </a:t>
            </a:r>
            <a:b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이 중 divergence 값이 작은 Policy 선택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다만 LossBn 의 영향력이 크진 않다고 ablation 에 나와있어서 유의미할지는 잘 모르겠음</a:t>
            </a:r>
            <a:endParaRPr b="0" i="0" sz="125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g3175c13a6e3_0_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41288" y="1246029"/>
            <a:ext cx="3616286" cy="2885334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175c13a6e3_0_2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548135"/>
                </a:solidFill>
                <a:latin typeface="Noto Sans KR"/>
                <a:ea typeface="Noto Sans KR"/>
                <a:cs typeface="Noto Sans KR"/>
                <a:sym typeface="Noto Sans KR"/>
              </a:rPr>
              <a:t>2. BatchNorm Statistics 이용</a:t>
            </a:r>
            <a:endParaRPr b="1" i="0" sz="1400" u="none" cap="none" strike="noStrike">
              <a:solidFill>
                <a:srgbClr val="5481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175c13a6e3_0_25"/>
          <p:cNvSpPr txBox="1"/>
          <p:nvPr/>
        </p:nvSpPr>
        <p:spPr>
          <a:xfrm>
            <a:off x="242600" y="583884"/>
            <a:ext cx="10701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📍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mean, test  image mean) +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MSELoss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(pretrain var, test image var) 값이 가장 작은 augmented image </a:t>
            </a:r>
            <a:r>
              <a:rPr b="1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하나만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선택</a:t>
            </a:r>
            <a:b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      앞서 사용했던 repeat 으로만 train 한 M0 모델의 batchnorm statistics 와 비교하여 차이가 가장 작은 image 선택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01" name="Google Shape;101;g3175c13a6e3_0_25"/>
          <p:cNvGraphicFramePr/>
          <p:nvPr/>
        </p:nvGraphicFramePr>
        <p:xfrm>
          <a:off x="387653" y="138767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{F2DD0900-5A0A-4D04-BEB8-F03ABEC6EC22}</a:tableStyleId>
              </a:tblPr>
              <a:tblGrid>
                <a:gridCol w="1124750"/>
                <a:gridCol w="980400"/>
                <a:gridCol w="980400"/>
                <a:gridCol w="980400"/>
                <a:gridCol w="980400"/>
                <a:gridCol w="980400"/>
              </a:tblGrid>
              <a:tr h="2985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All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repeat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brightness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cameraz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lcondition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F1 score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0.6072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0.7612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0.5427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0.5252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0.6063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54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n-US" sz="12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Accuracy</a:t>
                      </a:r>
                      <a:endParaRPr sz="12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0.7663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0.8525</a:t>
                      </a:r>
                      <a:endParaRPr sz="1100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0.7225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0.71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latin typeface="Noto Sans KR"/>
                          <a:ea typeface="Noto Sans KR"/>
                          <a:cs typeface="Noto Sans KR"/>
                          <a:sym typeface="Noto Sans KR"/>
                        </a:rPr>
                        <a:t>0.78</a:t>
                      </a:r>
                      <a:endParaRPr sz="1100" u="none" cap="none" strike="noStrike">
                        <a:latin typeface="Noto Sans KR"/>
                        <a:ea typeface="Noto Sans KR"/>
                        <a:cs typeface="Noto Sans KR"/>
                        <a:sym typeface="Noto Sans KR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2" name="Google Shape;102;g3175c13a6e3_0_25"/>
          <p:cNvSpPr txBox="1"/>
          <p:nvPr/>
        </p:nvSpPr>
        <p:spPr>
          <a:xfrm>
            <a:off x="6305050" y="3369563"/>
            <a:ext cx="2768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으로만 학습했을 때는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맞았는데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제안하는 방법에서는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틀린 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수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sp>
        <p:nvSpPr>
          <p:cNvPr id="103" name="Google Shape;103;g3175c13a6e3_0_25"/>
          <p:cNvSpPr txBox="1"/>
          <p:nvPr/>
        </p:nvSpPr>
        <p:spPr>
          <a:xfrm>
            <a:off x="9167800" y="1230363"/>
            <a:ext cx="27687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repeat 으로만 학습했을 때는 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틀리고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제안하는 방법에서는</a:t>
            </a: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올바르게 교정된</a:t>
            </a:r>
            <a:r>
              <a:rPr b="0" i="0" lang="en-US" sz="1200" u="none" cap="none" strike="noStrike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 수</a:t>
            </a:r>
            <a:endParaRPr b="0" i="0" sz="1200" u="none" cap="none" strike="noStrike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  <p:pic>
        <p:nvPicPr>
          <p:cNvPr id="104" name="Google Shape;104;g3175c13a6e3_0_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650" y="3582238"/>
            <a:ext cx="4340692" cy="3150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175c13a6e3_0_25"/>
          <p:cNvSpPr txBox="1"/>
          <p:nvPr/>
        </p:nvSpPr>
        <p:spPr>
          <a:xfrm>
            <a:off x="4852825" y="5174675"/>
            <a:ext cx="7339200" cy="14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domain 별 divergence (MSE loss) 값 분포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test time augmentation 된 이미지들이 모두 divergence 가 비슷함 (대부분 42~43)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구분력이 없는 것이 아닌가 생각됨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KR"/>
              <a:buChar char="-"/>
            </a:pP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brightness 에서만 높은 이상치가 생김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이상치 값은 모두 brightness_4 에서 생기는 이상치로서 밝기변화가 강하면 높은 divergence</a:t>
            </a:r>
            <a:b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</a:br>
            <a:r>
              <a:rPr lang="en-US" sz="1200">
                <a:solidFill>
                  <a:schemeClr val="dk1"/>
                </a:solidFill>
                <a:latin typeface="Noto Sans KR"/>
                <a:ea typeface="Noto Sans KR"/>
                <a:cs typeface="Noto Sans KR"/>
                <a:sym typeface="Noto Sans KR"/>
              </a:rPr>
              <a:t>-&gt; 밝기 변화의 경우 전반적으로 모든 픽셀 값이 변하기 때문에 가장 큰 divergence 를 갖는 것이라고 생각</a:t>
            </a:r>
            <a:endParaRPr sz="1200">
              <a:solidFill>
                <a:schemeClr val="dk1"/>
              </a:solidFill>
              <a:latin typeface="Noto Sans KR"/>
              <a:ea typeface="Noto Sans KR"/>
              <a:cs typeface="Noto Sans KR"/>
              <a:sym typeface="Noto Sans K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175c13a6e3_2_8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175c13a6e3_2_8"/>
          <p:cNvSpPr txBox="1"/>
          <p:nvPr/>
        </p:nvSpPr>
        <p:spPr>
          <a:xfrm>
            <a:off x="242600" y="644350"/>
            <a:ext cx="111873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 및 어떤 제품인지 알 수 없음(기존 문제 상황)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찾기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12" name="Google Shape;112;g3175c13a6e3_2_8"/>
          <p:cNvSpPr txBox="1"/>
          <p:nvPr/>
        </p:nvSpPr>
        <p:spPr>
          <a:xfrm>
            <a:off x="242600" y="5837925"/>
            <a:ext cx="11949300" cy="12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기존의 AutoAugmentation(Cubuk et al.2018) 방식과 동일한 구조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Controller는 n개의 가지는 augmentation 조합에 대한 policy 생성 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Augmentation은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probability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, </a:t>
            </a: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method, magnitude 2가지 조합으로 정의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13" name="Google Shape;113;g3175c13a6e3_2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5651" y="2063900"/>
            <a:ext cx="3938775" cy="377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75c13a6e3_2_1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175c13a6e3_2_1"/>
          <p:cNvSpPr txBox="1"/>
          <p:nvPr/>
        </p:nvSpPr>
        <p:spPr>
          <a:xfrm>
            <a:off x="242600" y="644350"/>
            <a:ext cx="11187300" cy="14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가정 : Test 단계에서 제품이 불량 여부(class)나 촬영 환경(domain)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및 어떤 제품인지 알 수 없음(기존 문제 상황)</a:t>
            </a:r>
            <a:endParaRPr b="0" i="0" sz="1250" u="none" cap="none" strike="noStrike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목적 : 과도한 증강으로 클래스가 바뀌지 않으면서, 다양한 촬영 환경에 대해 강건한 모델을 학습시킬 수 있는 증강을 찾을 수 있도록 하는 최적의 증강 policy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찾기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0" name="Google Shape;120;g3175c13a6e3_2_1"/>
          <p:cNvSpPr/>
          <p:nvPr/>
        </p:nvSpPr>
        <p:spPr>
          <a:xfrm>
            <a:off x="2427800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g3175c13a6e3_2_1"/>
          <p:cNvSpPr/>
          <p:nvPr/>
        </p:nvSpPr>
        <p:spPr>
          <a:xfrm rot="-5400000">
            <a:off x="1255538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g3175c13a6e3_2_1"/>
          <p:cNvSpPr txBox="1"/>
          <p:nvPr/>
        </p:nvSpPr>
        <p:spPr>
          <a:xfrm>
            <a:off x="1228925" y="32922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Controller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g3175c13a6e3_2_1"/>
          <p:cNvSpPr/>
          <p:nvPr/>
        </p:nvSpPr>
        <p:spPr>
          <a:xfrm>
            <a:off x="348082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Augmentation Image</a:t>
            </a:r>
            <a:endParaRPr b="1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g3175c13a6e3_2_1"/>
          <p:cNvSpPr/>
          <p:nvPr/>
        </p:nvSpPr>
        <p:spPr>
          <a:xfrm rot="-5400000">
            <a:off x="6244013" y="3025463"/>
            <a:ext cx="987300" cy="1040525"/>
          </a:xfrm>
          <a:prstGeom prst="flowChartManualOperation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g3175c13a6e3_2_1"/>
          <p:cNvSpPr txBox="1"/>
          <p:nvPr/>
        </p:nvSpPr>
        <p:spPr>
          <a:xfrm>
            <a:off x="6217400" y="3139800"/>
            <a:ext cx="1040400" cy="18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en-US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</a:t>
            </a:r>
            <a:endParaRPr b="1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g3175c13a6e3_2_1"/>
          <p:cNvSpPr/>
          <p:nvPr/>
        </p:nvSpPr>
        <p:spPr>
          <a:xfrm>
            <a:off x="51741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g3175c13a6e3_2_1"/>
          <p:cNvSpPr/>
          <p:nvPr/>
        </p:nvSpPr>
        <p:spPr>
          <a:xfrm>
            <a:off x="7638888" y="3421525"/>
            <a:ext cx="792300" cy="24840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g3175c13a6e3_2_1"/>
          <p:cNvSpPr/>
          <p:nvPr/>
        </p:nvSpPr>
        <p:spPr>
          <a:xfrm>
            <a:off x="8812172" y="3196975"/>
            <a:ext cx="1565400" cy="697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Suggest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Reward</a:t>
            </a:r>
            <a:endParaRPr b="1" i="0" sz="1400" u="none" cap="none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g3175c13a6e3_2_1"/>
          <p:cNvCxnSpPr>
            <a:endCxn id="121" idx="1"/>
          </p:cNvCxnSpPr>
          <p:nvPr/>
        </p:nvCxnSpPr>
        <p:spPr>
          <a:xfrm flipH="1">
            <a:off x="1749188" y="3877046"/>
            <a:ext cx="7802100" cy="63600"/>
          </a:xfrm>
          <a:prstGeom prst="bentConnector4">
            <a:avLst>
              <a:gd fmla="val 153" name="adj1"/>
              <a:gd fmla="val 629645" name="adj2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" name="Google Shape;130;g3175c13a6e3_2_1"/>
          <p:cNvSpPr txBox="1"/>
          <p:nvPr/>
        </p:nvSpPr>
        <p:spPr>
          <a:xfrm>
            <a:off x="4222400" y="4424675"/>
            <a:ext cx="2873400" cy="5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Proximal Policy Optimization</a:t>
            </a:r>
            <a:endParaRPr b="1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g3175c13a6e3_2_1"/>
          <p:cNvSpPr txBox="1"/>
          <p:nvPr/>
        </p:nvSpPr>
        <p:spPr>
          <a:xfrm>
            <a:off x="242600" y="5228325"/>
            <a:ext cx="119493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07975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Test Time augmentation 이기에, label이 없는 상황에서 사용할 수 있는 새로운 reward를 제안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	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32" name="Google Shape;132;g3175c13a6e3_2_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6675" y="2625925"/>
            <a:ext cx="348349" cy="348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175c13a6e3_2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81875" y="2737750"/>
            <a:ext cx="400451" cy="4004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17e8d1f02e_3_189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17e8d1f02e_3_189"/>
          <p:cNvSpPr txBox="1"/>
          <p:nvPr/>
        </p:nvSpPr>
        <p:spPr>
          <a:xfrm>
            <a:off x="242600" y="644350"/>
            <a:ext cx="11187300" cy="236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원본 image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와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target aug image 사이의 triplet loss +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40" name="Google Shape;140;g317e8d1f02e_3_1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9200" y="1509875"/>
            <a:ext cx="10513699" cy="4203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7e8d1f02e_3_257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17e8d1f02e_3_257"/>
          <p:cNvSpPr txBox="1"/>
          <p:nvPr/>
        </p:nvSpPr>
        <p:spPr>
          <a:xfrm>
            <a:off x="242600" y="644350"/>
            <a:ext cx="11187300" cy="32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Arial"/>
              <a:buNone/>
            </a:pP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Triplet loss 및 Margin을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b="0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triplet_loss : </a:t>
            </a:r>
            <a:r>
              <a:rPr lang="en-US" sz="1250">
                <a:solidFill>
                  <a:schemeClr val="dk1"/>
                </a:solidFill>
              </a:rPr>
              <a:t>Anchor는 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source 원본 image</a:t>
            </a:r>
            <a:r>
              <a:rPr lang="en-US" sz="1250">
                <a:solidFill>
                  <a:schemeClr val="dk1"/>
                </a:solidFill>
              </a:rPr>
              <a:t>, Positive는 학습한 모델이 confidence하게 같은 클래스로 예측한 target 이미지를 증강 시킨 것, Negative는 학습한 모델이 confidence하게 다른 클래스로 예측한 target 이미지를 증강 시킨것</a:t>
            </a:r>
            <a:endParaRPr sz="12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○"/>
            </a:pPr>
            <a:r>
              <a:rPr lang="en-US" sz="1250">
                <a:solidFill>
                  <a:schemeClr val="dk1"/>
                </a:solidFill>
              </a:rPr>
              <a:t>목적 : target 이미지를 과도하게 augmentation 해 class가 바뀌는 것을 방지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문제점 : </a:t>
            </a:r>
            <a:r>
              <a:rPr lang="en-US" sz="125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잘못된 수도레이블로 인해 잘못 학습될 수 도 있음</a:t>
            </a:r>
            <a:endParaRPr sz="125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7" name="Google Shape;147;g317e8d1f02e_3_257"/>
          <p:cNvSpPr/>
          <p:nvPr/>
        </p:nvSpPr>
        <p:spPr>
          <a:xfrm>
            <a:off x="1837500" y="4409975"/>
            <a:ext cx="782700" cy="91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17e8d1f02e_3_257"/>
          <p:cNvSpPr txBox="1"/>
          <p:nvPr/>
        </p:nvSpPr>
        <p:spPr>
          <a:xfrm>
            <a:off x="1837500" y="4558175"/>
            <a:ext cx="782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</a:rPr>
              <a:t>S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g317e8d1f02e_3_257"/>
          <p:cNvSpPr txBox="1"/>
          <p:nvPr/>
        </p:nvSpPr>
        <p:spPr>
          <a:xfrm>
            <a:off x="1837500" y="524217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anchor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g317e8d1f02e_3_257"/>
          <p:cNvSpPr/>
          <p:nvPr/>
        </p:nvSpPr>
        <p:spPr>
          <a:xfrm>
            <a:off x="3473650" y="4188725"/>
            <a:ext cx="1082700" cy="9114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g317e8d1f02e_3_257"/>
          <p:cNvSpPr txBox="1"/>
          <p:nvPr/>
        </p:nvSpPr>
        <p:spPr>
          <a:xfrm>
            <a:off x="3473650" y="433692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</a:rPr>
              <a:t>T1</a:t>
            </a:r>
            <a:r>
              <a:rPr baseline="-25000" i="1" lang="en-US" sz="2800">
                <a:solidFill>
                  <a:schemeClr val="dk1"/>
                </a:solidFill>
              </a:rPr>
              <a:t>aug</a:t>
            </a:r>
            <a:endParaRPr/>
          </a:p>
        </p:txBody>
      </p:sp>
      <p:sp>
        <p:nvSpPr>
          <p:cNvPr id="152" name="Google Shape;152;g317e8d1f02e_3_257"/>
          <p:cNvSpPr txBox="1"/>
          <p:nvPr/>
        </p:nvSpPr>
        <p:spPr>
          <a:xfrm>
            <a:off x="3473650" y="502092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g317e8d1f02e_3_257"/>
          <p:cNvSpPr txBox="1"/>
          <p:nvPr/>
        </p:nvSpPr>
        <p:spPr>
          <a:xfrm>
            <a:off x="4747650" y="6283225"/>
            <a:ext cx="15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g317e8d1f02e_3_257"/>
          <p:cNvSpPr/>
          <p:nvPr/>
        </p:nvSpPr>
        <p:spPr>
          <a:xfrm>
            <a:off x="2655575" y="4724525"/>
            <a:ext cx="782700" cy="282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g317e8d1f02e_3_257"/>
          <p:cNvSpPr/>
          <p:nvPr/>
        </p:nvSpPr>
        <p:spPr>
          <a:xfrm rot="1511866">
            <a:off x="2865829" y="5577014"/>
            <a:ext cx="1636194" cy="28222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g317e8d1f02e_3_257"/>
          <p:cNvSpPr/>
          <p:nvPr/>
        </p:nvSpPr>
        <p:spPr>
          <a:xfrm>
            <a:off x="4709498" y="5321375"/>
            <a:ext cx="1506000" cy="9114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g317e8d1f02e_3_257"/>
          <p:cNvSpPr txBox="1"/>
          <p:nvPr/>
        </p:nvSpPr>
        <p:spPr>
          <a:xfrm>
            <a:off x="4930900" y="561147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</a:rPr>
              <a:t>T2</a:t>
            </a:r>
            <a:r>
              <a:rPr baseline="-25000" i="1" lang="en-US" sz="2800">
                <a:solidFill>
                  <a:schemeClr val="dk1"/>
                </a:solidFill>
              </a:rPr>
              <a:t>aug</a:t>
            </a:r>
            <a:endParaRPr/>
          </a:p>
        </p:txBody>
      </p:sp>
      <p:sp>
        <p:nvSpPr>
          <p:cNvPr id="158" name="Google Shape;158;g317e8d1f02e_3_257"/>
          <p:cNvSpPr/>
          <p:nvPr/>
        </p:nvSpPr>
        <p:spPr>
          <a:xfrm>
            <a:off x="6866700" y="4333775"/>
            <a:ext cx="782700" cy="9114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g317e8d1f02e_3_257"/>
          <p:cNvSpPr txBox="1"/>
          <p:nvPr/>
        </p:nvSpPr>
        <p:spPr>
          <a:xfrm>
            <a:off x="6866700" y="4481975"/>
            <a:ext cx="7827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</a:rPr>
              <a:t>S</a:t>
            </a:r>
            <a:endParaRPr i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g317e8d1f02e_3_257"/>
          <p:cNvSpPr txBox="1"/>
          <p:nvPr/>
        </p:nvSpPr>
        <p:spPr>
          <a:xfrm>
            <a:off x="6866700" y="516597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anchor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g317e8d1f02e_3_257"/>
          <p:cNvSpPr/>
          <p:nvPr/>
        </p:nvSpPr>
        <p:spPr>
          <a:xfrm>
            <a:off x="8502850" y="4112525"/>
            <a:ext cx="1082700" cy="911400"/>
          </a:xfrm>
          <a:prstGeom prst="rect">
            <a:avLst/>
          </a:prstGeom>
          <a:solidFill>
            <a:srgbClr val="4A86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chemeClr val="accent1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g317e8d1f02e_3_257"/>
          <p:cNvSpPr txBox="1"/>
          <p:nvPr/>
        </p:nvSpPr>
        <p:spPr>
          <a:xfrm>
            <a:off x="8502850" y="426072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000">
                <a:solidFill>
                  <a:schemeClr val="dk1"/>
                </a:solidFill>
              </a:rPr>
              <a:t>T1</a:t>
            </a:r>
            <a:r>
              <a:rPr baseline="-25000" i="1" lang="en-US" sz="2800">
                <a:solidFill>
                  <a:schemeClr val="dk1"/>
                </a:solidFill>
              </a:rPr>
              <a:t>aug</a:t>
            </a:r>
            <a:endParaRPr/>
          </a:p>
        </p:txBody>
      </p:sp>
      <p:sp>
        <p:nvSpPr>
          <p:cNvPr id="163" name="Google Shape;163;g317e8d1f02e_3_257"/>
          <p:cNvSpPr txBox="1"/>
          <p:nvPr/>
        </p:nvSpPr>
        <p:spPr>
          <a:xfrm>
            <a:off x="8502850" y="4944725"/>
            <a:ext cx="782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positive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17e8d1f02e_3_257"/>
          <p:cNvSpPr txBox="1"/>
          <p:nvPr/>
        </p:nvSpPr>
        <p:spPr>
          <a:xfrm>
            <a:off x="9776850" y="6207025"/>
            <a:ext cx="15996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negative</a:t>
            </a:r>
            <a:endParaRPr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g317e8d1f02e_3_257"/>
          <p:cNvSpPr/>
          <p:nvPr/>
        </p:nvSpPr>
        <p:spPr>
          <a:xfrm>
            <a:off x="7684775" y="4648325"/>
            <a:ext cx="782700" cy="282300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17e8d1f02e_3_257"/>
          <p:cNvSpPr/>
          <p:nvPr/>
        </p:nvSpPr>
        <p:spPr>
          <a:xfrm rot="1511866">
            <a:off x="7895029" y="5500814"/>
            <a:ext cx="1636194" cy="282224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g317e8d1f02e_3_257"/>
          <p:cNvSpPr/>
          <p:nvPr/>
        </p:nvSpPr>
        <p:spPr>
          <a:xfrm>
            <a:off x="9738698" y="5245175"/>
            <a:ext cx="1506000" cy="911400"/>
          </a:xfrm>
          <a:prstGeom prst="triangle">
            <a:avLst>
              <a:gd fmla="val 5000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43434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g317e8d1f02e_3_257"/>
          <p:cNvSpPr txBox="1"/>
          <p:nvPr/>
        </p:nvSpPr>
        <p:spPr>
          <a:xfrm>
            <a:off x="9960100" y="5535275"/>
            <a:ext cx="1225500" cy="6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</a:rPr>
              <a:t>T1</a:t>
            </a:r>
            <a:r>
              <a:rPr baseline="-25000" i="1" lang="en-US" sz="2800">
                <a:solidFill>
                  <a:schemeClr val="dk1"/>
                </a:solidFill>
              </a:rPr>
              <a:t>aug</a:t>
            </a:r>
            <a:endParaRPr/>
          </a:p>
        </p:txBody>
      </p:sp>
      <p:pic>
        <p:nvPicPr>
          <p:cNvPr id="169" name="Google Shape;169;g317e8d1f02e_3_2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5163" y="1429725"/>
            <a:ext cx="1098232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7e8d1f02e_3_55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" name="Google Shape;175;g317e8d1f02e_3_55"/>
          <p:cNvSpPr txBox="1"/>
          <p:nvPr/>
        </p:nvSpPr>
        <p:spPr>
          <a:xfrm>
            <a:off x="242600" y="644350"/>
            <a:ext cx="11187300" cy="43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</a:t>
            </a: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Triplet </a:t>
            </a: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loss </a:t>
            </a:r>
            <a:r>
              <a:rPr b="1"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및 Margin을</a:t>
            </a: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제안하는 Reward : source 원본 image와 target aug image 사이의 triplet loss + Least Confidence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Max(LeastConficence(Unconfidence Target Image`))</a:t>
            </a: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: 도메인 변화로 인해 unconfidence해진 target image들을 confidence하게 예측하도록 바꾸는 augmentation을 찾자!</a:t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</a:rPr>
              <a:t>목표 : 도메인 변화로 인해 unconfidence한 Target 이미지를 augmentation으로 confidence하게 바꾸는 것</a:t>
            </a:r>
            <a:endParaRPr sz="12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○"/>
            </a:pPr>
            <a:r>
              <a:rPr lang="en-US" sz="1250">
                <a:solidFill>
                  <a:schemeClr val="dk1"/>
                </a:solidFill>
              </a:rPr>
              <a:t> Augmentation이 잘못된 class에 대해 confidence를 높일 가능성도 있지만, Reward 계산 과정에서 Triplet Loss와 Least Confidence를 동시에 고려하므로, 최종적으로 선택된 augmentation(policy)는 올바른 class에 대해 confidence를 높이는 방향으로 작동할 것 </a:t>
            </a:r>
            <a:endParaRPr sz="1250">
              <a:solidFill>
                <a:schemeClr val="dk1"/>
              </a:solidFill>
            </a:endParaRPr>
          </a:p>
          <a:p>
            <a:pPr indent="0" lvl="0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-307975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50"/>
              <a:buChar char="○"/>
            </a:pPr>
            <a:r>
              <a:rPr lang="en-US" sz="1250">
                <a:solidFill>
                  <a:srgbClr val="FF0000"/>
                </a:solidFill>
              </a:rPr>
              <a:t>문제점 : 정말로 최종적으로 선택된 augmentation(policy)는 올바른 class에 대해 confidence를 높이는 방향으로 작동할 것인가?</a:t>
            </a:r>
            <a:endParaRPr sz="125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76" name="Google Shape;176;g317e8d1f02e_3_5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975" y="1477600"/>
            <a:ext cx="10982325" cy="89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75c13a6e3_2_160"/>
          <p:cNvSpPr txBox="1"/>
          <p:nvPr/>
        </p:nvSpPr>
        <p:spPr>
          <a:xfrm>
            <a:off x="242596" y="214584"/>
            <a:ext cx="9862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4EA72E"/>
                </a:solidFill>
                <a:latin typeface="Noto Sans KR"/>
                <a:ea typeface="Noto Sans KR"/>
                <a:cs typeface="Noto Sans KR"/>
                <a:sym typeface="Noto Sans KR"/>
              </a:rPr>
              <a:t>아이디어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g3175c13a6e3_2_160"/>
          <p:cNvSpPr txBox="1"/>
          <p:nvPr/>
        </p:nvSpPr>
        <p:spPr>
          <a:xfrm>
            <a:off x="242600" y="644350"/>
            <a:ext cx="11187300" cy="17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rPr b="1" i="0" lang="en-US" sz="1250" u="none" cap="none" strike="noStrike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Contrastive loss를 활용한 Test Time Auto Augmentation</a:t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-3079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Font typeface="Consolas"/>
              <a:buChar char="-"/>
            </a:pPr>
            <a:r>
              <a:rPr lang="en-US" sz="125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코드 작성 정도 : reward 정의만 되면 바로 실험 가능</a:t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0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50"/>
              <a:buFont typeface="Arial"/>
              <a:buNone/>
            </a:pPr>
            <a:r>
              <a:t/>
            </a:r>
            <a:endParaRPr b="1" i="0" sz="1250" u="none" cap="none" strike="noStrike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183" name="Google Shape;183;g3175c13a6e3_2_1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6025" y="0"/>
            <a:ext cx="3348701" cy="647662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175c13a6e3_2_1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6250" y="2804801"/>
            <a:ext cx="6258499" cy="22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2013 - 2022 테마">
  <a:themeElements>
    <a:clrScheme name="Office 2013 - 2022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테마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2024-05-05T08:04:52Z</dcterms:created>
  <dc:creator>김나연</dc:creator>
</cp:coreProperties>
</file>