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Noto Sans KR"/>
      <p:regular r:id="rId14"/>
      <p:bold r:id="rId15"/>
    </p:embeddedFont>
    <p:embeddedFont>
      <p:font typeface="Noto Sans Medium"/>
      <p:regular r:id="rId16"/>
      <p:bold r:id="rId17"/>
      <p:italic r:id="rId18"/>
      <p:boldItalic r:id="rId19"/>
    </p:embeddedFont>
    <p:embeddedFont>
      <p:font typeface="Noto Sans"/>
      <p:regular r:id="rId20"/>
      <p:bold r:id="rId21"/>
      <p:italic r:id="rId22"/>
      <p:boldItalic r:id="rId23"/>
    </p:embeddedFont>
    <p:embeddedFont>
      <p:font typeface="Noto Sa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QWM920x01FLKXHrZpT74TvOuu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regular.fntdata"/><Relationship Id="rId22" Type="http://schemas.openxmlformats.org/officeDocument/2006/relationships/font" Target="fonts/NotoSans-italic.fntdata"/><Relationship Id="rId21" Type="http://schemas.openxmlformats.org/officeDocument/2006/relationships/font" Target="fonts/NotoSans-bold.fntdata"/><Relationship Id="rId24" Type="http://schemas.openxmlformats.org/officeDocument/2006/relationships/font" Target="fonts/NotoSansSemiBold-regular.fntdata"/><Relationship Id="rId23" Type="http://schemas.openxmlformats.org/officeDocument/2006/relationships/font" Target="fonts/Noto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SemiBold-italic.fntdata"/><Relationship Id="rId25" Type="http://schemas.openxmlformats.org/officeDocument/2006/relationships/font" Target="fonts/NotoSansSemiBold-bold.fntdata"/><Relationship Id="rId28" Type="http://customschemas.google.com/relationships/presentationmetadata" Target="metadata"/><Relationship Id="rId27" Type="http://schemas.openxmlformats.org/officeDocument/2006/relationships/font" Target="fonts/NotoSans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NotoSansKR-bold.fntdata"/><Relationship Id="rId14" Type="http://schemas.openxmlformats.org/officeDocument/2006/relationships/font" Target="fonts/NotoSansKR-regular.fntdata"/><Relationship Id="rId17" Type="http://schemas.openxmlformats.org/officeDocument/2006/relationships/font" Target="fonts/NotoSansMedium-bold.fntdata"/><Relationship Id="rId16" Type="http://schemas.openxmlformats.org/officeDocument/2006/relationships/font" Target="fonts/NotoSansMedium-regular.fntdata"/><Relationship Id="rId19" Type="http://schemas.openxmlformats.org/officeDocument/2006/relationships/font" Target="fonts/NotoSansMedium-boldItalic.fntdata"/><Relationship Id="rId18" Type="http://schemas.openxmlformats.org/officeDocument/2006/relationships/font" Target="fonts/Noto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1abaf2e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2d1abaf2e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1abaf2e2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2d1abaf2e26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KR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KR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K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K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oto Sans KR"/>
              <a:buNone/>
              <a:defRPr b="0" i="0" sz="4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92479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42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1" Type="http://schemas.openxmlformats.org/officeDocument/2006/relationships/image" Target="../media/image13.png"/><Relationship Id="rId10" Type="http://schemas.openxmlformats.org/officeDocument/2006/relationships/image" Target="../media/image45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1.png"/><Relationship Id="rId8" Type="http://schemas.openxmlformats.org/officeDocument/2006/relationships/image" Target="../media/image3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11" Type="http://schemas.openxmlformats.org/officeDocument/2006/relationships/image" Target="../media/image17.png"/><Relationship Id="rId10" Type="http://schemas.openxmlformats.org/officeDocument/2006/relationships/image" Target="../media/image26.png"/><Relationship Id="rId9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44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30.png"/><Relationship Id="rId10" Type="http://schemas.openxmlformats.org/officeDocument/2006/relationships/image" Target="../media/image28.png"/><Relationship Id="rId9" Type="http://schemas.openxmlformats.org/officeDocument/2006/relationships/image" Target="../media/image32.png"/><Relationship Id="rId5" Type="http://schemas.openxmlformats.org/officeDocument/2006/relationships/image" Target="../media/image43.png"/><Relationship Id="rId6" Type="http://schemas.openxmlformats.org/officeDocument/2006/relationships/image" Target="../media/image38.png"/><Relationship Id="rId7" Type="http://schemas.openxmlformats.org/officeDocument/2006/relationships/image" Target="../media/image34.png"/><Relationship Id="rId8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10" Type="http://schemas.openxmlformats.org/officeDocument/2006/relationships/image" Target="../media/image54.png"/><Relationship Id="rId9" Type="http://schemas.openxmlformats.org/officeDocument/2006/relationships/image" Target="../media/image56.png"/><Relationship Id="rId5" Type="http://schemas.openxmlformats.org/officeDocument/2006/relationships/image" Target="../media/image40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Relationship Id="rId8" Type="http://schemas.openxmlformats.org/officeDocument/2006/relationships/image" Target="../media/image5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Relationship Id="rId10" Type="http://schemas.openxmlformats.org/officeDocument/2006/relationships/image" Target="../media/image48.png"/><Relationship Id="rId9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58.png"/><Relationship Id="rId8" Type="http://schemas.openxmlformats.org/officeDocument/2006/relationships/image" Target="../media/image5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2400" u="none" cap="none" strike="noStrike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33700" y="1074275"/>
            <a:ext cx="5523900" cy="106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01277" y="1083300"/>
            <a:ext cx="5523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labeled dataset : 50   /   1회당 클래스별 1개씩 총 6개 쿼리 선택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 모델 : ResNet50</a:t>
            </a:r>
            <a:r>
              <a:rPr lang="ko-KR" sz="11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Adam        Epoch : 50           Learning Rate : 0.001          Iteration : 20    </a:t>
            </a:r>
            <a:endParaRPr sz="1100">
              <a:solidFill>
                <a:schemeClr val="accent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MC dropout 15회 </a:t>
            </a:r>
            <a:r>
              <a:rPr lang="ko-KR"/>
              <a:t>       </a:t>
            </a:r>
            <a:r>
              <a:rPr lang="ko-KR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실험 2회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auroc 평균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9075" y="3625350"/>
            <a:ext cx="1658675" cy="1541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275" y="2298702"/>
            <a:ext cx="2255275" cy="2250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4551" y="2293682"/>
            <a:ext cx="2260300" cy="225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3975" y="2298702"/>
            <a:ext cx="2255275" cy="225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998150" y="1074275"/>
            <a:ext cx="576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전반적으로</a:t>
            </a: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 f1 score와 정확도가 많이 낮은 편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아직 20회씩 2번만 진행한 상태이긴 하나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Auroc, f1 에서 meanSTD와 variation ratio 값이 random 보다 좋지 않음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275" y="4577475"/>
            <a:ext cx="2260310" cy="2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1585" y="4577475"/>
            <a:ext cx="2255265" cy="2275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5240" y="4580021"/>
            <a:ext cx="2260310" cy="22754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7209075" y="3137875"/>
            <a:ext cx="132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실험별 평균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7209075" y="5377425"/>
            <a:ext cx="13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상위 그래프를 5단위로 평균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2400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도메인별 auroc</a:t>
            </a:r>
            <a:endParaRPr sz="1200">
              <a:solidFill>
                <a:srgbClr val="75707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0091" y="3007058"/>
            <a:ext cx="1490863" cy="141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97" y="1458999"/>
            <a:ext cx="2175082" cy="219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5980" y="1458999"/>
            <a:ext cx="2175082" cy="219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897" y="3657596"/>
            <a:ext cx="2175082" cy="219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81313" y="3657595"/>
            <a:ext cx="2175082" cy="219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75125" y="1461024"/>
            <a:ext cx="2175083" cy="219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50208" y="1456973"/>
            <a:ext cx="2222972" cy="219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75125" y="3659621"/>
            <a:ext cx="2175083" cy="219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50208" y="3655570"/>
            <a:ext cx="2222972" cy="219859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510902" y="5897700"/>
            <a:ext cx="720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Auroc 값이 증가하는 추세며 Repeat 다음으로는 cameraz 가 우수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방법론들이 random 보다 성능이 좋은지 나타나지 않음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2400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4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도메인별 f1</a:t>
            </a:r>
            <a:endParaRPr sz="1200">
              <a:solidFill>
                <a:srgbClr val="75707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8403" y="2934014"/>
            <a:ext cx="1490863" cy="141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18" y="1249274"/>
            <a:ext cx="2123143" cy="219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4361" y="1249274"/>
            <a:ext cx="2202540" cy="2226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218" y="3448874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90827" y="3453861"/>
            <a:ext cx="2176076" cy="21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541230" y="5716550"/>
            <a:ext cx="757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F1 score 가 전반적으로 낮은 편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9201" y="1249274"/>
            <a:ext cx="2123143" cy="219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72344" y="1275391"/>
            <a:ext cx="2176075" cy="214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49201" y="3448874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25276" y="3475626"/>
            <a:ext cx="2123143" cy="214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2400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5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도메인별 정확도</a:t>
            </a:r>
            <a:endParaRPr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337" y="136963"/>
            <a:ext cx="1490863" cy="141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18" y="1279923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7294" y="1279923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218" y="3479523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7294" y="3479523"/>
            <a:ext cx="2176074" cy="21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476199" y="5705250"/>
            <a:ext cx="935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Accuracy의 경우 repeat 및 cameraz 는 증가하는 추세를 보이나 다른 도메인에서는 향상이 보이지 않음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2" name="Google Shape;16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2189" y="1306040"/>
            <a:ext cx="2176075" cy="214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88265" y="1279923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12189" y="3479523"/>
            <a:ext cx="2176074" cy="2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88264" y="3505639"/>
            <a:ext cx="2176076" cy="2147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2400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6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방법별 도메인 내 성능 비교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1624854" y="5494716"/>
            <a:ext cx="8048438" cy="8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Sampling 전략에 따른 도메인별 auroc 값 비교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도메인인 repeat 의 값이 가장 좋음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전략이 가장 효율적인지는 반복 실험을 조금 더 진행하여야 알 수 있을 것으로 추정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41" y="1249959"/>
            <a:ext cx="1948051" cy="196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5861" y="1244515"/>
            <a:ext cx="2032942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115" y="1244515"/>
            <a:ext cx="1911178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6372" y="1244515"/>
            <a:ext cx="1948175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45902" y="3283258"/>
            <a:ext cx="2032942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854" y="3283258"/>
            <a:ext cx="1958824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41068" y="3283258"/>
            <a:ext cx="1958824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2115" y="3283258"/>
            <a:ext cx="1911177" cy="1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2400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2" name="Google Shape;192;p7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7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방법별 도메인 내 성능 비교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624854" y="5494716"/>
            <a:ext cx="80484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Sampling 전략에 따른 도메인별 f1 score 값 비교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도메인인 repeat 의 값이 가장 좋음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전략이 가장 효율적인지는 반복 실험을 조금 더 진행하여야 알 수 있을 것으로 추정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41" y="1249959"/>
            <a:ext cx="1948050" cy="196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6744" y="1244515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116" y="1244515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4871" y="1244515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5608" y="3283258"/>
            <a:ext cx="1953529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854" y="3283258"/>
            <a:ext cx="1958823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41068" y="3283258"/>
            <a:ext cx="1958823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2115" y="3283258"/>
            <a:ext cx="1911176" cy="1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11887200" y="6447453"/>
            <a:ext cx="111967" cy="139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0" y="0"/>
            <a:ext cx="791467" cy="82109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56422" y="168533"/>
            <a:ext cx="6786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sz="2400">
              <a:solidFill>
                <a:srgbClr val="F2F2F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961055" y="521730"/>
            <a:ext cx="7483151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8"/>
          <p:cNvSpPr txBox="1"/>
          <p:nvPr/>
        </p:nvSpPr>
        <p:spPr>
          <a:xfrm>
            <a:off x="904631" y="136963"/>
            <a:ext cx="6857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889383" y="572025"/>
            <a:ext cx="55240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방법별 도메인 내 성능 비교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1624854" y="5494716"/>
            <a:ext cx="8048438" cy="8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Sampling 전략에 따른 도메인별 accuracy 값 비교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도메인인 repeat 의 값이 가장 좋으며 그 다음으로는 cameraz 가 가장 우수함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전략이 가장 효율적인지는 반복 실험을 조금 더 진행하여야 알 수 있을 것으로 추정</a:t>
            </a:r>
            <a:endParaRPr sz="1200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854" y="1249959"/>
            <a:ext cx="1958823" cy="196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608" y="1244515"/>
            <a:ext cx="1932312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116" y="1244515"/>
            <a:ext cx="1911176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4871" y="1244515"/>
            <a:ext cx="1911176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5608" y="3288595"/>
            <a:ext cx="1953529" cy="19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4854" y="3283258"/>
            <a:ext cx="1958823" cy="19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4891" y="3283258"/>
            <a:ext cx="1911176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62115" y="3283258"/>
            <a:ext cx="1911176" cy="197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1abaf2e26_0_0"/>
          <p:cNvSpPr/>
          <p:nvPr/>
        </p:nvSpPr>
        <p:spPr>
          <a:xfrm>
            <a:off x="11887200" y="6447453"/>
            <a:ext cx="111900" cy="140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2d1abaf2e26_0_0"/>
          <p:cNvSpPr/>
          <p:nvPr/>
        </p:nvSpPr>
        <p:spPr>
          <a:xfrm>
            <a:off x="0" y="0"/>
            <a:ext cx="791400" cy="82110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g2d1abaf2e26_0_0"/>
          <p:cNvSpPr txBox="1"/>
          <p:nvPr/>
        </p:nvSpPr>
        <p:spPr>
          <a:xfrm>
            <a:off x="56422" y="168533"/>
            <a:ext cx="6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g2d1abaf2e26_0_0"/>
          <p:cNvCxnSpPr/>
          <p:nvPr/>
        </p:nvCxnSpPr>
        <p:spPr>
          <a:xfrm>
            <a:off x="961055" y="521730"/>
            <a:ext cx="7483200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g2d1abaf2e26_0_0"/>
          <p:cNvSpPr txBox="1"/>
          <p:nvPr/>
        </p:nvSpPr>
        <p:spPr>
          <a:xfrm>
            <a:off x="904631" y="136963"/>
            <a:ext cx="68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g2d1abaf2e26_0_0"/>
          <p:cNvSpPr txBox="1"/>
          <p:nvPr/>
        </p:nvSpPr>
        <p:spPr>
          <a:xfrm>
            <a:off x="889383" y="572025"/>
            <a:ext cx="552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CLIP Zero-shot Domain Classification</a:t>
            </a:r>
            <a:endParaRPr sz="1200">
              <a:solidFill>
                <a:srgbClr val="757070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233" name="Google Shape;233;g2d1abaf2e26_0_0"/>
          <p:cNvSpPr txBox="1"/>
          <p:nvPr/>
        </p:nvSpPr>
        <p:spPr>
          <a:xfrm>
            <a:off x="1624854" y="5494716"/>
            <a:ext cx="804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CLIP이 도메인 변화에 대해서 잘 파악할 수 있는지 체크하는 실험 진행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분류는 normal, lcondition, brightness, cameraz 이렇게 4가지 도메인에 대해 분류 진행 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사용한 프롬프트는 다음과 같음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234" name="Google Shape;234;g2d1abaf2e2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62" y="1322208"/>
            <a:ext cx="10571212" cy="3372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1abaf2e26_0_11"/>
          <p:cNvSpPr/>
          <p:nvPr/>
        </p:nvSpPr>
        <p:spPr>
          <a:xfrm>
            <a:off x="11887200" y="6447453"/>
            <a:ext cx="111900" cy="140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g2d1abaf2e26_0_11"/>
          <p:cNvSpPr/>
          <p:nvPr/>
        </p:nvSpPr>
        <p:spPr>
          <a:xfrm>
            <a:off x="0" y="0"/>
            <a:ext cx="791400" cy="82110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g2d1abaf2e26_0_11"/>
          <p:cNvSpPr txBox="1"/>
          <p:nvPr/>
        </p:nvSpPr>
        <p:spPr>
          <a:xfrm>
            <a:off x="56422" y="168533"/>
            <a:ext cx="6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g2d1abaf2e26_0_11"/>
          <p:cNvCxnSpPr/>
          <p:nvPr/>
        </p:nvCxnSpPr>
        <p:spPr>
          <a:xfrm>
            <a:off x="961055" y="521730"/>
            <a:ext cx="7483200" cy="0"/>
          </a:xfrm>
          <a:prstGeom prst="straightConnector1">
            <a:avLst/>
          </a:prstGeom>
          <a:noFill/>
          <a:ln cap="flat" cmpd="sng" w="28575">
            <a:solidFill>
              <a:srgbClr val="1A7A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g2d1abaf2e26_0_11"/>
          <p:cNvSpPr txBox="1"/>
          <p:nvPr/>
        </p:nvSpPr>
        <p:spPr>
          <a:xfrm>
            <a:off x="904631" y="136963"/>
            <a:ext cx="68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Google Shape;244;g2d1abaf2e26_0_11"/>
          <p:cNvSpPr txBox="1"/>
          <p:nvPr/>
        </p:nvSpPr>
        <p:spPr>
          <a:xfrm>
            <a:off x="889383" y="572025"/>
            <a:ext cx="552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757070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CLIP Zero-shot Domain Classification</a:t>
            </a:r>
            <a:endParaRPr sz="1200">
              <a:solidFill>
                <a:srgbClr val="757070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245" name="Google Shape;245;g2d1abaf2e26_0_11"/>
          <p:cNvSpPr txBox="1"/>
          <p:nvPr/>
        </p:nvSpPr>
        <p:spPr>
          <a:xfrm>
            <a:off x="961055" y="4914145"/>
            <a:ext cx="9661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모든 Test dataset에 대해 실험 결과, AUROC:0.5812 / Acc:0.4059 / F1:0.2673</a:t>
            </a:r>
            <a:endParaRPr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Cameraz와 brightness라는 도메인은 분류를 잘하지만, normal과 lcondition이라는 도메인에 대해 약한 모습을 보임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F3F3F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Normal 이라는 환경 자체가 상당히 모호하고 주관적인 표현이기에 성능이 잘 나오지 않는 것으로 판단</a:t>
            </a:r>
            <a:endParaRPr sz="1200">
              <a:solidFill>
                <a:srgbClr val="3F3F3F"/>
              </a:solidFill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  <p:pic>
        <p:nvPicPr>
          <p:cNvPr id="246" name="Google Shape;246;g2d1abaf2e26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552" y="1332242"/>
            <a:ext cx="11318647" cy="3241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2024-01-06T11:16:28Z</dcterms:created>
  <dc:creator>나연</dc:creator>
</cp:coreProperties>
</file>