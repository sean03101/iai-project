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Noto Sans KR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wxBN6xUzJg/lUaMVCajWw5T1K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NotoSansKR-bold.fntdata"/><Relationship Id="rId10" Type="http://schemas.openxmlformats.org/officeDocument/2006/relationships/slide" Target="slides/slide5.xml"/><Relationship Id="rId21" Type="http://schemas.openxmlformats.org/officeDocument/2006/relationships/font" Target="fonts/NotoSansKR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pdf/1807.06521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cdbc04084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4cdbc04084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g34cdbc04084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cdbc04084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4cdbc04084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4cdbc04084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cdbc04084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4cdbc04084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4cdbc04084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새로 해 본 것</a:t>
            </a:r>
            <a:br>
              <a:rPr lang="en-US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: 각 픽셀별로 도출된 6개의 값을 soft label 이라고 간주하고, 모델의 logit 을 이 soft label 에 맞추도록 함</a:t>
            </a:r>
            <a:br>
              <a:rPr lang="en-US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-&gt; F1 score 0.3 점대</a:t>
            </a:r>
            <a:endParaRPr/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f0945bc02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4f0945bc02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4f0945bc02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f0945bc02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4f0945bc02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4f0945bc02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f0945bc02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4f0945bc02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4f0945bc02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4f0945bc02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4f0945bc02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https://arxiv.org/pdf/1807.06521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https://velog.io/@conel77/%EB%85%BC%EB%AC%B8-%EB%A6%AC%EB%B7%B0CBAM-Convolutional-Block-Attention-Module</a:t>
            </a:r>
            <a:endParaRPr/>
          </a:p>
        </p:txBody>
      </p:sp>
      <p:sp>
        <p:nvSpPr>
          <p:cNvPr id="201" name="Google Shape;201;g34f0945bc02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f0945bc02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4f0945bc02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4f0945bc02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258671672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5258671672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g35258671672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525867167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525867167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525867167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5258671672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5258671672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g35258671672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ijcai.org/proceedings/2022/0141.pdf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openaccess.thecvf.com/content/ICCV2023/papers/Jung_CAFA_Class-Aware_Feature_Alignment_for_Test-Time_Adaptation_ICCV_2023_paper.pdf" TargetMode="External"/><Relationship Id="rId4" Type="http://schemas.openxmlformats.org/officeDocument/2006/relationships/image" Target="../media/image14.png"/><Relationship Id="rId5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164746" y="2982609"/>
            <a:ext cx="986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2504</a:t>
            </a:r>
            <a:r>
              <a:rPr b="1" lang="en-US" sz="2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18</a:t>
            </a:r>
            <a:r>
              <a:rPr b="1" i="0" lang="en-US" sz="2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 실험 결과</a:t>
            </a:r>
            <a:endParaRPr b="1" i="0" sz="2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이전 미팅 코드 잘못 작성한 부분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6255" y="49056"/>
            <a:ext cx="4291296" cy="195523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 txBox="1"/>
          <p:nvPr/>
        </p:nvSpPr>
        <p:spPr>
          <a:xfrm>
            <a:off x="324725" y="699984"/>
            <a:ext cx="105372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attention map 이 모델 업데이트에 들어가지 않고 있었으며,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이로 인해 원래 TENT 와 똑같은 BN 통계량이 수집되고 있었음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그럼에도 성능이 조금 잘 나왔던 이유에 대한 생각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 코드 실수로 Grad CAM 이 업데이트에 사용되진 않았으나, Grad CAM 을 계산하는 과정은 존재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 Grad CAM 을 계산하는 과정에서 forward / backward 가 일어남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 optimize 를 수행하진 않기 때문에 모델 파라미터가 업데이트 되진 않지만, 위 과정에서 gradient 가 수집됨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 그리고 TENT 를 수행하며 BN 평균, 분산을 수집하기 위해 원래의 forward/backward 가 일어남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&gt; 앞서 GradCAM 구할 때 계산된 gradient += (TENT forward backward 로 인한 gradient)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논리적으로 이게 좀 더 좋아진 이유는 잘 모르겠으나… gradient 가 두 번 쌓인 것이 우연히 조금 더 좋은 성능을 만들어 낸 것으로 추정됨…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242596" y="4367709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수정 후 ) GradCAM map 에 해당되는 부분만 BN 수집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324725" y="4853109"/>
            <a:ext cx="10537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성능이 굉장히 안좋고, 예측을 전혀 하지 못함 (기울기 소실 혹은 폭주 문제 추정)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BN 레이어의 역할이 해당 feature map 의 평균과 분산으로부터 이미지 전체를 정규화하는 것인데,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일부 국소적인 부위의 평균과 분산을 구해서 전체 이미지를 정규화하기에는 문제가 있을 것이라고 생각…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예측 확률을 가중치로 합산해도 좋지 않음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00" name="Google Shape;10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5000" y="4096425"/>
            <a:ext cx="373380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324725" y="699984"/>
            <a:ext cx="10537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클래스끼리 attention map 이 커버하는 범위는 통계량이 비슷해야 한다… 는 아이디어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참고논문 (</a:t>
            </a:r>
            <a:r>
              <a:rPr lang="en-US" sz="1200" u="sng">
                <a:solidFill>
                  <a:schemeClr val="hlink"/>
                </a:solidFill>
                <a:latin typeface="Noto Sans KR"/>
                <a:ea typeface="Noto Sans KR"/>
                <a:cs typeface="Noto Sans KR"/>
                <a:sym typeface="Noto Sans KR"/>
                <a:hlinkClick r:id="rId3"/>
              </a:rPr>
              <a:t>Robustifying Vision Transformer without Retraining from Scratch by Test-Time Class-Conditional Feature Alignment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선행연구는 ViT 를 이용하여 Test Time Adaptation 을 수행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단, source data 에서 얻은 클래스별 prototype 이 있다고 가정함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08" name="Google Shape;10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8500" y="2555866"/>
            <a:ext cx="1704213" cy="406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2660" y="1644236"/>
            <a:ext cx="3075491" cy="76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5746200" y="3609675"/>
            <a:ext cx="349800" cy="251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324725" y="4021734"/>
            <a:ext cx="105372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위 논문을 토대로,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attention map 이 커버하는 범위 내에서는 평균(및 분산)이 같은 클래스끼리 비슷해야 한다는 가설 설정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(실험)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AutoNum type="arabicParenR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한 배치 내에서 예측값을 기반으로 pseudo label 설정 : 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AutoNum type="arabicParenR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pseudo label 이 2개 이상일 경우, 각 인스턴스에서 Grad CAM map 에 포함되는 부분의 feature map (layer4 output) 값들끼리 유사하도록 설정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유사하도록 규제하는 방법 : | 각 인스턴스들의 채널별 평균값(N,C) - 이 클래스로 분류된 인스턴스들의 채널별 평균값의 평균(C) | L2 norm 설정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AutoNum type="arabicPeriod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Entropy Minimization 으로 전반적인 Test Time Adaptation 수행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AutoNum type="arabicPeriod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국소 부위에 집중한 attention map 을 기반으로 해당 범위 내 feature 들이 비슷해지도록, 보다 확실해질수 있도록 도움 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12" name="Google Shape;112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1775" y="2061212"/>
            <a:ext cx="2013000" cy="70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1775" y="2925762"/>
            <a:ext cx="2857227" cy="76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2873700" y="2061213"/>
            <a:ext cx="301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source data 에서 얻은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클래스별 feature vector 의 평균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3388350" y="3047438"/>
            <a:ext cx="30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data 의 feature vector 평균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6538500" y="3108488"/>
            <a:ext cx="520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✅ source data 의 feature vector 평균과, target data 의 feature vector 평균이 가까워지도록 feature alignment Loss 설정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cdbc04084_0_19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4cdbc04084_0_19"/>
          <p:cNvSpPr txBox="1"/>
          <p:nvPr/>
        </p:nvSpPr>
        <p:spPr>
          <a:xfrm>
            <a:off x="324725" y="1669459"/>
            <a:ext cx="10537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이점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Ex) Scratch 처럼 결함 부위가 상/하/좌/우 위치가 달라도 서로 통계량이 비슷할 수 있도록 규제 가능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결함이 있는 부위만 집중적으로 주시하며 같은 클래스끼리 feature 특징을 강화할 수 있음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24" name="Google Shape;124;g34cdbc04084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8325" y="15319"/>
            <a:ext cx="2390230" cy="2669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4cdbc04084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48027" y="0"/>
            <a:ext cx="2543973" cy="2669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4cdbc04084_0_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58291" y="2792955"/>
            <a:ext cx="2123452" cy="1159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4cdbc04084_0_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43697" y="2777219"/>
            <a:ext cx="2123452" cy="117528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4cdbc04084_0_19"/>
          <p:cNvSpPr txBox="1"/>
          <p:nvPr/>
        </p:nvSpPr>
        <p:spPr>
          <a:xfrm>
            <a:off x="324725" y="3835750"/>
            <a:ext cx="11800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단점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예시 사진에서 보다시피, 실제 결함 부위와 GradCAM map 이 안맞는 부분도 많이 존재…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아예 예측 및 GradCAM 부위가 틀리는 경우도 많이 존재, 특히 domain shift 가 일어나는 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domain 에서는 이를 믿음직한 attention map 이라고 보기 어려움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-&gt; threshold 등을 도입하여 믿음직한 GradCAM map + feature map 만 사용하는 방법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-&gt; overconfidence 한 예측도 많음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    -&gt; 하지만 TENT 도 현재 예측값이 맞는지 틀린지 모르지만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라벨이 없기 때문에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전반적으로 Entropy 를 줄이는 방향으로 학습시키는 것이니까 Fully Test Time Adaptation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        환경에서는 어쩔 수 없는 부분이지 않을까 생각…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cdbc04084_0_41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 </a:t>
            </a: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4cdbc04084_0_41"/>
          <p:cNvSpPr txBox="1"/>
          <p:nvPr/>
        </p:nvSpPr>
        <p:spPr>
          <a:xfrm>
            <a:off x="324725" y="652125"/>
            <a:ext cx="11800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Consistency Loss 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Entropy 는 사용하지 않고, 그냥 feature map 간 consistency 만 비교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BN 만 업데이트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attention map 중 상위 20% 값만 사용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6" name="Google Shape;136;g34cdbc04084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25" y="2128900"/>
            <a:ext cx="5934075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4cdbc04084_0_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163" y="4243450"/>
            <a:ext cx="5943600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4cdbc04084_0_41"/>
          <p:cNvSpPr txBox="1"/>
          <p:nvPr/>
        </p:nvSpPr>
        <p:spPr>
          <a:xfrm>
            <a:off x="1628963" y="17596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TENT 의 auc / f1 score</a:t>
            </a:r>
            <a:endParaRPr/>
          </a:p>
        </p:txBody>
      </p:sp>
      <p:sp>
        <p:nvSpPr>
          <p:cNvPr id="139" name="Google Shape;139;g34cdbc04084_0_41"/>
          <p:cNvSpPr txBox="1"/>
          <p:nvPr/>
        </p:nvSpPr>
        <p:spPr>
          <a:xfrm>
            <a:off x="7445679" y="1759600"/>
            <a:ext cx="386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consistency loss 로 학습했을 때 auc / f1 score</a:t>
            </a:r>
            <a:endParaRPr/>
          </a:p>
        </p:txBody>
      </p:sp>
      <p:pic>
        <p:nvPicPr>
          <p:cNvPr id="140" name="Google Shape;140;g34cdbc04084_0_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30100" y="1"/>
            <a:ext cx="3861900" cy="17596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g34cdbc04084_0_41"/>
          <p:cNvCxnSpPr/>
          <p:nvPr/>
        </p:nvCxnSpPr>
        <p:spPr>
          <a:xfrm>
            <a:off x="6162663" y="1771425"/>
            <a:ext cx="0" cy="463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2" name="Google Shape;142;g34cdbc04084_0_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3175" y="2165450"/>
            <a:ext cx="5872350" cy="420457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4cdbc04084_0_41"/>
          <p:cNvSpPr txBox="1"/>
          <p:nvPr/>
        </p:nvSpPr>
        <p:spPr>
          <a:xfrm>
            <a:off x="0" y="6319425"/>
            <a:ext cx="1169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성능이 좋아지기도 나빠지기도 하지만 대부분 0.001 범위에서 변동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하지만 Entropy 없이 consistency 만 사용했을 때도 entropy 와 유사한 성능을 보이는 점이 발전 가능성이 있다고 생각…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cdbc04084_0_64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 실험 결과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4cdbc04084_0_64"/>
          <p:cNvSpPr txBox="1"/>
          <p:nvPr/>
        </p:nvSpPr>
        <p:spPr>
          <a:xfrm>
            <a:off x="324725" y="652125"/>
            <a:ext cx="118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2.   (0.5 * Entropy Loss) + (0.5 * Consistency Loss)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51" name="Google Shape;151;g34cdbc04084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50" y="2251000"/>
            <a:ext cx="5934075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4cdbc04084_0_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9512" y="4365550"/>
            <a:ext cx="5943600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4cdbc04084_0_64"/>
          <p:cNvSpPr txBox="1"/>
          <p:nvPr/>
        </p:nvSpPr>
        <p:spPr>
          <a:xfrm>
            <a:off x="1628963" y="18817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TENT 의 auc / f1 score</a:t>
            </a:r>
            <a:endParaRPr/>
          </a:p>
        </p:txBody>
      </p:sp>
      <p:sp>
        <p:nvSpPr>
          <p:cNvPr id="154" name="Google Shape;154;g34cdbc04084_0_64"/>
          <p:cNvSpPr txBox="1"/>
          <p:nvPr/>
        </p:nvSpPr>
        <p:spPr>
          <a:xfrm>
            <a:off x="7445679" y="1881700"/>
            <a:ext cx="386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consistency loss 로 학습했을 때 auc / f1 score</a:t>
            </a:r>
            <a:endParaRPr/>
          </a:p>
        </p:txBody>
      </p:sp>
      <p:pic>
        <p:nvPicPr>
          <p:cNvPr id="155" name="Google Shape;155;g34cdbc04084_0_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30100" y="1"/>
            <a:ext cx="3861900" cy="17596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g34cdbc04084_0_64"/>
          <p:cNvCxnSpPr/>
          <p:nvPr/>
        </p:nvCxnSpPr>
        <p:spPr>
          <a:xfrm>
            <a:off x="6007088" y="1893525"/>
            <a:ext cx="0" cy="493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7" name="Google Shape;157;g34cdbc04084_0_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6500" y="2251000"/>
            <a:ext cx="6039025" cy="436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9"/>
          <p:cNvPicPr preferRelativeResize="0"/>
          <p:nvPr/>
        </p:nvPicPr>
        <p:blipFill rotWithShape="1">
          <a:blip r:embed="rId3">
            <a:alphaModFix/>
          </a:blip>
          <a:srcRect b="5824" l="0" r="0" t="12262"/>
          <a:stretch/>
        </p:blipFill>
        <p:spPr>
          <a:xfrm>
            <a:off x="5377450" y="0"/>
            <a:ext cx="6814552" cy="287244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기타 </a:t>
            </a: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시도해본 것들 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324725" y="463813"/>
            <a:ext cx="105372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524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클래스별 도출된 attention 값을 픽셀별로 정렬하여 모델 업데이트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attention map 을 기반으로, 해당 픽셀이 각 클래스로 예측될 확률에 미친 영향을 알 수 있음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하고자 했던 것 : 각 픽셀별로 도출된 6개의 값을 entropy minimization 하는 방향으로 업데이트…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(문제점) GradCAM 은 이미 사전에 도출된 값이므로 gradient 가 흐르지 않음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f0945bc02_0_86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기타 </a:t>
            </a: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시도해본 것들 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4f0945bc02_0_86"/>
          <p:cNvSpPr txBox="1"/>
          <p:nvPr/>
        </p:nvSpPr>
        <p:spPr>
          <a:xfrm>
            <a:off x="324725" y="463813"/>
            <a:ext cx="105372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524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Attention map 을 인스턴스의 중요도 score 로 가중치 부여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실험적으로 확인한 결과, 올바른 예측에서는 attention map 이 강한 수치를 가지고 + 중앙에 집중된다는 특성을 가짐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따라서 이러한 특징을 가진 attention map 이면 보다 확실하게 클래스 특징을 집중하는 신뢰성이 비교적 높은 인스턴스라고 가정하고 weight 를 높게 부여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우선 Grad CAM attention map 값들의 max 값을 인스턴스의 가중치로 사용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3" name="Google Shape;173;g34f0945bc02_0_86"/>
          <p:cNvSpPr txBox="1"/>
          <p:nvPr/>
        </p:nvSpPr>
        <p:spPr>
          <a:xfrm>
            <a:off x="870525" y="2522175"/>
            <a:ext cx="1034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+) GradCAM 의 원본 라이브러리 코드 경우 : attention score 가 모두 각각 0~1로 정규화되어 출력됨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따라서 0~1로 정규화 되도록 하는 부분을 제거 후 실제 값을 사용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74" name="Google Shape;174;g34f0945bc02_0_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8600" y="3472324"/>
            <a:ext cx="8909051" cy="141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4f0945bc02_0_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8600" y="4966350"/>
            <a:ext cx="8928423" cy="141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4f0945bc02_0_17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기타 </a:t>
            </a: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시도해본 것들 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4f0945bc02_0_17"/>
          <p:cNvSpPr txBox="1"/>
          <p:nvPr/>
        </p:nvSpPr>
        <p:spPr>
          <a:xfrm>
            <a:off x="324725" y="344138"/>
            <a:ext cx="105372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524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Attention map 을 인스턴스의 중요도 score 로 가중치 부여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실험적으로 확인한 결과, 올바른 예측에서는 attention map 이 강한 수치를 가지고 + 중앙에 집중된다는 특성을 가짐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따라서 이러한 특징을 가진 attention map 이면 보다 확실하게 클래스 특징을 집중하는 신뢰성이 비교적 높은 인스턴스라고 가정하고 weight 를 높게 부여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우선 Grad CAM attention map 값들의 max 값을 인스턴스의 가중치로 사용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83" name="Google Shape;183;g34f0945bc02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0" y="2047525"/>
            <a:ext cx="5934075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4f0945bc02_0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" y="4162075"/>
            <a:ext cx="5943600" cy="2124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g34f0945bc02_0_17"/>
          <p:cNvCxnSpPr/>
          <p:nvPr/>
        </p:nvCxnSpPr>
        <p:spPr>
          <a:xfrm>
            <a:off x="6005488" y="1690050"/>
            <a:ext cx="0" cy="493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6" name="Google Shape;186;g34f0945bc02_0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2175" y="2042763"/>
            <a:ext cx="6124601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4f0945bc02_0_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7400" y="4194575"/>
            <a:ext cx="6142595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4f0945bc02_0_17"/>
          <p:cNvSpPr txBox="1"/>
          <p:nvPr/>
        </p:nvSpPr>
        <p:spPr>
          <a:xfrm>
            <a:off x="152400" y="6426925"/>
            <a:ext cx="1196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하지만 이미 pseudo label 로 예측하는 클래스는 올바른 예측이든 overconfidence 한 예측이든 attention map 의 값이 높기 때문에 가중치의 의미가 크게 없는 것 같다고 생각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4f0945bc02_0_44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기타 </a:t>
            </a: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시도해본 것들 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4f0945bc02_0_44"/>
          <p:cNvSpPr txBox="1"/>
          <p:nvPr/>
        </p:nvSpPr>
        <p:spPr>
          <a:xfrm>
            <a:off x="324725" y="344138"/>
            <a:ext cx="105372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524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Attention map 을 인스턴스의 중요도 score 로 가중치 부여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실험적으로 확인한 결과, 올바른 예측에서는 attention map 이 강한 수치를 가지고 + 중앙에 집중된다는 특성을 가짐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따라서 이러한 특징을 가진 attention map 이면 보다 확실하게 클래스 특징을 집중하는 신뢰성이 비교적 높은 인스턴스라고 가정하고 weight 를 높게 부여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우선 Grad CAM attention map 값들의 max 값을 인스턴스의 가중치로 사용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6" name="Google Shape;196;g34f0945bc02_0_44"/>
          <p:cNvSpPr txBox="1"/>
          <p:nvPr/>
        </p:nvSpPr>
        <p:spPr>
          <a:xfrm>
            <a:off x="152400" y="6426925"/>
            <a:ext cx="1196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하지만 이미 pseudo label 로 예측하는 클래스는 올바른 예측이든 overconfidence 한 예측이든 attention map 의 값이 높기 때문에 가중치의 의미가 크게 없는 것 같다고 생각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97" name="Google Shape;197;g34f0945bc02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262" y="3126275"/>
            <a:ext cx="9261476" cy="189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f0945bc02_0_4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기타 </a:t>
            </a: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시도해본 것들 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4f0945bc02_0_4"/>
          <p:cNvSpPr txBox="1"/>
          <p:nvPr/>
        </p:nvSpPr>
        <p:spPr>
          <a:xfrm>
            <a:off x="324725" y="463825"/>
            <a:ext cx="117150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524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2. CBAM: Convolutional Block Attention Module</a:t>
            </a:r>
            <a:endParaRPr b="1" sz="12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GradCAM attention map 을 feature map 에 곱하는 등의 방식을 Test Time 때 적용하기에는, 모델이 학습 시 보았던 feature 의 범위와 달라질 수 있어 일반화에 어려움을 겪을 것이라고 생각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따라서 모델 학습 시 부터 attention map 을 활용하는 CBAM 모델을 실험적으로 학습시켜봄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Channel Attention Module : 어느 채널이 중요한지 측정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Spatial Attention Module : 어느 위치가 중요한지 측정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두 모듈 + feature map 이 합산된 feature 를 새로 생성하여 다음 레이어에 전달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05" name="Google Shape;205;g34f0945bc02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50" y="4042935"/>
            <a:ext cx="5753850" cy="174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4f0945bc02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1800" y="3428988"/>
            <a:ext cx="5657800" cy="296815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4f0945bc02_0_4"/>
          <p:cNvSpPr txBox="1"/>
          <p:nvPr/>
        </p:nvSpPr>
        <p:spPr>
          <a:xfrm>
            <a:off x="152400" y="6397150"/>
            <a:ext cx="688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시 수렴되지 않았음……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4f0945bc02_0_57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추후 연구 방향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4f0945bc02_0_57"/>
          <p:cNvSpPr txBox="1"/>
          <p:nvPr/>
        </p:nvSpPr>
        <p:spPr>
          <a:xfrm>
            <a:off x="324725" y="523663"/>
            <a:ext cx="10537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524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Attention map 이 커버하는 범위의 feature alignment 방법 변경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방법 : 각 인스턴스들의 채널별 평균값이, 해당 pseudo label 로 분류된 인스턴스들의 채널별 평균값들의 평균과 가까워지도록 L2 norm 설정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cosine similarity 등 다른 규제 방법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contrastive learning 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다른 pseudo label 로 분류된 것들을 negative 로 한 triplet loss 적용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5" name="Google Shape;215;g34f0945bc02_0_57"/>
          <p:cNvSpPr/>
          <p:nvPr/>
        </p:nvSpPr>
        <p:spPr>
          <a:xfrm>
            <a:off x="1688800" y="2144850"/>
            <a:ext cx="287400" cy="299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4f0945bc02_0_57"/>
          <p:cNvSpPr/>
          <p:nvPr/>
        </p:nvSpPr>
        <p:spPr>
          <a:xfrm>
            <a:off x="2801875" y="1797775"/>
            <a:ext cx="287400" cy="299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4f0945bc02_0_57"/>
          <p:cNvSpPr/>
          <p:nvPr/>
        </p:nvSpPr>
        <p:spPr>
          <a:xfrm>
            <a:off x="2068600" y="3350500"/>
            <a:ext cx="287400" cy="299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4f0945bc02_0_57"/>
          <p:cNvSpPr/>
          <p:nvPr/>
        </p:nvSpPr>
        <p:spPr>
          <a:xfrm>
            <a:off x="3421050" y="2560575"/>
            <a:ext cx="287400" cy="299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4f0945bc02_0_57"/>
          <p:cNvSpPr/>
          <p:nvPr/>
        </p:nvSpPr>
        <p:spPr>
          <a:xfrm>
            <a:off x="3089275" y="3310775"/>
            <a:ext cx="287400" cy="299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4f0945bc02_0_57"/>
          <p:cNvSpPr/>
          <p:nvPr/>
        </p:nvSpPr>
        <p:spPr>
          <a:xfrm>
            <a:off x="2514475" y="2560575"/>
            <a:ext cx="287400" cy="299100"/>
          </a:xfrm>
          <a:prstGeom prst="ellipse">
            <a:avLst/>
          </a:prstGeom>
          <a:solidFill>
            <a:srgbClr val="54813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g34f0945bc02_0_57"/>
          <p:cNvCxnSpPr>
            <a:stCxn id="215" idx="5"/>
            <a:endCxn id="220" idx="1"/>
          </p:cNvCxnSpPr>
          <p:nvPr/>
        </p:nvCxnSpPr>
        <p:spPr>
          <a:xfrm>
            <a:off x="1934111" y="2400148"/>
            <a:ext cx="622500" cy="20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g34f0945bc02_0_57"/>
          <p:cNvCxnSpPr>
            <a:stCxn id="220" idx="6"/>
          </p:cNvCxnSpPr>
          <p:nvPr/>
        </p:nvCxnSpPr>
        <p:spPr>
          <a:xfrm flipH="1" rot="10800000">
            <a:off x="2801875" y="2700225"/>
            <a:ext cx="6225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g34f0945bc02_0_57"/>
          <p:cNvCxnSpPr>
            <a:endCxn id="216" idx="3"/>
          </p:cNvCxnSpPr>
          <p:nvPr/>
        </p:nvCxnSpPr>
        <p:spPr>
          <a:xfrm flipH="1" rot="10800000">
            <a:off x="2677464" y="2053073"/>
            <a:ext cx="166500" cy="51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g34f0945bc02_0_57"/>
          <p:cNvCxnSpPr>
            <a:endCxn id="220" idx="3"/>
          </p:cNvCxnSpPr>
          <p:nvPr/>
        </p:nvCxnSpPr>
        <p:spPr>
          <a:xfrm flipH="1" rot="10800000">
            <a:off x="2282364" y="2815873"/>
            <a:ext cx="274200" cy="5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g34f0945bc02_0_57"/>
          <p:cNvCxnSpPr>
            <a:stCxn id="220" idx="5"/>
          </p:cNvCxnSpPr>
          <p:nvPr/>
        </p:nvCxnSpPr>
        <p:spPr>
          <a:xfrm>
            <a:off x="2759786" y="2815873"/>
            <a:ext cx="377100" cy="50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g34f0945bc02_0_57"/>
          <p:cNvSpPr txBox="1"/>
          <p:nvPr/>
        </p:nvSpPr>
        <p:spPr>
          <a:xfrm>
            <a:off x="2103125" y="2340825"/>
            <a:ext cx="119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채널별 mean</a:t>
            </a:r>
            <a:endParaRPr/>
          </a:p>
        </p:txBody>
      </p:sp>
      <p:pic>
        <p:nvPicPr>
          <p:cNvPr id="227" name="Google Shape;227;g34f0945bc02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8899" y="2001175"/>
            <a:ext cx="4747500" cy="40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4f0945bc02_0_57"/>
          <p:cNvSpPr/>
          <p:nvPr/>
        </p:nvSpPr>
        <p:spPr>
          <a:xfrm>
            <a:off x="7302050" y="5005350"/>
            <a:ext cx="4424400" cy="9696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258671672_0_64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5258671672_0_64"/>
          <p:cNvSpPr txBox="1"/>
          <p:nvPr/>
        </p:nvSpPr>
        <p:spPr>
          <a:xfrm>
            <a:off x="324725" y="699984"/>
            <a:ext cx="10537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추가 참고논문 (</a:t>
            </a:r>
            <a:r>
              <a:rPr lang="en-US" sz="1200" u="sng">
                <a:solidFill>
                  <a:schemeClr val="hlink"/>
                </a:solidFill>
                <a:latin typeface="Noto Sans KR"/>
                <a:ea typeface="Noto Sans KR"/>
                <a:cs typeface="Noto Sans KR"/>
                <a:sym typeface="Noto Sans KR"/>
                <a:hlinkClick r:id="rId3"/>
              </a:rPr>
              <a:t>CAFA: Class-Aware Feature Alignment for Test-Time Adaptation</a:t>
            </a:r>
            <a:b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</a:b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(Jung, Sanghun, et al. "Cafa: Class-aware feature alignment for test-time adaptation." </a:t>
            </a:r>
            <a:r>
              <a:rPr i="1" lang="en-US" sz="1000">
                <a:solidFill>
                  <a:srgbClr val="222222"/>
                </a:solidFill>
                <a:highlight>
                  <a:srgbClr val="FFFFFF"/>
                </a:highlight>
              </a:rPr>
              <a:t>Proceedings of the IEEE/CVF International Conference on Computer Vision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. 2023.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36" name="Google Shape;236;g35258671672_0_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425" y="2070052"/>
            <a:ext cx="4085700" cy="131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5258671672_0_64"/>
          <p:cNvSpPr txBox="1"/>
          <p:nvPr/>
        </p:nvSpPr>
        <p:spPr>
          <a:xfrm>
            <a:off x="5071500" y="2246875"/>
            <a:ext cx="7029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source data 로 부터 클래스별 특징 분포 추출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feature extractor 의 output 평균값과 / 공분산 행렬 추출하여 해당 클래스의 가우시안 분포 prototype 생성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38" name="Google Shape;238;g35258671672_0_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025" y="4329975"/>
            <a:ext cx="354330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5258671672_0_64"/>
          <p:cNvSpPr txBox="1"/>
          <p:nvPr/>
        </p:nvSpPr>
        <p:spPr>
          <a:xfrm>
            <a:off x="5071500" y="4063050"/>
            <a:ext cx="702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일반적인 Entropy Minimization Loss 등은 단순히 Intra class distance 만 고려하고 있음을 비판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왼쪽 Loss 식을 통해 Intra class distance 는 가깝게, Inter class distance 는 멀어지도록 학습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Distance 는 마할라노비스 거리로 측정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하여 단순 평균 뿐 아니라 분포의 방향성도 고려 가능(?)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258671672_0_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추후 연구 방향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5258671672_0_0"/>
          <p:cNvSpPr txBox="1"/>
          <p:nvPr/>
        </p:nvSpPr>
        <p:spPr>
          <a:xfrm>
            <a:off x="324725" y="523663"/>
            <a:ext cx="10537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524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Attention map 이 커버하는 범위의 feature alignment 방법 변경 - cosine similarity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47" name="Google Shape;247;g3525867167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0" y="2047525"/>
            <a:ext cx="5934075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5258671672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" y="4162075"/>
            <a:ext cx="5943600" cy="2124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g35258671672_0_0"/>
          <p:cNvCxnSpPr/>
          <p:nvPr/>
        </p:nvCxnSpPr>
        <p:spPr>
          <a:xfrm>
            <a:off x="6005488" y="1690050"/>
            <a:ext cx="0" cy="493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0" name="Google Shape;250;g35258671672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5988" y="2047513"/>
            <a:ext cx="5943612" cy="4284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5258671672_0_5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추후 연구 방향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5258671672_0_50"/>
          <p:cNvSpPr txBox="1"/>
          <p:nvPr/>
        </p:nvSpPr>
        <p:spPr>
          <a:xfrm>
            <a:off x="324725" y="523663"/>
            <a:ext cx="10537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524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Attention map 이 커버하는 범위의 feature alignment 방법 변경 - 0.5*cosine similarity + 0.5*entropy</a:t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단순 cosine similarity 보다 아주 미세하게 증가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58" name="Google Shape;258;g35258671672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0" y="2047525"/>
            <a:ext cx="5934075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5258671672_0_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" y="4162075"/>
            <a:ext cx="5943600" cy="2124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" name="Google Shape;260;g35258671672_0_50"/>
          <p:cNvCxnSpPr/>
          <p:nvPr/>
        </p:nvCxnSpPr>
        <p:spPr>
          <a:xfrm>
            <a:off x="6005488" y="1690050"/>
            <a:ext cx="0" cy="493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1" name="Google Shape;261;g35258671672_0_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5988" y="2008801"/>
            <a:ext cx="5943612" cy="4293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