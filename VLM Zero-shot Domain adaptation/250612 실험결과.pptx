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</p:sldIdLst>
  <p:sldSz cy="6858000" cx="12192000"/>
  <p:notesSz cx="6858000" cy="9144000"/>
  <p:embeddedFontLst>
    <p:embeddedFont>
      <p:font typeface="Noto Sans KR"/>
      <p:regular r:id="rId11"/>
      <p:bold r:id="rId12"/>
    </p:embeddedFont>
    <p:embeddedFont>
      <p:font typeface="Noto Sans"/>
      <p:regular r:id="rId13"/>
      <p:bold r:id="rId14"/>
      <p:italic r:id="rId15"/>
      <p:boldItalic r:id="rId1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GoogleSlidesCustomDataVersion2">
      <go:slidesCustomData xmlns:go="http://customooxmlschemas.google.com/" r:id="rId17" roundtripDataSignature="AMtx7mgcRGBbkA8d+J4ytlqIYp0Muit1h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8B3BA1F4-1C56-40C8-BE4E-DABD96283836}">
  <a:tblStyle styleId="{8B3BA1F4-1C56-40C8-BE4E-DABD96283836}" styleName="Table_0">
    <a:wholeTbl>
      <a:tcTxStyle b="off" i="off">
        <a:font>
          <a:latin typeface="Arial"/>
          <a:ea typeface="Arial"/>
          <a:cs typeface="Arial"/>
        </a:font>
        <a:srgbClr val="000000"/>
      </a:tcTx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384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font" Target="fonts/NotoSansKR-regular.fntdata"/><Relationship Id="rId10" Type="http://schemas.openxmlformats.org/officeDocument/2006/relationships/slide" Target="slides/slide4.xml"/><Relationship Id="rId13" Type="http://schemas.openxmlformats.org/officeDocument/2006/relationships/font" Target="fonts/NotoSans-regular.fntdata"/><Relationship Id="rId12" Type="http://schemas.openxmlformats.org/officeDocument/2006/relationships/font" Target="fonts/NotoSansKR-bold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15" Type="http://schemas.openxmlformats.org/officeDocument/2006/relationships/font" Target="fonts/NotoSans-italic.fntdata"/><Relationship Id="rId14" Type="http://schemas.openxmlformats.org/officeDocument/2006/relationships/font" Target="fonts/NotoSans-bold.fntdata"/><Relationship Id="rId17" Type="http://customschemas.google.com/relationships/presentationmetadata" Target="metadata"/><Relationship Id="rId16" Type="http://schemas.openxmlformats.org/officeDocument/2006/relationships/font" Target="fonts/NotoSans-boldItalic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6" name="Google Shape;86;p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7" name="Google Shape;87;p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3611b617d47_0_3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2" name="Google Shape;92;g3611b617d47_0_3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3" name="Google Shape;93;g3611b617d47_0_3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3611b617d47_0_4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0" name="Google Shape;100;g3611b617d47_0_4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1" name="Google Shape;101;g3611b617d47_0_4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제목 슬라이드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2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22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8" name="Google Shape;18;p2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2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2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제목 및 내용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2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23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2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2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2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구역 머리글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4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24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2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2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2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콘텐츠 2개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2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25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6" name="Google Shape;36;p25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7" name="Google Shape;37;p2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2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2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비교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26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26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26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4" name="Google Shape;44;p26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26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6" name="Google Shape;46;p2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2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2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제목만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2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2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빈 화면" type="blank">
  <p:cSld name="BLANK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2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캡션 있는 콘텐츠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29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9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1" name="Google Shape;61;p29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2" name="Google Shape;62;p2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2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캡션 있는 그림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30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30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30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9" name="Google Shape;69;p3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3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3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제목 및 세로 텍스트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3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31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3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3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3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세로 제목 및 텍스트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32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32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3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3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3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21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2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2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2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"/>
          <p:cNvSpPr txBox="1"/>
          <p:nvPr/>
        </p:nvSpPr>
        <p:spPr>
          <a:xfrm>
            <a:off x="1164746" y="2982609"/>
            <a:ext cx="9862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548135"/>
                </a:solidFill>
                <a:latin typeface="Noto Sans KR"/>
                <a:ea typeface="Noto Sans KR"/>
                <a:cs typeface="Noto Sans KR"/>
                <a:sym typeface="Noto Sans KR"/>
              </a:rPr>
              <a:t>250612 실험 결과</a:t>
            </a:r>
            <a:endParaRPr b="1" i="0" sz="2400" u="none" cap="none" strike="noStrike">
              <a:solidFill>
                <a:srgbClr val="548135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3611b617d47_0_30"/>
          <p:cNvSpPr txBox="1"/>
          <p:nvPr/>
        </p:nvSpPr>
        <p:spPr>
          <a:xfrm>
            <a:off x="51126" y="106850"/>
            <a:ext cx="117870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120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1" i="0" lang="en-US" sz="1900" u="none" cap="none" strike="noStrike">
                <a:solidFill>
                  <a:srgbClr val="548135"/>
                </a:solidFill>
                <a:highlight>
                  <a:srgbClr val="FFFFFF"/>
                </a:highlight>
                <a:latin typeface="Noto Sans"/>
                <a:ea typeface="Noto Sans"/>
                <a:cs typeface="Noto Sans"/>
                <a:sym typeface="Noto Sans"/>
              </a:rPr>
              <a:t>Segmentation Baseline 실험 결과</a:t>
            </a:r>
            <a:endParaRPr b="1" i="0" sz="1000" u="none" cap="none" strike="noStrike">
              <a:solidFill>
                <a:srgbClr val="548135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96" name="Google Shape;96;g3611b617d47_0_30"/>
          <p:cNvGraphicFramePr/>
          <p:nvPr/>
        </p:nvGraphicFramePr>
        <p:xfrm>
          <a:off x="202538" y="574904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{8B3BA1F4-1C56-40C8-BE4E-DABD96283836}</a:tableStyleId>
              </a:tblPr>
              <a:tblGrid>
                <a:gridCol w="948750"/>
                <a:gridCol w="1083825"/>
                <a:gridCol w="1083825"/>
                <a:gridCol w="1083825"/>
                <a:gridCol w="1083825"/>
                <a:gridCol w="1083825"/>
                <a:gridCol w="1083825"/>
                <a:gridCol w="1083825"/>
                <a:gridCol w="1083825"/>
                <a:gridCol w="1083825"/>
                <a:gridCol w="1083825"/>
              </a:tblGrid>
              <a:tr h="4857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en-US" sz="1000" u="none" cap="none" strike="noStrik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Drift Type</a:t>
                      </a:r>
                      <a:endParaRPr b="1" sz="1000" u="none" cap="none" strike="noStrik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en-US" sz="1000" u="none" cap="none" strike="noStrik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Resnet101</a:t>
                      </a:r>
                      <a:endParaRPr b="1" sz="1000" u="none" cap="none" strike="noStrik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en-US" sz="1000" u="none" cap="none" strike="noStrik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Resnet101</a:t>
                      </a:r>
                      <a:br>
                        <a:rPr b="1" lang="en-US" sz="1000" u="none" cap="none" strike="noStrik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</a:br>
                      <a:r>
                        <a:rPr b="1" lang="en-US" sz="1000" u="none" cap="none" strike="noStrik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+TENT</a:t>
                      </a:r>
                      <a:endParaRPr b="1" sz="1000" u="none" cap="none" strike="noStrik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en-US" sz="1000" u="none" cap="none" strike="noStrik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MGANet</a:t>
                      </a:r>
                      <a:endParaRPr b="1" sz="1000" u="none" cap="none" strike="noStrik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en-US" sz="1000" u="none" cap="none" strike="noStrik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MGANet</a:t>
                      </a:r>
                      <a:br>
                        <a:rPr b="1" lang="en-US" sz="1000" u="none" cap="none" strike="noStrik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</a:br>
                      <a:r>
                        <a:rPr b="1" lang="en-US" sz="1000" u="none" cap="none" strike="noStrik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+TENT</a:t>
                      </a:r>
                      <a:endParaRPr b="1" sz="1000" u="none" cap="none" strike="noStrik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en-US" sz="1000" u="none" cap="none" strike="noStrik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HRNet</a:t>
                      </a:r>
                      <a:endParaRPr b="1" sz="1000" u="none" cap="none" strike="noStrik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en-US" sz="1000" u="none" cap="none" strike="noStrik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HRNet</a:t>
                      </a:r>
                      <a:br>
                        <a:rPr b="1" lang="en-US" sz="1000" u="none" cap="none" strike="noStrik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</a:br>
                      <a:r>
                        <a:rPr b="1" lang="en-US" sz="1000" u="none" cap="none" strike="noStrik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+ TENT</a:t>
                      </a:r>
                      <a:endParaRPr b="1" sz="1000" u="none" cap="none" strike="noStrik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en-US" sz="1000" u="none" cap="none" strike="noStrik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Segmentation</a:t>
                      </a:r>
                      <a:br>
                        <a:rPr b="1" lang="en-US" sz="1000" u="none" cap="none" strike="noStrik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</a:br>
                      <a:r>
                        <a:rPr b="1" lang="en-US" sz="1000" u="none" cap="none" strike="noStrik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DecisionNet</a:t>
                      </a:r>
                      <a:endParaRPr b="1" sz="1000" u="none" cap="none" strike="noStrik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5DBE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en-US" sz="1000" u="none" cap="none" strike="noStrik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Segmentation</a:t>
                      </a:r>
                      <a:br>
                        <a:rPr b="1" lang="en-US" sz="1000" u="none" cap="none" strike="noStrik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</a:br>
                      <a:r>
                        <a:rPr b="1" lang="en-US" sz="1000" u="none" cap="none" strike="noStrik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DecisionNet</a:t>
                      </a:r>
                      <a:endParaRPr b="1" sz="1000" u="none" cap="none" strike="noStrik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5DBE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en-US" sz="1000" u="none" cap="none" strike="noStrik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Ours</a:t>
                      </a:r>
                      <a:endParaRPr b="1" sz="1000" u="none" cap="none" strike="noStrik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en-US" sz="1000" u="none" cap="none" strike="noStrik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Ours+EATA</a:t>
                      </a:r>
                      <a:endParaRPr b="1" sz="1000" u="none" cap="none" strike="noStrik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</a:tr>
              <a:tr h="3333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en-US" sz="1000" u="none" cap="none" strike="noStrik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No drift</a:t>
                      </a:r>
                      <a:endParaRPr b="1" sz="1000" u="none" cap="none" strike="noStrik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0.9236±0.0169</a:t>
                      </a:r>
                      <a:endParaRPr sz="1000" u="none" cap="none" strike="noStrik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-</a:t>
                      </a:r>
                      <a:endParaRPr sz="1000" u="none" cap="none" strike="noStrik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0.9385±0.0061</a:t>
                      </a:r>
                      <a:endParaRPr sz="1000" u="none" cap="none" strike="noStrik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-</a:t>
                      </a:r>
                      <a:endParaRPr sz="1000" u="none" cap="none" strike="noStrik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0.8053±0.0321</a:t>
                      </a:r>
                      <a:endParaRPr b="1" sz="1000" u="none" cap="none" strike="noStrik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t/>
                      </a:r>
                      <a:endParaRPr b="1" sz="1000" u="none" cap="none" strike="noStrik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00" u="none" cap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0.8841±0.0132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t/>
                      </a:r>
                      <a:endParaRPr b="1" sz="1000" u="none" cap="none" strike="noStrik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en-US" sz="1000" u="none" cap="none" strike="noStrik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0.9442±0.0073</a:t>
                      </a:r>
                      <a:endParaRPr b="1" sz="1000" u="none" cap="none" strike="noStrik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-</a:t>
                      </a:r>
                      <a:endParaRPr sz="1000" u="none" cap="none" strike="noStrik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33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en-US" sz="1000" u="none" cap="none" strike="noStrik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Color 0</a:t>
                      </a:r>
                      <a:endParaRPr b="1" sz="1000" u="none" cap="none" strike="noStrik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0.8869±0.0194</a:t>
                      </a:r>
                      <a:endParaRPr sz="1000" u="none" cap="none" strike="noStrik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0.9161±0.0259</a:t>
                      </a:r>
                      <a:endParaRPr sz="1000" u="none" cap="none" strike="noStrik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0.9494±0.0114</a:t>
                      </a:r>
                      <a:endParaRPr sz="1000" u="none" cap="none" strike="noStrik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0.9159±0.0058</a:t>
                      </a:r>
                      <a:endParaRPr sz="1000" u="none" cap="none" strike="noStrik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0.7962±0.0191</a:t>
                      </a:r>
                      <a:endParaRPr sz="1000" u="none" cap="none" strike="noStrik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0.4945±0.0057</a:t>
                      </a:r>
                      <a:endParaRPr sz="1000" u="none" cap="none" strike="noStrik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00" u="none" cap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0.8818±0.0220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00" u="none" cap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0.9146±0.0000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0.9368±0.0195</a:t>
                      </a:r>
                      <a:endParaRPr sz="1000" u="none" cap="none" strike="noStrik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en-US" sz="1000" u="none" cap="none" strike="noStrik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0.9583±0.0108</a:t>
                      </a:r>
                      <a:endParaRPr b="1" sz="1000" u="none" cap="none" strike="noStrik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33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en-US" sz="1000" u="none" cap="none" strike="noStrik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Color 1</a:t>
                      </a:r>
                      <a:endParaRPr b="1" sz="1000" u="none" cap="none" strike="noStrik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0.9008±0.0185</a:t>
                      </a:r>
                      <a:endParaRPr sz="1000" u="none" cap="none" strike="noStrik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0.9271±0.0106</a:t>
                      </a:r>
                      <a:endParaRPr sz="1000" u="none" cap="none" strike="noStrik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0.9294±0.0082</a:t>
                      </a:r>
                      <a:endParaRPr sz="1000" u="none" cap="none" strike="noStrik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0.9238±0.0066</a:t>
                      </a:r>
                      <a:endParaRPr sz="1000" u="none" cap="none" strike="noStrik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0.7982±0.0299</a:t>
                      </a:r>
                      <a:endParaRPr sz="1000" u="none" cap="none" strike="noStrik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0.5086±0.0118</a:t>
                      </a:r>
                      <a:endParaRPr sz="1000" u="none" cap="none" strike="noStrik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00" u="none" cap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0.8892±0.0155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00" u="none" cap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0.9226±0.0000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0.9373±0.0102</a:t>
                      </a:r>
                      <a:endParaRPr sz="1000" u="none" cap="none" strike="noStrik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en-US" sz="1000" u="none" cap="none" strike="noStrik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0.9528±0.0086</a:t>
                      </a:r>
                      <a:endParaRPr b="1" sz="1000" u="none" cap="none" strike="noStrik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33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en-US" sz="1000" u="none" cap="none" strike="noStrik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Color 2</a:t>
                      </a:r>
                      <a:endParaRPr b="1" sz="1000" u="none" cap="none" strike="noStrik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0.8397±0.0328</a:t>
                      </a:r>
                      <a:endParaRPr sz="1000" u="none" cap="none" strike="noStrik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0.9305±0.0211</a:t>
                      </a:r>
                      <a:endParaRPr sz="1000" u="none" cap="none" strike="noStrik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0.8429±0.0198</a:t>
                      </a:r>
                      <a:endParaRPr sz="1000" u="none" cap="none" strike="noStrik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0.9031±0.0056</a:t>
                      </a:r>
                      <a:endParaRPr sz="1000" u="none" cap="none" strike="noStrik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0.7781±0.0031</a:t>
                      </a:r>
                      <a:endParaRPr sz="1000" u="none" cap="none" strike="noStrik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0.5012±0.0081</a:t>
                      </a:r>
                      <a:endParaRPr sz="1000" u="none" cap="none" strike="noStrik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00" u="none" cap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0.6278±0.0674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00" u="none" cap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0.9041±0.0000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0.9307±0.0092</a:t>
                      </a:r>
                      <a:endParaRPr sz="1000" u="none" cap="none" strike="noStrik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en-US" sz="1000" u="none" cap="none" strike="noStrik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0.9528±0.0066</a:t>
                      </a:r>
                      <a:endParaRPr b="1" sz="1000" u="none" cap="none" strike="noStrik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33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en-US" sz="1000" u="none" cap="none" strike="noStrik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Color 3</a:t>
                      </a:r>
                      <a:endParaRPr b="1" sz="1000" u="none" cap="none" strike="noStrik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0.8132±0.0598</a:t>
                      </a:r>
                      <a:endParaRPr sz="1000" u="none" cap="none" strike="noStrik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0.9183±0.0135</a:t>
                      </a:r>
                      <a:endParaRPr sz="1000" u="none" cap="none" strike="noStrik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0.8600±0.0044</a:t>
                      </a:r>
                      <a:endParaRPr sz="1000" u="none" cap="none" strike="noStrik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0.9245±0.0072</a:t>
                      </a:r>
                      <a:endParaRPr sz="1000" u="none" cap="none" strike="noStrik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0.7927±0.0184</a:t>
                      </a:r>
                      <a:endParaRPr sz="1000" u="none" cap="none" strike="noStrik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0.4918±0.0211</a:t>
                      </a:r>
                      <a:endParaRPr sz="1000" u="none" cap="none" strike="noStrik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00" u="none" cap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0.6820±0.1234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00" u="none" cap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0.9232±0.0002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0.9462±0.0045</a:t>
                      </a:r>
                      <a:endParaRPr sz="1000" u="none" cap="none" strike="noStrik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en-US" sz="1000" u="none" cap="none" strike="noStrik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0.9496±0.0049</a:t>
                      </a:r>
                      <a:endParaRPr b="1" sz="1000" u="none" cap="none" strike="noStrik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33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en-US" sz="1000" u="none" cap="none" strike="noStrik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Brightness 0</a:t>
                      </a:r>
                      <a:endParaRPr b="1" sz="1000" u="none" cap="none" strike="noStrik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0.8084±0.0346</a:t>
                      </a:r>
                      <a:endParaRPr sz="1000" u="none" cap="none" strike="noStrik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0.9017±0.0282</a:t>
                      </a:r>
                      <a:endParaRPr sz="1000" u="none" cap="none" strike="noStrik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0.8168±0.0115</a:t>
                      </a:r>
                      <a:endParaRPr sz="1000" u="none" cap="none" strike="noStrik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0.8727±0.0118</a:t>
                      </a:r>
                      <a:endParaRPr sz="1000" u="none" cap="none" strike="noStrik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0.7315±0.0239</a:t>
                      </a:r>
                      <a:endParaRPr sz="1000" u="none" cap="none" strike="noStrik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0.4910±0.0056</a:t>
                      </a:r>
                      <a:endParaRPr sz="1000" u="none" cap="none" strike="noStrik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00" u="none" cap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0.6368±0.0944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00" u="none" cap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0.8521±0.0000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0.9370±0.0136</a:t>
                      </a:r>
                      <a:endParaRPr sz="1000" u="none" cap="none" strike="noStrik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0.9463±0.0101</a:t>
                      </a:r>
                      <a:endParaRPr sz="1000" u="none" cap="none" strike="noStrik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33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en-US" sz="1000" u="none" cap="none" strike="noStrik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Brightness 1</a:t>
                      </a:r>
                      <a:endParaRPr b="1" sz="1000" u="none" cap="none" strike="noStrik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0.8694±0.0201</a:t>
                      </a:r>
                      <a:endParaRPr sz="1000" u="none" cap="none" strike="noStrik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0.9124±0.0231</a:t>
                      </a:r>
                      <a:endParaRPr sz="1000" u="none" cap="none" strike="noStrik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0.8866±0.0006</a:t>
                      </a:r>
                      <a:endParaRPr sz="1000" u="none" cap="none" strike="noStrik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0.8928±0.0139</a:t>
                      </a:r>
                      <a:endParaRPr sz="1000" u="none" cap="none" strike="noStrik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0.7492±0.0004</a:t>
                      </a:r>
                      <a:endParaRPr sz="1000" u="none" cap="none" strike="noStrik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0.4897±0.0074</a:t>
                      </a:r>
                      <a:endParaRPr sz="1000" u="none" cap="none" strike="noStrik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00" u="none" cap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0.7993±0.0677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00" u="none" cap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0.8936±0.0000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0.9406±0.0096</a:t>
                      </a:r>
                      <a:endParaRPr sz="1000" u="none" cap="none" strike="noStrik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en-US" sz="1000" u="none" cap="none" strike="noStrik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0.9497±0.0095</a:t>
                      </a:r>
                      <a:endParaRPr b="1" sz="1000" u="none" cap="none" strike="noStrik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33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en-US" sz="1000" u="none" cap="none" strike="noStrik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Brightness 2</a:t>
                      </a:r>
                      <a:endParaRPr b="1" sz="1000" u="none" cap="none" strike="noStrik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0.7253±0.1077</a:t>
                      </a:r>
                      <a:endParaRPr sz="1000" u="none" cap="none" strike="noStrik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0.9319±0.0117</a:t>
                      </a:r>
                      <a:endParaRPr sz="1000" u="none" cap="none" strike="noStrik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0.8531±0.0059</a:t>
                      </a:r>
                      <a:endParaRPr sz="1000" u="none" cap="none" strike="noStrik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0.8994±0.0044</a:t>
                      </a:r>
                      <a:endParaRPr sz="1000" u="none" cap="none" strike="noStrik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0.8058±0.0028</a:t>
                      </a:r>
                      <a:endParaRPr sz="1000" u="none" cap="none" strike="noStrik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0.4937±0.0121</a:t>
                      </a:r>
                      <a:endParaRPr sz="1000" u="none" cap="none" strike="noStrik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00" u="none" cap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0.5726±0.0692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00" u="none" cap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0.8966±0.0000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0.9494±0.0054</a:t>
                      </a:r>
                      <a:endParaRPr sz="1000" u="none" cap="none" strike="noStrik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en-US" sz="1000" u="none" cap="none" strike="noStrik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0.9542±0.0056</a:t>
                      </a:r>
                      <a:endParaRPr b="1" sz="1000" u="none" cap="none" strike="noStrik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33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en-US" sz="1000" u="none" cap="none" strike="noStrik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Brightness 3</a:t>
                      </a:r>
                      <a:endParaRPr b="1" sz="1000" u="none" cap="none" strike="noStrik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0.5032±0.0071</a:t>
                      </a:r>
                      <a:endParaRPr sz="1000" u="none" cap="none" strike="noStrik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0.9127±0.0254</a:t>
                      </a:r>
                      <a:endParaRPr sz="1000" u="none" cap="none" strike="noStrik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0.5048±0.0036</a:t>
                      </a:r>
                      <a:endParaRPr sz="1000" u="none" cap="none" strike="noStrik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0.8344±0.0061</a:t>
                      </a:r>
                      <a:endParaRPr sz="1000" u="none" cap="none" strike="noStrik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0.7435±0.0156</a:t>
                      </a:r>
                      <a:endParaRPr sz="1000" u="none" cap="none" strike="noStrik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0.4901±0.0126</a:t>
                      </a:r>
                      <a:endParaRPr sz="1000" u="none" cap="none" strike="noStrik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00" u="none" cap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0.5048±0.0391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00" u="none" cap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0.8356±0.0002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0.9412±0.0034</a:t>
                      </a:r>
                      <a:endParaRPr sz="1000" u="none" cap="none" strike="noStrik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0.9484±0.0052</a:t>
                      </a:r>
                      <a:endParaRPr sz="1000" u="none" cap="none" strike="noStrik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33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en-US" sz="1000" u="none" cap="none" strike="noStrik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Focus 0</a:t>
                      </a:r>
                      <a:endParaRPr b="1" sz="1000" u="none" cap="none" strike="noStrik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0.8774±0.0442</a:t>
                      </a:r>
                      <a:endParaRPr sz="1000" u="none" cap="none" strike="noStrik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0.9084±0.0318</a:t>
                      </a:r>
                      <a:endParaRPr sz="1000" u="none" cap="none" strike="noStrik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0.8178±0.1206</a:t>
                      </a:r>
                      <a:endParaRPr sz="1000" u="none" cap="none" strike="noStrik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0.9101±0.0308</a:t>
                      </a:r>
                      <a:endParaRPr sz="1000" u="none" cap="none" strike="noStrik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0.8007±0.0128</a:t>
                      </a:r>
                      <a:endParaRPr sz="1000" u="none" cap="none" strike="noStrik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0.5156±0.0229</a:t>
                      </a:r>
                      <a:endParaRPr sz="1000" u="none" cap="none" strike="noStrik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00" u="none" cap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0.7772±0.0446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00" u="none" cap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0.7817±0.0000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0.9400±0.0048</a:t>
                      </a:r>
                      <a:endParaRPr sz="1000" u="none" cap="none" strike="noStrik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en-US" sz="1000" u="none" cap="none" strike="noStrik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0.9486±0.0064</a:t>
                      </a:r>
                      <a:endParaRPr b="1" sz="1000" u="none" cap="none" strike="noStrik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33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en-US" sz="1000" u="none" cap="none" strike="noStrik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Focus 1</a:t>
                      </a:r>
                      <a:endParaRPr b="1" sz="1000" u="none" cap="none" strike="noStrik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0.9136±0.0231</a:t>
                      </a:r>
                      <a:endParaRPr sz="1000" u="none" cap="none" strike="noStrik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0.9177±0.0156</a:t>
                      </a:r>
                      <a:endParaRPr sz="1000" u="none" cap="none" strike="noStrik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0.9227±0.0136</a:t>
                      </a:r>
                      <a:endParaRPr sz="1000" u="none" cap="none" strike="noStrik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0.9147±0.0110</a:t>
                      </a:r>
                      <a:endParaRPr sz="1000" u="none" cap="none" strike="noStrik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0.8241±0.0155</a:t>
                      </a:r>
                      <a:endParaRPr b="1" sz="1000" u="none" cap="none" strike="noStrik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0.5020±0.0115</a:t>
                      </a:r>
                      <a:endParaRPr b="1" sz="1000" u="none" cap="none" strike="noStrik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00" u="none" cap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0.8878±0.0046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00" u="none" cap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0.8789±0.0000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en-US" sz="1000" u="none" cap="none" strike="noStrik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0.9526±0.0093</a:t>
                      </a:r>
                      <a:endParaRPr b="1" sz="1000" u="none" cap="none" strike="noStrik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0.9522±0.0064</a:t>
                      </a:r>
                      <a:endParaRPr sz="1000" u="none" cap="none" strike="noStrik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33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en-US" sz="1000" u="none" cap="none" strike="noStrik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Focus 2</a:t>
                      </a:r>
                      <a:endParaRPr b="1" sz="1000" u="none" cap="none" strike="noStrik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0.8822±0.0534</a:t>
                      </a:r>
                      <a:endParaRPr sz="1000" u="none" cap="none" strike="noStrik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0.9010±0.0373</a:t>
                      </a:r>
                      <a:endParaRPr sz="1000" u="none" cap="none" strike="noStrik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0.9164±0.0194</a:t>
                      </a:r>
                      <a:endParaRPr sz="1000" u="none" cap="none" strike="noStrik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0.9221±0.0010</a:t>
                      </a:r>
                      <a:endParaRPr sz="1000" u="none" cap="none" strike="noStrik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0.7223±0.0265</a:t>
                      </a:r>
                      <a:endParaRPr sz="1000" u="none" cap="none" strike="noStrik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0.4853±0.0089</a:t>
                      </a:r>
                      <a:endParaRPr sz="1000" u="none" cap="none" strike="noStrik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00" u="none" cap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0.7541±0.0234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00" u="none" cap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0.8295±0.0002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0.9344±0.0021</a:t>
                      </a:r>
                      <a:endParaRPr sz="1000" u="none" cap="none" strike="noStrik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en-US" sz="1000" u="none" cap="none" strike="noStrik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0.9393±0.0020</a:t>
                      </a:r>
                      <a:endParaRPr b="1" sz="1000" u="none" cap="none" strike="noStrik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33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en-US" sz="1000" u="none" cap="none" strike="noStrik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Focus 3</a:t>
                      </a:r>
                      <a:endParaRPr b="1" sz="1000" u="none" cap="none" strike="noStrik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0.7922±0.1121</a:t>
                      </a:r>
                      <a:endParaRPr sz="1000" u="none" cap="none" strike="noStrik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0.8499±0.0423</a:t>
                      </a:r>
                      <a:endParaRPr sz="1000" u="none" cap="none" strike="noStrik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0.8509±0.0198</a:t>
                      </a:r>
                      <a:endParaRPr sz="1000" u="none" cap="none" strike="noStrik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0.8643±0.0301</a:t>
                      </a:r>
                      <a:endParaRPr sz="1000" u="none" cap="none" strike="noStrik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0.6966±0.0086</a:t>
                      </a:r>
                      <a:endParaRPr b="1" sz="1000" u="none" cap="none" strike="noStrik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0.5019±0.0172</a:t>
                      </a:r>
                      <a:endParaRPr b="1" sz="1000" u="none" cap="none" strike="noStrik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00" u="none" cap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0.5707±0.0064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00" u="none" cap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0.7439±0.0000</a:t>
                      </a:r>
                      <a:endParaRPr/>
                    </a:p>
                  </a:txBody>
                  <a:tcPr marT="9525" marB="0" marR="9525" marL="95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en-US" sz="1000" u="none" cap="none" strike="noStrik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0.9092±0.0080</a:t>
                      </a:r>
                      <a:endParaRPr b="1" sz="1000" u="none" cap="none" strike="noStrik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0.9194±0.0040</a:t>
                      </a:r>
                      <a:endParaRPr sz="1000" u="none" cap="none" strike="noStrik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97" name="Google Shape;97;g3611b617d47_0_30"/>
          <p:cNvSpPr txBox="1"/>
          <p:nvPr/>
        </p:nvSpPr>
        <p:spPr>
          <a:xfrm>
            <a:off x="0" y="5380498"/>
            <a:ext cx="12107400" cy="147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048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lgun Gothic"/>
              <a:buChar char="-"/>
            </a:pPr>
            <a:r>
              <a:rPr lang="en-US" sz="12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MGANet : segmentation mask 를 이용하여 segmentation 모델 학습 후, 예측 mask 를 이용하여 classification 수행</a:t>
            </a:r>
            <a:endParaRPr sz="12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3048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lgun Gothic"/>
              <a:buChar char="-"/>
            </a:pPr>
            <a:r>
              <a:rPr b="0" i="0" lang="en-US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HRNet : TENT 논문에서 사용한 segmentaion 모델로서, 분류 모델이 아니기 때문에 auroc 를 측정하기 모호하다는 단점 존재</a:t>
            </a:r>
            <a:endParaRPr b="0" i="0" sz="12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3048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lgun Gothic"/>
              <a:buChar char="-"/>
            </a:pPr>
            <a:r>
              <a:rPr b="0" i="0" lang="en-US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SegmentationDecisionNet : 1) segmentation mask 를 이용하여 segmentation 모델 학습 2) segmentation 모델에서 추출한 feature 를 활용하여 classification 수행</a:t>
            </a:r>
            <a:br>
              <a:rPr b="0" i="0" lang="en-US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</a:br>
            <a:r>
              <a:rPr b="0" i="0" lang="en-US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                                  : 여러가지 커널 사이즈를 활용하여 미세 결함 탐지에 특화</a:t>
            </a:r>
            <a:br>
              <a:rPr b="0" i="0" lang="en-US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</a:br>
            <a:r>
              <a:rPr b="0" i="0" lang="en-US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                                  : DAGM/kolektorSDD 데이터셋에서 기본적으로 활용. 현재 SOTA 는 이 논문 구조를 변형한 end to end 구조</a:t>
            </a:r>
            <a:endParaRPr b="0" i="0" sz="12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3611b617d47_0_46"/>
          <p:cNvSpPr txBox="1"/>
          <p:nvPr/>
        </p:nvSpPr>
        <p:spPr>
          <a:xfrm>
            <a:off x="51126" y="106850"/>
            <a:ext cx="11787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120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548135"/>
                </a:solidFill>
                <a:highlight>
                  <a:srgbClr val="FFFFFF"/>
                </a:highlight>
                <a:latin typeface="Noto Sans"/>
                <a:ea typeface="Noto Sans"/>
                <a:cs typeface="Noto Sans"/>
                <a:sym typeface="Noto Sans"/>
              </a:rPr>
              <a:t>기타 Segmentation 모델</a:t>
            </a:r>
            <a:endParaRPr b="1" i="0" sz="1100" u="none" cap="none" strike="noStrike">
              <a:solidFill>
                <a:srgbClr val="548135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" name="Google Shape;104;g3611b617d47_0_46"/>
          <p:cNvSpPr txBox="1"/>
          <p:nvPr/>
        </p:nvSpPr>
        <p:spPr>
          <a:xfrm>
            <a:off x="208925" y="2089200"/>
            <a:ext cx="109173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0" i="0" sz="1500" u="none" cap="none" strike="noStrik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05" name="Google Shape;105;g3611b617d47_0_46"/>
          <p:cNvSpPr txBox="1"/>
          <p:nvPr/>
        </p:nvSpPr>
        <p:spPr>
          <a:xfrm>
            <a:off x="208925" y="371722"/>
            <a:ext cx="11943900" cy="3570178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24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Segmentation-based deep-learning approach for surface-defect detection</a:t>
            </a:r>
            <a:br>
              <a:rPr b="1" i="0" lang="en-US" sz="1400" u="none" cap="none" strike="noStrik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</a:br>
            <a:r>
              <a:rPr b="0" i="0" lang="en-US" sz="800" u="none" cap="none" strike="noStrike">
                <a:solidFill>
                  <a:srgbClr val="222222"/>
                </a:solidFill>
                <a:highlight>
                  <a:srgbClr val="FFFFFF"/>
                </a:highlight>
                <a:latin typeface="Malgun Gothic"/>
                <a:ea typeface="Malgun Gothic"/>
                <a:cs typeface="Malgun Gothic"/>
                <a:sym typeface="Malgun Gothic"/>
              </a:rPr>
              <a:t>Tabernik, Domen, et al. Journal of Intelligent Manufacturing 31.3 (2020): 759-776. (923회 인용)</a:t>
            </a:r>
            <a:endParaRPr b="0" i="0" sz="12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1" i="0" sz="1200" u="none" cap="none" strike="noStrike">
              <a:solidFill>
                <a:srgbClr val="222222"/>
              </a:solidFill>
              <a:highlight>
                <a:srgbClr val="FFFFFF"/>
              </a:highlight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3048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200"/>
              <a:buFont typeface="Malgun Gothic"/>
              <a:buChar char="-"/>
            </a:pPr>
            <a:r>
              <a:rPr b="0" i="0" lang="en-US" sz="1200" u="none" cap="none" strike="noStrike">
                <a:solidFill>
                  <a:srgbClr val="222222"/>
                </a:solidFill>
                <a:highlight>
                  <a:srgbClr val="FFFFFF"/>
                </a:highlight>
                <a:latin typeface="Malgun Gothic"/>
                <a:ea typeface="Malgun Gothic"/>
                <a:cs typeface="Malgun Gothic"/>
                <a:sym typeface="Malgun Gothic"/>
              </a:rPr>
              <a:t>미세한 제조 데이터의 crack 을 detection 하는 task</a:t>
            </a:r>
            <a:endParaRPr b="0" i="0" sz="1200" u="none" cap="none" strike="noStrike">
              <a:solidFill>
                <a:srgbClr val="222222"/>
              </a:solidFill>
              <a:highlight>
                <a:srgbClr val="FFFFFF"/>
              </a:highlight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3048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200"/>
              <a:buFont typeface="Malgun Gothic"/>
              <a:buChar char="-"/>
            </a:pPr>
            <a:r>
              <a:rPr b="0" i="0" lang="en-US" sz="1200" u="none" cap="none" strike="noStrike">
                <a:solidFill>
                  <a:srgbClr val="222222"/>
                </a:solidFill>
                <a:highlight>
                  <a:srgbClr val="FFFFFF"/>
                </a:highlight>
                <a:latin typeface="Malgun Gothic"/>
                <a:ea typeface="Malgun Gothic"/>
                <a:cs typeface="Malgun Gothic"/>
                <a:sym typeface="Malgun Gothic"/>
              </a:rPr>
              <a:t>1~9 conv block 까지 5*5 커널을 사용하여 local 정보 추출 / 10 conv block 에서 15*15 커널을 사용하여 넓은 receptive field / 11 conv block 에서 1*1 커널로 채널 축소 및 segmentation mask 생성 -&gt; 작고 local 하면서도 넓은 범위에 분포되어 있는 결함 등을 탐지할 수 있음</a:t>
            </a:r>
            <a:endParaRPr b="0" i="0" sz="1200" u="none" cap="none" strike="noStrike">
              <a:solidFill>
                <a:srgbClr val="222222"/>
              </a:solidFill>
              <a:highlight>
                <a:srgbClr val="FFFFFF"/>
              </a:highlight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3048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200"/>
              <a:buFont typeface="Malgun Gothic"/>
              <a:buChar char="-"/>
            </a:pPr>
            <a:r>
              <a:rPr b="0" i="0" lang="en-US" sz="1200" u="none" cap="none" strike="noStrike">
                <a:solidFill>
                  <a:srgbClr val="222222"/>
                </a:solidFill>
                <a:highlight>
                  <a:srgbClr val="FFFFFF"/>
                </a:highlight>
                <a:latin typeface="Malgun Gothic"/>
                <a:ea typeface="Malgun Gothic"/>
                <a:cs typeface="Malgun Gothic"/>
                <a:sym typeface="Malgun Gothic"/>
              </a:rPr>
              <a:t>segmentation network 에서 만들어진 segmentation ouput 과, 1024 채널로 이루어진 feature 를 decision network 의 input 으로 사용1단계로 segmentation network 만 학습 -&gt; 2단계로 segmentation network freeze 후 decision network 학습</a:t>
            </a:r>
            <a:endParaRPr b="0" i="0" sz="1200" u="none" cap="none" strike="noStrike">
              <a:solidFill>
                <a:srgbClr val="222222"/>
              </a:solidFill>
              <a:highlight>
                <a:srgbClr val="FFFFFF"/>
              </a:highlight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3048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200"/>
              <a:buFont typeface="Malgun Gothic"/>
              <a:buChar char="-"/>
            </a:pPr>
            <a:r>
              <a:rPr b="0" i="0" lang="en-US" sz="1200" u="none" cap="none" strike="noStrike">
                <a:solidFill>
                  <a:srgbClr val="222222"/>
                </a:solidFill>
                <a:highlight>
                  <a:srgbClr val="FFFFFF"/>
                </a:highlight>
                <a:latin typeface="Malgun Gothic"/>
                <a:ea typeface="Malgun Gothic"/>
                <a:cs typeface="Malgun Gothic"/>
                <a:sym typeface="Malgun Gothic"/>
              </a:rPr>
              <a:t>현재 SOTA 는 이 구조를 end to end 로 한 번에 학습하는 구조</a:t>
            </a:r>
            <a:br>
              <a:rPr b="0" i="0" lang="en-US" sz="1200" u="none" cap="none" strike="noStrike">
                <a:solidFill>
                  <a:srgbClr val="222222"/>
                </a:solidFill>
                <a:highlight>
                  <a:srgbClr val="FFFFFF"/>
                </a:highlight>
                <a:latin typeface="Malgun Gothic"/>
                <a:ea typeface="Malgun Gothic"/>
                <a:cs typeface="Malgun Gothic"/>
                <a:sym typeface="Malgun Gothic"/>
              </a:rPr>
            </a:br>
            <a:r>
              <a:rPr b="0" i="0" lang="en-US" sz="1200" u="none" cap="none" strike="noStrike">
                <a:solidFill>
                  <a:srgbClr val="222222"/>
                </a:solidFill>
                <a:highlight>
                  <a:srgbClr val="FFFFFF"/>
                </a:highlight>
                <a:latin typeface="Malgun Gothic"/>
                <a:ea typeface="Malgun Gothic"/>
                <a:cs typeface="Malgun Gothic"/>
                <a:sym typeface="Malgun Gothic"/>
              </a:rPr>
              <a:t>(End-to-end training of a two-stage neural network for defect detection, </a:t>
            </a:r>
            <a:r>
              <a:rPr b="0" i="0" lang="en-US" sz="1000" u="none" cap="none" strike="noStrike">
                <a:solidFill>
                  <a:srgbClr val="222222"/>
                </a:solidFill>
                <a:highlight>
                  <a:srgbClr val="FFFFFF"/>
                </a:highlight>
                <a:latin typeface="Malgun Gothic"/>
                <a:ea typeface="Malgun Gothic"/>
                <a:cs typeface="Malgun Gothic"/>
                <a:sym typeface="Malgun Gothic"/>
              </a:rPr>
              <a:t>International conference on pattern recognition (ICPR). IEEE, 2021. 85회 인용)</a:t>
            </a:r>
            <a:br>
              <a:rPr b="0" i="0" lang="en-US" sz="1200" u="none" cap="none" strike="noStrike">
                <a:solidFill>
                  <a:srgbClr val="222222"/>
                </a:solidFill>
                <a:highlight>
                  <a:srgbClr val="FFFFFF"/>
                </a:highlight>
                <a:latin typeface="Malgun Gothic"/>
                <a:ea typeface="Malgun Gothic"/>
                <a:cs typeface="Malgun Gothic"/>
                <a:sym typeface="Malgun Gothic"/>
              </a:rPr>
            </a:br>
            <a:r>
              <a:rPr b="0" i="0" lang="en-US" sz="1200" u="none" cap="none" strike="noStrike">
                <a:solidFill>
                  <a:srgbClr val="222222"/>
                </a:solidFill>
                <a:highlight>
                  <a:srgbClr val="FFFFFF"/>
                </a:highlight>
                <a:latin typeface="Malgun Gothic"/>
                <a:ea typeface="Malgun Gothic"/>
                <a:cs typeface="Malgun Gothic"/>
                <a:sym typeface="Malgun Gothic"/>
              </a:rPr>
              <a:t>(Mixed supervision for surface-defect detection: from weakly to fully supervised learning, </a:t>
            </a:r>
            <a:r>
              <a:rPr b="0" i="0" lang="en-US" sz="1000" u="none" cap="none" strike="noStrike">
                <a:solidFill>
                  <a:srgbClr val="222222"/>
                </a:solidFill>
                <a:highlight>
                  <a:srgbClr val="FFFFFF"/>
                </a:highlight>
                <a:latin typeface="Malgun Gothic"/>
                <a:ea typeface="Malgun Gothic"/>
                <a:cs typeface="Malgun Gothic"/>
                <a:sym typeface="Malgun Gothic"/>
              </a:rPr>
              <a:t>Computers in Industry 129 (2021), 320회 인용)</a:t>
            </a:r>
            <a:endParaRPr b="0" i="0" sz="1200" u="none" cap="none" strike="noStrike">
              <a:solidFill>
                <a:srgbClr val="222222"/>
              </a:solidFill>
              <a:highlight>
                <a:srgbClr val="FFFFFF"/>
              </a:highlight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pic>
        <p:nvPicPr>
          <p:cNvPr id="106" name="Google Shape;106;g3611b617d47_0_4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827763" y="4216700"/>
            <a:ext cx="6536475" cy="2488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3"/>
          <p:cNvSpPr txBox="1"/>
          <p:nvPr/>
        </p:nvSpPr>
        <p:spPr>
          <a:xfrm>
            <a:off x="208925" y="537978"/>
            <a:ext cx="11943900" cy="450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240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 case for reframing automated medical image classification as segmentation</a:t>
            </a:r>
            <a:br>
              <a:rPr b="1" i="0" lang="en-US" sz="1400" u="none" cap="none" strike="noStrik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</a:br>
            <a:r>
              <a:rPr b="0" i="0" lang="en-US" sz="800" u="none" cap="none" strike="noStrike">
                <a:solidFill>
                  <a:srgbClr val="222222"/>
                </a:solidFill>
                <a:highlight>
                  <a:srgbClr val="FFFFFF"/>
                </a:highlight>
                <a:latin typeface="Malgun Gothic"/>
                <a:ea typeface="Malgun Gothic"/>
                <a:cs typeface="Malgun Gothic"/>
                <a:sym typeface="Malgun Gothic"/>
              </a:rPr>
              <a:t>Hooper, Sarah, et al. "A case for reframing automated medical image classification as segmentation." Advances in Neural Information Processing Systems 36 (2023): 55415-55441. (6회 인용)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2400"/>
              </a:spcBef>
              <a:spcAft>
                <a:spcPts val="0"/>
              </a:spcAft>
              <a:buNone/>
            </a:pPr>
            <a:r>
              <a:t/>
            </a:r>
            <a:endParaRPr b="1" i="0" sz="1200" u="none" cap="none" strike="noStrike">
              <a:solidFill>
                <a:srgbClr val="222222"/>
              </a:solidFill>
              <a:highlight>
                <a:srgbClr val="FFFFFF"/>
              </a:highlight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3048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200"/>
              <a:buFont typeface="Malgun Gothic"/>
              <a:buChar char="-"/>
            </a:pPr>
            <a:r>
              <a:rPr b="0" i="0" lang="en-US" sz="1200" u="none" cap="none" strike="noStrike">
                <a:solidFill>
                  <a:srgbClr val="222222"/>
                </a:solidFill>
                <a:highlight>
                  <a:srgbClr val="FFFFFF"/>
                </a:highlight>
                <a:latin typeface="Malgun Gothic"/>
                <a:ea typeface="Malgun Gothic"/>
                <a:cs typeface="Malgun Gothic"/>
                <a:sym typeface="Malgun Gothic"/>
              </a:rPr>
              <a:t>Segmentation 모델로부터 나온 확률 mask 를 활용해 classification label 유도</a:t>
            </a:r>
            <a:endParaRPr b="0" i="0" sz="1200" u="none" cap="none" strike="noStrike">
              <a:solidFill>
                <a:srgbClr val="222222"/>
              </a:solidFill>
              <a:highlight>
                <a:srgbClr val="FFFFFF"/>
              </a:highlight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3048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200"/>
              <a:buFont typeface="Malgun Gothic"/>
              <a:buChar char="-"/>
            </a:pPr>
            <a:r>
              <a:rPr b="0" i="0" lang="en-US" sz="1200" u="none" cap="none" strike="noStrike">
                <a:solidFill>
                  <a:srgbClr val="222222"/>
                </a:solidFill>
                <a:highlight>
                  <a:srgbClr val="FFFFFF"/>
                </a:highlight>
                <a:latin typeface="Malgun Gothic"/>
                <a:ea typeface="Malgun Gothic"/>
                <a:cs typeface="Malgun Gothic"/>
                <a:sym typeface="Malgun Gothic"/>
              </a:rPr>
              <a:t>threshold t (기본값 0.5) 이상인 픽셀의 개수를 측정하여 개수가 threshold s (기본값 100) 이상이면 1, 그렇지 않으면 0으로 분류</a:t>
            </a:r>
            <a:endParaRPr b="0" i="0" sz="1200" u="none" cap="none" strike="noStrike">
              <a:solidFill>
                <a:srgbClr val="222222"/>
              </a:solidFill>
              <a:highlight>
                <a:srgbClr val="FFFFFF"/>
              </a:highlight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3048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200"/>
              <a:buFont typeface="Malgun Gothic"/>
              <a:buChar char="-"/>
            </a:pPr>
            <a:r>
              <a:rPr b="0" i="0" lang="en-US" sz="1200" u="none" cap="none" strike="noStrike">
                <a:solidFill>
                  <a:srgbClr val="222222"/>
                </a:solidFill>
                <a:highlight>
                  <a:srgbClr val="FFFFFF"/>
                </a:highlight>
                <a:latin typeface="Malgun Gothic"/>
                <a:ea typeface="Malgun Gothic"/>
                <a:cs typeface="Malgun Gothic"/>
                <a:sym typeface="Malgun Gothic"/>
              </a:rPr>
              <a:t>Binary label 이 1일 경우 : threshold t 이상인 픽셀들의 확률값 평균을 계산</a:t>
            </a:r>
            <a:endParaRPr b="0" i="0" sz="1200" u="none" cap="none" strike="noStrike">
              <a:solidFill>
                <a:srgbClr val="222222"/>
              </a:solidFill>
              <a:highlight>
                <a:srgbClr val="FFFFFF"/>
              </a:highlight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3048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200"/>
              <a:buFont typeface="Malgun Gothic"/>
              <a:buChar char="-"/>
            </a:pPr>
            <a:r>
              <a:rPr b="0" i="0" lang="en-US" sz="1200" u="none" cap="none" strike="noStrike">
                <a:solidFill>
                  <a:srgbClr val="222222"/>
                </a:solidFill>
                <a:highlight>
                  <a:srgbClr val="FFFFFF"/>
                </a:highlight>
                <a:latin typeface="Malgun Gothic"/>
                <a:ea typeface="Malgun Gothic"/>
                <a:cs typeface="Malgun Gothic"/>
                <a:sym typeface="Malgun Gothic"/>
              </a:rPr>
              <a:t>Binary label 이 0일 경우 : threshold t 미만인 픽셀들의 확률값 평균을 계산</a:t>
            </a:r>
            <a:endParaRPr b="0" i="0" sz="1200" u="none" cap="none" strike="noStrike">
              <a:solidFill>
                <a:srgbClr val="222222"/>
              </a:solidFill>
              <a:highlight>
                <a:srgbClr val="FFFFFF"/>
              </a:highlight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3048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200"/>
              <a:buFont typeface="Malgun Gothic"/>
              <a:buChar char="-"/>
            </a:pPr>
            <a:r>
              <a:rPr lang="en-US" sz="1200">
                <a:solidFill>
                  <a:srgbClr val="222222"/>
                </a:solidFill>
                <a:highlight>
                  <a:srgbClr val="FFFFFF"/>
                </a:highlight>
                <a:latin typeface="Malgun Gothic"/>
                <a:ea typeface="Malgun Gothic"/>
                <a:cs typeface="Malgun Gothic"/>
                <a:sym typeface="Malgun Gothic"/>
              </a:rPr>
              <a:t>예측 확률값 :  [0으로 예측한 픽셀에서 </a:t>
            </a:r>
            <a:r>
              <a:rPr lang="en-US" sz="1200">
                <a:solidFill>
                  <a:srgbClr val="222222"/>
                </a:solidFill>
                <a:highlight>
                  <a:schemeClr val="lt1"/>
                </a:highlight>
                <a:latin typeface="Malgun Gothic"/>
                <a:ea typeface="Malgun Gothic"/>
                <a:cs typeface="Malgun Gothic"/>
                <a:sym typeface="Malgun Gothic"/>
              </a:rPr>
              <a:t>threshold t 미만인 픽셀들의 확률값 평균을 계산</a:t>
            </a:r>
            <a:r>
              <a:rPr lang="en-US" sz="1200">
                <a:solidFill>
                  <a:srgbClr val="222222"/>
                </a:solidFill>
                <a:highlight>
                  <a:srgbClr val="FFFFFF"/>
                </a:highlight>
                <a:latin typeface="Malgun Gothic"/>
                <a:ea typeface="Malgun Gothic"/>
                <a:cs typeface="Malgun Gothic"/>
                <a:sym typeface="Malgun Gothic"/>
              </a:rPr>
              <a:t> , 1</a:t>
            </a:r>
            <a:r>
              <a:rPr lang="en-US" sz="1200">
                <a:solidFill>
                  <a:srgbClr val="222222"/>
                </a:solidFill>
                <a:highlight>
                  <a:schemeClr val="lt1"/>
                </a:highlight>
                <a:latin typeface="Malgun Gothic"/>
                <a:ea typeface="Malgun Gothic"/>
                <a:cs typeface="Malgun Gothic"/>
                <a:sym typeface="Malgun Gothic"/>
              </a:rPr>
              <a:t>로 예측한 픽셀에서</a:t>
            </a:r>
            <a:r>
              <a:rPr lang="en-US" sz="1200">
                <a:solidFill>
                  <a:srgbClr val="222222"/>
                </a:solidFill>
                <a:highlight>
                  <a:srgbClr val="FFFFFF"/>
                </a:highlight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en-US" sz="1200">
                <a:solidFill>
                  <a:srgbClr val="222222"/>
                </a:solidFill>
                <a:highlight>
                  <a:schemeClr val="lt1"/>
                </a:highlight>
                <a:latin typeface="Malgun Gothic"/>
                <a:ea typeface="Malgun Gothic"/>
                <a:cs typeface="Malgun Gothic"/>
                <a:sym typeface="Malgun Gothic"/>
              </a:rPr>
              <a:t>threshold t 이상인 픽셀들의 확률값 평균</a:t>
            </a:r>
            <a:r>
              <a:rPr lang="en-US" sz="1200">
                <a:solidFill>
                  <a:srgbClr val="222222"/>
                </a:solidFill>
                <a:highlight>
                  <a:srgbClr val="FFFFFF"/>
                </a:highlight>
                <a:latin typeface="Malgun Gothic"/>
                <a:ea typeface="Malgun Gothic"/>
                <a:cs typeface="Malgun Gothic"/>
                <a:sym typeface="Malgun Gothic"/>
              </a:rPr>
              <a:t>]</a:t>
            </a:r>
            <a:endParaRPr sz="1200">
              <a:solidFill>
                <a:srgbClr val="222222"/>
              </a:solidFill>
              <a:highlight>
                <a:srgbClr val="FFFFFF"/>
              </a:highlight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3048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200"/>
              <a:buFont typeface="Malgun Gothic"/>
              <a:buChar char="-"/>
            </a:pPr>
            <a:r>
              <a:rPr b="0" i="0" lang="en-US" sz="1200" u="none" cap="none" strike="noStrike">
                <a:solidFill>
                  <a:srgbClr val="222222"/>
                </a:solidFill>
                <a:highlight>
                  <a:srgbClr val="FFFFFF"/>
                </a:highlight>
                <a:latin typeface="Malgun Gothic"/>
                <a:ea typeface="Malgun Gothic"/>
                <a:cs typeface="Malgun Gothic"/>
                <a:sym typeface="Malgun Gothic"/>
              </a:rPr>
              <a:t>각 확률값과 label 을 기반으로 auroc 계산</a:t>
            </a:r>
            <a:endParaRPr b="0" i="0" sz="1200" u="none" cap="none" strike="noStrike">
              <a:solidFill>
                <a:srgbClr val="222222"/>
              </a:solidFill>
              <a:highlight>
                <a:srgbClr val="FFFFFF"/>
              </a:highlight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222222"/>
              </a:solidFill>
              <a:highlight>
                <a:srgbClr val="FFFFFF"/>
              </a:highlight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222222"/>
              </a:solidFill>
              <a:highlight>
                <a:srgbClr val="FFFFFF"/>
              </a:highlight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3048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200"/>
              <a:buFont typeface="Malgun Gothic"/>
              <a:buChar char="-"/>
            </a:pPr>
            <a:r>
              <a:rPr lang="en-US" sz="1200">
                <a:solidFill>
                  <a:srgbClr val="222222"/>
                </a:solidFill>
                <a:highlight>
                  <a:srgbClr val="FFFFFF"/>
                </a:highlight>
                <a:latin typeface="Malgun Gothic"/>
                <a:ea typeface="Malgun Gothic"/>
                <a:cs typeface="Malgun Gothic"/>
                <a:sym typeface="Malgun Gothic"/>
              </a:rPr>
              <a:t>APPENDEX에 멀티 클래스로 확장하는 내용도 포함</a:t>
            </a:r>
            <a:endParaRPr sz="1200">
              <a:solidFill>
                <a:srgbClr val="222222"/>
              </a:solidFill>
              <a:highlight>
                <a:srgbClr val="FFFFFF"/>
              </a:highlight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304800" lvl="1" marL="9144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200"/>
              <a:buFont typeface="Malgun Gothic"/>
              <a:buChar char="-"/>
            </a:pPr>
            <a:r>
              <a:rPr lang="en-US" sz="1200">
                <a:solidFill>
                  <a:srgbClr val="222222"/>
                </a:solidFill>
                <a:highlight>
                  <a:srgbClr val="FFFFFF"/>
                </a:highlight>
                <a:latin typeface="Malgun Gothic"/>
                <a:ea typeface="Malgun Gothic"/>
                <a:cs typeface="Malgun Gothic"/>
                <a:sym typeface="Malgun Gothic"/>
              </a:rPr>
              <a:t>각 클래스마다 독립적으로 위의 과정 반복해 예측 확률값 구함</a:t>
            </a:r>
            <a:endParaRPr sz="1200">
              <a:solidFill>
                <a:srgbClr val="222222"/>
              </a:solidFill>
              <a:highlight>
                <a:srgbClr val="FFFFFF"/>
              </a:highlight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2286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200"/>
              <a:buFont typeface="Malgun Gothic"/>
              <a:buNone/>
            </a:pPr>
            <a:r>
              <a:t/>
            </a:r>
            <a:endParaRPr b="0" i="0" sz="1200" u="none" cap="none" strike="noStrike">
              <a:solidFill>
                <a:srgbClr val="222222"/>
              </a:solidFill>
              <a:highlight>
                <a:srgbClr val="FFFFFF"/>
              </a:highlight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2286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200"/>
              <a:buFont typeface="Malgun Gothic"/>
              <a:buNone/>
            </a:pPr>
            <a:r>
              <a:t/>
            </a:r>
            <a:endParaRPr b="0" i="0" sz="1200" u="none" cap="none" strike="noStrike">
              <a:solidFill>
                <a:srgbClr val="222222"/>
              </a:solidFill>
              <a:highlight>
                <a:srgbClr val="FFFFFF"/>
              </a:highlight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12" name="Google Shape;112;p3"/>
          <p:cNvSpPr txBox="1"/>
          <p:nvPr/>
        </p:nvSpPr>
        <p:spPr>
          <a:xfrm>
            <a:off x="51126" y="106850"/>
            <a:ext cx="11787000" cy="61166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120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1" i="0" lang="en-US" sz="1900" u="none" cap="none" strike="noStrike">
                <a:solidFill>
                  <a:srgbClr val="548135"/>
                </a:solidFill>
                <a:highlight>
                  <a:srgbClr val="FFFFFF"/>
                </a:highlight>
                <a:latin typeface="Noto Sans"/>
                <a:ea typeface="Noto Sans"/>
                <a:cs typeface="Noto Sans"/>
                <a:sym typeface="Noto Sans"/>
              </a:rPr>
              <a:t>Segmenataion 에서의 Auroc</a:t>
            </a:r>
            <a:endParaRPr b="1" i="0" sz="1000" u="none" cap="none" strike="noStrike">
              <a:solidFill>
                <a:srgbClr val="548135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테마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2013 - 2022 테마">
  <a:themeElements>
    <a:clrScheme name="Office 2013 - 2022 테마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2024-05-05T08:04:52Z</dcterms:created>
  <dc:creator>김나연</dc:creator>
</cp:coreProperties>
</file>