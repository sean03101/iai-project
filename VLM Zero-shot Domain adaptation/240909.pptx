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Noto Sans KR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AASaa/W8Rc3+SWNrzROhlyoeT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NotoSansK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890a8e1c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27890a8e1c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g27890a8e1c6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7622da2d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287622da2d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287622da2d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87622da2d6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287622da2d6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287622da2d6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87622da2d6_0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87622da2d6_0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287622da2d6_0_7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7622da2d6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287622da2d6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287622da2d6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87622da2d6_0_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287622da2d6_0_1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g287622da2d6_0_1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890a8e1c6_0_0"/>
          <p:cNvSpPr txBox="1"/>
          <p:nvPr/>
        </p:nvSpPr>
        <p:spPr>
          <a:xfrm>
            <a:off x="242600" y="904550"/>
            <a:ext cx="1070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으로만 학습한 모델로 일반 Test / TTA 성능 비교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train data (320개) 로만 학습 -&gt; repeat test data (400) 으로만 검증하여 모델의 기본 성능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g27890a8e1c6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TTA의 효과성 실험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27890a8e1c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00" y="2259350"/>
            <a:ext cx="5810250" cy="208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7890a8e1c6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4550" y="2268875"/>
            <a:ext cx="5781675" cy="206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7890a8e1c6_0_0"/>
          <p:cNvSpPr txBox="1"/>
          <p:nvPr/>
        </p:nvSpPr>
        <p:spPr>
          <a:xfrm>
            <a:off x="2313675" y="1942650"/>
            <a:ext cx="14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accuracy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g27890a8e1c6_0_0"/>
          <p:cNvSpPr txBox="1"/>
          <p:nvPr/>
        </p:nvSpPr>
        <p:spPr>
          <a:xfrm>
            <a:off x="8490050" y="1942650"/>
            <a:ext cx="14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f1 score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g27890a8e1c6_0_0"/>
          <p:cNvSpPr txBox="1"/>
          <p:nvPr/>
        </p:nvSpPr>
        <p:spPr>
          <a:xfrm>
            <a:off x="242600" y="4658600"/>
            <a:ext cx="10701000" cy="20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만 사용하여 학습할 경우,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기존에 사용하던 ResNet50 보다 ResNet101 이 더 잘 학습됨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ResNet50 으로는 거의 학습이 되지 않았음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VIT 32 는 ResNet50 보다 성능이 소폭 좋았음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   ▶️ ResNet 101 을 이용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7622da2d6_0_20"/>
          <p:cNvSpPr txBox="1"/>
          <p:nvPr/>
        </p:nvSpPr>
        <p:spPr>
          <a:xfrm>
            <a:off x="242600" y="904550"/>
            <a:ext cx="1070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으로만 학습한 모델로 일반 Test / TTA 성능 비교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train data (320개) 로만 학습 -&gt; repeat test data (400) 으로만 검증하여 모델의 기본 성능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g287622da2d6_0_2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TTA의 효과성 실험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287622da2d6_0_20"/>
          <p:cNvSpPr txBox="1"/>
          <p:nvPr/>
        </p:nvSpPr>
        <p:spPr>
          <a:xfrm>
            <a:off x="2104450" y="3504875"/>
            <a:ext cx="22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일반 Test 로 측정한 성능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4" name="Google Shape;104;g287622da2d6_0_20"/>
          <p:cNvSpPr txBox="1"/>
          <p:nvPr/>
        </p:nvSpPr>
        <p:spPr>
          <a:xfrm>
            <a:off x="7247988" y="3504875"/>
            <a:ext cx="311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TTA를 적용하여 측정한 성능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5" name="Google Shape;105;g287622da2d6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175" y="1804675"/>
            <a:ext cx="50101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287622da2d6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0700" y="1809438"/>
            <a:ext cx="5133975" cy="170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287622da2d6_0_20"/>
          <p:cNvSpPr txBox="1"/>
          <p:nvPr/>
        </p:nvSpPr>
        <p:spPr>
          <a:xfrm>
            <a:off x="4935725" y="2477275"/>
            <a:ext cx="22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▶️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g287622da2d6_0_20"/>
          <p:cNvSpPr txBox="1"/>
          <p:nvPr/>
        </p:nvSpPr>
        <p:spPr>
          <a:xfrm>
            <a:off x="242600" y="4281100"/>
            <a:ext cx="1070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Online Augmentation 을 이용하여 TTA 진행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성능 향상이 보이지 않음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87622da2d6_0_39"/>
          <p:cNvSpPr txBox="1"/>
          <p:nvPr/>
        </p:nvSpPr>
        <p:spPr>
          <a:xfrm>
            <a:off x="242600" y="789175"/>
            <a:ext cx="1070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으로만 학습한 모델로 일반 Test / TTA 성능 비교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train data (320개) 로만 학습 -&gt; repeat test data (400) 으로만 검증하여 모델의 기본 성능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g287622da2d6_0_3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TTA의 효과성 실험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287622da2d6_0_39"/>
          <p:cNvSpPr txBox="1"/>
          <p:nvPr/>
        </p:nvSpPr>
        <p:spPr>
          <a:xfrm>
            <a:off x="5061575" y="3838275"/>
            <a:ext cx="221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▶️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7" name="Google Shape;117;g287622da2d6_0_39"/>
          <p:cNvSpPr txBox="1"/>
          <p:nvPr/>
        </p:nvSpPr>
        <p:spPr>
          <a:xfrm>
            <a:off x="242600" y="6407325"/>
            <a:ext cx="107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특정 도메인 / 특정 클래스에 특별히 도움되는 경향은 없다고 판단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18" name="Google Shape;118;g287622da2d6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99" y="1774675"/>
            <a:ext cx="5620625" cy="44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287622da2d6_0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98300" y="1774675"/>
            <a:ext cx="5526073" cy="449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287622da2d6_0_39"/>
          <p:cNvSpPr txBox="1"/>
          <p:nvPr/>
        </p:nvSpPr>
        <p:spPr>
          <a:xfrm>
            <a:off x="1831800" y="1512475"/>
            <a:ext cx="26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일반 Test 시의 confusion matrix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1" name="Google Shape;121;g287622da2d6_0_39"/>
          <p:cNvSpPr txBox="1"/>
          <p:nvPr/>
        </p:nvSpPr>
        <p:spPr>
          <a:xfrm>
            <a:off x="7701625" y="1512475"/>
            <a:ext cx="311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TTA 시의 confusion matrix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7622da2d6_0_7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TTA의 효과성 실험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287622da2d6_0_77"/>
          <p:cNvSpPr txBox="1"/>
          <p:nvPr/>
        </p:nvSpPr>
        <p:spPr>
          <a:xfrm>
            <a:off x="242600" y="718200"/>
            <a:ext cx="10701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예시) 048_cameraz_4.png 에 대한 TTA 결과 (TTA로 예측이 올바르게 조정된 경우)</a:t>
            </a:r>
            <a:endParaRPr sz="12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g287622da2d6_0_77"/>
          <p:cNvSpPr txBox="1"/>
          <p:nvPr/>
        </p:nvSpPr>
        <p:spPr>
          <a:xfrm>
            <a:off x="314600" y="1003050"/>
            <a:ext cx="6616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 Label: 4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Repeat Pred: 2, Prob: 0.43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TTA Pred: [4], Prob: [[0.05  0.006 0.27  0.286 0.328 0.06 ]]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30" name="Google Shape;130;g287622da2d6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25" y="1672650"/>
            <a:ext cx="5486399" cy="108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287622da2d6_0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25" y="2703740"/>
            <a:ext cx="5486399" cy="1092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87622da2d6_0_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1328" y="474345"/>
            <a:ext cx="5486399" cy="1088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287622da2d6_0_7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4600" y="3746838"/>
            <a:ext cx="5486399" cy="1090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g287622da2d6_0_7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1325" y="1678525"/>
            <a:ext cx="5486399" cy="1090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287622da2d6_0_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91325" y="2718388"/>
            <a:ext cx="5486399" cy="1090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87622da2d6_0_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1325" y="3756838"/>
            <a:ext cx="5486399" cy="1090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287622da2d6_0_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91325" y="4775738"/>
            <a:ext cx="5486399" cy="1090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287622da2d6_0_7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2125" y="4781563"/>
            <a:ext cx="5486399" cy="109089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287622da2d6_0_77"/>
          <p:cNvSpPr txBox="1"/>
          <p:nvPr/>
        </p:nvSpPr>
        <p:spPr>
          <a:xfrm>
            <a:off x="0" y="5835150"/>
            <a:ext cx="11943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임의로 test set 이미지에 offline augmentation 적용 (기존에는 online 을 적용했으나 augmentation 종류별 효과를 보기 위해 offline 으로 확인)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domain 이므로 cameraz augmentation 에서 correction 을 기대했으나 cameraz 보다 다른 augmentation 에서 더 올바른 예측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KR"/>
              <a:buChar char="-"/>
            </a:pP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예측의 confidence 와 올바른 예측과 관련 없어 보임</a:t>
            </a:r>
            <a:endParaRPr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7622da2d6_0_55"/>
          <p:cNvSpPr txBox="1"/>
          <p:nvPr/>
        </p:nvSpPr>
        <p:spPr>
          <a:xfrm>
            <a:off x="242600" y="789175"/>
            <a:ext cx="10701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으로만 학습한 모델로 일반 Test / TTA 성능 비교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repeat train data (320개) 로만 학습 -&gt; repeat test data (400) 으로만 검증하여 모델의 기본 성능 확인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6" name="Google Shape;146;g287622da2d6_0_5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TTA의 효과성 실험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287622da2d6_0_55"/>
          <p:cNvSpPr txBox="1"/>
          <p:nvPr/>
        </p:nvSpPr>
        <p:spPr>
          <a:xfrm>
            <a:off x="242600" y="1817475"/>
            <a:ext cx="107010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예측하기 어려운 클래스(1:scratch, 4:dent) 에 대해서는 TTA를 적용해도 잘 분류하지 못하는 경향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target domain 에 맞춰진 증강 (ex. brightness 도메인에 대해 brightness 증강 적용) 이 도움이 되는 경우도 존재하면서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아닌 경우도 존재 (이미 변형된 도메인에 대해 더 센 증강이 적용되어 역효과가 나는 경우도 있고, 무관한 경우도 있다고 추정)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target domain 에 관련 없는 다른 증강이 도움되기도 함 ex. blur, noise 등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TTA 의 모든 결과를 종합하여 예측하는 것은 좋지 않음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올바르게 조정된 예측값만을 종합하여 최종 예측으로 분류하면 성능 향상이 기대되나, 기준 설정이 중요해보임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confidence 등으로 선별하기에는 적합하지 않음 (over confidence 다수 존재)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특정 패턴을 찾기 어려움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g287622da2d6_0_55"/>
          <p:cNvSpPr txBox="1"/>
          <p:nvPr/>
        </p:nvSpPr>
        <p:spPr>
          <a:xfrm>
            <a:off x="7845125" y="2792700"/>
            <a:ext cx="39414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만약 brightness 가 어둡게 조정된 test 이미지에 대해 밝기를 높이는 증강을 적용하면 성능 향상이 기대됐으나 꼭 그런 건 아님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87622da2d6_0_107"/>
          <p:cNvSpPr txBox="1"/>
          <p:nvPr/>
        </p:nvSpPr>
        <p:spPr>
          <a:xfrm>
            <a:off x="242600" y="789175"/>
            <a:ext cx="1070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augmentation / augmentation*class 별 TTA 에 적용하는 가중치를 학습하는 방법론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g287622da2d6_0_10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Better Aggregation in Test 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287622da2d6_0_107"/>
          <p:cNvSpPr/>
          <p:nvPr/>
        </p:nvSpPr>
        <p:spPr>
          <a:xfrm>
            <a:off x="3427925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g287622da2d6_0_107"/>
          <p:cNvSpPr/>
          <p:nvPr/>
        </p:nvSpPr>
        <p:spPr>
          <a:xfrm flipH="1">
            <a:off x="5430800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g287622da2d6_0_107"/>
          <p:cNvSpPr txBox="1"/>
          <p:nvPr/>
        </p:nvSpPr>
        <p:spPr>
          <a:xfrm>
            <a:off x="3544700" y="200557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g287622da2d6_0_107"/>
          <p:cNvSpPr txBox="1"/>
          <p:nvPr/>
        </p:nvSpPr>
        <p:spPr>
          <a:xfrm>
            <a:off x="3544700" y="23516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g287622da2d6_0_107"/>
          <p:cNvSpPr txBox="1"/>
          <p:nvPr/>
        </p:nvSpPr>
        <p:spPr>
          <a:xfrm>
            <a:off x="3544700" y="27186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g287622da2d6_0_107"/>
          <p:cNvSpPr txBox="1"/>
          <p:nvPr/>
        </p:nvSpPr>
        <p:spPr>
          <a:xfrm>
            <a:off x="3544700" y="31188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g287622da2d6_0_107"/>
          <p:cNvSpPr txBox="1"/>
          <p:nvPr/>
        </p:nvSpPr>
        <p:spPr>
          <a:xfrm>
            <a:off x="5778275" y="2351625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3" name="Google Shape;163;g287622da2d6_0_107"/>
          <p:cNvSpPr txBox="1"/>
          <p:nvPr/>
        </p:nvSpPr>
        <p:spPr>
          <a:xfrm>
            <a:off x="3989713" y="1470775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4" name="Google Shape;164;g287622da2d6_0_107"/>
          <p:cNvSpPr txBox="1"/>
          <p:nvPr/>
        </p:nvSpPr>
        <p:spPr>
          <a:xfrm>
            <a:off x="3427925" y="3588975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augmented image 별 logit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5" name="Google Shape;165;g287622da2d6_0_107"/>
          <p:cNvSpPr/>
          <p:nvPr/>
        </p:nvSpPr>
        <p:spPr>
          <a:xfrm>
            <a:off x="344975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6" name="Google Shape;166;g287622da2d6_0_107"/>
          <p:cNvSpPr/>
          <p:nvPr/>
        </p:nvSpPr>
        <p:spPr>
          <a:xfrm flipH="1">
            <a:off x="2347850" y="1950425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g287622da2d6_0_107"/>
          <p:cNvSpPr txBox="1"/>
          <p:nvPr/>
        </p:nvSpPr>
        <p:spPr>
          <a:xfrm>
            <a:off x="461750" y="200557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8" name="Google Shape;168;g287622da2d6_0_107"/>
          <p:cNvSpPr txBox="1"/>
          <p:nvPr/>
        </p:nvSpPr>
        <p:spPr>
          <a:xfrm>
            <a:off x="461750" y="23516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9" name="Google Shape;169;g287622da2d6_0_107"/>
          <p:cNvSpPr txBox="1"/>
          <p:nvPr/>
        </p:nvSpPr>
        <p:spPr>
          <a:xfrm>
            <a:off x="461750" y="27186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0" name="Google Shape;170;g287622da2d6_0_107"/>
          <p:cNvSpPr txBox="1"/>
          <p:nvPr/>
        </p:nvSpPr>
        <p:spPr>
          <a:xfrm>
            <a:off x="461750" y="3118825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g287622da2d6_0_107"/>
          <p:cNvSpPr txBox="1"/>
          <p:nvPr/>
        </p:nvSpPr>
        <p:spPr>
          <a:xfrm>
            <a:off x="344975" y="3588975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weight matrix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72" name="Google Shape;172;g287622da2d6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213" y="2623550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g287622da2d6_0_107"/>
          <p:cNvSpPr txBox="1"/>
          <p:nvPr/>
        </p:nvSpPr>
        <p:spPr>
          <a:xfrm>
            <a:off x="6919775" y="1815550"/>
            <a:ext cx="52722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기존 이미지에 대해 학습된 pre trained 모델 사용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classifier 의 파라미터는 고정해놓고 augmentation weight만 학습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두가지 방법으로 나뉨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1) augmentation*class 별 weight 를 학습 (ClassTTA)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2) augmentation 별 weight 를 학습 (AugTTA)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주로 AugTTA 의 성능 &gt; ClassTTA 의 성능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아직 학습 중에 있지만… 만약 결과가 나온다면</a:t>
            </a:r>
            <a:br>
              <a:rPr lang="en-US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이것을 active learning dp 어떻게 활용할 수 있을지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단순히 weight 를 sum product 해 준 것의 entropy…?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-"/>
            </a:pPr>
            <a: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4" name="Google Shape;174;g287622da2d6_0_107"/>
          <p:cNvSpPr/>
          <p:nvPr/>
        </p:nvSpPr>
        <p:spPr>
          <a:xfrm>
            <a:off x="3427925" y="4634900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5" name="Google Shape;175;g287622da2d6_0_107"/>
          <p:cNvSpPr/>
          <p:nvPr/>
        </p:nvSpPr>
        <p:spPr>
          <a:xfrm flipH="1">
            <a:off x="5430800" y="4634900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6" name="Google Shape;176;g287622da2d6_0_107"/>
          <p:cNvSpPr txBox="1"/>
          <p:nvPr/>
        </p:nvSpPr>
        <p:spPr>
          <a:xfrm>
            <a:off x="3544700" y="4690050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   ,     ,     ,     ,      ,      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7" name="Google Shape;177;g287622da2d6_0_107"/>
          <p:cNvSpPr txBox="1"/>
          <p:nvPr/>
        </p:nvSpPr>
        <p:spPr>
          <a:xfrm>
            <a:off x="3544700" y="5036100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g287622da2d6_0_107"/>
          <p:cNvSpPr txBox="1"/>
          <p:nvPr/>
        </p:nvSpPr>
        <p:spPr>
          <a:xfrm>
            <a:off x="3544700" y="5403100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9" name="Google Shape;179;g287622da2d6_0_107"/>
          <p:cNvSpPr txBox="1"/>
          <p:nvPr/>
        </p:nvSpPr>
        <p:spPr>
          <a:xfrm>
            <a:off x="3544700" y="5803300"/>
            <a:ext cx="214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,     ,     ,     ,      ,  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0" name="Google Shape;180;g287622da2d6_0_107"/>
          <p:cNvSpPr txBox="1"/>
          <p:nvPr/>
        </p:nvSpPr>
        <p:spPr>
          <a:xfrm>
            <a:off x="5778275" y="5036100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augmentation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1" name="Google Shape;181;g287622da2d6_0_107"/>
          <p:cNvSpPr txBox="1"/>
          <p:nvPr/>
        </p:nvSpPr>
        <p:spPr>
          <a:xfrm>
            <a:off x="3989713" y="4155250"/>
            <a:ext cx="1141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num of </a:t>
            </a:r>
            <a:br>
              <a:rPr lang="en-US" sz="1100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class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2" name="Google Shape;182;g287622da2d6_0_107"/>
          <p:cNvSpPr txBox="1"/>
          <p:nvPr/>
        </p:nvSpPr>
        <p:spPr>
          <a:xfrm>
            <a:off x="3427925" y="6273450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augmented image 별 logit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g287622da2d6_0_107"/>
          <p:cNvSpPr/>
          <p:nvPr/>
        </p:nvSpPr>
        <p:spPr>
          <a:xfrm>
            <a:off x="1265825" y="4634900"/>
            <a:ext cx="262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g287622da2d6_0_107"/>
          <p:cNvSpPr/>
          <p:nvPr/>
        </p:nvSpPr>
        <p:spPr>
          <a:xfrm flipH="1">
            <a:off x="1863700" y="4634900"/>
            <a:ext cx="73200" cy="15939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5" name="Google Shape;185;g287622da2d6_0_107"/>
          <p:cNvSpPr txBox="1"/>
          <p:nvPr/>
        </p:nvSpPr>
        <p:spPr>
          <a:xfrm>
            <a:off x="1337438" y="4690050"/>
            <a:ext cx="5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   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6" name="Google Shape;186;g287622da2d6_0_107"/>
          <p:cNvSpPr txBox="1"/>
          <p:nvPr/>
        </p:nvSpPr>
        <p:spPr>
          <a:xfrm>
            <a:off x="1337438" y="5036100"/>
            <a:ext cx="5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7" name="Google Shape;187;g287622da2d6_0_107"/>
          <p:cNvSpPr txBox="1"/>
          <p:nvPr/>
        </p:nvSpPr>
        <p:spPr>
          <a:xfrm>
            <a:off x="1337438" y="5403100"/>
            <a:ext cx="5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],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8" name="Google Shape;188;g287622da2d6_0_107"/>
          <p:cNvSpPr txBox="1"/>
          <p:nvPr/>
        </p:nvSpPr>
        <p:spPr>
          <a:xfrm>
            <a:off x="1337438" y="5803300"/>
            <a:ext cx="5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[ </a:t>
            </a:r>
            <a:r>
              <a:rPr lang="en-US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</a:t>
            </a:r>
            <a:r>
              <a:rPr lang="en-US">
                <a:latin typeface="Noto Sans KR"/>
                <a:ea typeface="Noto Sans KR"/>
                <a:cs typeface="Noto Sans KR"/>
                <a:sym typeface="Noto Sans KR"/>
              </a:rPr>
              <a:t>]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9" name="Google Shape;189;g287622da2d6_0_107"/>
          <p:cNvSpPr txBox="1"/>
          <p:nvPr/>
        </p:nvSpPr>
        <p:spPr>
          <a:xfrm>
            <a:off x="461750" y="6273450"/>
            <a:ext cx="2350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100">
                <a:latin typeface="Noto Sans KR"/>
                <a:ea typeface="Noto Sans KR"/>
                <a:cs typeface="Noto Sans KR"/>
                <a:sym typeface="Noto Sans KR"/>
              </a:rPr>
              <a:t>weight matrix</a:t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90" name="Google Shape;190;g287622da2d6_0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4213" y="5308025"/>
            <a:ext cx="2095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