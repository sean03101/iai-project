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Noto Sans KR"/>
      <p:regular r:id="rId10"/>
      <p:bold r:id="rId11"/>
    </p:embeddedFont>
    <p:embeddedFont>
      <p:font typeface="No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D78z0A1JFjBMn120ZBIiEgL10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bold.fntdata"/><Relationship Id="rId10" Type="http://schemas.openxmlformats.org/officeDocument/2006/relationships/font" Target="fonts/NotoSansKR-regular.fntdata"/><Relationship Id="rId13" Type="http://schemas.openxmlformats.org/officeDocument/2006/relationships/font" Target="fonts/NotoSans-bold.fntdata"/><Relationship Id="rId12" Type="http://schemas.openxmlformats.org/officeDocument/2006/relationships/font" Target="fonts/Noto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boldItalic.fntdata"/><Relationship Id="rId14" Type="http://schemas.openxmlformats.org/officeDocument/2006/relationships/font" Target="fonts/No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38454e2c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738454e2c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890a8e1c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7890a8e1c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27890a8e1c6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d6479739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2ed6479739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890a8e1c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7890a8e1c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27890a8e1c6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890a8e1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7890a8e1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27890a8e1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38454e2c7_0_5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모델별 전체 데이터 학습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9" name="Google Shape;89;g2738454e2c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425" y="365750"/>
            <a:ext cx="6443276" cy="31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738454e2c7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275" y="3574800"/>
            <a:ext cx="6213023" cy="31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738454e2c7_0_54"/>
          <p:cNvSpPr txBox="1"/>
          <p:nvPr/>
        </p:nvSpPr>
        <p:spPr>
          <a:xfrm>
            <a:off x="336973" y="1443750"/>
            <a:ext cx="406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기존 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flip , brightness, lightness, </a:t>
            </a: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cameraz 만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적용하여 전체 데이터 학습 결과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g2738454e2c7_0_54"/>
          <p:cNvSpPr txBox="1"/>
          <p:nvPr/>
        </p:nvSpPr>
        <p:spPr>
          <a:xfrm>
            <a:off x="336973" y="4579125"/>
            <a:ext cx="4067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기존 augmentation 방법들에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clahe 방법을 추가하여 학습한 결과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890a8e1c6_0_7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증강 도입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g27890a8e1c6_0_7"/>
          <p:cNvSpPr txBox="1"/>
          <p:nvPr/>
        </p:nvSpPr>
        <p:spPr>
          <a:xfrm>
            <a:off x="242596" y="8458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CLAHE (Contrast Limiting Adaptive Histogram Equalization)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27890a8e1c6_0_7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g27890a8e1c6_0_7"/>
          <p:cNvSpPr txBox="1"/>
          <p:nvPr/>
        </p:nvSpPr>
        <p:spPr>
          <a:xfrm>
            <a:off x="336975" y="1406700"/>
            <a:ext cx="11034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영상 전체에 이퀄라이즈를 적용했을 때 너무 밝은 부분이 날아가는 현상을 막기 위해 영상을 일정한 영역으로 나눠서 이퀄라이즈를 적용하는 것으로, 노이즈가 증폭되는 것을 막기 위해 어느 히스토그램 계급(bin)이든 지정된 제한 값을 넘으면 그 픽셀은 다른 계급으로 배분하고 나서 이퀄라이즈를 적용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※ 이퀄라이즈 : </a:t>
            </a: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히스토그램으로 빈도를 구해서 그것을 노멀라이즈한 후, 누적값을 전체 개수로 나누어 나온 결과 값을 히스토그램 원래 픽셀 값에 매핑 / 각각의 값이 전체 분포에 차지하는 비중에 따라 분포를 재분배하기 때문에, 명암 대비(contrast) 개선에 효과적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2" name="Google Shape;102;g27890a8e1c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213" y="3990963"/>
            <a:ext cx="33623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27890a8e1c6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287" y="3979050"/>
            <a:ext cx="7036650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7890a8e1c6_0_7"/>
          <p:cNvSpPr txBox="1"/>
          <p:nvPr/>
        </p:nvSpPr>
        <p:spPr>
          <a:xfrm>
            <a:off x="5197875" y="6275100"/>
            <a:ext cx="6173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clipLimit=3, gridsize=(16,16)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d64797398_0_7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모델별 전체 데이터 학습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g2ed64797398_0_7"/>
          <p:cNvSpPr txBox="1"/>
          <p:nvPr/>
        </p:nvSpPr>
        <p:spPr>
          <a:xfrm>
            <a:off x="336973" y="1559100"/>
            <a:ext cx="40674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기존 augmentation 방법들에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clahe 방법을 추가 후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다양한 모델로 320 개의 train set 학습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ResNet 101 의 성능이 가장 좋다고 판단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1" name="Google Shape;111;g2ed64797398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6775" y="227175"/>
            <a:ext cx="6357187" cy="64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890a8e1c6_0_22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g27890a8e1c6_0_22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9" name="Google Shape;119;g27890a8e1c6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100" y="1443750"/>
            <a:ext cx="3822074" cy="39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7890a8e1c6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00" y="1443750"/>
            <a:ext cx="3970083" cy="39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7890a8e1c6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2725" y="1447975"/>
            <a:ext cx="4077050" cy="41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890a8e1c6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g27890a8e1c6_0_0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7890a8e1c6_0_0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